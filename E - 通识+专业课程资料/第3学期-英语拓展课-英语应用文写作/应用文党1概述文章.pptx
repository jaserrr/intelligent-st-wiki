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 id="2147483701" r:id="rId3"/>
  </p:sldMasterIdLst>
  <p:notesMasterIdLst>
    <p:notesMasterId r:id="rId85"/>
  </p:notesMasterIdLst>
  <p:sldIdLst>
    <p:sldId id="256" r:id="rId4"/>
    <p:sldId id="260" r:id="rId5"/>
    <p:sldId id="261" r:id="rId6"/>
    <p:sldId id="262" r:id="rId7"/>
    <p:sldId id="400" r:id="rId8"/>
    <p:sldId id="401" r:id="rId9"/>
    <p:sldId id="486" r:id="rId10"/>
    <p:sldId id="402" r:id="rId11"/>
    <p:sldId id="403" r:id="rId12"/>
    <p:sldId id="404" r:id="rId13"/>
    <p:sldId id="487" r:id="rId14"/>
    <p:sldId id="405" r:id="rId15"/>
    <p:sldId id="398" r:id="rId16"/>
    <p:sldId id="270" r:id="rId17"/>
    <p:sldId id="271" r:id="rId18"/>
    <p:sldId id="279" r:id="rId19"/>
    <p:sldId id="280" r:id="rId20"/>
    <p:sldId id="281" r:id="rId21"/>
    <p:sldId id="282" r:id="rId22"/>
    <p:sldId id="283" r:id="rId23"/>
    <p:sldId id="285" r:id="rId24"/>
    <p:sldId id="286" r:id="rId25"/>
    <p:sldId id="287" r:id="rId26"/>
    <p:sldId id="289" r:id="rId27"/>
    <p:sldId id="290" r:id="rId28"/>
    <p:sldId id="291" r:id="rId29"/>
    <p:sldId id="292" r:id="rId30"/>
    <p:sldId id="294" r:id="rId31"/>
    <p:sldId id="296" r:id="rId32"/>
    <p:sldId id="299" r:id="rId33"/>
    <p:sldId id="300" r:id="rId34"/>
    <p:sldId id="301" r:id="rId35"/>
    <p:sldId id="302" r:id="rId36"/>
    <p:sldId id="303" r:id="rId37"/>
    <p:sldId id="304" r:id="rId38"/>
    <p:sldId id="305" r:id="rId39"/>
    <p:sldId id="306" r:id="rId40"/>
    <p:sldId id="307" r:id="rId41"/>
    <p:sldId id="309" r:id="rId42"/>
    <p:sldId id="311" r:id="rId43"/>
    <p:sldId id="317" r:id="rId44"/>
    <p:sldId id="318" r:id="rId45"/>
    <p:sldId id="319" r:id="rId46"/>
    <p:sldId id="320" r:id="rId47"/>
    <p:sldId id="321" r:id="rId48"/>
    <p:sldId id="322" r:id="rId49"/>
    <p:sldId id="488" r:id="rId50"/>
    <p:sldId id="406" r:id="rId51"/>
    <p:sldId id="327" r:id="rId52"/>
    <p:sldId id="328" r:id="rId53"/>
    <p:sldId id="422" r:id="rId54"/>
    <p:sldId id="424" r:id="rId55"/>
    <p:sldId id="425" r:id="rId56"/>
    <p:sldId id="329" r:id="rId57"/>
    <p:sldId id="330" r:id="rId58"/>
    <p:sldId id="338" r:id="rId59"/>
    <p:sldId id="340" r:id="rId60"/>
    <p:sldId id="342" r:id="rId61"/>
    <p:sldId id="343" r:id="rId62"/>
    <p:sldId id="344" r:id="rId63"/>
    <p:sldId id="489" r:id="rId64"/>
    <p:sldId id="409" r:id="rId65"/>
    <p:sldId id="410" r:id="rId66"/>
    <p:sldId id="411" r:id="rId67"/>
    <p:sldId id="351" r:id="rId68"/>
    <p:sldId id="352" r:id="rId69"/>
    <p:sldId id="353" r:id="rId70"/>
    <p:sldId id="359" r:id="rId71"/>
    <p:sldId id="413" r:id="rId72"/>
    <p:sldId id="365" r:id="rId73"/>
    <p:sldId id="414" r:id="rId74"/>
    <p:sldId id="415" r:id="rId75"/>
    <p:sldId id="416" r:id="rId76"/>
    <p:sldId id="417" r:id="rId77"/>
    <p:sldId id="418" r:id="rId78"/>
    <p:sldId id="419" r:id="rId79"/>
    <p:sldId id="420" r:id="rId80"/>
    <p:sldId id="421" r:id="rId81"/>
    <p:sldId id="371" r:id="rId82"/>
    <p:sldId id="375" r:id="rId83"/>
    <p:sldId id="490" r:id="rId84"/>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C7F3"/>
    <a:srgbClr val="64BC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14"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tableStyles" Target="tableStyle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viewProps" Target="viewProps.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ea typeface="+mn-ea"/>
              </a:defRPr>
            </a:lvl1pPr>
          </a:lstStyle>
          <a:p>
            <a:pPr>
              <a:defRPr/>
            </a:pPr>
            <a:fld id="{966D6727-4FC1-4526-BB16-DC77AF8CAB06}" type="datetimeFigureOut">
              <a:rPr lang="zh-CN" altLang="en-US"/>
              <a:t>2022/8/8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endParaRPr lang="zh-CN" altLang="en-US" noProof="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ea typeface="+mn-ea"/>
              </a:defRPr>
            </a:lvl1pPr>
          </a:lstStyle>
          <a:p>
            <a:pPr>
              <a:defRPr/>
            </a:pPr>
            <a:fld id="{A4D58298-9D7B-4183-997A-64D0C596AFA4}" type="slidenum">
              <a:rPr lang="zh-CN" altLang="en-US"/>
              <a:t>‹#›</a:t>
            </a:fld>
            <a:endParaRPr lang="zh-CN" altLang="en-US"/>
          </a:p>
        </p:txBody>
      </p:sp>
    </p:spTree>
    <p:extLst>
      <p:ext uri="{BB962C8B-B14F-4D97-AF65-F5344CB8AC3E}">
        <p14:creationId xmlns:p14="http://schemas.microsoft.com/office/powerpoint/2010/main" val="278730839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bwMode="auto">
          <a:ln>
            <a:miter lim="800000"/>
          </a:ln>
        </p:spPr>
        <p:txBody>
          <a:bodyPr wrap="square" numCol="1" anchorCtr="0" compatLnSpc="1"/>
          <a:lstStyle/>
          <a:p>
            <a:pPr fontAlgn="base">
              <a:spcBef>
                <a:spcPct val="0"/>
              </a:spcBef>
              <a:spcAft>
                <a:spcPct val="0"/>
              </a:spcAft>
              <a:defRPr/>
            </a:pPr>
            <a:fld id="{FEF7ED00-B41B-45B0-9B9F-E7783E850E64}" type="slidenum">
              <a:rPr lang="en-US" altLang="zh-CN"/>
              <a:t>17</a:t>
            </a:fld>
            <a:endParaRPr lang="en-US" altLang="zh-CN"/>
          </a:p>
        </p:txBody>
      </p:sp>
      <p:sp>
        <p:nvSpPr>
          <p:cNvPr id="47106" name="Rectangle 2"/>
          <p:cNvSpPr>
            <a:spLocks noGrp="1" noRot="1" noChangeAspect="1" noChangeArrowheads="1" noTextEdit="1"/>
          </p:cNvSpPr>
          <p:nvPr>
            <p:ph type="sldImg"/>
          </p:nvPr>
        </p:nvSpPr>
        <p:spPr bwMode="auto">
          <a:noFill/>
          <a:ln>
            <a:solidFill>
              <a:srgbClr val="000000"/>
            </a:solidFill>
            <a:miter lim="800000"/>
          </a:ln>
        </p:spPr>
      </p:sp>
      <p:sp>
        <p:nvSpPr>
          <p:cNvPr id="47107" name="Rectangle 3"/>
          <p:cNvSpPr>
            <a:spLocks noGrp="1" noChangeArrowheads="1"/>
          </p:cNvSpPr>
          <p:nvPr>
            <p:ph type="body" idx="1"/>
          </p:nvPr>
        </p:nvSpPr>
        <p:spPr bwMode="auto">
          <a:noFill/>
        </p:spPr>
        <p:txBody>
          <a:bodyPr wrap="square" numCol="1" anchor="t" anchorCtr="0" compatLnSpc="1"/>
          <a:lstStyle/>
          <a:p>
            <a:pPr eaLnBrk="1" hangingPunct="1">
              <a:spcBef>
                <a:spcPct val="0"/>
              </a:spcBef>
            </a:pPr>
            <a:endParaRPr lang="zh-CN" altLang="zh-CN" smtClean="0"/>
          </a:p>
        </p:txBody>
      </p:sp>
    </p:spTree>
    <p:extLst>
      <p:ext uri="{BB962C8B-B14F-4D97-AF65-F5344CB8AC3E}">
        <p14:creationId xmlns:p14="http://schemas.microsoft.com/office/powerpoint/2010/main" val="1216126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D3BFB99B-1C76-4506-AE1F-5A9155F5FDBA}" type="datetimeFigureOut">
              <a:rPr lang="zh-CN" altLang="en-US" smtClean="0"/>
              <a:t>2022/8/8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63E8B97-07C9-4E61-B56F-69B26F87C56F}" type="slidenum">
              <a:rPr lang="zh-CN" altLang="en-US" smtClean="0"/>
              <a:t>‹#›</a:t>
            </a:fld>
            <a:endParaRPr lang="zh-CN" alt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69FA54D2-F90E-4706-ACB4-B604CDD278CE}" type="datetimeFigureOut">
              <a:rPr lang="zh-CN" altLang="en-US" smtClean="0"/>
              <a:t>2022/8/8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F8DFCD8-3BCF-4796-93E0-377581CA5570}" type="slidenum">
              <a:rPr lang="zh-CN" altLang="en-US" smtClean="0"/>
              <a:t>‹#›</a:t>
            </a:fld>
            <a:endParaRPr lang="zh-CN" altLang="en-US"/>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FB8CC39E-8A43-4724-9C31-272660553DD2}" type="datetimeFigureOut">
              <a:rPr lang="zh-CN" altLang="en-US" smtClean="0"/>
              <a:t>2022/8/8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7A690E6-A5EA-40D0-B696-5390764F17F0}" type="slidenum">
              <a:rPr lang="zh-CN" altLang="en-US" smtClean="0"/>
              <a:t>‹#›</a:t>
            </a:fld>
            <a:endParaRPr lang="zh-CN" alt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pPr>
              <a:defRPr/>
            </a:pPr>
            <a:fld id="{9DAEF347-88B0-4BA8-B39E-A0A672CFE4BE}" type="datetimeFigureOut">
              <a:rPr lang="zh-CN" altLang="en-US" smtClean="0"/>
              <a:t>2022/8/8</a:t>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06C13C8E-2A36-4D42-993A-4D3891F15EA4}" type="slidenum">
              <a:rPr lang="zh-CN" altLang="en-US" smtClean="0"/>
              <a:t>‹#›</a:t>
            </a:fld>
            <a:endParaRPr lang="zh-CN" alt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pPr>
              <a:defRPr/>
            </a:pPr>
            <a:fld id="{65C30936-B6DB-461F-AC5C-0B6349BE58D7}" type="datetimeFigureOut">
              <a:rPr lang="zh-CN" altLang="en-US" smtClean="0"/>
              <a:t>2022/8/8</a:t>
            </a:fld>
            <a:endParaRPr lang="zh-CN" altLang="en-US"/>
          </a:p>
        </p:txBody>
      </p:sp>
      <p:sp>
        <p:nvSpPr>
          <p:cNvPr id="8" name="页脚占位符 7"/>
          <p:cNvSpPr>
            <a:spLocks noGrp="1"/>
          </p:cNvSpPr>
          <p:nvPr>
            <p:ph type="ftr" sz="quarter" idx="11"/>
          </p:nvPr>
        </p:nvSpPr>
        <p:spPr/>
        <p:txBody>
          <a:bodyPr/>
          <a:lstStyle>
            <a:lvl1pPr>
              <a:defRPr/>
            </a:lvl1pPr>
          </a:lstStyle>
          <a:p>
            <a:pPr>
              <a:defRPr/>
            </a:pPr>
            <a:endParaRPr lang="zh-CN" altLang="en-US"/>
          </a:p>
        </p:txBody>
      </p:sp>
      <p:sp>
        <p:nvSpPr>
          <p:cNvPr id="9" name="灯片编号占位符 8"/>
          <p:cNvSpPr>
            <a:spLocks noGrp="1"/>
          </p:cNvSpPr>
          <p:nvPr>
            <p:ph type="sldNum" sz="quarter" idx="12"/>
          </p:nvPr>
        </p:nvSpPr>
        <p:spPr/>
        <p:txBody>
          <a:bodyPr/>
          <a:lstStyle>
            <a:lvl1pPr>
              <a:defRPr/>
            </a:lvl1pPr>
          </a:lstStyle>
          <a:p>
            <a:pPr>
              <a:defRPr/>
            </a:pPr>
            <a:fld id="{0392EB35-03A0-4872-BCE8-94A91764A427}" type="slidenum">
              <a:rPr lang="zh-CN" altLang="en-US" smtClean="0"/>
              <a:t>‹#›</a:t>
            </a:fld>
            <a:endParaRPr lang="zh-CN" alt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pPr>
              <a:defRPr/>
            </a:pPr>
            <a:fld id="{2344C33B-42CC-4461-B890-C3AAA6ED26AE}" type="datetimeFigureOut">
              <a:rPr lang="zh-CN" altLang="en-US" smtClean="0"/>
              <a:t>2022/8/8</a:t>
            </a:fld>
            <a:endParaRPr lang="zh-CN" altLang="en-US"/>
          </a:p>
        </p:txBody>
      </p:sp>
      <p:sp>
        <p:nvSpPr>
          <p:cNvPr id="4" name="页脚占位符 3"/>
          <p:cNvSpPr>
            <a:spLocks noGrp="1"/>
          </p:cNvSpPr>
          <p:nvPr>
            <p:ph type="ftr" sz="quarter" idx="11"/>
          </p:nvPr>
        </p:nvSpPr>
        <p:spPr/>
        <p:txBody>
          <a:bodyPr/>
          <a:lstStyle>
            <a:lvl1pPr>
              <a:defRPr/>
            </a:lvl1pPr>
          </a:lstStyle>
          <a:p>
            <a:pPr>
              <a:defRPr/>
            </a:pPr>
            <a:endParaRPr lang="zh-CN" altLang="en-US"/>
          </a:p>
        </p:txBody>
      </p:sp>
      <p:sp>
        <p:nvSpPr>
          <p:cNvPr id="5" name="灯片编号占位符 4"/>
          <p:cNvSpPr>
            <a:spLocks noGrp="1"/>
          </p:cNvSpPr>
          <p:nvPr>
            <p:ph type="sldNum" sz="quarter" idx="12"/>
          </p:nvPr>
        </p:nvSpPr>
        <p:spPr/>
        <p:txBody>
          <a:bodyPr/>
          <a:lstStyle>
            <a:lvl1pPr>
              <a:defRPr/>
            </a:lvl1pPr>
          </a:lstStyle>
          <a:p>
            <a:pPr>
              <a:defRPr/>
            </a:pPr>
            <a:fld id="{657DFB27-8632-4DBB-BC36-BB4DFAE77586}" type="slidenum">
              <a:rPr lang="zh-CN" altLang="en-US" smtClean="0"/>
              <a:t>‹#›</a:t>
            </a:fld>
            <a:endParaRPr lang="zh-CN" alt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pPr>
              <a:defRPr/>
            </a:pPr>
            <a:fld id="{4537CE58-5980-4B9B-9E0E-F781C552510A}" type="datetimeFigureOut">
              <a:rPr lang="zh-CN" altLang="en-US" smtClean="0"/>
              <a:t>2022/8/8</a:t>
            </a:fld>
            <a:endParaRPr lang="zh-CN" altLang="en-US"/>
          </a:p>
        </p:txBody>
      </p:sp>
      <p:sp>
        <p:nvSpPr>
          <p:cNvPr id="3" name="页脚占位符 2"/>
          <p:cNvSpPr>
            <a:spLocks noGrp="1"/>
          </p:cNvSpPr>
          <p:nvPr>
            <p:ph type="ftr" sz="quarter" idx="11"/>
          </p:nvPr>
        </p:nvSpPr>
        <p:spPr/>
        <p:txBody>
          <a:bodyPr/>
          <a:lstStyle>
            <a:lvl1pPr>
              <a:defRPr/>
            </a:lvl1pPr>
          </a:lstStyle>
          <a:p>
            <a:pPr>
              <a:defRPr/>
            </a:pPr>
            <a:endParaRPr lang="zh-CN" altLang="en-US"/>
          </a:p>
        </p:txBody>
      </p:sp>
      <p:sp>
        <p:nvSpPr>
          <p:cNvPr id="4" name="灯片编号占位符 3"/>
          <p:cNvSpPr>
            <a:spLocks noGrp="1"/>
          </p:cNvSpPr>
          <p:nvPr>
            <p:ph type="sldNum" sz="quarter" idx="12"/>
          </p:nvPr>
        </p:nvSpPr>
        <p:spPr/>
        <p:txBody>
          <a:bodyPr/>
          <a:lstStyle>
            <a:lvl1pPr>
              <a:defRPr/>
            </a:lvl1pPr>
          </a:lstStyle>
          <a:p>
            <a:pPr>
              <a:defRPr/>
            </a:pPr>
            <a:fld id="{00E7B573-E2AE-488D-9391-86DF97130FF7}" type="slidenum">
              <a:rPr lang="zh-CN" altLang="en-US" smtClean="0"/>
              <a:t>‹#›</a:t>
            </a:fld>
            <a:endParaRPr lang="zh-CN" alt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pPr>
              <a:defRPr/>
            </a:pPr>
            <a:fld id="{3F2FD409-DBF4-4A0A-9718-1C748A1AAF27}" type="datetimeFigureOut">
              <a:rPr lang="zh-CN" altLang="en-US" smtClean="0"/>
              <a:t>2022/8/8</a:t>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1E78FF9F-66F7-4BDB-8A2A-A4A9272D3202}" type="slidenum">
              <a:rPr lang="zh-CN" altLang="en-US" smtClean="0"/>
              <a:t>‹#›</a:t>
            </a:fld>
            <a:endParaRPr lang="zh-CN" alt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pPr>
              <a:defRPr/>
            </a:pPr>
            <a:fld id="{39A98522-E70F-4E26-876F-C995B9A7AEAA}" type="datetimeFigureOut">
              <a:rPr lang="zh-CN" altLang="en-US" smtClean="0"/>
              <a:t>2022/8/8</a:t>
            </a:fld>
            <a:endParaRPr lang="zh-CN" altLang="en-US"/>
          </a:p>
        </p:txBody>
      </p:sp>
      <p:sp>
        <p:nvSpPr>
          <p:cNvPr id="6" name="页脚占位符 5"/>
          <p:cNvSpPr>
            <a:spLocks noGrp="1"/>
          </p:cNvSpPr>
          <p:nvPr>
            <p:ph type="ftr" sz="quarter" idx="11"/>
          </p:nvPr>
        </p:nvSpPr>
        <p:spPr/>
        <p:txBody>
          <a:bodyPr/>
          <a:lstStyle>
            <a:lvl1pPr>
              <a:defRPr/>
            </a:lvl1pPr>
          </a:lstStyle>
          <a:p>
            <a:pPr>
              <a:defRPr/>
            </a:pPr>
            <a:endParaRPr lang="zh-CN" altLang="en-US"/>
          </a:p>
        </p:txBody>
      </p:sp>
      <p:sp>
        <p:nvSpPr>
          <p:cNvPr id="7" name="灯片编号占位符 6"/>
          <p:cNvSpPr>
            <a:spLocks noGrp="1"/>
          </p:cNvSpPr>
          <p:nvPr>
            <p:ph type="sldNum" sz="quarter" idx="12"/>
          </p:nvPr>
        </p:nvSpPr>
        <p:spPr/>
        <p:txBody>
          <a:bodyPr/>
          <a:lstStyle>
            <a:lvl1pPr>
              <a:defRPr/>
            </a:lvl1pPr>
          </a:lstStyle>
          <a:p>
            <a:pPr>
              <a:defRPr/>
            </a:pPr>
            <a:fld id="{ED50AD1C-40F4-4AA8-A525-57D04FAB9845}" type="slidenum">
              <a:rPr lang="zh-CN" altLang="en-US" smtClean="0"/>
              <a:t>‹#›</a:t>
            </a:fld>
            <a:endParaRPr lang="zh-CN" alt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D91332FC-D913-4907-BC40-B30888465916}" type="datetimeFigureOut">
              <a:rPr lang="zh-CN" altLang="en-US" smtClean="0"/>
              <a:t>2022/8/8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F676AE7-DB75-4EB9-93B4-E91138B77E29}" type="slidenum">
              <a:rPr lang="zh-CN" altLang="en-US" smtClean="0"/>
              <a:t>‹#›</a:t>
            </a:fld>
            <a:endParaRPr lang="zh-CN" alt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11138"/>
            <a:ext cx="2057400" cy="59150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11138"/>
            <a:ext cx="6019800" cy="59150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C914FBEB-8CD6-4AED-8D2B-F5722D51E114}" type="datetimeFigureOut">
              <a:rPr lang="zh-CN" altLang="en-US" smtClean="0"/>
              <a:t>2022/8/8</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B0A6A2CD-065D-4BBC-A5EE-6B2981B774E3}" type="slidenum">
              <a:rPr lang="zh-CN" altLang="en-US" smtClean="0"/>
              <a:t>‹#›</a:t>
            </a:fld>
            <a:endParaRPr lang="zh-CN" alt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fld id="{AAA2A664-B9E8-4FCE-94F9-5E861960C353}" type="datetimeFigureOut">
              <a:rPr lang="en-US"/>
              <a:t>8/8/2022</a:t>
            </a:fld>
            <a:endParaRPr lang="en-US"/>
          </a:p>
        </p:txBody>
      </p:sp>
      <p:sp>
        <p:nvSpPr>
          <p:cNvPr id="5" name="页脚占位符 4"/>
          <p:cNvSpPr>
            <a:spLocks noGrp="1"/>
          </p:cNvSpPr>
          <p:nvPr>
            <p:ph type="ftr" sz="quarter" idx="11"/>
          </p:nvPr>
        </p:nvSpPr>
        <p:spPr/>
        <p:txBody>
          <a:bodyPr/>
          <a:lstStyle>
            <a:lvl1pPr>
              <a:defRPr/>
            </a:lvl1pPr>
          </a:lstStyle>
          <a:p>
            <a:endParaRPr lang="en-US"/>
          </a:p>
        </p:txBody>
      </p:sp>
      <p:sp>
        <p:nvSpPr>
          <p:cNvPr id="6" name="灯片编号占位符 5"/>
          <p:cNvSpPr>
            <a:spLocks noGrp="1"/>
          </p:cNvSpPr>
          <p:nvPr>
            <p:ph type="sldNum" sz="quarter" idx="12"/>
          </p:nvPr>
        </p:nvSpPr>
        <p:spPr/>
        <p:txBody>
          <a:bodyPr/>
          <a:lstStyle>
            <a:lvl1pPr>
              <a:defRPr/>
            </a:lvl1pPr>
          </a:lstStyle>
          <a:p>
            <a:fld id="{99488034-7597-4124-86DF-D699243FC6B4}" type="slidenum">
              <a:rPr lang="en-US"/>
              <a:t>‹#›</a:t>
            </a:fld>
            <a:endParaRPr lang="en-US"/>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5485A805-EAEE-421E-9BBC-6CEC9C1792A8}" type="datetimeFigureOut">
              <a:rPr lang="en-US"/>
              <a:t>8/8/2022</a:t>
            </a:fld>
            <a:endParaRPr lang="en-US"/>
          </a:p>
        </p:txBody>
      </p:sp>
      <p:sp>
        <p:nvSpPr>
          <p:cNvPr id="5" name="页脚占位符 4"/>
          <p:cNvSpPr>
            <a:spLocks noGrp="1"/>
          </p:cNvSpPr>
          <p:nvPr>
            <p:ph type="ftr" sz="quarter" idx="11"/>
          </p:nvPr>
        </p:nvSpPr>
        <p:spPr/>
        <p:txBody>
          <a:bodyPr/>
          <a:lstStyle>
            <a:lvl1pPr>
              <a:defRPr/>
            </a:lvl1pPr>
          </a:lstStyle>
          <a:p>
            <a:endParaRPr lang="en-US"/>
          </a:p>
        </p:txBody>
      </p:sp>
      <p:sp>
        <p:nvSpPr>
          <p:cNvPr id="6" name="灯片编号占位符 5"/>
          <p:cNvSpPr>
            <a:spLocks noGrp="1"/>
          </p:cNvSpPr>
          <p:nvPr>
            <p:ph type="sldNum" sz="quarter" idx="12"/>
          </p:nvPr>
        </p:nvSpPr>
        <p:spPr/>
        <p:txBody>
          <a:bodyPr/>
          <a:lstStyle>
            <a:lvl1pPr>
              <a:defRPr/>
            </a:lvl1pPr>
          </a:lstStyle>
          <a:p>
            <a:fld id="{06F18E58-9773-43D8-873D-328455B78542}" type="slidenum">
              <a:rPr lang="en-US"/>
              <a:t>‹#›</a:t>
            </a:fld>
            <a:endParaRPr lang="en-US"/>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BC8786E9-AB0E-46B9-B55E-8D8CA8DD7FAE}" type="datetimeFigureOut">
              <a:rPr lang="en-US"/>
              <a:t>8/8/2022</a:t>
            </a:fld>
            <a:endParaRPr lang="en-US"/>
          </a:p>
        </p:txBody>
      </p:sp>
      <p:sp>
        <p:nvSpPr>
          <p:cNvPr id="5" name="页脚占位符 4"/>
          <p:cNvSpPr>
            <a:spLocks noGrp="1"/>
          </p:cNvSpPr>
          <p:nvPr>
            <p:ph type="ftr" sz="quarter" idx="11"/>
          </p:nvPr>
        </p:nvSpPr>
        <p:spPr/>
        <p:txBody>
          <a:bodyPr/>
          <a:lstStyle>
            <a:lvl1pPr>
              <a:defRPr/>
            </a:lvl1pPr>
          </a:lstStyle>
          <a:p>
            <a:endParaRPr lang="en-US"/>
          </a:p>
        </p:txBody>
      </p:sp>
      <p:sp>
        <p:nvSpPr>
          <p:cNvPr id="6" name="灯片编号占位符 5"/>
          <p:cNvSpPr>
            <a:spLocks noGrp="1"/>
          </p:cNvSpPr>
          <p:nvPr>
            <p:ph type="sldNum" sz="quarter" idx="12"/>
          </p:nvPr>
        </p:nvSpPr>
        <p:spPr/>
        <p:txBody>
          <a:bodyPr/>
          <a:lstStyle>
            <a:lvl1pPr>
              <a:defRPr/>
            </a:lvl1pPr>
          </a:lstStyle>
          <a:p>
            <a:fld id="{3D8C688F-D83F-4BBB-BA7F-3FB6D1567671}" type="slidenum">
              <a:rPr lang="en-US"/>
              <a:t>‹#›</a:t>
            </a:fld>
            <a:endParaRPr lang="en-US"/>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92799C40-1F75-40ED-B35B-C4968C44EE0F}" type="datetimeFigureOut">
              <a:rPr lang="en-US"/>
              <a:t>8/8/2022</a:t>
            </a:fld>
            <a:endParaRPr lang="en-US"/>
          </a:p>
        </p:txBody>
      </p:sp>
      <p:sp>
        <p:nvSpPr>
          <p:cNvPr id="6" name="页脚占位符 5"/>
          <p:cNvSpPr>
            <a:spLocks noGrp="1"/>
          </p:cNvSpPr>
          <p:nvPr>
            <p:ph type="ftr" sz="quarter" idx="11"/>
          </p:nvPr>
        </p:nvSpPr>
        <p:spPr/>
        <p:txBody>
          <a:bodyPr/>
          <a:lstStyle>
            <a:lvl1pPr>
              <a:defRPr/>
            </a:lvl1pPr>
          </a:lstStyle>
          <a:p>
            <a:endParaRPr lang="en-US"/>
          </a:p>
        </p:txBody>
      </p:sp>
      <p:sp>
        <p:nvSpPr>
          <p:cNvPr id="7" name="灯片编号占位符 6"/>
          <p:cNvSpPr>
            <a:spLocks noGrp="1"/>
          </p:cNvSpPr>
          <p:nvPr>
            <p:ph type="sldNum" sz="quarter" idx="12"/>
          </p:nvPr>
        </p:nvSpPr>
        <p:spPr/>
        <p:txBody>
          <a:bodyPr/>
          <a:lstStyle>
            <a:lvl1pPr>
              <a:defRPr/>
            </a:lvl1pPr>
          </a:lstStyle>
          <a:p>
            <a:fld id="{48D88B11-8C70-4DE1-BE47-9FA9C18C50A7}" type="slidenum">
              <a:rPr lang="en-US"/>
              <a:t>‹#›</a:t>
            </a:fld>
            <a:endParaRPr lang="en-US"/>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174F4378-65EE-4ACB-93D4-F4D93BCBA9E2}" type="datetimeFigureOut">
              <a:rPr lang="en-US"/>
              <a:t>8/8/2022</a:t>
            </a:fld>
            <a:endParaRPr lang="en-US"/>
          </a:p>
        </p:txBody>
      </p:sp>
      <p:sp>
        <p:nvSpPr>
          <p:cNvPr id="8" name="页脚占位符 7"/>
          <p:cNvSpPr>
            <a:spLocks noGrp="1"/>
          </p:cNvSpPr>
          <p:nvPr>
            <p:ph type="ftr" sz="quarter" idx="11"/>
          </p:nvPr>
        </p:nvSpPr>
        <p:spPr/>
        <p:txBody>
          <a:bodyPr/>
          <a:lstStyle>
            <a:lvl1pPr>
              <a:defRPr/>
            </a:lvl1pPr>
          </a:lstStyle>
          <a:p>
            <a:endParaRPr lang="en-US"/>
          </a:p>
        </p:txBody>
      </p:sp>
      <p:sp>
        <p:nvSpPr>
          <p:cNvPr id="9" name="灯片编号占位符 8"/>
          <p:cNvSpPr>
            <a:spLocks noGrp="1"/>
          </p:cNvSpPr>
          <p:nvPr>
            <p:ph type="sldNum" sz="quarter" idx="12"/>
          </p:nvPr>
        </p:nvSpPr>
        <p:spPr/>
        <p:txBody>
          <a:bodyPr/>
          <a:lstStyle>
            <a:lvl1pPr>
              <a:defRPr/>
            </a:lvl1pPr>
          </a:lstStyle>
          <a:p>
            <a:fld id="{B3A21089-7696-4031-9FCA-11757EC812A1}" type="slidenum">
              <a:rPr lang="en-US"/>
              <a:t>‹#›</a:t>
            </a:fld>
            <a:endParaRPr lang="en-US"/>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9C42C5A5-8CC3-46FC-A93D-2AC0A567BF4B}" type="datetimeFigureOut">
              <a:rPr lang="en-US"/>
              <a:t>8/8/2022</a:t>
            </a:fld>
            <a:endParaRPr lang="en-US"/>
          </a:p>
        </p:txBody>
      </p:sp>
      <p:sp>
        <p:nvSpPr>
          <p:cNvPr id="4" name="页脚占位符 3"/>
          <p:cNvSpPr>
            <a:spLocks noGrp="1"/>
          </p:cNvSpPr>
          <p:nvPr>
            <p:ph type="ftr" sz="quarter" idx="11"/>
          </p:nvPr>
        </p:nvSpPr>
        <p:spPr/>
        <p:txBody>
          <a:bodyPr/>
          <a:lstStyle>
            <a:lvl1pPr>
              <a:defRPr/>
            </a:lvl1pPr>
          </a:lstStyle>
          <a:p>
            <a:endParaRPr lang="en-US"/>
          </a:p>
        </p:txBody>
      </p:sp>
      <p:sp>
        <p:nvSpPr>
          <p:cNvPr id="5" name="灯片编号占位符 4"/>
          <p:cNvSpPr>
            <a:spLocks noGrp="1"/>
          </p:cNvSpPr>
          <p:nvPr>
            <p:ph type="sldNum" sz="quarter" idx="12"/>
          </p:nvPr>
        </p:nvSpPr>
        <p:spPr/>
        <p:txBody>
          <a:bodyPr/>
          <a:lstStyle>
            <a:lvl1pPr>
              <a:defRPr/>
            </a:lvl1pPr>
          </a:lstStyle>
          <a:p>
            <a:fld id="{28CD2BDE-127F-4696-892B-8CC1BB8B5196}" type="slidenum">
              <a:rPr lang="en-US"/>
              <a:t>‹#›</a:t>
            </a:fld>
            <a:endParaRPr lang="en-US"/>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B6DD12CA-C0FF-43F9-907D-22B7B454E0BD}" type="datetimeFigureOut">
              <a:rPr lang="en-US"/>
              <a:t>8/8/2022</a:t>
            </a:fld>
            <a:endParaRPr lang="en-US"/>
          </a:p>
        </p:txBody>
      </p:sp>
      <p:sp>
        <p:nvSpPr>
          <p:cNvPr id="3" name="页脚占位符 2"/>
          <p:cNvSpPr>
            <a:spLocks noGrp="1"/>
          </p:cNvSpPr>
          <p:nvPr>
            <p:ph type="ftr" sz="quarter" idx="11"/>
          </p:nvPr>
        </p:nvSpPr>
        <p:spPr/>
        <p:txBody>
          <a:bodyPr/>
          <a:lstStyle>
            <a:lvl1pPr>
              <a:defRPr/>
            </a:lvl1pPr>
          </a:lstStyle>
          <a:p>
            <a:endParaRPr lang="en-US"/>
          </a:p>
        </p:txBody>
      </p:sp>
      <p:sp>
        <p:nvSpPr>
          <p:cNvPr id="4" name="灯片编号占位符 3"/>
          <p:cNvSpPr>
            <a:spLocks noGrp="1"/>
          </p:cNvSpPr>
          <p:nvPr>
            <p:ph type="sldNum" sz="quarter" idx="12"/>
          </p:nvPr>
        </p:nvSpPr>
        <p:spPr/>
        <p:txBody>
          <a:bodyPr/>
          <a:lstStyle>
            <a:lvl1pPr>
              <a:defRPr/>
            </a:lvl1pPr>
          </a:lstStyle>
          <a:p>
            <a:fld id="{D95507D2-7907-4C97-AAC9-757817405367}" type="slidenum">
              <a:rPr lang="en-US"/>
              <a:t>‹#›</a:t>
            </a:fld>
            <a:endParaRPr lang="en-US"/>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54C80D4C-4ADA-4E5F-9FDF-07B68D9FC937}" type="datetimeFigureOut">
              <a:rPr lang="en-US"/>
              <a:t>8/8/2022</a:t>
            </a:fld>
            <a:endParaRPr lang="en-US"/>
          </a:p>
        </p:txBody>
      </p:sp>
      <p:sp>
        <p:nvSpPr>
          <p:cNvPr id="6" name="页脚占位符 5"/>
          <p:cNvSpPr>
            <a:spLocks noGrp="1"/>
          </p:cNvSpPr>
          <p:nvPr>
            <p:ph type="ftr" sz="quarter" idx="11"/>
          </p:nvPr>
        </p:nvSpPr>
        <p:spPr/>
        <p:txBody>
          <a:bodyPr/>
          <a:lstStyle>
            <a:lvl1pPr>
              <a:defRPr/>
            </a:lvl1pPr>
          </a:lstStyle>
          <a:p>
            <a:endParaRPr lang="en-US"/>
          </a:p>
        </p:txBody>
      </p:sp>
      <p:sp>
        <p:nvSpPr>
          <p:cNvPr id="7" name="灯片编号占位符 6"/>
          <p:cNvSpPr>
            <a:spLocks noGrp="1"/>
          </p:cNvSpPr>
          <p:nvPr>
            <p:ph type="sldNum" sz="quarter" idx="12"/>
          </p:nvPr>
        </p:nvSpPr>
        <p:spPr/>
        <p:txBody>
          <a:bodyPr/>
          <a:lstStyle>
            <a:lvl1pPr>
              <a:defRPr/>
            </a:lvl1pPr>
          </a:lstStyle>
          <a:p>
            <a:fld id="{FB11A3F3-5259-4596-98FF-74522425F9A2}" type="slidenum">
              <a:rPr lang="en-US"/>
              <a:t>‹#›</a:t>
            </a:fld>
            <a:endParaRPr lang="en-US"/>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B63A0084-23A0-4D81-8386-CBDF1176DE2A}" type="datetimeFigureOut">
              <a:rPr lang="en-US"/>
              <a:t>8/8/2022</a:t>
            </a:fld>
            <a:endParaRPr lang="en-US"/>
          </a:p>
        </p:txBody>
      </p:sp>
      <p:sp>
        <p:nvSpPr>
          <p:cNvPr id="6" name="页脚占位符 5"/>
          <p:cNvSpPr>
            <a:spLocks noGrp="1"/>
          </p:cNvSpPr>
          <p:nvPr>
            <p:ph type="ftr" sz="quarter" idx="11"/>
          </p:nvPr>
        </p:nvSpPr>
        <p:spPr/>
        <p:txBody>
          <a:bodyPr/>
          <a:lstStyle>
            <a:lvl1pPr>
              <a:defRPr/>
            </a:lvl1pPr>
          </a:lstStyle>
          <a:p>
            <a:endParaRPr lang="en-US"/>
          </a:p>
        </p:txBody>
      </p:sp>
      <p:sp>
        <p:nvSpPr>
          <p:cNvPr id="7" name="灯片编号占位符 6"/>
          <p:cNvSpPr>
            <a:spLocks noGrp="1"/>
          </p:cNvSpPr>
          <p:nvPr>
            <p:ph type="sldNum" sz="quarter" idx="12"/>
          </p:nvPr>
        </p:nvSpPr>
        <p:spPr/>
        <p:txBody>
          <a:bodyPr/>
          <a:lstStyle>
            <a:lvl1pPr>
              <a:defRPr/>
            </a:lvl1pPr>
          </a:lstStyle>
          <a:p>
            <a:fld id="{A787CC9C-5DB5-4356-894C-13DEE5F9AFA7}" type="slidenum">
              <a:rPr lang="en-US"/>
              <a:t>‹#›</a:t>
            </a:fld>
            <a:endParaRPr lang="en-US"/>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60C88680-F1BE-4E90-B2CF-B86C2B09ECEF}" type="datetimeFigureOut">
              <a:rPr lang="en-US"/>
              <a:t>8/8/2022</a:t>
            </a:fld>
            <a:endParaRPr lang="en-US"/>
          </a:p>
        </p:txBody>
      </p:sp>
      <p:sp>
        <p:nvSpPr>
          <p:cNvPr id="5" name="页脚占位符 4"/>
          <p:cNvSpPr>
            <a:spLocks noGrp="1"/>
          </p:cNvSpPr>
          <p:nvPr>
            <p:ph type="ftr" sz="quarter" idx="11"/>
          </p:nvPr>
        </p:nvSpPr>
        <p:spPr/>
        <p:txBody>
          <a:bodyPr/>
          <a:lstStyle>
            <a:lvl1pPr>
              <a:defRPr/>
            </a:lvl1pPr>
          </a:lstStyle>
          <a:p>
            <a:endParaRPr lang="en-US"/>
          </a:p>
        </p:txBody>
      </p:sp>
      <p:sp>
        <p:nvSpPr>
          <p:cNvPr id="6" name="灯片编号占位符 5"/>
          <p:cNvSpPr>
            <a:spLocks noGrp="1"/>
          </p:cNvSpPr>
          <p:nvPr>
            <p:ph type="sldNum" sz="quarter" idx="12"/>
          </p:nvPr>
        </p:nvSpPr>
        <p:spPr/>
        <p:txBody>
          <a:bodyPr/>
          <a:lstStyle>
            <a:lvl1pPr>
              <a:defRPr/>
            </a:lvl1pPr>
          </a:lstStyle>
          <a:p>
            <a:fld id="{56DF63F3-A349-4869-83A0-E8884C35DEE9}" type="slidenum">
              <a:rPr lang="en-US"/>
              <a:t>‹#›</a:t>
            </a:fld>
            <a:endParaRPr lang="en-US"/>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11138"/>
            <a:ext cx="2057400" cy="59150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11138"/>
            <a:ext cx="6019800" cy="59150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B8A29246-8A65-40BE-B874-E8D0F0CAF548}" type="datetimeFigureOut">
              <a:rPr lang="en-US"/>
              <a:t>8/8/2022</a:t>
            </a:fld>
            <a:endParaRPr lang="en-US"/>
          </a:p>
        </p:txBody>
      </p:sp>
      <p:sp>
        <p:nvSpPr>
          <p:cNvPr id="5" name="页脚占位符 4"/>
          <p:cNvSpPr>
            <a:spLocks noGrp="1"/>
          </p:cNvSpPr>
          <p:nvPr>
            <p:ph type="ftr" sz="quarter" idx="11"/>
          </p:nvPr>
        </p:nvSpPr>
        <p:spPr/>
        <p:txBody>
          <a:bodyPr/>
          <a:lstStyle>
            <a:lvl1pPr>
              <a:defRPr/>
            </a:lvl1pPr>
          </a:lstStyle>
          <a:p>
            <a:endParaRPr lang="en-US"/>
          </a:p>
        </p:txBody>
      </p:sp>
      <p:sp>
        <p:nvSpPr>
          <p:cNvPr id="6" name="灯片编号占位符 5"/>
          <p:cNvSpPr>
            <a:spLocks noGrp="1"/>
          </p:cNvSpPr>
          <p:nvPr>
            <p:ph type="sldNum" sz="quarter" idx="12"/>
          </p:nvPr>
        </p:nvSpPr>
        <p:spPr/>
        <p:txBody>
          <a:bodyPr/>
          <a:lstStyle>
            <a:lvl1pPr>
              <a:defRPr/>
            </a:lvl1pPr>
          </a:lstStyle>
          <a:p>
            <a:fld id="{66A906A6-4DC5-4240-ADC6-FC8BF28AAE64}" type="slidenum">
              <a:rPr lang="en-US"/>
              <a:t>‹#›</a:t>
            </a:fld>
            <a:endParaRPr lang="en-US"/>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pPr>
              <a:defRPr/>
            </a:pPr>
            <a:fld id="{D3BFB99B-1C76-4506-AE1F-5A9155F5FDBA}" type="datetimeFigureOut">
              <a:rPr lang="zh-CN" altLang="en-US" smtClean="0"/>
              <a:t>2022/8/8</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B63E8B97-07C9-4E61-B56F-69B26F87C56F}" type="slidenum">
              <a:rPr lang="zh-CN" altLang="en-US" smtClean="0"/>
              <a:t>‹#›</a:t>
            </a:fld>
            <a:endParaRPr lang="zh-CN" altLang="en-US"/>
          </a:p>
        </p:txBody>
      </p:sp>
    </p:spTree>
    <p:extLst>
      <p:ext uri="{BB962C8B-B14F-4D97-AF65-F5344CB8AC3E}">
        <p14:creationId xmlns:p14="http://schemas.microsoft.com/office/powerpoint/2010/main" val="1934677082"/>
      </p:ext>
    </p:extLst>
  </p:cSld>
  <p:clrMapOvr>
    <a:masterClrMapping/>
  </p:clrMapOvr>
  <p:transition>
    <p:fad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fld id="{69FA54D2-F90E-4706-ACB4-B604CDD278CE}" type="datetimeFigureOut">
              <a:rPr lang="zh-CN" altLang="en-US" smtClean="0"/>
              <a:t>2022/8/8</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EF8DFCD8-3BCF-4796-93E0-377581CA5570}" type="slidenum">
              <a:rPr lang="zh-CN" altLang="en-US" smtClean="0"/>
              <a:t>‹#›</a:t>
            </a:fld>
            <a:endParaRPr lang="zh-CN" altLang="en-US"/>
          </a:p>
        </p:txBody>
      </p:sp>
    </p:spTree>
    <p:extLst>
      <p:ext uri="{BB962C8B-B14F-4D97-AF65-F5344CB8AC3E}">
        <p14:creationId xmlns:p14="http://schemas.microsoft.com/office/powerpoint/2010/main" val="445076385"/>
      </p:ext>
    </p:extLst>
  </p:cSld>
  <p:clrMapOvr>
    <a:masterClrMapping/>
  </p:clrMapOvr>
  <p:transition>
    <p:fad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fld id="{FB8CC39E-8A43-4724-9C31-272660553DD2}" type="datetimeFigureOut">
              <a:rPr lang="zh-CN" altLang="en-US" smtClean="0"/>
              <a:t>2022/8/8</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87A690E6-A5EA-40D0-B696-5390764F17F0}" type="slidenum">
              <a:rPr lang="zh-CN" altLang="en-US" smtClean="0"/>
              <a:t>‹#›</a:t>
            </a:fld>
            <a:endParaRPr lang="zh-CN" altLang="en-US"/>
          </a:p>
        </p:txBody>
      </p:sp>
    </p:spTree>
    <p:extLst>
      <p:ext uri="{BB962C8B-B14F-4D97-AF65-F5344CB8AC3E}">
        <p14:creationId xmlns:p14="http://schemas.microsoft.com/office/powerpoint/2010/main" val="130830921"/>
      </p:ext>
    </p:extLst>
  </p:cSld>
  <p:clrMapOvr>
    <a:masterClrMapping/>
  </p:clrMapOvr>
  <p:transition>
    <p:fad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pPr>
              <a:defRPr/>
            </a:pPr>
            <a:fld id="{9DAEF347-88B0-4BA8-B39E-A0A672CFE4BE}" type="datetimeFigureOut">
              <a:rPr lang="zh-CN" altLang="en-US" smtClean="0"/>
              <a:t>2022/8/8</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06C13C8E-2A36-4D42-993A-4D3891F15EA4}" type="slidenum">
              <a:rPr lang="zh-CN" altLang="en-US" smtClean="0"/>
              <a:t>‹#›</a:t>
            </a:fld>
            <a:endParaRPr lang="zh-CN" altLang="en-US"/>
          </a:p>
        </p:txBody>
      </p:sp>
    </p:spTree>
    <p:extLst>
      <p:ext uri="{BB962C8B-B14F-4D97-AF65-F5344CB8AC3E}">
        <p14:creationId xmlns:p14="http://schemas.microsoft.com/office/powerpoint/2010/main" val="616831097"/>
      </p:ext>
    </p:extLst>
  </p:cSld>
  <p:clrMapOvr>
    <a:masterClrMapping/>
  </p:clrMapOvr>
  <p:transition>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pPr>
              <a:defRPr/>
            </a:pPr>
            <a:fld id="{65C30936-B6DB-461F-AC5C-0B6349BE58D7}" type="datetimeFigureOut">
              <a:rPr lang="zh-CN" altLang="en-US" smtClean="0"/>
              <a:t>2022/8/8</a:t>
            </a:fld>
            <a:endParaRPr lang="zh-CN" altLang="en-US"/>
          </a:p>
        </p:txBody>
      </p:sp>
      <p:sp>
        <p:nvSpPr>
          <p:cNvPr id="8" name="Footer Placeholder 7"/>
          <p:cNvSpPr>
            <a:spLocks noGrp="1"/>
          </p:cNvSpPr>
          <p:nvPr>
            <p:ph type="ftr" sz="quarter" idx="11"/>
          </p:nvPr>
        </p:nvSpPr>
        <p:spPr/>
        <p:txBody>
          <a:bodyPr/>
          <a:lstStyle/>
          <a:p>
            <a:pPr>
              <a:defRPr/>
            </a:pPr>
            <a:endParaRPr lang="zh-CN" altLang="en-US"/>
          </a:p>
        </p:txBody>
      </p:sp>
      <p:sp>
        <p:nvSpPr>
          <p:cNvPr id="9" name="Slide Number Placeholder 8"/>
          <p:cNvSpPr>
            <a:spLocks noGrp="1"/>
          </p:cNvSpPr>
          <p:nvPr>
            <p:ph type="sldNum" sz="quarter" idx="12"/>
          </p:nvPr>
        </p:nvSpPr>
        <p:spPr/>
        <p:txBody>
          <a:bodyPr/>
          <a:lstStyle/>
          <a:p>
            <a:pPr>
              <a:defRPr/>
            </a:pPr>
            <a:fld id="{0392EB35-03A0-4872-BCE8-94A91764A427}" type="slidenum">
              <a:rPr lang="zh-CN" altLang="en-US" smtClean="0"/>
              <a:t>‹#›</a:t>
            </a:fld>
            <a:endParaRPr lang="zh-CN" altLang="en-US"/>
          </a:p>
        </p:txBody>
      </p:sp>
    </p:spTree>
    <p:extLst>
      <p:ext uri="{BB962C8B-B14F-4D97-AF65-F5344CB8AC3E}">
        <p14:creationId xmlns:p14="http://schemas.microsoft.com/office/powerpoint/2010/main" val="1158890430"/>
      </p:ext>
    </p:extLst>
  </p:cSld>
  <p:clrMapOvr>
    <a:masterClrMapping/>
  </p:clrMapOvr>
  <p:transition>
    <p:fad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pPr>
              <a:defRPr/>
            </a:pPr>
            <a:fld id="{2344C33B-42CC-4461-B890-C3AAA6ED26AE}" type="datetimeFigureOut">
              <a:rPr lang="zh-CN" altLang="en-US" smtClean="0"/>
              <a:t>2022/8/8</a:t>
            </a:fld>
            <a:endParaRPr lang="zh-CN" altLang="en-US"/>
          </a:p>
        </p:txBody>
      </p:sp>
      <p:sp>
        <p:nvSpPr>
          <p:cNvPr id="4" name="Footer Placeholder 3"/>
          <p:cNvSpPr>
            <a:spLocks noGrp="1"/>
          </p:cNvSpPr>
          <p:nvPr>
            <p:ph type="ftr" sz="quarter" idx="11"/>
          </p:nvPr>
        </p:nvSpPr>
        <p:spPr/>
        <p:txBody>
          <a:bodyPr/>
          <a:lstStyle/>
          <a:p>
            <a:pPr>
              <a:defRPr/>
            </a:pPr>
            <a:endParaRPr lang="zh-CN" altLang="en-US"/>
          </a:p>
        </p:txBody>
      </p:sp>
      <p:sp>
        <p:nvSpPr>
          <p:cNvPr id="5" name="Slide Number Placeholder 4"/>
          <p:cNvSpPr>
            <a:spLocks noGrp="1"/>
          </p:cNvSpPr>
          <p:nvPr>
            <p:ph type="sldNum" sz="quarter" idx="12"/>
          </p:nvPr>
        </p:nvSpPr>
        <p:spPr/>
        <p:txBody>
          <a:bodyPr/>
          <a:lstStyle/>
          <a:p>
            <a:pPr>
              <a:defRPr/>
            </a:pPr>
            <a:fld id="{657DFB27-8632-4DBB-BC36-BB4DFAE77586}" type="slidenum">
              <a:rPr lang="zh-CN" altLang="en-US" smtClean="0"/>
              <a:t>‹#›</a:t>
            </a:fld>
            <a:endParaRPr lang="zh-CN" altLang="en-US"/>
          </a:p>
        </p:txBody>
      </p:sp>
    </p:spTree>
    <p:extLst>
      <p:ext uri="{BB962C8B-B14F-4D97-AF65-F5344CB8AC3E}">
        <p14:creationId xmlns:p14="http://schemas.microsoft.com/office/powerpoint/2010/main" val="1176601117"/>
      </p:ext>
    </p:extLst>
  </p:cSld>
  <p:clrMapOvr>
    <a:masterClrMapping/>
  </p:clrMapOvr>
  <p:transition>
    <p:fade/>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4537CE58-5980-4B9B-9E0E-F781C552510A}" type="datetimeFigureOut">
              <a:rPr lang="zh-CN" altLang="en-US" smtClean="0"/>
              <a:t>2022/8/8</a:t>
            </a:fld>
            <a:endParaRPr lang="zh-CN" altLang="en-US"/>
          </a:p>
        </p:txBody>
      </p:sp>
      <p:sp>
        <p:nvSpPr>
          <p:cNvPr id="3" name="Footer Placeholder 2"/>
          <p:cNvSpPr>
            <a:spLocks noGrp="1"/>
          </p:cNvSpPr>
          <p:nvPr>
            <p:ph type="ftr" sz="quarter" idx="11"/>
          </p:nvPr>
        </p:nvSpPr>
        <p:spPr/>
        <p:txBody>
          <a:bodyPr/>
          <a:lstStyle/>
          <a:p>
            <a:pPr>
              <a:defRPr/>
            </a:pPr>
            <a:endParaRPr lang="zh-CN" altLang="en-US"/>
          </a:p>
        </p:txBody>
      </p:sp>
      <p:sp>
        <p:nvSpPr>
          <p:cNvPr id="4" name="Slide Number Placeholder 3"/>
          <p:cNvSpPr>
            <a:spLocks noGrp="1"/>
          </p:cNvSpPr>
          <p:nvPr>
            <p:ph type="sldNum" sz="quarter" idx="12"/>
          </p:nvPr>
        </p:nvSpPr>
        <p:spPr/>
        <p:txBody>
          <a:bodyPr/>
          <a:lstStyle/>
          <a:p>
            <a:pPr>
              <a:defRPr/>
            </a:pPr>
            <a:fld id="{00E7B573-E2AE-488D-9391-86DF97130FF7}" type="slidenum">
              <a:rPr lang="zh-CN" altLang="en-US" smtClean="0"/>
              <a:t>‹#›</a:t>
            </a:fld>
            <a:endParaRPr lang="zh-CN" altLang="en-US"/>
          </a:p>
        </p:txBody>
      </p:sp>
    </p:spTree>
    <p:extLst>
      <p:ext uri="{BB962C8B-B14F-4D97-AF65-F5344CB8AC3E}">
        <p14:creationId xmlns:p14="http://schemas.microsoft.com/office/powerpoint/2010/main" val="1718933411"/>
      </p:ext>
    </p:extLst>
  </p:cSld>
  <p:clrMapOvr>
    <a:masterClrMapping/>
  </p:clrMapOvr>
  <p:transition>
    <p:fade/>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fld id="{3F2FD409-DBF4-4A0A-9718-1C748A1AAF27}" type="datetimeFigureOut">
              <a:rPr lang="zh-CN" altLang="en-US" smtClean="0"/>
              <a:t>2022/8/8</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1E78FF9F-66F7-4BDB-8A2A-A4A9272D3202}" type="slidenum">
              <a:rPr lang="zh-CN" altLang="en-US" smtClean="0"/>
              <a:t>‹#›</a:t>
            </a:fld>
            <a:endParaRPr lang="zh-CN" altLang="en-US"/>
          </a:p>
        </p:txBody>
      </p:sp>
    </p:spTree>
    <p:extLst>
      <p:ext uri="{BB962C8B-B14F-4D97-AF65-F5344CB8AC3E}">
        <p14:creationId xmlns:p14="http://schemas.microsoft.com/office/powerpoint/2010/main" val="1842277617"/>
      </p:ext>
    </p:extLst>
  </p:cSld>
  <p:clrMapOvr>
    <a:masterClrMapping/>
  </p:clrMapOvr>
  <p:transition>
    <p:fade/>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pPr>
              <a:defRPr/>
            </a:pPr>
            <a:fld id="{39A98522-E70F-4E26-876F-C995B9A7AEAA}" type="datetimeFigureOut">
              <a:rPr lang="zh-CN" altLang="en-US" smtClean="0"/>
              <a:t>2022/8/8</a:t>
            </a:fld>
            <a:endParaRPr lang="zh-CN" altLang="en-US"/>
          </a:p>
        </p:txBody>
      </p:sp>
      <p:sp>
        <p:nvSpPr>
          <p:cNvPr id="6" name="Footer Placeholder 5"/>
          <p:cNvSpPr>
            <a:spLocks noGrp="1"/>
          </p:cNvSpPr>
          <p:nvPr>
            <p:ph type="ftr" sz="quarter" idx="11"/>
          </p:nvPr>
        </p:nvSpPr>
        <p:spPr/>
        <p:txBody>
          <a:bodyPr/>
          <a:lstStyle/>
          <a:p>
            <a:pPr>
              <a:defRPr/>
            </a:pPr>
            <a:endParaRPr lang="zh-CN" altLang="en-US"/>
          </a:p>
        </p:txBody>
      </p:sp>
      <p:sp>
        <p:nvSpPr>
          <p:cNvPr id="7" name="Slide Number Placeholder 6"/>
          <p:cNvSpPr>
            <a:spLocks noGrp="1"/>
          </p:cNvSpPr>
          <p:nvPr>
            <p:ph type="sldNum" sz="quarter" idx="12"/>
          </p:nvPr>
        </p:nvSpPr>
        <p:spPr/>
        <p:txBody>
          <a:bodyPr/>
          <a:lstStyle/>
          <a:p>
            <a:pPr>
              <a:defRPr/>
            </a:pPr>
            <a:fld id="{ED50AD1C-40F4-4AA8-A525-57D04FAB9845}" type="slidenum">
              <a:rPr lang="zh-CN" altLang="en-US" smtClean="0"/>
              <a:t>‹#›</a:t>
            </a:fld>
            <a:endParaRPr lang="zh-CN" altLang="en-US"/>
          </a:p>
        </p:txBody>
      </p:sp>
    </p:spTree>
    <p:extLst>
      <p:ext uri="{BB962C8B-B14F-4D97-AF65-F5344CB8AC3E}">
        <p14:creationId xmlns:p14="http://schemas.microsoft.com/office/powerpoint/2010/main" val="2862324514"/>
      </p:ext>
    </p:extLst>
  </p:cSld>
  <p:clrMapOvr>
    <a:masterClrMapping/>
  </p:clrMapOvr>
  <p:transition>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fld id="{02B0B4F7-AC28-4FE7-B1C0-A7ADD5E050F0}" type="datetimeFigureOut">
              <a:rPr lang="zh-CN" altLang="en-US" smtClean="0"/>
              <a:t>2022/8/8</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5F2971E3-3F4B-4EF7-8EED-270B40E509F5}" type="slidenum">
              <a:rPr lang="zh-CN" altLang="en-US" smtClean="0"/>
              <a:t>‹#›</a:t>
            </a:fld>
            <a:endParaRPr lang="zh-CN" altLang="en-US"/>
          </a:p>
        </p:txBody>
      </p:sp>
    </p:spTree>
    <p:extLst>
      <p:ext uri="{BB962C8B-B14F-4D97-AF65-F5344CB8AC3E}">
        <p14:creationId xmlns:p14="http://schemas.microsoft.com/office/powerpoint/2010/main" val="2506141109"/>
      </p:ext>
    </p:extLst>
  </p:cSld>
  <p:clrMapOvr>
    <a:masterClrMapping/>
  </p:clrMapOvr>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zh-CN" altLang="en-US" smtClean="0"/>
              <a:t>单击此处编辑母版标题样式</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fld id="{02B0B4F7-AC28-4FE7-B1C0-A7ADD5E050F0}" type="datetimeFigureOut">
              <a:rPr lang="zh-CN" altLang="en-US" smtClean="0"/>
              <a:t>2022/8/8</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5F2971E3-3F4B-4EF7-8EED-270B40E509F5}" type="slidenum">
              <a:rPr lang="zh-CN" altLang="en-US" smtClean="0"/>
              <a:t>‹#›</a:t>
            </a:fld>
            <a:endParaRPr lang="zh-CN" alt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852966008"/>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fld id="{02B0B4F7-AC28-4FE7-B1C0-A7ADD5E050F0}" type="datetimeFigureOut">
              <a:rPr lang="zh-CN" altLang="en-US" smtClean="0"/>
              <a:t>2022/8/8</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5F2971E3-3F4B-4EF7-8EED-270B40E509F5}" type="slidenum">
              <a:rPr lang="zh-CN" altLang="en-US" smtClean="0"/>
              <a:t>‹#›</a:t>
            </a:fld>
            <a:endParaRPr lang="zh-CN" altLang="en-US"/>
          </a:p>
        </p:txBody>
      </p:sp>
    </p:spTree>
    <p:extLst>
      <p:ext uri="{BB962C8B-B14F-4D97-AF65-F5344CB8AC3E}">
        <p14:creationId xmlns:p14="http://schemas.microsoft.com/office/powerpoint/2010/main" val="721705581"/>
      </p:ext>
    </p:extLst>
  </p:cSld>
  <p:clrMapOvr>
    <a:masterClrMapping/>
  </p:clrMapOvr>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zh-CN" altLang="en-US" smtClean="0"/>
              <a:t>单击此处编辑母版标题样式</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fld id="{02B0B4F7-AC28-4FE7-B1C0-A7ADD5E050F0}" type="datetimeFigureOut">
              <a:rPr lang="zh-CN" altLang="en-US" smtClean="0"/>
              <a:t>2022/8/8</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5F2971E3-3F4B-4EF7-8EED-270B40E509F5}" type="slidenum">
              <a:rPr lang="zh-CN" altLang="en-US" smtClean="0"/>
              <a:t>‹#›</a:t>
            </a:fld>
            <a:endParaRPr lang="zh-CN" alt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3059688"/>
      </p:ext>
    </p:extLst>
  </p:cSld>
  <p:clrMapOvr>
    <a:masterClrMapping/>
  </p:clrMapOvr>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zh-CN" altLang="en-US" smtClean="0"/>
              <a:t>单击此处编辑母版标题样式</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smtClean="0"/>
              <a:t>单击此处编辑母版文本样式</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pPr>
              <a:defRPr/>
            </a:pPr>
            <a:fld id="{02B0B4F7-AC28-4FE7-B1C0-A7ADD5E050F0}" type="datetimeFigureOut">
              <a:rPr lang="zh-CN" altLang="en-US" smtClean="0"/>
              <a:t>2022/8/8</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5F2971E3-3F4B-4EF7-8EED-270B40E509F5}" type="slidenum">
              <a:rPr lang="zh-CN" altLang="en-US" smtClean="0"/>
              <a:t>‹#›</a:t>
            </a:fld>
            <a:endParaRPr lang="zh-CN" altLang="en-US"/>
          </a:p>
        </p:txBody>
      </p:sp>
    </p:spTree>
    <p:extLst>
      <p:ext uri="{BB962C8B-B14F-4D97-AF65-F5344CB8AC3E}">
        <p14:creationId xmlns:p14="http://schemas.microsoft.com/office/powerpoint/2010/main" val="3218397805"/>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fld id="{D91332FC-D913-4907-BC40-B30888465916}" type="datetimeFigureOut">
              <a:rPr lang="zh-CN" altLang="en-US" smtClean="0"/>
              <a:t>2022/8/8</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FF676AE7-DB75-4EB9-93B4-E91138B77E29}" type="slidenum">
              <a:rPr lang="zh-CN" altLang="en-US" smtClean="0"/>
              <a:t>‹#›</a:t>
            </a:fld>
            <a:endParaRPr lang="zh-CN" altLang="en-US"/>
          </a:p>
        </p:txBody>
      </p:sp>
    </p:spTree>
    <p:extLst>
      <p:ext uri="{BB962C8B-B14F-4D97-AF65-F5344CB8AC3E}">
        <p14:creationId xmlns:p14="http://schemas.microsoft.com/office/powerpoint/2010/main" val="481606828"/>
      </p:ext>
    </p:extLst>
  </p:cSld>
  <p:clrMapOvr>
    <a:masterClrMapping/>
  </p:clrMapOvr>
  <p:transition>
    <p:fade/>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pPr>
              <a:defRPr/>
            </a:pPr>
            <a:fld id="{02B0B4F7-AC28-4FE7-B1C0-A7ADD5E050F0}" type="datetimeFigureOut">
              <a:rPr lang="zh-CN" altLang="en-US" smtClean="0"/>
              <a:t>2022/8/8</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5F2971E3-3F4B-4EF7-8EED-270B40E509F5}" type="slidenum">
              <a:rPr lang="zh-CN" altLang="en-US" smtClean="0"/>
              <a:t>‹#›</a:t>
            </a:fld>
            <a:endParaRPr lang="zh-CN" altLang="en-US"/>
          </a:p>
        </p:txBody>
      </p:sp>
    </p:spTree>
    <p:extLst>
      <p:ext uri="{BB962C8B-B14F-4D97-AF65-F5344CB8AC3E}">
        <p14:creationId xmlns:p14="http://schemas.microsoft.com/office/powerpoint/2010/main" val="1384412658"/>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2.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theme" Target="../theme/theme3.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20638"/>
            <a:ext cx="9144000" cy="1438276"/>
          </a:xfrm>
          <a:prstGeom prst="rect">
            <a:avLst/>
          </a:prstGeom>
          <a:solidFill>
            <a:srgbClr val="243AA8"/>
          </a:solidFill>
          <a:ln w="9525" cmpd="sng">
            <a:solidFill>
              <a:schemeClr val="tx1"/>
            </a:solidFill>
            <a:miter lim="800000"/>
          </a:ln>
        </p:spPr>
        <p:txBody>
          <a:bodyPr wrap="none" anchor="ctr"/>
          <a:lstStyle/>
          <a:p>
            <a:endParaRPr lang="zh-CN" altLang="en-US"/>
          </a:p>
        </p:txBody>
      </p:sp>
      <p:sp>
        <p:nvSpPr>
          <p:cNvPr id="1027" name="Text Box 3"/>
          <p:cNvSpPr txBox="1">
            <a:spLocks noChangeArrowheads="1"/>
          </p:cNvSpPr>
          <p:nvPr/>
        </p:nvSpPr>
        <p:spPr bwMode="auto">
          <a:xfrm>
            <a:off x="15875" y="6742113"/>
            <a:ext cx="9128125" cy="115887"/>
          </a:xfrm>
          <a:prstGeom prst="rect">
            <a:avLst/>
          </a:prstGeom>
          <a:solidFill>
            <a:srgbClr val="C1C1C1"/>
          </a:solidFill>
          <a:ln w="9525">
            <a:noFill/>
            <a:miter lim="800000"/>
          </a:ln>
        </p:spPr>
        <p:txBody>
          <a:bodyPr lIns="36000" tIns="7200" rIns="36000" bIns="18000" anchor="ctr"/>
          <a:lstStyle/>
          <a:p>
            <a:pPr eaLnBrk="0" hangingPunct="0"/>
            <a:endParaRPr lang="en-US" sz="100"/>
          </a:p>
        </p:txBody>
      </p:sp>
      <p:sp>
        <p:nvSpPr>
          <p:cNvPr id="1028" name="Text Box 4"/>
          <p:cNvSpPr txBox="1">
            <a:spLocks noChangeArrowheads="1"/>
          </p:cNvSpPr>
          <p:nvPr/>
        </p:nvSpPr>
        <p:spPr bwMode="auto">
          <a:xfrm>
            <a:off x="15875" y="-9525"/>
            <a:ext cx="9144000" cy="109538"/>
          </a:xfrm>
          <a:prstGeom prst="rect">
            <a:avLst/>
          </a:prstGeom>
          <a:solidFill>
            <a:srgbClr val="C1C1C1"/>
          </a:solidFill>
          <a:ln w="9525">
            <a:noFill/>
            <a:miter lim="800000"/>
          </a:ln>
        </p:spPr>
        <p:txBody>
          <a:bodyPr lIns="36000" tIns="7200" rIns="36000" bIns="18000" anchor="ctr"/>
          <a:lstStyle/>
          <a:p>
            <a:pPr eaLnBrk="0" hangingPunct="0"/>
            <a:endParaRPr lang="en-US" sz="100"/>
          </a:p>
        </p:txBody>
      </p:sp>
      <p:sp>
        <p:nvSpPr>
          <p:cNvPr id="1029" name="Rectangle 5"/>
          <p:cNvSpPr>
            <a:spLocks noGrp="1" noChangeArrowheads="1"/>
          </p:cNvSpPr>
          <p:nvPr>
            <p:ph type="title"/>
          </p:nvPr>
        </p:nvSpPr>
        <p:spPr bwMode="auto">
          <a:xfrm>
            <a:off x="457200" y="211138"/>
            <a:ext cx="8229600" cy="11430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p>
        </p:txBody>
      </p:sp>
      <p:sp>
        <p:nvSpPr>
          <p:cNvPr id="1030" name="Rectangle 6"/>
          <p:cNvSpPr>
            <a:spLocks noGrp="1" noChangeArrowheads="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1" name="Rectangle 7"/>
          <p:cNvSpPr>
            <a:spLocks noGrp="1" noChangeArrowheads="1"/>
          </p:cNvSpPr>
          <p:nvPr>
            <p:ph type="dt" sz="half" idx="2"/>
          </p:nvPr>
        </p:nvSpPr>
        <p:spPr bwMode="auto">
          <a:xfrm>
            <a:off x="457200" y="6245225"/>
            <a:ext cx="2133600" cy="476250"/>
          </a:xfrm>
          <a:prstGeom prst="rect">
            <a:avLst/>
          </a:prstGeom>
          <a:noFill/>
          <a:ln w="9525">
            <a:noFill/>
            <a:miter lim="800000"/>
          </a:ln>
        </p:spPr>
        <p:txBody>
          <a:bodyPr vert="horz" wrap="square" lIns="91440" tIns="45720" rIns="91440" bIns="45720" numCol="1" anchor="t" anchorCtr="0" compatLnSpc="1"/>
          <a:lstStyle>
            <a:lvl1pPr eaLnBrk="0" hangingPunct="0">
              <a:defRPr sz="1400"/>
            </a:lvl1pPr>
          </a:lstStyle>
          <a:p>
            <a:pPr>
              <a:defRPr/>
            </a:pPr>
            <a:fld id="{02B0B4F7-AC28-4FE7-B1C0-A7ADD5E050F0}" type="datetimeFigureOut">
              <a:rPr lang="zh-CN" altLang="en-US" smtClean="0"/>
              <a:t>2022/8/8</a:t>
            </a:fld>
            <a:endParaRPr lang="zh-CN" altLang="en-US"/>
          </a:p>
        </p:txBody>
      </p:sp>
      <p:sp>
        <p:nvSpPr>
          <p:cNvPr id="1032" name="Rectangle 8"/>
          <p:cNvSpPr>
            <a:spLocks noGrp="1" noChangeArrowheads="1"/>
          </p:cNvSpPr>
          <p:nvPr>
            <p:ph type="ftr" sz="quarter" idx="3"/>
          </p:nvPr>
        </p:nvSpPr>
        <p:spPr bwMode="auto">
          <a:xfrm>
            <a:off x="3124200" y="6245225"/>
            <a:ext cx="2895600" cy="476250"/>
          </a:xfrm>
          <a:prstGeom prst="rect">
            <a:avLst/>
          </a:prstGeom>
          <a:noFill/>
          <a:ln w="9525">
            <a:noFill/>
            <a:miter lim="800000"/>
          </a:ln>
        </p:spPr>
        <p:txBody>
          <a:bodyPr vert="horz" wrap="square" lIns="91440" tIns="45720" rIns="91440" bIns="45720" numCol="1" anchor="t" anchorCtr="0" compatLnSpc="1"/>
          <a:lstStyle>
            <a:lvl1pPr algn="ctr" eaLnBrk="0" hangingPunct="0">
              <a:defRPr sz="1400"/>
            </a:lvl1pPr>
          </a:lstStyle>
          <a:p>
            <a:pPr>
              <a:defRPr/>
            </a:pPr>
            <a:endParaRPr lang="zh-CN" altLang="en-US"/>
          </a:p>
        </p:txBody>
      </p:sp>
      <p:sp>
        <p:nvSpPr>
          <p:cNvPr id="1033" name="Rectangle 9"/>
          <p:cNvSpPr>
            <a:spLocks noGrp="1" noChangeArrowheads="1"/>
          </p:cNvSpPr>
          <p:nvPr>
            <p:ph type="sldNum" sz="quarter" idx="4"/>
          </p:nvPr>
        </p:nvSpPr>
        <p:spPr bwMode="auto">
          <a:xfrm>
            <a:off x="6553200" y="6245225"/>
            <a:ext cx="2133600" cy="476250"/>
          </a:xfrm>
          <a:prstGeom prst="rect">
            <a:avLst/>
          </a:prstGeom>
          <a:noFill/>
          <a:ln w="9525">
            <a:noFill/>
            <a:miter lim="800000"/>
          </a:ln>
        </p:spPr>
        <p:txBody>
          <a:bodyPr vert="horz" wrap="square" lIns="91440" tIns="45720" rIns="91440" bIns="45720" numCol="1" anchor="t" anchorCtr="0" compatLnSpc="1"/>
          <a:lstStyle>
            <a:lvl1pPr algn="r" eaLnBrk="0" hangingPunct="0">
              <a:defRPr sz="1400"/>
            </a:lvl1pPr>
          </a:lstStyle>
          <a:p>
            <a:pPr>
              <a:defRPr/>
            </a:pPr>
            <a:fld id="{5F2971E3-3F4B-4EF7-8EED-270B40E509F5}"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fade/>
  </p:transition>
  <p:txStyles>
    <p:title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2pPr>
      <a:lvl3pPr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3pPr>
      <a:lvl4pPr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4pPr>
      <a:lvl5pPr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5pPr>
      <a:lvl6pPr marL="457200"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6pPr>
      <a:lvl7pPr marL="914400"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7pPr>
      <a:lvl8pPr marL="1371600"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8pPr>
      <a:lvl9pPr marL="1828800"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9pPr>
    </p:titleStyle>
    <p:bodyStyle>
      <a:lvl1pPr marL="342900" indent="-342900" algn="l" rtl="0" eaLnBrk="1" fontAlgn="base" hangingPunct="1">
        <a:spcBef>
          <a:spcPct val="20000"/>
        </a:spcBef>
        <a:spcAft>
          <a:spcPct val="0"/>
        </a:spcAft>
        <a:buBlip>
          <a:blip r:embed="rId13"/>
        </a:buBlip>
        <a:defRPr sz="3200">
          <a:solidFill>
            <a:schemeClr val="tx1"/>
          </a:solidFill>
          <a:latin typeface="+mn-lt"/>
          <a:ea typeface="+mn-ea"/>
          <a:cs typeface="+mn-cs"/>
        </a:defRPr>
      </a:lvl1pPr>
      <a:lvl2pPr marL="742950" indent="-285750" algn="l" rtl="0" eaLnBrk="1" fontAlgn="base" hangingPunct="1">
        <a:spcBef>
          <a:spcPct val="20000"/>
        </a:spcBef>
        <a:spcAft>
          <a:spcPct val="0"/>
        </a:spcAft>
        <a:buBlip>
          <a:blip r:embed="rId14"/>
        </a:buBlip>
        <a:defRPr sz="2800">
          <a:solidFill>
            <a:schemeClr val="tx1"/>
          </a:solidFill>
          <a:latin typeface="+mn-lt"/>
          <a:ea typeface="+mn-ea"/>
        </a:defRPr>
      </a:lvl2pPr>
      <a:lvl3pPr marL="1143000" indent="-228600" algn="l" rtl="0" eaLnBrk="1" fontAlgn="base" hangingPunct="1">
        <a:spcBef>
          <a:spcPct val="20000"/>
        </a:spcBef>
        <a:spcAft>
          <a:spcPct val="0"/>
        </a:spcAft>
        <a:buBlip>
          <a:blip r:embed="rId13"/>
        </a:buBlip>
        <a:defRPr sz="2400">
          <a:solidFill>
            <a:schemeClr val="tx1"/>
          </a:solidFill>
          <a:latin typeface="+mn-lt"/>
          <a:ea typeface="+mn-ea"/>
        </a:defRPr>
      </a:lvl3pPr>
      <a:lvl4pPr marL="1600200" indent="-228600" algn="l" rtl="0" eaLnBrk="1" fontAlgn="base" hangingPunct="1">
        <a:spcBef>
          <a:spcPct val="20000"/>
        </a:spcBef>
        <a:spcAft>
          <a:spcPct val="0"/>
        </a:spcAft>
        <a:buBlip>
          <a:blip r:embed="rId14"/>
        </a:buBlip>
        <a:defRPr sz="2000">
          <a:solidFill>
            <a:schemeClr val="tx1"/>
          </a:solidFill>
          <a:latin typeface="+mn-lt"/>
          <a:ea typeface="+mn-ea"/>
        </a:defRPr>
      </a:lvl4pPr>
      <a:lvl5pPr marL="2057400" indent="-228600" algn="l" rtl="0" eaLnBrk="1" fontAlgn="base" hangingPunct="1">
        <a:spcBef>
          <a:spcPct val="20000"/>
        </a:spcBef>
        <a:spcAft>
          <a:spcPct val="0"/>
        </a:spcAft>
        <a:buBlip>
          <a:blip r:embed="rId13"/>
        </a:buBlip>
        <a:defRPr sz="2000">
          <a:solidFill>
            <a:schemeClr val="tx1"/>
          </a:solidFill>
          <a:latin typeface="+mn-lt"/>
          <a:ea typeface="+mn-ea"/>
        </a:defRPr>
      </a:lvl5pPr>
      <a:lvl6pPr marL="2514600" indent="-228600" algn="l" rtl="0" eaLnBrk="1" fontAlgn="base" hangingPunct="1">
        <a:spcBef>
          <a:spcPct val="20000"/>
        </a:spcBef>
        <a:spcAft>
          <a:spcPct val="0"/>
        </a:spcAft>
        <a:buBlip>
          <a:blip r:embed="rId13"/>
        </a:buBlip>
        <a:defRPr sz="2000">
          <a:solidFill>
            <a:schemeClr val="tx1"/>
          </a:solidFill>
          <a:latin typeface="+mn-lt"/>
          <a:ea typeface="+mn-ea"/>
        </a:defRPr>
      </a:lvl6pPr>
      <a:lvl7pPr marL="2971800" indent="-228600" algn="l" rtl="0" eaLnBrk="1" fontAlgn="base" hangingPunct="1">
        <a:spcBef>
          <a:spcPct val="20000"/>
        </a:spcBef>
        <a:spcAft>
          <a:spcPct val="0"/>
        </a:spcAft>
        <a:buBlip>
          <a:blip r:embed="rId13"/>
        </a:buBlip>
        <a:defRPr sz="2000">
          <a:solidFill>
            <a:schemeClr val="tx1"/>
          </a:solidFill>
          <a:latin typeface="+mn-lt"/>
          <a:ea typeface="+mn-ea"/>
        </a:defRPr>
      </a:lvl7pPr>
      <a:lvl8pPr marL="3429000" indent="-228600" algn="l" rtl="0" eaLnBrk="1" fontAlgn="base" hangingPunct="1">
        <a:spcBef>
          <a:spcPct val="20000"/>
        </a:spcBef>
        <a:spcAft>
          <a:spcPct val="0"/>
        </a:spcAft>
        <a:buBlip>
          <a:blip r:embed="rId13"/>
        </a:buBlip>
        <a:defRPr sz="2000">
          <a:solidFill>
            <a:schemeClr val="tx1"/>
          </a:solidFill>
          <a:latin typeface="+mn-lt"/>
          <a:ea typeface="+mn-ea"/>
        </a:defRPr>
      </a:lvl8pPr>
      <a:lvl9pPr marL="3886200" indent="-228600" algn="l" rtl="0" eaLnBrk="1" fontAlgn="base" hangingPunct="1">
        <a:spcBef>
          <a:spcPct val="20000"/>
        </a:spcBef>
        <a:spcAft>
          <a:spcPct val="0"/>
        </a:spcAft>
        <a:buBlip>
          <a:blip r:embed="rId13"/>
        </a:buBlip>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2050" name="Rectangle 5"/>
          <p:cNvSpPr>
            <a:spLocks noGrp="1" noChangeArrowheads="1"/>
          </p:cNvSpPr>
          <p:nvPr>
            <p:ph type="title"/>
          </p:nvPr>
        </p:nvSpPr>
        <p:spPr bwMode="auto">
          <a:xfrm>
            <a:off x="457200" y="211138"/>
            <a:ext cx="8229600" cy="11430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p>
        </p:txBody>
      </p:sp>
      <p:sp>
        <p:nvSpPr>
          <p:cNvPr id="2051" name="Rectangle 6"/>
          <p:cNvSpPr>
            <a:spLocks noGrp="1" noChangeArrowheads="1"/>
          </p:cNvSpPr>
          <p:nvPr>
            <p:ph type="body" idx="1"/>
          </p:nvPr>
        </p:nvSpPr>
        <p:spPr bwMode="auto">
          <a:xfrm>
            <a:off x="457200" y="1600200"/>
            <a:ext cx="8229600" cy="4525963"/>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052" name="Rectangle 4"/>
          <p:cNvSpPr>
            <a:spLocks noGrp="1" noChangeArrowheads="1"/>
          </p:cNvSpPr>
          <p:nvPr>
            <p:ph type="dt" sz="half" idx="2"/>
          </p:nvPr>
        </p:nvSpPr>
        <p:spPr bwMode="auto">
          <a:xfrm>
            <a:off x="457200" y="6245225"/>
            <a:ext cx="2133600" cy="476250"/>
          </a:xfrm>
          <a:prstGeom prst="rect">
            <a:avLst/>
          </a:prstGeom>
          <a:noFill/>
          <a:ln w="9525">
            <a:noFill/>
            <a:miter lim="800000"/>
          </a:ln>
        </p:spPr>
        <p:txBody>
          <a:bodyPr vert="horz" wrap="square" lIns="91440" tIns="45720" rIns="91440" bIns="45720" numCol="1" anchor="t" anchorCtr="0" compatLnSpc="1"/>
          <a:lstStyle>
            <a:lvl1pPr eaLnBrk="0" hangingPunct="0">
              <a:defRPr sz="1400"/>
            </a:lvl1pPr>
          </a:lstStyle>
          <a:p>
            <a:fld id="{A0A28CF4-884F-4D07-818B-FA87DB3C8568}" type="datetimeFigureOut">
              <a:rPr lang="en-US"/>
              <a:t>8/8/2022</a:t>
            </a:fld>
            <a:endParaRPr lang="en-US"/>
          </a:p>
        </p:txBody>
      </p:sp>
      <p:sp>
        <p:nvSpPr>
          <p:cNvPr id="2053" name="Rectangle 5"/>
          <p:cNvSpPr>
            <a:spLocks noGrp="1" noChangeArrowheads="1"/>
          </p:cNvSpPr>
          <p:nvPr>
            <p:ph type="ftr" sz="quarter" idx="3"/>
          </p:nvPr>
        </p:nvSpPr>
        <p:spPr bwMode="auto">
          <a:xfrm>
            <a:off x="3124200" y="6245225"/>
            <a:ext cx="2895600" cy="476250"/>
          </a:xfrm>
          <a:prstGeom prst="rect">
            <a:avLst/>
          </a:prstGeom>
          <a:noFill/>
          <a:ln w="9525">
            <a:noFill/>
            <a:miter lim="800000"/>
          </a:ln>
        </p:spPr>
        <p:txBody>
          <a:bodyPr vert="horz" wrap="square" lIns="91440" tIns="45720" rIns="91440" bIns="45720" numCol="1" anchor="t" anchorCtr="0" compatLnSpc="1"/>
          <a:lstStyle>
            <a:lvl1pPr algn="ctr" eaLnBrk="0" hangingPunct="0">
              <a:defRPr sz="1400"/>
            </a:lvl1pPr>
          </a:lstStyle>
          <a:p>
            <a:endParaRPr lang="en-US"/>
          </a:p>
        </p:txBody>
      </p:sp>
      <p:sp>
        <p:nvSpPr>
          <p:cNvPr id="2054"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p:spPr>
        <p:txBody>
          <a:bodyPr vert="horz" wrap="square" lIns="91440" tIns="45720" rIns="91440" bIns="45720" numCol="1" anchor="t" anchorCtr="0" compatLnSpc="1"/>
          <a:lstStyle>
            <a:lvl1pPr algn="r" eaLnBrk="0" hangingPunct="0">
              <a:defRPr sz="1400"/>
            </a:lvl1pPr>
          </a:lstStyle>
          <a:p>
            <a:fld id="{969989F0-42A0-41AC-B601-13A1EAEA1697}"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txStyles>
    <p:titleStyle>
      <a:lvl1pPr algn="ctr" rtl="0" eaLnBrk="1" fontAlgn="base" hangingPunct="1">
        <a:spcBef>
          <a:spcPct val="0"/>
        </a:spcBef>
        <a:spcAft>
          <a:spcPct val="0"/>
        </a:spcAft>
        <a:defRPr sz="4400" b="1">
          <a:solidFill>
            <a:schemeClr val="tx2"/>
          </a:solidFill>
          <a:latin typeface="+mj-lt"/>
          <a:ea typeface="+mj-ea"/>
          <a:cs typeface="+mj-cs"/>
        </a:defRPr>
      </a:lvl1pPr>
      <a:lvl2pPr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2pPr>
      <a:lvl3pPr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3pPr>
      <a:lvl4pPr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4pPr>
      <a:lvl5pPr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5pPr>
      <a:lvl6pPr marL="457200"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6pPr>
      <a:lvl7pPr marL="914400"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7pPr>
      <a:lvl8pPr marL="1371600"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8pPr>
      <a:lvl9pPr marL="1828800" algn="ctr" rtl="0" eaLnBrk="1" fontAlgn="base" hangingPunct="1">
        <a:spcBef>
          <a:spcPct val="0"/>
        </a:spcBef>
        <a:spcAft>
          <a:spcPct val="0"/>
        </a:spcAft>
        <a:defRPr sz="4400" b="1">
          <a:solidFill>
            <a:schemeClr val="tx2"/>
          </a:solidFill>
          <a:latin typeface="Arial" panose="020B0604020202020204" pitchFamily="34" charset="0"/>
          <a:ea typeface="隶书" panose="02010509060101010101" pitchFamily="1" charset="-122"/>
        </a:defRPr>
      </a:lvl9pPr>
    </p:titleStyle>
    <p:bodyStyle>
      <a:lvl1pPr marL="342900" indent="-342900" algn="l" rtl="0" eaLnBrk="1" fontAlgn="base" hangingPunct="1">
        <a:spcBef>
          <a:spcPct val="20000"/>
        </a:spcBef>
        <a:spcAft>
          <a:spcPct val="0"/>
        </a:spcAft>
        <a:buBlip>
          <a:blip r:embed="rId14"/>
        </a:buBlip>
        <a:defRPr sz="3200">
          <a:solidFill>
            <a:schemeClr val="tx1"/>
          </a:solidFill>
          <a:latin typeface="+mn-lt"/>
          <a:ea typeface="+mn-ea"/>
          <a:cs typeface="+mn-cs"/>
        </a:defRPr>
      </a:lvl1pPr>
      <a:lvl2pPr marL="742950" indent="-285750" algn="l" rtl="0" eaLnBrk="1" fontAlgn="base" hangingPunct="1">
        <a:spcBef>
          <a:spcPct val="20000"/>
        </a:spcBef>
        <a:spcAft>
          <a:spcPct val="0"/>
        </a:spcAft>
        <a:buBlip>
          <a:blip r:embed="rId15"/>
        </a:buBlip>
        <a:defRPr sz="2800">
          <a:solidFill>
            <a:schemeClr val="tx1"/>
          </a:solidFill>
          <a:latin typeface="+mn-lt"/>
          <a:ea typeface="+mn-ea"/>
        </a:defRPr>
      </a:lvl2pPr>
      <a:lvl3pPr marL="1143000" indent="-228600" algn="l" rtl="0" eaLnBrk="1" fontAlgn="base" hangingPunct="1">
        <a:spcBef>
          <a:spcPct val="20000"/>
        </a:spcBef>
        <a:spcAft>
          <a:spcPct val="0"/>
        </a:spcAft>
        <a:buBlip>
          <a:blip r:embed="rId14"/>
        </a:buBlip>
        <a:defRPr sz="2400">
          <a:solidFill>
            <a:schemeClr val="tx1"/>
          </a:solidFill>
          <a:latin typeface="+mn-lt"/>
          <a:ea typeface="+mn-ea"/>
        </a:defRPr>
      </a:lvl3pPr>
      <a:lvl4pPr marL="1600200" indent="-228600" algn="l" rtl="0" eaLnBrk="1" fontAlgn="base" hangingPunct="1">
        <a:spcBef>
          <a:spcPct val="20000"/>
        </a:spcBef>
        <a:spcAft>
          <a:spcPct val="0"/>
        </a:spcAft>
        <a:buBlip>
          <a:blip r:embed="rId15"/>
        </a:buBlip>
        <a:defRPr sz="2000">
          <a:solidFill>
            <a:schemeClr val="tx1"/>
          </a:solidFill>
          <a:latin typeface="+mn-lt"/>
          <a:ea typeface="+mn-ea"/>
        </a:defRPr>
      </a:lvl4pPr>
      <a:lvl5pPr marL="2057400" indent="-228600" algn="l" rtl="0" eaLnBrk="1" fontAlgn="base" hangingPunct="1">
        <a:spcBef>
          <a:spcPct val="20000"/>
        </a:spcBef>
        <a:spcAft>
          <a:spcPct val="0"/>
        </a:spcAft>
        <a:buBlip>
          <a:blip r:embed="rId14"/>
        </a:buBlip>
        <a:defRPr sz="2000">
          <a:solidFill>
            <a:schemeClr val="tx1"/>
          </a:solidFill>
          <a:latin typeface="+mn-lt"/>
          <a:ea typeface="+mn-ea"/>
        </a:defRPr>
      </a:lvl5pPr>
      <a:lvl6pPr marL="2514600" indent="-228600" algn="l" rtl="0" eaLnBrk="1" fontAlgn="base" hangingPunct="1">
        <a:spcBef>
          <a:spcPct val="20000"/>
        </a:spcBef>
        <a:spcAft>
          <a:spcPct val="0"/>
        </a:spcAft>
        <a:buBlip>
          <a:blip r:embed="rId14"/>
        </a:buBlip>
        <a:defRPr sz="2000">
          <a:solidFill>
            <a:schemeClr val="tx1"/>
          </a:solidFill>
          <a:latin typeface="+mn-lt"/>
          <a:ea typeface="+mn-ea"/>
        </a:defRPr>
      </a:lvl6pPr>
      <a:lvl7pPr marL="2971800" indent="-228600" algn="l" rtl="0" eaLnBrk="1" fontAlgn="base" hangingPunct="1">
        <a:spcBef>
          <a:spcPct val="20000"/>
        </a:spcBef>
        <a:spcAft>
          <a:spcPct val="0"/>
        </a:spcAft>
        <a:buBlip>
          <a:blip r:embed="rId14"/>
        </a:buBlip>
        <a:defRPr sz="2000">
          <a:solidFill>
            <a:schemeClr val="tx1"/>
          </a:solidFill>
          <a:latin typeface="+mn-lt"/>
          <a:ea typeface="+mn-ea"/>
        </a:defRPr>
      </a:lvl7pPr>
      <a:lvl8pPr marL="3429000" indent="-228600" algn="l" rtl="0" eaLnBrk="1" fontAlgn="base" hangingPunct="1">
        <a:spcBef>
          <a:spcPct val="20000"/>
        </a:spcBef>
        <a:spcAft>
          <a:spcPct val="0"/>
        </a:spcAft>
        <a:buBlip>
          <a:blip r:embed="rId14"/>
        </a:buBlip>
        <a:defRPr sz="2000">
          <a:solidFill>
            <a:schemeClr val="tx1"/>
          </a:solidFill>
          <a:latin typeface="+mn-lt"/>
          <a:ea typeface="+mn-ea"/>
        </a:defRPr>
      </a:lvl8pPr>
      <a:lvl9pPr marL="3886200" indent="-228600" algn="l" rtl="0" eaLnBrk="1" fontAlgn="base" hangingPunct="1">
        <a:spcBef>
          <a:spcPct val="20000"/>
        </a:spcBef>
        <a:spcAft>
          <a:spcPct val="0"/>
        </a:spcAft>
        <a:buBlip>
          <a:blip r:embed="rId14"/>
        </a:buBlip>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02B0B4F7-AC28-4FE7-B1C0-A7ADD5E050F0}" type="datetimeFigureOut">
              <a:rPr lang="zh-CN" altLang="en-US" smtClean="0"/>
              <a:t>2022/8/8</a:t>
            </a:fld>
            <a:endParaRPr lang="zh-CN" alt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zh-CN" alt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pPr>
              <a:defRPr/>
            </a:pPr>
            <a:fld id="{5F2971E3-3F4B-4EF7-8EED-270B40E509F5}" type="slidenum">
              <a:rPr lang="zh-CN" altLang="en-US" smtClean="0"/>
              <a:t>‹#›</a:t>
            </a:fld>
            <a:endParaRPr lang="zh-CN" altLang="en-US"/>
          </a:p>
        </p:txBody>
      </p:sp>
    </p:spTree>
    <p:extLst>
      <p:ext uri="{BB962C8B-B14F-4D97-AF65-F5344CB8AC3E}">
        <p14:creationId xmlns:p14="http://schemas.microsoft.com/office/powerpoint/2010/main" val="286750756"/>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Lst>
  <p:transition>
    <p:fade/>
  </p:transition>
  <p:timing>
    <p:tnLst>
      <p:par>
        <p:cTn id="1" dur="indefinite" restart="never" nodeType="tmRoot"/>
      </p:par>
    </p:tnLst>
  </p:timing>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 Target="slide59.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标题 1"/>
          <p:cNvSpPr>
            <a:spLocks noGrp="1"/>
          </p:cNvSpPr>
          <p:nvPr>
            <p:ph type="ctrTitle"/>
          </p:nvPr>
        </p:nvSpPr>
        <p:spPr/>
        <p:txBody>
          <a:bodyPr/>
          <a:lstStyle/>
          <a:p>
            <a:pPr eaLnBrk="1" hangingPunct="1"/>
            <a:r>
              <a:rPr lang="zh-CN" altLang="en-US" smtClean="0"/>
              <a:t>英语应用文写作</a:t>
            </a:r>
          </a:p>
        </p:txBody>
      </p:sp>
      <p:sp>
        <p:nvSpPr>
          <p:cNvPr id="3" name="副标题 2"/>
          <p:cNvSpPr>
            <a:spLocks noGrp="1"/>
          </p:cNvSpPr>
          <p:nvPr>
            <p:ph type="subTitle" idx="1"/>
          </p:nvPr>
        </p:nvSpPr>
        <p:spPr/>
        <p:txBody>
          <a:bodyPr rtlCol="0">
            <a:normAutofit lnSpcReduction="10000"/>
          </a:bodyPr>
          <a:lstStyle/>
          <a:p>
            <a:pPr eaLnBrk="1" fontAlgn="auto" hangingPunct="1">
              <a:spcAft>
                <a:spcPts val="0"/>
              </a:spcAft>
              <a:buFont typeface="Wingdings 2" panose="05020102010507070707"/>
              <a:buNone/>
              <a:defRPr/>
            </a:pPr>
            <a:r>
              <a:rPr lang="zh-CN" altLang="en-US" dirty="0" smtClean="0">
                <a:solidFill>
                  <a:schemeClr val="tx1"/>
                </a:solidFill>
              </a:rPr>
              <a:t>教师  党兆颖</a:t>
            </a:r>
            <a:endParaRPr lang="en-US" altLang="zh-CN" dirty="0" smtClean="0">
              <a:solidFill>
                <a:schemeClr val="tx1"/>
              </a:solidFill>
            </a:endParaRPr>
          </a:p>
          <a:p>
            <a:pPr eaLnBrk="1" fontAlgn="auto" hangingPunct="1">
              <a:spcAft>
                <a:spcPts val="0"/>
              </a:spcAft>
              <a:buFont typeface="Wingdings 2" panose="05020102010507070707"/>
              <a:buNone/>
              <a:defRPr/>
            </a:pPr>
            <a:r>
              <a:rPr lang="zh-CN" altLang="en-US" dirty="0" smtClean="0">
                <a:solidFill>
                  <a:schemeClr val="tx1"/>
                </a:solidFill>
              </a:rPr>
              <a:t>加入班级</a:t>
            </a:r>
            <a:r>
              <a:rPr lang="en-US" altLang="zh-CN" dirty="0" smtClean="0">
                <a:solidFill>
                  <a:schemeClr val="tx1"/>
                </a:solidFill>
              </a:rPr>
              <a:t>QQ</a:t>
            </a:r>
            <a:r>
              <a:rPr lang="zh-CN" altLang="en-US" dirty="0" smtClean="0">
                <a:solidFill>
                  <a:schemeClr val="tx1"/>
                </a:solidFill>
              </a:rPr>
              <a:t>群</a:t>
            </a:r>
            <a:endParaRPr lang="en-US" altLang="zh-CN" dirty="0" smtClean="0">
              <a:solidFill>
                <a:schemeClr val="tx1"/>
              </a:solidFill>
            </a:endParaRPr>
          </a:p>
          <a:p>
            <a:pPr eaLnBrk="1" fontAlgn="auto" hangingPunct="1">
              <a:spcAft>
                <a:spcPts val="0"/>
              </a:spcAft>
              <a:buFont typeface="Wingdings 2" panose="05020102010507070707"/>
              <a:buNone/>
              <a:defRPr/>
            </a:pPr>
            <a:r>
              <a:rPr lang="zh-CN" altLang="en-US" dirty="0"/>
              <a:t>下</a:t>
            </a:r>
            <a:r>
              <a:rPr lang="zh-CN" altLang="en-US" dirty="0" smtClean="0"/>
              <a:t>载英语新闻</a:t>
            </a:r>
            <a:endParaRPr lang="zh-CN" altLang="en-US" dirty="0"/>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2"/>
          <p:cNvSpPr>
            <a:spLocks noGrp="1"/>
          </p:cNvSpPr>
          <p:nvPr>
            <p:ph type="title"/>
          </p:nvPr>
        </p:nvSpPr>
        <p:spPr/>
        <p:txBody>
          <a:bodyPr/>
          <a:lstStyle/>
          <a:p>
            <a:pPr eaLnBrk="1" hangingPunct="1"/>
            <a:r>
              <a:rPr lang="en-US" altLang="zh-CN" smtClean="0"/>
              <a:t> </a:t>
            </a:r>
            <a:endParaRPr lang="zh-CN" altLang="en-US" smtClean="0"/>
          </a:p>
        </p:txBody>
      </p:sp>
      <p:sp>
        <p:nvSpPr>
          <p:cNvPr id="18434" name="内容占位符 1"/>
          <p:cNvSpPr>
            <a:spLocks noGrp="1"/>
          </p:cNvSpPr>
          <p:nvPr>
            <p:ph idx="1"/>
          </p:nvPr>
        </p:nvSpPr>
        <p:spPr>
          <a:xfrm>
            <a:off x="468313" y="1125538"/>
            <a:ext cx="8229600" cy="4525962"/>
          </a:xfrm>
        </p:spPr>
        <p:txBody>
          <a:bodyPr>
            <a:normAutofit/>
          </a:bodyPr>
          <a:lstStyle/>
          <a:p>
            <a:pPr eaLnBrk="1" hangingPunct="1">
              <a:lnSpc>
                <a:spcPct val="90000"/>
              </a:lnSpc>
            </a:pPr>
            <a:r>
              <a:rPr lang="zh-CN" altLang="en-US" sz="2800" dirty="0" smtClean="0"/>
              <a:t>这门课程涵盖的内容以及授课方法</a:t>
            </a:r>
            <a:endParaRPr lang="en-US" altLang="zh-CN" sz="2800" dirty="0" smtClean="0"/>
          </a:p>
          <a:p>
            <a:pPr eaLnBrk="1" hangingPunct="1">
              <a:lnSpc>
                <a:spcPct val="90000"/>
              </a:lnSpc>
              <a:buFont typeface="Wingdings 2" panose="05020102010507070707" pitchFamily="18" charset="2"/>
              <a:buNone/>
            </a:pPr>
            <a:r>
              <a:rPr lang="zh-CN" altLang="en-US" sz="2800" dirty="0" smtClean="0"/>
              <a:t>             除了常用各种应用文</a:t>
            </a:r>
            <a:r>
              <a:rPr lang="en-US" altLang="zh-CN" sz="2800" dirty="0" smtClean="0"/>
              <a:t>(</a:t>
            </a:r>
            <a:r>
              <a:rPr lang="zh-CN" altLang="en-US" sz="2800" dirty="0" smtClean="0"/>
              <a:t>求职信，入学申请，感谢信，道歉信，投诉信，收条，借条，通知，留言条，招聘启事，个人简历</a:t>
            </a:r>
            <a:r>
              <a:rPr lang="en-US" altLang="zh-CN" sz="2800" dirty="0" smtClean="0"/>
              <a:t>)</a:t>
            </a:r>
            <a:r>
              <a:rPr lang="zh-CN" altLang="en-US" sz="2800" dirty="0" smtClean="0"/>
              <a:t>之外，本课程兼顾学生的基本写作技能的训练，也会练习图表作文，议论文，说明文等其他体裁以帮助大家提高考研作文写作水平。</a:t>
            </a:r>
            <a:endParaRPr lang="en-US" altLang="zh-CN" sz="2800" dirty="0" smtClean="0"/>
          </a:p>
          <a:p>
            <a:pPr eaLnBrk="1" hangingPunct="1">
              <a:lnSpc>
                <a:spcPct val="90000"/>
              </a:lnSpc>
              <a:buFont typeface="Wingdings 2" panose="05020102010507070707" pitchFamily="18" charset="2"/>
              <a:buNone/>
            </a:pPr>
            <a:r>
              <a:rPr lang="en-US" altLang="zh-CN" sz="2800" dirty="0" smtClean="0"/>
              <a:t>            </a:t>
            </a:r>
            <a:endParaRPr lang="zh-CN" altLang="en-US" sz="2800" dirty="0" smtClean="0"/>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2"/>
          <p:cNvSpPr>
            <a:spLocks noGrp="1"/>
          </p:cNvSpPr>
          <p:nvPr>
            <p:ph type="title"/>
          </p:nvPr>
        </p:nvSpPr>
        <p:spPr/>
        <p:txBody>
          <a:bodyPr/>
          <a:lstStyle/>
          <a:p>
            <a:pPr eaLnBrk="1" hangingPunct="1"/>
            <a:r>
              <a:rPr lang="en-US" altLang="zh-CN" dirty="0" smtClean="0"/>
              <a:t> </a:t>
            </a:r>
            <a:endParaRPr lang="zh-CN" altLang="en-US" dirty="0" smtClean="0"/>
          </a:p>
        </p:txBody>
      </p:sp>
      <p:sp>
        <p:nvSpPr>
          <p:cNvPr id="2" name="内容占位符 1"/>
          <p:cNvSpPr>
            <a:spLocks noGrp="1"/>
          </p:cNvSpPr>
          <p:nvPr>
            <p:ph idx="1"/>
          </p:nvPr>
        </p:nvSpPr>
        <p:spPr>
          <a:xfrm>
            <a:off x="468312" y="1052512"/>
            <a:ext cx="8424167" cy="5400823"/>
          </a:xfrm>
        </p:spPr>
        <p:txBody>
          <a:bodyPr rtlCol="0">
            <a:normAutofit/>
          </a:bodyPr>
          <a:lstStyle/>
          <a:p>
            <a:pPr eaLnBrk="1" fontAlgn="auto" hangingPunct="1">
              <a:spcAft>
                <a:spcPts val="0"/>
              </a:spcAft>
              <a:buFont typeface="Wingdings 2" panose="05020102010507070707"/>
              <a:buChar char=""/>
              <a:defRPr/>
            </a:pPr>
            <a:r>
              <a:rPr lang="zh-CN" altLang="en-US" sz="2800" dirty="0" smtClean="0"/>
              <a:t>考试以及评分方法</a:t>
            </a:r>
            <a:endParaRPr lang="en-US" altLang="zh-CN" sz="2800" dirty="0" smtClean="0"/>
          </a:p>
          <a:p>
            <a:pPr eaLnBrk="1" fontAlgn="auto" hangingPunct="1">
              <a:spcAft>
                <a:spcPts val="0"/>
              </a:spcAft>
              <a:buFont typeface="Wingdings 2" panose="05020102010507070707"/>
              <a:buChar char=""/>
              <a:defRPr/>
            </a:pPr>
            <a:r>
              <a:rPr lang="zh-CN" altLang="en-US" sz="2800" dirty="0" smtClean="0"/>
              <a:t>本课程将过程性评估与期末考试结合起来，对学生进行综合评价</a:t>
            </a:r>
            <a:endParaRPr lang="en-US" altLang="zh-CN" sz="2800" dirty="0" smtClean="0"/>
          </a:p>
          <a:p>
            <a:pPr eaLnBrk="1" fontAlgn="auto" hangingPunct="1">
              <a:spcAft>
                <a:spcPts val="0"/>
              </a:spcAft>
              <a:buFont typeface="Wingdings 2" panose="05020102010507070707"/>
              <a:buChar char=""/>
              <a:defRPr/>
            </a:pPr>
            <a:r>
              <a:rPr lang="zh-CN" altLang="en-US" sz="2800" dirty="0" smtClean="0"/>
              <a:t>平时作业成绩 </a:t>
            </a:r>
            <a:r>
              <a:rPr lang="en-US" altLang="zh-CN" sz="2800" dirty="0" smtClean="0"/>
              <a:t>60%</a:t>
            </a:r>
          </a:p>
          <a:p>
            <a:pPr eaLnBrk="1" fontAlgn="auto" hangingPunct="1">
              <a:spcAft>
                <a:spcPts val="0"/>
              </a:spcAft>
              <a:buFont typeface="Wingdings 2" panose="05020102010507070707"/>
              <a:buChar char=""/>
              <a:defRPr/>
            </a:pPr>
            <a:r>
              <a:rPr lang="zh-CN" altLang="en-US" sz="2800" dirty="0" smtClean="0"/>
              <a:t>期末</a:t>
            </a:r>
            <a:r>
              <a:rPr lang="en-US" altLang="zh-CN" sz="2800" dirty="0" smtClean="0"/>
              <a:t>40%</a:t>
            </a:r>
          </a:p>
          <a:p>
            <a:pPr eaLnBrk="1" fontAlgn="auto" hangingPunct="1">
              <a:spcAft>
                <a:spcPts val="0"/>
              </a:spcAft>
              <a:buFont typeface="Wingdings 2" panose="05020102010507070707"/>
              <a:buChar char=""/>
              <a:defRPr/>
            </a:pPr>
            <a:r>
              <a:rPr lang="zh-CN" altLang="en-US" sz="2800" dirty="0" smtClean="0"/>
              <a:t>考勤旷课三分之一及以上的，取消考试资格</a:t>
            </a:r>
            <a:endParaRPr lang="en-US" altLang="zh-CN" sz="2800" dirty="0" smtClean="0"/>
          </a:p>
          <a:p>
            <a:pPr eaLnBrk="1" fontAlgn="auto" hangingPunct="1">
              <a:spcAft>
                <a:spcPts val="0"/>
              </a:spcAft>
              <a:buFont typeface="Wingdings 2" panose="05020102010507070707"/>
              <a:buChar char=""/>
              <a:defRPr/>
            </a:pPr>
            <a:r>
              <a:rPr lang="zh-CN" altLang="en-US" sz="2800" dirty="0" smtClean="0"/>
              <a:t>本学期要求学生按时上交六篇作文并由老师进行批改。严禁抄袭作文。发现雷同作文，两个人本次作业都记为零分</a:t>
            </a:r>
            <a:endParaRPr lang="en-US" altLang="zh-CN" sz="2800" dirty="0" smtClean="0"/>
          </a:p>
          <a:p>
            <a:pPr eaLnBrk="1" fontAlgn="auto" hangingPunct="1">
              <a:spcAft>
                <a:spcPts val="0"/>
              </a:spcAft>
              <a:buFont typeface="Wingdings 2" panose="05020102010507070707"/>
              <a:buChar char=""/>
              <a:defRPr/>
            </a:pPr>
            <a:r>
              <a:rPr lang="zh-CN" altLang="en-US" sz="2800" dirty="0" smtClean="0"/>
              <a:t>去年考试样题 （见</a:t>
            </a:r>
            <a:r>
              <a:rPr lang="en-US" altLang="zh-CN" sz="2800" dirty="0" smtClean="0"/>
              <a:t>word</a:t>
            </a:r>
            <a:r>
              <a:rPr lang="zh-CN" altLang="en-US" sz="2800" dirty="0" smtClean="0"/>
              <a:t>文档）</a:t>
            </a:r>
            <a:endParaRPr lang="en-US" altLang="zh-CN" sz="2800" dirty="0" smtClean="0"/>
          </a:p>
          <a:p>
            <a:pPr eaLnBrk="1" fontAlgn="auto" hangingPunct="1">
              <a:spcAft>
                <a:spcPts val="0"/>
              </a:spcAft>
              <a:buFont typeface="Wingdings 2" panose="05020102010507070707"/>
              <a:buChar char=""/>
              <a:defRPr/>
            </a:pPr>
            <a:endParaRPr lang="zh-CN" altLang="en-US" dirty="0"/>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rtlCol="0">
            <a:normAutofit/>
          </a:bodyPr>
          <a:lstStyle/>
          <a:p>
            <a:pPr eaLnBrk="1" fontAlgn="auto" hangingPunct="1">
              <a:spcAft>
                <a:spcPts val="0"/>
              </a:spcAft>
              <a:defRPr/>
            </a:pPr>
            <a:r>
              <a:rPr lang="zh-CN" altLang="en-US" b="1" dirty="0" smtClean="0">
                <a:latin typeface="宋体" panose="02010600030101010101" pitchFamily="2" charset="-122"/>
                <a:ea typeface="宋体" panose="02010600030101010101" pitchFamily="2" charset="-122"/>
              </a:rPr>
              <a:t>第一讲 写作基础知识 </a:t>
            </a:r>
            <a:r>
              <a:rPr lang="en-US" altLang="zh-CN" b="1" dirty="0" smtClean="0">
                <a:latin typeface="Times New Roman" panose="02020603050405020304" pitchFamily="18" charset="0"/>
                <a:ea typeface="楷体_GB2312" pitchFamily="49" charset="-122"/>
              </a:rPr>
              <a:t>(Basic Writing Skills)</a:t>
            </a:r>
            <a:endParaRPr lang="zh-CN" altLang="en-US" dirty="0"/>
          </a:p>
        </p:txBody>
      </p:sp>
      <p:sp>
        <p:nvSpPr>
          <p:cNvPr id="20482" name="内容占位符 1"/>
          <p:cNvSpPr>
            <a:spLocks noGrp="1"/>
          </p:cNvSpPr>
          <p:nvPr>
            <p:ph idx="1"/>
          </p:nvPr>
        </p:nvSpPr>
        <p:spPr/>
        <p:txBody>
          <a:bodyPr>
            <a:normAutofit fontScale="85000" lnSpcReduction="20000"/>
          </a:bodyPr>
          <a:lstStyle/>
          <a:p>
            <a:pPr eaLnBrk="1" hangingPunct="1"/>
            <a:r>
              <a:rPr lang="zh-CN" altLang="en-US" sz="2800" smtClean="0"/>
              <a:t>英语的句子有三种：</a:t>
            </a:r>
            <a:endParaRPr lang="en-US" altLang="zh-CN" sz="2800" smtClean="0"/>
          </a:p>
          <a:p>
            <a:pPr eaLnBrk="1" hangingPunct="1"/>
            <a:r>
              <a:rPr lang="zh-CN" altLang="en-US" sz="2800" smtClean="0"/>
              <a:t>谁做什么  ： 主语</a:t>
            </a:r>
            <a:r>
              <a:rPr lang="en-US" altLang="zh-CN" sz="2800" smtClean="0"/>
              <a:t>+</a:t>
            </a:r>
            <a:r>
              <a:rPr lang="zh-CN" altLang="en-US" sz="2800" smtClean="0"/>
              <a:t>谓语</a:t>
            </a:r>
            <a:r>
              <a:rPr lang="en-US" altLang="zh-CN" sz="2800" smtClean="0"/>
              <a:t>+</a:t>
            </a:r>
            <a:r>
              <a:rPr lang="zh-CN" altLang="en-US" sz="2800" smtClean="0"/>
              <a:t>宾语</a:t>
            </a:r>
            <a:endParaRPr lang="en-US" altLang="zh-CN" sz="2800" smtClean="0"/>
          </a:p>
          <a:p>
            <a:pPr eaLnBrk="1" hangingPunct="1"/>
            <a:r>
              <a:rPr lang="zh-CN" altLang="en-US" sz="2800" smtClean="0"/>
              <a:t>谁是什么状态：主语</a:t>
            </a:r>
            <a:r>
              <a:rPr lang="en-US" altLang="zh-CN" sz="2800" smtClean="0"/>
              <a:t>+</a:t>
            </a:r>
            <a:r>
              <a:rPr lang="zh-CN" altLang="en-US" sz="2800" smtClean="0"/>
              <a:t>系动词</a:t>
            </a:r>
            <a:r>
              <a:rPr lang="en-US" altLang="zh-CN" sz="2800" smtClean="0"/>
              <a:t>+</a:t>
            </a:r>
            <a:r>
              <a:rPr lang="zh-CN" altLang="en-US" sz="2800" smtClean="0"/>
              <a:t>表语</a:t>
            </a:r>
            <a:endParaRPr lang="en-US" altLang="zh-CN" sz="2800" smtClean="0"/>
          </a:p>
          <a:p>
            <a:pPr eaLnBrk="1" hangingPunct="1"/>
            <a:r>
              <a:rPr lang="zh-CN" altLang="en-US" sz="2800" smtClean="0"/>
              <a:t>（常见的系动词有</a:t>
            </a:r>
            <a:r>
              <a:rPr lang="en-US" altLang="zh-CN" sz="2800" smtClean="0"/>
              <a:t>: be, sound, look, feel(</a:t>
            </a:r>
            <a:r>
              <a:rPr lang="zh-CN" altLang="en-US" sz="2800" smtClean="0"/>
              <a:t>摸起来，</a:t>
            </a:r>
            <a:r>
              <a:rPr lang="en-US" altLang="zh-CN" sz="2800" smtClean="0"/>
              <a:t>smell, taste</a:t>
            </a:r>
            <a:r>
              <a:rPr lang="zh-CN" altLang="en-US" sz="2800" smtClean="0"/>
              <a:t>（尝、吃起来）</a:t>
            </a:r>
            <a:r>
              <a:rPr lang="en-US" altLang="zh-CN" sz="2800" smtClean="0"/>
              <a:t>,  remain, </a:t>
            </a:r>
          </a:p>
          <a:p>
            <a:pPr eaLnBrk="1" hangingPunct="1"/>
            <a:r>
              <a:rPr lang="en-US" altLang="zh-CN" sz="2800" smtClean="0"/>
              <a:t>    There </a:t>
            </a:r>
            <a:r>
              <a:rPr lang="zh-CN" altLang="en-US" sz="2800" smtClean="0"/>
              <a:t> </a:t>
            </a:r>
            <a:r>
              <a:rPr lang="en-US" altLang="zh-CN" sz="2800" smtClean="0"/>
              <a:t>be </a:t>
            </a:r>
            <a:r>
              <a:rPr lang="zh-CN" altLang="en-US" sz="2800" smtClean="0"/>
              <a:t>句型</a:t>
            </a:r>
            <a:endParaRPr lang="en-US" altLang="zh-CN" sz="2800" smtClean="0"/>
          </a:p>
          <a:p>
            <a:pPr eaLnBrk="1" hangingPunct="1"/>
            <a:r>
              <a:rPr lang="zh-CN" altLang="en-US" sz="2800" smtClean="0"/>
              <a:t>书写英文句子的首要原则是</a:t>
            </a:r>
            <a:r>
              <a:rPr lang="zh-CN" altLang="en-US" sz="2800" b="1" u="sng" smtClean="0"/>
              <a:t>结构的完整性</a:t>
            </a:r>
            <a:r>
              <a:rPr lang="zh-CN" altLang="en-US" sz="2800" smtClean="0"/>
              <a:t>。</a:t>
            </a:r>
            <a:endParaRPr lang="en-US" altLang="zh-CN" sz="2800" smtClean="0"/>
          </a:p>
          <a:p>
            <a:pPr eaLnBrk="1" hangingPunct="1"/>
            <a:r>
              <a:rPr lang="zh-CN" altLang="en-US" sz="2800" smtClean="0"/>
              <a:t>其次在主谓宾的基础上再添加状语，补语，定语，同位语等修饰成分</a:t>
            </a:r>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标题 1"/>
          <p:cNvSpPr>
            <a:spLocks noGrp="1"/>
          </p:cNvSpPr>
          <p:nvPr>
            <p:ph type="title"/>
          </p:nvPr>
        </p:nvSpPr>
        <p:spPr/>
        <p:txBody>
          <a:bodyPr>
            <a:normAutofit/>
          </a:bodyPr>
          <a:lstStyle/>
          <a:p>
            <a:pPr eaLnBrk="1" hangingPunct="1"/>
            <a:r>
              <a:rPr lang="en-US" altLang="zh-CN" smtClean="0"/>
              <a:t>What could</a:t>
            </a:r>
            <a:r>
              <a:rPr lang="zh-CN" altLang="en-US" smtClean="0"/>
              <a:t> </a:t>
            </a:r>
            <a:r>
              <a:rPr lang="en-US" altLang="zh-CN" smtClean="0"/>
              <a:t>be filled in the blanks?</a:t>
            </a:r>
            <a:endParaRPr lang="zh-CN" altLang="en-US" smtClean="0"/>
          </a:p>
        </p:txBody>
      </p:sp>
      <p:sp>
        <p:nvSpPr>
          <p:cNvPr id="21506" name="内容占位符 2"/>
          <p:cNvSpPr>
            <a:spLocks noGrp="1"/>
          </p:cNvSpPr>
          <p:nvPr>
            <p:ph idx="1"/>
          </p:nvPr>
        </p:nvSpPr>
        <p:spPr/>
        <p:txBody>
          <a:bodyPr>
            <a:normAutofit/>
          </a:bodyPr>
          <a:lstStyle/>
          <a:p>
            <a:pPr eaLnBrk="1" hangingPunct="1"/>
            <a:r>
              <a:rPr lang="zh-CN" altLang="en-US" sz="2400" u="sng" dirty="0" smtClean="0"/>
              <a:t>（</a:t>
            </a:r>
            <a:r>
              <a:rPr lang="en-US" altLang="zh-CN" sz="2400" u="sng" dirty="0" smtClean="0"/>
              <a:t>1</a:t>
            </a:r>
            <a:r>
              <a:rPr lang="zh-CN" altLang="en-US" sz="2400" u="sng" dirty="0" smtClean="0"/>
              <a:t>）</a:t>
            </a:r>
            <a:r>
              <a:rPr lang="en-US" altLang="zh-CN" sz="2400" dirty="0" smtClean="0"/>
              <a:t>    </a:t>
            </a:r>
            <a:r>
              <a:rPr lang="zh-CN" altLang="en-US" sz="2400" b="1" dirty="0" smtClean="0"/>
              <a:t>主语</a:t>
            </a:r>
            <a:r>
              <a:rPr lang="zh-CN" altLang="en-US" sz="2400" b="1" u="sng" dirty="0" smtClean="0"/>
              <a:t>（</a:t>
            </a:r>
            <a:r>
              <a:rPr lang="en-US" altLang="zh-CN" sz="2400" b="1" u="sng" dirty="0" smtClean="0"/>
              <a:t>2</a:t>
            </a:r>
            <a:r>
              <a:rPr lang="zh-CN" altLang="en-US" sz="2400" b="1" u="sng" dirty="0" smtClean="0"/>
              <a:t>）</a:t>
            </a:r>
            <a:r>
              <a:rPr lang="zh-CN" altLang="en-US" sz="2400" dirty="0" smtClean="0"/>
              <a:t>   </a:t>
            </a:r>
            <a:r>
              <a:rPr lang="zh-CN" altLang="en-US" sz="2400" b="1" dirty="0" smtClean="0"/>
              <a:t>谓</a:t>
            </a:r>
            <a:r>
              <a:rPr lang="zh-CN" altLang="en-US" sz="2400" b="1" u="sng" dirty="0" smtClean="0"/>
              <a:t>语</a:t>
            </a:r>
            <a:r>
              <a:rPr lang="zh-CN" altLang="en-US" sz="2400" u="sng" dirty="0" smtClean="0"/>
              <a:t> （</a:t>
            </a:r>
            <a:r>
              <a:rPr lang="en-US" altLang="zh-CN" sz="2400" u="sng" dirty="0" smtClean="0"/>
              <a:t>3</a:t>
            </a:r>
            <a:r>
              <a:rPr lang="zh-CN" altLang="en-US" sz="2400" u="sng" dirty="0" smtClean="0"/>
              <a:t>）  </a:t>
            </a:r>
            <a:r>
              <a:rPr lang="zh-CN" altLang="en-US" sz="2400" b="1" dirty="0" smtClean="0"/>
              <a:t>宾语</a:t>
            </a:r>
            <a:r>
              <a:rPr lang="zh-CN" altLang="en-US" sz="2400" b="1" u="sng" dirty="0" smtClean="0"/>
              <a:t>（</a:t>
            </a:r>
            <a:r>
              <a:rPr lang="en-US" altLang="zh-CN" sz="2400" b="1" u="sng" dirty="0" smtClean="0"/>
              <a:t>4</a:t>
            </a:r>
            <a:r>
              <a:rPr lang="zh-CN" altLang="en-US" sz="2400" b="1" u="sng" dirty="0" smtClean="0"/>
              <a:t>）</a:t>
            </a:r>
            <a:r>
              <a:rPr lang="en-US" altLang="zh-CN" sz="2400" u="sng" dirty="0" smtClean="0"/>
              <a:t> </a:t>
            </a:r>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标题 1"/>
          <p:cNvSpPr>
            <a:spLocks noGrp="1"/>
          </p:cNvSpPr>
          <p:nvPr>
            <p:ph type="title"/>
          </p:nvPr>
        </p:nvSpPr>
        <p:spPr>
          <a:xfrm>
            <a:off x="457200" y="274638"/>
            <a:ext cx="7931150" cy="201612"/>
          </a:xfrm>
        </p:spPr>
        <p:txBody>
          <a:bodyPr>
            <a:normAutofit fontScale="90000"/>
          </a:bodyPr>
          <a:lstStyle/>
          <a:p>
            <a:pPr eaLnBrk="1" hangingPunct="1"/>
            <a:r>
              <a:rPr lang="en-US" altLang="zh-CN" smtClean="0"/>
              <a:t> </a:t>
            </a:r>
            <a:endParaRPr lang="zh-CN" altLang="en-US" smtClean="0"/>
          </a:p>
        </p:txBody>
      </p:sp>
      <p:sp>
        <p:nvSpPr>
          <p:cNvPr id="22530" name="内容占位符 2"/>
          <p:cNvSpPr>
            <a:spLocks noGrp="1"/>
          </p:cNvSpPr>
          <p:nvPr>
            <p:ph idx="1"/>
          </p:nvPr>
        </p:nvSpPr>
        <p:spPr>
          <a:xfrm>
            <a:off x="468313" y="260350"/>
            <a:ext cx="8280400" cy="6121400"/>
          </a:xfrm>
        </p:spPr>
        <p:txBody>
          <a:bodyPr/>
          <a:lstStyle/>
          <a:p>
            <a:pPr eaLnBrk="1" hangingPunct="1"/>
            <a:r>
              <a:rPr lang="zh-CN" altLang="en-US" sz="2400" smtClean="0"/>
              <a:t>（</a:t>
            </a:r>
            <a:r>
              <a:rPr lang="en-US" altLang="zh-CN" sz="2400" smtClean="0"/>
              <a:t>1</a:t>
            </a:r>
            <a:r>
              <a:rPr lang="zh-CN" altLang="en-US" sz="2400" smtClean="0"/>
              <a:t>）</a:t>
            </a:r>
            <a:r>
              <a:rPr lang="en-US" altLang="zh-CN" sz="2400" smtClean="0"/>
              <a:t>    </a:t>
            </a:r>
            <a:r>
              <a:rPr lang="zh-CN" altLang="en-US" sz="2400" b="1" smtClean="0"/>
              <a:t>主语（</a:t>
            </a:r>
            <a:r>
              <a:rPr lang="en-US" altLang="zh-CN" sz="2400" b="1" smtClean="0"/>
              <a:t>2</a:t>
            </a:r>
            <a:r>
              <a:rPr lang="zh-CN" altLang="en-US" sz="2400" b="1" smtClean="0"/>
              <a:t>）</a:t>
            </a:r>
            <a:r>
              <a:rPr lang="zh-CN" altLang="en-US" sz="2400" smtClean="0"/>
              <a:t>   </a:t>
            </a:r>
            <a:r>
              <a:rPr lang="zh-CN" altLang="en-US" sz="2400" b="1" smtClean="0"/>
              <a:t>谓语</a:t>
            </a:r>
            <a:r>
              <a:rPr lang="zh-CN" altLang="en-US" sz="2400" smtClean="0"/>
              <a:t> （</a:t>
            </a:r>
            <a:r>
              <a:rPr lang="en-US" altLang="zh-CN" sz="2400" smtClean="0"/>
              <a:t>3</a:t>
            </a:r>
            <a:r>
              <a:rPr lang="zh-CN" altLang="en-US" sz="2400" smtClean="0"/>
              <a:t>）  </a:t>
            </a:r>
            <a:r>
              <a:rPr lang="zh-CN" altLang="en-US" sz="2400" b="1" smtClean="0"/>
              <a:t>宾语（</a:t>
            </a:r>
            <a:r>
              <a:rPr lang="en-US" altLang="zh-CN" sz="2400" b="1" smtClean="0"/>
              <a:t>4</a:t>
            </a:r>
            <a:r>
              <a:rPr lang="zh-CN" altLang="en-US" sz="2400" b="1" smtClean="0"/>
              <a:t>）</a:t>
            </a:r>
            <a:r>
              <a:rPr lang="en-US" altLang="zh-CN" sz="2400" smtClean="0"/>
              <a:t> </a:t>
            </a:r>
          </a:p>
          <a:p>
            <a:pPr eaLnBrk="1" hangingPunct="1"/>
            <a:r>
              <a:rPr lang="en-US" altLang="zh-CN" sz="2400" smtClean="0"/>
              <a:t>1. </a:t>
            </a:r>
            <a:r>
              <a:rPr lang="zh-CN" altLang="en-US" sz="2400" smtClean="0"/>
              <a:t>形容词做定语，形容词做状语</a:t>
            </a:r>
            <a:r>
              <a:rPr lang="zh-CN" altLang="en-US" sz="2400" smtClean="0">
                <a:sym typeface="+mn-ea"/>
              </a:rPr>
              <a:t>同位语，状语从句（时间，原因，条件,让步，比较），主语从句，  独立主格，现在分词，过去分词，不定式，时间状语，地点状语，方式状语，介词短语</a:t>
            </a:r>
            <a:endParaRPr lang="zh-CN" altLang="en-US" sz="2400" smtClean="0"/>
          </a:p>
          <a:p>
            <a:pPr eaLnBrk="1" hangingPunct="1"/>
            <a:endParaRPr lang="zh-CN" altLang="en-US" sz="2400" smtClean="0"/>
          </a:p>
          <a:p>
            <a:pPr eaLnBrk="1" hangingPunct="1"/>
            <a:r>
              <a:rPr lang="zh-CN" altLang="en-US" sz="2400" smtClean="0"/>
              <a:t> </a:t>
            </a:r>
            <a:r>
              <a:rPr lang="en-US" altLang="zh-CN" sz="2400" smtClean="0"/>
              <a:t>2. </a:t>
            </a:r>
            <a:r>
              <a:rPr lang="zh-CN" altLang="en-US" sz="2400" smtClean="0"/>
              <a:t>同位语，后置定语，副词，定语从句，同位语从句，</a:t>
            </a:r>
            <a:endParaRPr lang="en-US" altLang="zh-CN" sz="2400" smtClean="0"/>
          </a:p>
          <a:p>
            <a:pPr eaLnBrk="1" hangingPunct="1"/>
            <a:r>
              <a:rPr lang="en-US" altLang="zh-CN" sz="2400" smtClean="0"/>
              <a:t>3. </a:t>
            </a:r>
            <a:r>
              <a:rPr lang="zh-CN" altLang="en-US" sz="2400" smtClean="0"/>
              <a:t>副词 </a:t>
            </a:r>
            <a:endParaRPr lang="en-US" altLang="zh-CN" sz="2400" smtClean="0"/>
          </a:p>
          <a:p>
            <a:pPr eaLnBrk="1" hangingPunct="1"/>
            <a:r>
              <a:rPr lang="en-US" altLang="zh-CN" sz="2400" smtClean="0"/>
              <a:t>4. </a:t>
            </a:r>
            <a:r>
              <a:rPr lang="zh-CN" altLang="en-US" sz="2400" smtClean="0"/>
              <a:t>定语从句，时间地点原因结果状语，或者状语从句，同位语，不定式，补语（形容词，名词）双宾语</a:t>
            </a: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 </a:t>
            </a:r>
          </a:p>
        </p:txBody>
      </p:sp>
      <p:sp>
        <p:nvSpPr>
          <p:cNvPr id="3" name="内容占位符 2"/>
          <p:cNvSpPr>
            <a:spLocks noGrp="1"/>
          </p:cNvSpPr>
          <p:nvPr>
            <p:ph idx="1"/>
          </p:nvPr>
        </p:nvSpPr>
        <p:spPr>
          <a:xfrm>
            <a:off x="323850" y="692785"/>
            <a:ext cx="8651240" cy="5964555"/>
          </a:xfrm>
        </p:spPr>
        <p:txBody>
          <a:bodyPr/>
          <a:lstStyle/>
          <a:p>
            <a:pPr eaLnBrk="1" hangingPunct="1"/>
            <a:r>
              <a:rPr lang="zh-CN" altLang="en-US" sz="2800" dirty="0" smtClean="0">
                <a:sym typeface="+mn-ea"/>
              </a:rPr>
              <a:t>形容词做状语：He arrived home, hungry and tired. </a:t>
            </a:r>
            <a:endParaRPr lang="zh-CN" altLang="en-US" sz="2800" dirty="0" smtClean="0"/>
          </a:p>
          <a:p>
            <a:pPr eaLnBrk="1" hangingPunct="1"/>
            <a:r>
              <a:rPr lang="zh-CN" altLang="en-US" sz="2800" dirty="0" smtClean="0">
                <a:sym typeface="+mn-ea"/>
              </a:rPr>
              <a:t>Unable to afford the time, I had to give up the plan.The stove was red hot.</a:t>
            </a:r>
            <a:endParaRPr lang="zh-CN" altLang="en-US" sz="2800" dirty="0" smtClean="0"/>
          </a:p>
          <a:p>
            <a:pPr eaLnBrk="1" hangingPunct="1"/>
            <a:r>
              <a:rPr lang="zh-CN" altLang="en-US" sz="2800" dirty="0" smtClean="0">
                <a:sym typeface="+mn-ea"/>
              </a:rPr>
              <a:t>It’s boiling hot. </a:t>
            </a:r>
          </a:p>
          <a:p>
            <a:pPr eaLnBrk="1" hangingPunct="1"/>
            <a:r>
              <a:rPr lang="zh-CN" altLang="en-US" sz="2800" dirty="0" smtClean="0">
                <a:sym typeface="+mn-ea"/>
              </a:rPr>
              <a:t>Sure enough, she was there. </a:t>
            </a:r>
            <a:endParaRPr lang="zh-CN" altLang="en-US" sz="2800" dirty="0" smtClean="0"/>
          </a:p>
          <a:p>
            <a:pPr eaLnBrk="1" hangingPunct="1"/>
            <a:r>
              <a:rPr lang="zh-CN" altLang="en-US" sz="2800" dirty="0" smtClean="0">
                <a:sym typeface="+mn-ea"/>
              </a:rPr>
              <a:t>Strange to say, he did pass his exam after all. </a:t>
            </a:r>
          </a:p>
          <a:p>
            <a:pPr eaLnBrk="1" hangingPunct="1"/>
            <a:r>
              <a:rPr lang="zh-CN" altLang="en-US" sz="2800" dirty="0" smtClean="0">
                <a:sym typeface="+mn-ea"/>
              </a:rPr>
              <a:t>He may be late. Worse still, he may not come at all. More important, he’s got a steady job. </a:t>
            </a:r>
            <a:endParaRPr lang="zh-CN" altLang="en-US" sz="2800" dirty="0" smtClean="0"/>
          </a:p>
          <a:p>
            <a:pPr eaLnBrk="1" hangingPunct="1"/>
            <a:r>
              <a:rPr lang="zh-CN" altLang="en-US" sz="2800" dirty="0" smtClean="0">
                <a:sym typeface="+mn-ea"/>
              </a:rPr>
              <a:t>Most remarkable of all, he never suffers from nerves on the stage.</a:t>
            </a:r>
            <a:endParaRPr lang="zh-CN" altLang="en-US"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1"/>
          <p:cNvSpPr>
            <a:spLocks noGrp="1"/>
          </p:cNvSpPr>
          <p:nvPr>
            <p:ph type="title"/>
          </p:nvPr>
        </p:nvSpPr>
        <p:spPr>
          <a:xfrm flipV="1">
            <a:off x="457200" y="0"/>
            <a:ext cx="8075613" cy="274638"/>
          </a:xfrm>
        </p:spPr>
        <p:txBody>
          <a:bodyPr>
            <a:normAutofit fontScale="90000"/>
          </a:bodyPr>
          <a:lstStyle/>
          <a:p>
            <a:pPr eaLnBrk="1" hangingPunct="1"/>
            <a:r>
              <a:rPr lang="en-US" altLang="zh-CN" smtClean="0"/>
              <a:t> </a:t>
            </a:r>
            <a:endParaRPr lang="zh-CN" altLang="en-US" smtClean="0"/>
          </a:p>
        </p:txBody>
      </p:sp>
      <p:sp>
        <p:nvSpPr>
          <p:cNvPr id="23554" name="内容占位符 2"/>
          <p:cNvSpPr>
            <a:spLocks noGrp="1"/>
          </p:cNvSpPr>
          <p:nvPr>
            <p:ph idx="1"/>
          </p:nvPr>
        </p:nvSpPr>
        <p:spPr>
          <a:xfrm>
            <a:off x="539750" y="333375"/>
            <a:ext cx="8208963" cy="6191250"/>
          </a:xfrm>
        </p:spPr>
        <p:txBody>
          <a:bodyPr>
            <a:normAutofit/>
          </a:bodyPr>
          <a:lstStyle/>
          <a:p>
            <a:pPr eaLnBrk="1" hangingPunct="1"/>
            <a:r>
              <a:rPr lang="zh-CN" altLang="en-US" sz="2800" smtClean="0"/>
              <a:t>主补：  </a:t>
            </a:r>
            <a:r>
              <a:rPr lang="en-US" altLang="zh-CN" sz="2800" smtClean="0"/>
              <a:t>He was elected monitor.        She was found singing in the next  room.   He was advised to teach the lazy boy a lesson.</a:t>
            </a:r>
          </a:p>
          <a:p>
            <a:pPr eaLnBrk="1" hangingPunct="1"/>
            <a:r>
              <a:rPr lang="zh-CN" altLang="en-US" sz="2800" smtClean="0"/>
              <a:t>宾补： </a:t>
            </a:r>
            <a:r>
              <a:rPr lang="en-US" altLang="zh-CN" sz="2800" smtClean="0"/>
              <a:t>We elected him monitor.  </a:t>
            </a:r>
            <a:r>
              <a:rPr lang="zh-CN" altLang="en-US" sz="2800" smtClean="0"/>
              <a:t> </a:t>
            </a:r>
            <a:r>
              <a:rPr lang="en-US" altLang="zh-CN" sz="2800" smtClean="0"/>
              <a:t>We all think it a pity that she didn’t come here. </a:t>
            </a:r>
            <a:r>
              <a:rPr lang="zh-CN" altLang="en-US" sz="2800" smtClean="0"/>
              <a:t> </a:t>
            </a:r>
          </a:p>
          <a:p>
            <a:pPr eaLnBrk="1" hangingPunct="1"/>
            <a:r>
              <a:rPr lang="zh-CN" altLang="en-US" sz="2800" smtClean="0"/>
              <a:t>      </a:t>
            </a:r>
            <a:r>
              <a:rPr lang="en-US" altLang="zh-CN" sz="2800" smtClean="0"/>
              <a:t>We will make them happy . </a:t>
            </a:r>
            <a:r>
              <a:rPr lang="zh-CN" altLang="en-US" sz="2800" smtClean="0"/>
              <a:t> </a:t>
            </a:r>
            <a:r>
              <a:rPr lang="en-US" altLang="zh-CN" sz="2800" smtClean="0"/>
              <a:t>We found nobody in.      Please make yourself at home. </a:t>
            </a:r>
            <a:r>
              <a:rPr lang="zh-CN" altLang="en-US" sz="2800" smtClean="0"/>
              <a:t> </a:t>
            </a:r>
            <a:r>
              <a:rPr lang="en-US" altLang="zh-CN" sz="2800" smtClean="0"/>
              <a:t>Don’t let him do that. </a:t>
            </a:r>
            <a:r>
              <a:rPr lang="zh-CN" altLang="en-US" sz="2800" smtClean="0"/>
              <a:t>            </a:t>
            </a:r>
            <a:r>
              <a:rPr lang="en-US" altLang="zh-CN" sz="2800" smtClean="0"/>
              <a:t>Don’t keep the lights burning.  I’ll have my bike repaired. </a:t>
            </a:r>
            <a:r>
              <a:rPr lang="zh-CN" altLang="en-US" sz="2800" smtClean="0"/>
              <a:t> </a:t>
            </a:r>
            <a:endParaRPr lang="en-US" altLang="zh-CN" sz="2800" smtClean="0"/>
          </a:p>
          <a:p>
            <a:pPr eaLnBrk="1" hangingPunct="1"/>
            <a:r>
              <a:rPr lang="zh-CN" altLang="en-US" sz="2800" smtClean="0"/>
              <a:t>双宾语</a:t>
            </a:r>
            <a:r>
              <a:rPr lang="en-US" altLang="zh-CN" sz="2800" smtClean="0"/>
              <a:t>-----</a:t>
            </a:r>
            <a:r>
              <a:rPr lang="zh-CN" altLang="en-US" sz="2800" smtClean="0"/>
              <a:t>间宾（指人）和直宾（指物）</a:t>
            </a:r>
          </a:p>
          <a:p>
            <a:pPr eaLnBrk="1" hangingPunct="1"/>
            <a:r>
              <a:rPr lang="zh-CN" altLang="en-US" sz="2800" smtClean="0"/>
              <a:t>      </a:t>
            </a:r>
            <a:r>
              <a:rPr lang="en-US" altLang="zh-CN" sz="2800" smtClean="0"/>
              <a:t>He gave me a book yesterday.       Give the poor man some money.</a:t>
            </a:r>
          </a:p>
          <a:p>
            <a:pPr eaLnBrk="1" hangingPunct="1"/>
            <a:endParaRPr lang="zh-CN" altLang="en-US" sz="2800" smtClean="0"/>
          </a:p>
          <a:p>
            <a:pPr eaLnBrk="1" hangingPunct="1"/>
            <a:endParaRPr lang="zh-CN" altLang="en-US" sz="2800" smtClean="0"/>
          </a:p>
        </p:txBody>
      </p:sp>
    </p:spTree>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p:cNvSpPr>
            <a:spLocks noGrp="1"/>
          </p:cNvSpPr>
          <p:nvPr>
            <p:ph type="title"/>
          </p:nvPr>
        </p:nvSpPr>
        <p:spPr/>
        <p:txBody>
          <a:bodyPr>
            <a:normAutofit/>
          </a:bodyPr>
          <a:lstStyle/>
          <a:p>
            <a:pPr eaLnBrk="1" hangingPunct="1"/>
            <a:r>
              <a:rPr lang="en-US" altLang="zh-CN" smtClean="0"/>
              <a:t>What elements could</a:t>
            </a:r>
            <a:r>
              <a:rPr lang="zh-CN" altLang="en-US" smtClean="0"/>
              <a:t> </a:t>
            </a:r>
            <a:r>
              <a:rPr lang="en-US" altLang="zh-CN" smtClean="0"/>
              <a:t>be predictive </a:t>
            </a:r>
            <a:r>
              <a:rPr lang="zh-CN" altLang="en-US" smtClean="0"/>
              <a:t>（表语）</a:t>
            </a:r>
            <a:r>
              <a:rPr lang="en-US" altLang="zh-CN" smtClean="0"/>
              <a:t>?</a:t>
            </a:r>
            <a:endParaRPr lang="zh-CN" altLang="en-US" smtClean="0"/>
          </a:p>
        </p:txBody>
      </p:sp>
      <p:sp>
        <p:nvSpPr>
          <p:cNvPr id="24578" name="内容占位符 2"/>
          <p:cNvSpPr>
            <a:spLocks noGrp="1"/>
          </p:cNvSpPr>
          <p:nvPr>
            <p:ph idx="1"/>
          </p:nvPr>
        </p:nvSpPr>
        <p:spPr/>
        <p:txBody>
          <a:bodyPr>
            <a:normAutofit/>
          </a:bodyPr>
          <a:lstStyle/>
          <a:p>
            <a:pPr eaLnBrk="1" hangingPunct="1"/>
            <a:r>
              <a:rPr lang="zh-CN" altLang="en-US" sz="4800" dirty="0" smtClean="0"/>
              <a:t>主语      系动词     表语</a:t>
            </a:r>
          </a:p>
        </p:txBody>
      </p:sp>
    </p:spTree>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p:cNvSpPr>
          <p:nvPr>
            <p:ph type="title"/>
          </p:nvPr>
        </p:nvSpPr>
        <p:spPr/>
        <p:txBody>
          <a:bodyPr/>
          <a:lstStyle/>
          <a:p>
            <a:pPr eaLnBrk="1" hangingPunct="1"/>
            <a:r>
              <a:rPr lang="en-US" altLang="zh-CN" smtClean="0"/>
              <a:t> </a:t>
            </a:r>
            <a:endParaRPr lang="zh-CN" altLang="en-US" smtClean="0"/>
          </a:p>
        </p:txBody>
      </p:sp>
      <p:sp>
        <p:nvSpPr>
          <p:cNvPr id="25602" name="内容占位符 2"/>
          <p:cNvSpPr>
            <a:spLocks noGrp="1"/>
          </p:cNvSpPr>
          <p:nvPr>
            <p:ph idx="1"/>
          </p:nvPr>
        </p:nvSpPr>
        <p:spPr>
          <a:xfrm>
            <a:off x="468313" y="188913"/>
            <a:ext cx="8280400" cy="6480175"/>
          </a:xfrm>
        </p:spPr>
        <p:txBody>
          <a:bodyPr>
            <a:normAutofit lnSpcReduction="10000"/>
          </a:bodyPr>
          <a:lstStyle/>
          <a:p>
            <a:pPr eaLnBrk="1" hangingPunct="1"/>
            <a:r>
              <a:rPr lang="zh-CN" altLang="en-US" sz="2800" smtClean="0"/>
              <a:t>表语（</a:t>
            </a:r>
            <a:r>
              <a:rPr lang="en-US" altLang="zh-CN" sz="2800" smtClean="0"/>
              <a:t>predicative</a:t>
            </a:r>
            <a:r>
              <a:rPr lang="zh-CN" altLang="en-US" sz="2800" smtClean="0"/>
              <a:t>）</a:t>
            </a:r>
            <a:r>
              <a:rPr lang="en-US" altLang="zh-CN" sz="2800" smtClean="0"/>
              <a:t>: </a:t>
            </a:r>
            <a:r>
              <a:rPr lang="zh-CN" altLang="en-US" sz="2800" smtClean="0"/>
              <a:t>系动词之后的成分，表示主语的性质、状态和特征。</a:t>
            </a:r>
          </a:p>
          <a:p>
            <a:pPr eaLnBrk="1" hangingPunct="1"/>
            <a:r>
              <a:rPr lang="zh-CN" altLang="en-US" sz="2800" smtClean="0"/>
              <a:t>      </a:t>
            </a:r>
            <a:r>
              <a:rPr lang="en-US" altLang="zh-CN" sz="2800" smtClean="0"/>
              <a:t>He is a teacher.     </a:t>
            </a:r>
            <a:r>
              <a:rPr lang="zh-CN" altLang="en-US" sz="2800" smtClean="0"/>
              <a:t>（名词）      </a:t>
            </a:r>
            <a:r>
              <a:rPr lang="en-US" altLang="zh-CN" sz="2800" smtClean="0"/>
              <a:t>Seventy-four! You don’t look it. </a:t>
            </a:r>
            <a:r>
              <a:rPr lang="zh-CN" altLang="en-US" sz="2800" smtClean="0"/>
              <a:t>（代词）</a:t>
            </a:r>
          </a:p>
          <a:p>
            <a:pPr eaLnBrk="1" hangingPunct="1"/>
            <a:r>
              <a:rPr lang="zh-CN" altLang="en-US" sz="2800" smtClean="0"/>
              <a:t>      </a:t>
            </a:r>
            <a:r>
              <a:rPr lang="en-US" altLang="zh-CN" sz="2800" smtClean="0"/>
              <a:t>Five and five is ten. </a:t>
            </a:r>
            <a:r>
              <a:rPr lang="zh-CN" altLang="en-US" sz="2800" smtClean="0"/>
              <a:t>（数词）       </a:t>
            </a:r>
            <a:r>
              <a:rPr lang="en-US" altLang="zh-CN" sz="2800" smtClean="0"/>
              <a:t>He is asleep.  </a:t>
            </a:r>
            <a:r>
              <a:rPr lang="zh-CN" altLang="en-US" sz="2800" smtClean="0"/>
              <a:t>（形容词） </a:t>
            </a:r>
          </a:p>
          <a:p>
            <a:pPr eaLnBrk="1" hangingPunct="1"/>
            <a:r>
              <a:rPr lang="zh-CN" altLang="en-US" sz="2800" smtClean="0"/>
              <a:t>      </a:t>
            </a:r>
            <a:r>
              <a:rPr lang="en-US" altLang="zh-CN" sz="2800" smtClean="0"/>
              <a:t>His father is in.     </a:t>
            </a:r>
            <a:r>
              <a:rPr lang="zh-CN" altLang="en-US" sz="2800" smtClean="0"/>
              <a:t>（副词）      </a:t>
            </a:r>
            <a:r>
              <a:rPr lang="en-US" altLang="zh-CN" sz="2800" smtClean="0"/>
              <a:t>The picture is on the wall. ( </a:t>
            </a:r>
            <a:r>
              <a:rPr lang="zh-CN" altLang="en-US" sz="2800" smtClean="0"/>
              <a:t>介词短语</a:t>
            </a:r>
            <a:r>
              <a:rPr lang="en-US" altLang="zh-CN" sz="2800" smtClean="0"/>
              <a:t>)</a:t>
            </a:r>
          </a:p>
          <a:p>
            <a:pPr eaLnBrk="1" hangingPunct="1"/>
            <a:r>
              <a:rPr lang="en-US" altLang="zh-CN" sz="2800" smtClean="0"/>
              <a:t>      My watch is gone / missing / lost.  </a:t>
            </a:r>
            <a:r>
              <a:rPr lang="zh-CN" altLang="en-US" sz="2800" smtClean="0"/>
              <a:t>（形容词化的分词）</a:t>
            </a:r>
          </a:p>
          <a:p>
            <a:pPr eaLnBrk="1" hangingPunct="1"/>
            <a:r>
              <a:rPr lang="zh-CN" altLang="en-US" sz="2800" smtClean="0"/>
              <a:t>      </a:t>
            </a:r>
            <a:r>
              <a:rPr lang="en-US" altLang="zh-CN" sz="2800" smtClean="0"/>
              <a:t>To wear a flower is to say “I’m poor, I can’t buy a ring. </a:t>
            </a:r>
            <a:r>
              <a:rPr lang="zh-CN" altLang="en-US" sz="2800" smtClean="0"/>
              <a:t>（不定式）</a:t>
            </a:r>
          </a:p>
          <a:p>
            <a:pPr eaLnBrk="1" hangingPunct="1"/>
            <a:r>
              <a:rPr lang="zh-CN" altLang="en-US" sz="2800" smtClean="0"/>
              <a:t>      </a:t>
            </a:r>
            <a:r>
              <a:rPr lang="en-US" altLang="zh-CN" sz="2800" smtClean="0"/>
              <a:t>The question is whether they will come.  </a:t>
            </a:r>
            <a:r>
              <a:rPr lang="zh-CN" altLang="en-US" sz="2800" smtClean="0"/>
              <a:t>（表语从句）</a:t>
            </a:r>
          </a:p>
          <a:p>
            <a:pPr eaLnBrk="1" hangingPunct="1"/>
            <a:endParaRPr lang="zh-CN" altLang="en-US" smtClean="0"/>
          </a:p>
        </p:txBody>
      </p:sp>
    </p:spTree>
  </p:cSld>
  <p:clrMapOvr>
    <a:masterClrMapping/>
  </p:clrMapOvr>
  <p:transition>
    <p:fad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14764" y="-459432"/>
            <a:ext cx="7772400" cy="1143000"/>
          </a:xfrm>
        </p:spPr>
        <p:txBody>
          <a:bodyPr/>
          <a:lstStyle/>
          <a:p>
            <a:r>
              <a:rPr lang="en-US" altLang="zh-CN" dirty="0" smtClean="0"/>
              <a:t> </a:t>
            </a:r>
            <a:endParaRPr lang="zh-CN" altLang="en-US" dirty="0"/>
          </a:p>
        </p:txBody>
      </p:sp>
      <p:sp>
        <p:nvSpPr>
          <p:cNvPr id="3" name="内容占位符 2"/>
          <p:cNvSpPr>
            <a:spLocks noGrp="1"/>
          </p:cNvSpPr>
          <p:nvPr>
            <p:ph idx="1"/>
          </p:nvPr>
        </p:nvSpPr>
        <p:spPr>
          <a:xfrm>
            <a:off x="714764" y="1124744"/>
            <a:ext cx="7817676" cy="4464496"/>
          </a:xfrm>
        </p:spPr>
        <p:txBody>
          <a:bodyPr>
            <a:normAutofit/>
          </a:bodyPr>
          <a:lstStyle/>
          <a:p>
            <a:pPr algn="just">
              <a:spcAft>
                <a:spcPts val="0"/>
              </a:spcAft>
            </a:pP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The book that I recommend them about history when they asked me to recommend one is The Stories of Ming Dynasty which I read ten years ago and read about 10 times </a:t>
            </a:r>
            <a:endParaRPr lang="zh-CN" altLang="zh-CN" sz="2800" kern="100" dirty="0">
              <a:latin typeface="Calibri" panose="020F0502020204030204" pitchFamily="34" charset="0"/>
              <a:ea typeface="宋体" panose="02010600030101010101" pitchFamily="2" charset="-122"/>
              <a:cs typeface="Times New Roman" panose="02020603050405020304" pitchFamily="18" charset="0"/>
            </a:endParaRPr>
          </a:p>
          <a:p>
            <a:pPr algn="just">
              <a:spcAft>
                <a:spcPts val="0"/>
              </a:spcAft>
            </a:pPr>
            <a:r>
              <a:rPr lang="en-US" altLang="zh-CN" sz="2800" kern="100" dirty="0" smtClean="0">
                <a:latin typeface="Calibri" panose="020F0502020204030204" pitchFamily="34" charset="0"/>
                <a:ea typeface="宋体" panose="02010600030101010101" pitchFamily="2" charset="-122"/>
                <a:cs typeface="Times New Roman" panose="02020603050405020304" pitchFamily="18" charset="0"/>
              </a:rPr>
              <a:t>When </a:t>
            </a:r>
            <a:r>
              <a:rPr lang="en-US" altLang="zh-CN" sz="2800" kern="100" dirty="0">
                <a:latin typeface="Calibri" panose="020F0502020204030204" pitchFamily="34" charset="0"/>
                <a:ea typeface="宋体" panose="02010600030101010101" pitchFamily="2" charset="-122"/>
                <a:cs typeface="Times New Roman" panose="02020603050405020304" pitchFamily="18" charset="0"/>
              </a:rPr>
              <a:t>I was asked about you , I told them that the most typical characteristics of you I admire most is that you are a perfectionist.</a:t>
            </a:r>
            <a:endParaRPr lang="zh-CN" altLang="zh-CN" sz="2800" kern="100" dirty="0">
              <a:latin typeface="Calibri" panose="020F0502020204030204" pitchFamily="34" charset="0"/>
              <a:ea typeface="宋体" panose="02010600030101010101" pitchFamily="2" charset="-122"/>
              <a:cs typeface="Times New Roman" panose="02020603050405020304" pitchFamily="18" charset="0"/>
            </a:endParaRPr>
          </a:p>
          <a:p>
            <a:pPr marL="0" indent="0">
              <a:buNone/>
            </a:pPr>
            <a:endParaRPr lang="zh-CN" altLang="en-US" sz="2800" dirty="0"/>
          </a:p>
        </p:txBody>
      </p:sp>
    </p:spTree>
    <p:extLst>
      <p:ext uri="{BB962C8B-B14F-4D97-AF65-F5344CB8AC3E}">
        <p14:creationId xmlns:p14="http://schemas.microsoft.com/office/powerpoint/2010/main" val="174125778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p:cNvSpPr>
          <p:nvPr>
            <p:ph type="title"/>
          </p:nvPr>
        </p:nvSpPr>
        <p:spPr>
          <a:xfrm>
            <a:off x="457200" y="274638"/>
            <a:ext cx="8002588" cy="561975"/>
          </a:xfrm>
        </p:spPr>
        <p:txBody>
          <a:bodyPr>
            <a:normAutofit fontScale="90000"/>
          </a:bodyPr>
          <a:lstStyle/>
          <a:p>
            <a:r>
              <a:rPr lang="zh-CN" altLang="en-US" sz="4000" smtClean="0"/>
              <a:t> </a:t>
            </a:r>
          </a:p>
        </p:txBody>
      </p:sp>
      <p:sp>
        <p:nvSpPr>
          <p:cNvPr id="30722" name="Rectangle 3"/>
          <p:cNvSpPr>
            <a:spLocks noGrp="1"/>
          </p:cNvSpPr>
          <p:nvPr>
            <p:ph idx="1"/>
          </p:nvPr>
        </p:nvSpPr>
        <p:spPr>
          <a:xfrm>
            <a:off x="395288" y="549275"/>
            <a:ext cx="8291512" cy="5576888"/>
          </a:xfrm>
        </p:spPr>
        <p:txBody>
          <a:bodyPr>
            <a:normAutofit lnSpcReduction="10000"/>
          </a:bodyPr>
          <a:lstStyle/>
          <a:p>
            <a:pPr>
              <a:lnSpc>
                <a:spcPct val="80000"/>
              </a:lnSpc>
            </a:pPr>
            <a:r>
              <a:rPr lang="zh-CN" altLang="en-US" sz="2800" dirty="0" smtClean="0"/>
              <a:t>练习</a:t>
            </a:r>
            <a:r>
              <a:rPr lang="en-US" altLang="zh-CN" sz="2800" dirty="0" smtClean="0"/>
              <a:t>1 </a:t>
            </a:r>
            <a:r>
              <a:rPr lang="zh-CN" altLang="en-US" sz="2800" dirty="0" smtClean="0"/>
              <a:t>复杂句的分析</a:t>
            </a:r>
            <a:endParaRPr lang="en-US" altLang="zh-CN" sz="2800" dirty="0" smtClean="0"/>
          </a:p>
          <a:p>
            <a:pPr>
              <a:lnSpc>
                <a:spcPct val="80000"/>
              </a:lnSpc>
            </a:pPr>
            <a:r>
              <a:rPr lang="en-US" altLang="zh-CN" sz="2800" dirty="0" smtClean="0"/>
              <a:t>1. Most people seem to have more bad dreams early in the night, progressing toward happier ones before awakening, suggesting that they are working through negative feelings generated during the day.</a:t>
            </a:r>
          </a:p>
          <a:p>
            <a:pPr>
              <a:lnSpc>
                <a:spcPct val="80000"/>
              </a:lnSpc>
            </a:pPr>
            <a:r>
              <a:rPr lang="en-US" altLang="zh-CN" sz="2800" dirty="0" smtClean="0"/>
              <a:t>2. While even the modestly educated sought an elevated tone when they put pen to paper before the 1960s, even the most well regarded writing since then has sought to capture spoken English on the page.</a:t>
            </a:r>
          </a:p>
          <a:p>
            <a:pPr>
              <a:lnSpc>
                <a:spcPct val="80000"/>
              </a:lnSpc>
            </a:pPr>
            <a:r>
              <a:rPr lang="en-US" altLang="zh-CN" sz="2800" dirty="0" smtClean="0"/>
              <a:t>3. But particularly when viewed against America’s turbulent past, today’s social indices hardly suggest a dark and deteriorating social environment. </a:t>
            </a:r>
            <a:endParaRPr lang="zh-CN" altLang="en-US" sz="2800" dirty="0" smtClean="0"/>
          </a:p>
        </p:txBody>
      </p:sp>
    </p:spTree>
  </p:cSld>
  <p:clrMapOvr>
    <a:masterClrMapping/>
  </p:clrMapOvr>
  <p:transition>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标题 1"/>
          <p:cNvSpPr>
            <a:spLocks noGrp="1"/>
          </p:cNvSpPr>
          <p:nvPr>
            <p:ph type="title"/>
          </p:nvPr>
        </p:nvSpPr>
        <p:spPr/>
        <p:txBody>
          <a:bodyPr/>
          <a:lstStyle/>
          <a:p>
            <a:pPr eaLnBrk="1" hangingPunct="1"/>
            <a:r>
              <a:rPr lang="en-US" altLang="zh-CN" dirty="0" smtClean="0"/>
              <a:t>Exercise</a:t>
            </a:r>
            <a:endParaRPr lang="zh-CN" altLang="en-US" dirty="0" smtClean="0"/>
          </a:p>
        </p:txBody>
      </p:sp>
      <p:sp>
        <p:nvSpPr>
          <p:cNvPr id="33794" name="内容占位符 2"/>
          <p:cNvSpPr>
            <a:spLocks noGrp="1"/>
          </p:cNvSpPr>
          <p:nvPr>
            <p:ph idx="1"/>
          </p:nvPr>
        </p:nvSpPr>
        <p:spPr/>
        <p:txBody>
          <a:bodyPr>
            <a:normAutofit/>
          </a:bodyPr>
          <a:lstStyle/>
          <a:p>
            <a:pPr eaLnBrk="1" hangingPunct="1"/>
            <a:r>
              <a:rPr lang="en-US" altLang="zh-CN" sz="2800" dirty="0" smtClean="0"/>
              <a:t>Express your opinion towards job hopping, especially on whether job hopping would benefit your career development.</a:t>
            </a:r>
            <a:endParaRPr lang="zh-CN" altLang="en-US" sz="2800" dirty="0" smtClean="0"/>
          </a:p>
        </p:txBody>
      </p:sp>
    </p:spTree>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idx="1"/>
          </p:nvPr>
        </p:nvSpPr>
        <p:spPr>
          <a:xfrm>
            <a:off x="2915920" y="1556385"/>
            <a:ext cx="5486400" cy="3413125"/>
          </a:xfrm>
          <a:solidFill>
            <a:srgbClr val="CEC7F3"/>
          </a:solidFill>
          <a:ln>
            <a:solidFill>
              <a:schemeClr val="bg1"/>
            </a:solidFill>
          </a:ln>
        </p:spPr>
        <p:style>
          <a:lnRef idx="1">
            <a:schemeClr val="dk1"/>
          </a:lnRef>
          <a:fillRef idx="3">
            <a:schemeClr val="dk1"/>
          </a:fillRef>
          <a:effectRef idx="2">
            <a:schemeClr val="dk1"/>
          </a:effectRef>
          <a:fontRef idx="minor">
            <a:schemeClr val="lt1"/>
          </a:fontRef>
        </p:style>
        <p:txBody>
          <a:bodyPr/>
          <a:lstStyle/>
          <a:p>
            <a:pPr marL="0" indent="0" eaLnBrk="1" hangingPunct="1">
              <a:lnSpc>
                <a:spcPct val="80000"/>
              </a:lnSpc>
              <a:buFontTx/>
              <a:buNone/>
            </a:pPr>
            <a:r>
              <a:rPr lang="zh-CN" altLang="en-US" sz="3200" b="1" u="sng" dirty="0" smtClean="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书写句子的原则</a:t>
            </a:r>
            <a:r>
              <a:rPr lang="zh-CN" altLang="en-US" sz="2800" b="1" u="sng" dirty="0" smtClean="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a:t>
            </a:r>
            <a:endParaRPr lang="en-US" altLang="zh-CN" sz="2800" b="1" u="sng" dirty="0" smtClean="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endParaRPr>
          </a:p>
          <a:p>
            <a:pPr marL="0" indent="0" eaLnBrk="1" hangingPunct="1">
              <a:lnSpc>
                <a:spcPct val="80000"/>
              </a:lnSpc>
              <a:buFontTx/>
              <a:buNone/>
            </a:pPr>
            <a:r>
              <a:rPr lang="en-US" altLang="zh-CN" sz="2800" b="1" dirty="0" smtClean="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1</a:t>
            </a:r>
            <a:r>
              <a:rPr lang="en-US" altLang="zh-CN" sz="2800" b="1" dirty="0" smtClean="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a:t>
            </a:r>
            <a:r>
              <a:rPr lang="zh-CN" altLang="en-US" sz="2800" b="1" dirty="0" smtClean="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完整的句子</a:t>
            </a:r>
            <a:r>
              <a:rPr lang="zh-CN" altLang="en-US" sz="2800" b="1" dirty="0" smtClean="0">
                <a:solidFill>
                  <a:schemeClr val="tx1"/>
                </a:solidFill>
                <a:effectLst>
                  <a:outerShdw blurRad="38100" dist="19050" dir="2700000" algn="tl" rotWithShape="0">
                    <a:schemeClr val="dk1">
                      <a:alpha val="40000"/>
                    </a:schemeClr>
                  </a:outerShdw>
                </a:effectLst>
                <a:latin typeface="宋体" panose="02010600030101010101" pitchFamily="2" charset="-122"/>
              </a:rPr>
              <a:t> </a:t>
            </a:r>
            <a:r>
              <a:rPr lang="en-US" altLang="zh-CN" sz="2800" b="1" dirty="0" smtClean="0">
                <a:solidFill>
                  <a:schemeClr val="tx1"/>
                </a:solidFill>
                <a:effectLst>
                  <a:outerShdw blurRad="38100" dist="19050" dir="2700000" algn="tl" rotWithShape="0">
                    <a:schemeClr val="dk1">
                      <a:alpha val="40000"/>
                    </a:schemeClr>
                  </a:outerShdw>
                </a:effectLst>
                <a:latin typeface="Times New Roman" panose="02020603050405020304" pitchFamily="18" charset="0"/>
              </a:rPr>
              <a:t>(Completeness)</a:t>
            </a:r>
          </a:p>
          <a:p>
            <a:pPr marL="0" indent="0" eaLnBrk="1" hangingPunct="1">
              <a:lnSpc>
                <a:spcPct val="80000"/>
              </a:lnSpc>
              <a:buFontTx/>
              <a:buNone/>
            </a:pPr>
            <a:r>
              <a:rPr lang="en-US" altLang="zh-CN" sz="2800" b="1" dirty="0" smtClean="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2.</a:t>
            </a:r>
            <a:r>
              <a:rPr lang="zh-CN" altLang="en-US" sz="2800" b="1" dirty="0" smtClean="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清晰的句子</a:t>
            </a:r>
            <a:r>
              <a:rPr lang="zh-CN" altLang="en-US" sz="2800" b="1" dirty="0" smtClean="0">
                <a:solidFill>
                  <a:schemeClr val="tx1"/>
                </a:solidFill>
                <a:effectLst>
                  <a:outerShdw blurRad="38100" dist="19050" dir="2700000" algn="tl" rotWithShape="0">
                    <a:schemeClr val="dk1">
                      <a:alpha val="40000"/>
                    </a:schemeClr>
                  </a:outerShdw>
                </a:effectLst>
                <a:latin typeface="宋体" panose="02010600030101010101" pitchFamily="2" charset="-122"/>
              </a:rPr>
              <a:t> </a:t>
            </a:r>
            <a:r>
              <a:rPr lang="en-US" altLang="zh-CN" sz="2800" b="1" dirty="0" smtClean="0">
                <a:solidFill>
                  <a:schemeClr val="tx1"/>
                </a:solidFill>
                <a:effectLst>
                  <a:outerShdw blurRad="38100" dist="19050" dir="2700000" algn="tl" rotWithShape="0">
                    <a:schemeClr val="dk1">
                      <a:alpha val="40000"/>
                    </a:schemeClr>
                  </a:outerShdw>
                </a:effectLst>
                <a:latin typeface="Times New Roman" panose="02020603050405020304" pitchFamily="18" charset="0"/>
              </a:rPr>
              <a:t>(Clarity)</a:t>
            </a:r>
          </a:p>
          <a:p>
            <a:pPr marL="0" indent="0" eaLnBrk="1" hangingPunct="1">
              <a:lnSpc>
                <a:spcPct val="80000"/>
              </a:lnSpc>
              <a:buFontTx/>
              <a:buNone/>
            </a:pPr>
            <a:r>
              <a:rPr lang="en-US" altLang="zh-CN" sz="2800" b="1" dirty="0" smtClean="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3.</a:t>
            </a:r>
            <a:r>
              <a:rPr lang="zh-CN" altLang="en-US" sz="2800" b="1" dirty="0" smtClean="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简洁的句子</a:t>
            </a:r>
            <a:r>
              <a:rPr lang="zh-CN" altLang="en-US" sz="2800" b="1" dirty="0" smtClean="0">
                <a:solidFill>
                  <a:schemeClr val="tx1"/>
                </a:solidFill>
                <a:effectLst>
                  <a:outerShdw blurRad="38100" dist="19050" dir="2700000" algn="tl" rotWithShape="0">
                    <a:schemeClr val="dk1">
                      <a:alpha val="40000"/>
                    </a:schemeClr>
                  </a:outerShdw>
                </a:effectLst>
                <a:latin typeface="宋体" panose="02010600030101010101" pitchFamily="2" charset="-122"/>
              </a:rPr>
              <a:t> </a:t>
            </a:r>
            <a:r>
              <a:rPr lang="en-US" altLang="zh-CN" sz="2800" b="1" dirty="0" smtClean="0">
                <a:solidFill>
                  <a:schemeClr val="tx1"/>
                </a:solidFill>
                <a:effectLst>
                  <a:outerShdw blurRad="38100" dist="19050" dir="2700000" algn="tl" rotWithShape="0">
                    <a:schemeClr val="dk1">
                      <a:alpha val="40000"/>
                    </a:schemeClr>
                  </a:outerShdw>
                </a:effectLst>
                <a:latin typeface="Times New Roman" panose="02020603050405020304" pitchFamily="18" charset="0"/>
              </a:rPr>
              <a:t>(Conciseness)</a:t>
            </a:r>
          </a:p>
          <a:p>
            <a:pPr marL="0" indent="0" eaLnBrk="1" hangingPunct="1">
              <a:lnSpc>
                <a:spcPct val="80000"/>
              </a:lnSpc>
              <a:buFontTx/>
              <a:buNone/>
            </a:pPr>
            <a:r>
              <a:rPr lang="en-US" altLang="zh-CN" sz="2800" b="1" dirty="0" smtClean="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4.</a:t>
            </a:r>
            <a:r>
              <a:rPr lang="zh-CN" altLang="en-US" sz="2800" b="1" dirty="0" smtClean="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平行结构的句子</a:t>
            </a:r>
            <a:r>
              <a:rPr lang="zh-CN" altLang="en-US" sz="2800" b="1" dirty="0" smtClean="0">
                <a:solidFill>
                  <a:schemeClr val="tx1"/>
                </a:solidFill>
                <a:effectLst>
                  <a:outerShdw blurRad="38100" dist="19050" dir="2700000" algn="tl" rotWithShape="0">
                    <a:schemeClr val="dk1">
                      <a:alpha val="40000"/>
                    </a:schemeClr>
                  </a:outerShdw>
                </a:effectLst>
                <a:latin typeface="Times New Roman" panose="02020603050405020304" pitchFamily="18" charset="0"/>
              </a:rPr>
              <a:t>（</a:t>
            </a:r>
            <a:r>
              <a:rPr lang="en-US" altLang="zh-CN" sz="2800" b="1" dirty="0" smtClean="0">
                <a:solidFill>
                  <a:schemeClr val="tx1"/>
                </a:solidFill>
                <a:effectLst>
                  <a:outerShdw blurRad="38100" dist="19050" dir="2700000" algn="tl" rotWithShape="0">
                    <a:schemeClr val="dk1">
                      <a:alpha val="40000"/>
                    </a:schemeClr>
                  </a:outerShdw>
                </a:effectLst>
                <a:latin typeface="Times New Roman" panose="02020603050405020304" pitchFamily="18" charset="0"/>
              </a:rPr>
              <a:t>Parallelism)</a:t>
            </a:r>
          </a:p>
          <a:p>
            <a:pPr marL="609600" indent="-609600" eaLnBrk="1" hangingPunct="1">
              <a:lnSpc>
                <a:spcPct val="80000"/>
              </a:lnSpc>
              <a:buFontTx/>
              <a:buNone/>
            </a:pPr>
            <a:r>
              <a:rPr lang="en-US" altLang="zh-CN" sz="2800" b="1" dirty="0" smtClean="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5.</a:t>
            </a:r>
            <a:r>
              <a:rPr lang="zh-CN" altLang="en-US" sz="2800" b="1" dirty="0" smtClean="0">
                <a:solidFill>
                  <a:schemeClr val="tx1"/>
                </a:solidFill>
                <a:effectLst>
                  <a:outerShdw blurRad="38100" dist="19050" dir="2700000" algn="tl" rotWithShape="0">
                    <a:schemeClr val="dk1">
                      <a:alpha val="40000"/>
                    </a:schemeClr>
                  </a:outerShdw>
                </a:effectLst>
                <a:latin typeface="楷体_GB2312" pitchFamily="49" charset="-122"/>
                <a:ea typeface="楷体_GB2312" pitchFamily="49" charset="-122"/>
              </a:rPr>
              <a:t>灵活多变的句子</a:t>
            </a:r>
            <a:r>
              <a:rPr lang="zh-CN" altLang="en-US" sz="2800" b="1" dirty="0" smtClean="0">
                <a:solidFill>
                  <a:schemeClr val="tx1"/>
                </a:solidFill>
                <a:effectLst>
                  <a:outerShdw blurRad="38100" dist="19050" dir="2700000" algn="tl" rotWithShape="0">
                    <a:schemeClr val="dk1">
                      <a:alpha val="40000"/>
                    </a:schemeClr>
                  </a:outerShdw>
                </a:effectLst>
                <a:latin typeface="宋体" panose="02010600030101010101" pitchFamily="2" charset="-122"/>
              </a:rPr>
              <a:t> </a:t>
            </a:r>
            <a:r>
              <a:rPr lang="en-US" altLang="zh-CN" sz="2800" b="1" dirty="0" smtClean="0">
                <a:solidFill>
                  <a:schemeClr val="tx1"/>
                </a:solidFill>
                <a:effectLst>
                  <a:outerShdw blurRad="38100" dist="19050" dir="2700000" algn="tl" rotWithShape="0">
                    <a:schemeClr val="dk1">
                      <a:alpha val="40000"/>
                    </a:schemeClr>
                  </a:outerShdw>
                </a:effectLst>
                <a:latin typeface="Times New Roman" panose="02020603050405020304" pitchFamily="18" charset="0"/>
              </a:rPr>
              <a:t>(Variety</a:t>
            </a:r>
            <a:r>
              <a:rPr lang="en-US" altLang="zh-CN" sz="2400" b="1" dirty="0" smtClean="0">
                <a:solidFill>
                  <a:schemeClr val="tx1"/>
                </a:solidFill>
                <a:effectLst>
                  <a:outerShdw blurRad="38100" dist="19050" dir="2700000" algn="tl" rotWithShape="0">
                    <a:schemeClr val="dk1">
                      <a:alpha val="40000"/>
                    </a:schemeClr>
                  </a:outerShdw>
                </a:effectLst>
                <a:latin typeface="Times New Roman" panose="02020603050405020304" pitchFamily="18" charset="0"/>
              </a:rPr>
              <a:t>)</a:t>
            </a:r>
          </a:p>
          <a:p>
            <a:pPr marL="609600" indent="-609600" eaLnBrk="1" hangingPunct="1">
              <a:lnSpc>
                <a:spcPct val="80000"/>
              </a:lnSpc>
              <a:buFontTx/>
              <a:buAutoNum type="arabicPeriod"/>
            </a:pPr>
            <a:endParaRPr lang="en-US" altLang="zh-CN" sz="2400" b="1" dirty="0" smtClean="0">
              <a:latin typeface="Times New Roman" panose="02020603050405020304" pitchFamily="18" charset="0"/>
              <a:hlinkClick r:id="rId2" action="ppaction://hlinksldjump"/>
            </a:endParaRPr>
          </a:p>
          <a:p>
            <a:pPr marL="609600" indent="-609600" eaLnBrk="1" hangingPunct="1">
              <a:lnSpc>
                <a:spcPct val="80000"/>
              </a:lnSpc>
              <a:buFontTx/>
              <a:buAutoNum type="arabicPeriod"/>
            </a:pPr>
            <a:endParaRPr lang="en-US" altLang="zh-CN" sz="2000" b="1" dirty="0" smtClean="0">
              <a:latin typeface="Times New Roman" panose="02020603050405020304" pitchFamily="18" charset="0"/>
            </a:endParaRPr>
          </a:p>
          <a:p>
            <a:pPr marL="609600" indent="-609600" eaLnBrk="1" hangingPunct="1">
              <a:lnSpc>
                <a:spcPct val="80000"/>
              </a:lnSpc>
            </a:pPr>
            <a:endParaRPr lang="en-US" altLang="zh-CN" sz="2400" b="1" dirty="0" smtClean="0"/>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pic>
        <p:nvPicPr>
          <p:cNvPr id="34818" name="Picture 5" descr="0021"/>
          <p:cNvPicPr>
            <a:picLocks noChangeAspect="1" noChangeArrowheads="1"/>
          </p:cNvPicPr>
          <p:nvPr/>
        </p:nvPicPr>
        <p:blipFill>
          <a:blip r:embed="rId3" cstate="print"/>
          <a:srcRect/>
          <a:stretch>
            <a:fillRect/>
          </a:stretch>
        </p:blipFill>
        <p:spPr bwMode="auto">
          <a:xfrm>
            <a:off x="611188" y="1268413"/>
            <a:ext cx="2152650" cy="3744912"/>
          </a:xfrm>
          <a:prstGeom prst="rect">
            <a:avLst/>
          </a:prstGeom>
          <a:noFill/>
          <a:ln w="9525">
            <a:noFill/>
            <a:miter lim="800000"/>
            <a:headEnd/>
            <a:tailEnd/>
          </a:ln>
        </p:spPr>
      </p:pic>
    </p:spTree>
  </p:cSld>
  <p:clrMapOvr>
    <a:masterClrMapping/>
  </p:clrMapOvr>
  <p:transition advTm="10000"/>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idx="1"/>
          </p:nvPr>
        </p:nvSpPr>
        <p:spPr>
          <a:xfrm>
            <a:off x="468313" y="549275"/>
            <a:ext cx="7696200" cy="4937125"/>
          </a:xfrm>
        </p:spPr>
        <p:txBody>
          <a:bodyPr/>
          <a:lstStyle/>
          <a:p>
            <a:pPr marL="609600" indent="-609600" eaLnBrk="1" hangingPunct="1">
              <a:buFontTx/>
              <a:buNone/>
            </a:pPr>
            <a:r>
              <a:rPr lang="en-US" altLang="zh-CN" sz="2000" b="1" smtClean="0">
                <a:latin typeface="楷体_GB2312" pitchFamily="49" charset="-122"/>
                <a:ea typeface="楷体_GB2312" pitchFamily="49" charset="-122"/>
              </a:rPr>
              <a:t>1.</a:t>
            </a:r>
            <a:r>
              <a:rPr lang="zh-CN" altLang="en-US" sz="2000" b="1" smtClean="0">
                <a:latin typeface="楷体_GB2312" pitchFamily="49" charset="-122"/>
                <a:ea typeface="楷体_GB2312" pitchFamily="49" charset="-122"/>
              </a:rPr>
              <a:t>写完整的句子</a:t>
            </a:r>
            <a:r>
              <a:rPr lang="zh-CN" altLang="en-US" sz="2000" b="1" smtClean="0"/>
              <a:t> </a:t>
            </a:r>
            <a:r>
              <a:rPr lang="en-US" altLang="zh-CN" sz="2000" b="1" smtClean="0">
                <a:latin typeface="Times New Roman" panose="02020603050405020304" pitchFamily="18" charset="0"/>
              </a:rPr>
              <a:t>(Completeness)</a:t>
            </a:r>
          </a:p>
          <a:p>
            <a:pPr marL="609600" indent="-609600" eaLnBrk="1" hangingPunct="1">
              <a:buFontTx/>
              <a:buNone/>
            </a:pPr>
            <a:r>
              <a:rPr lang="en-US" altLang="zh-CN" sz="2000" b="1" smtClean="0"/>
              <a:t>      </a:t>
            </a:r>
            <a:r>
              <a:rPr lang="zh-CN" altLang="en-US" sz="2000" b="1" smtClean="0"/>
              <a:t>一个完整的句子既包括结构上的完整，也包括意义上的完整。</a:t>
            </a:r>
          </a:p>
          <a:p>
            <a:pPr marL="609600" indent="-609600" eaLnBrk="1" hangingPunct="1">
              <a:buFontTx/>
              <a:buNone/>
            </a:pPr>
            <a:r>
              <a:rPr lang="en-US" altLang="zh-CN" sz="2000" b="1" smtClean="0">
                <a:latin typeface="楷体_GB2312" pitchFamily="49" charset="-122"/>
                <a:ea typeface="楷体_GB2312" pitchFamily="49" charset="-122"/>
              </a:rPr>
              <a:t>(1) </a:t>
            </a:r>
            <a:r>
              <a:rPr lang="zh-CN" altLang="en-US" sz="2000" b="1" smtClean="0">
                <a:latin typeface="楷体_GB2312" pitchFamily="49" charset="-122"/>
                <a:ea typeface="楷体_GB2312" pitchFamily="49" charset="-122"/>
              </a:rPr>
              <a:t>结构上的完整</a:t>
            </a:r>
          </a:p>
          <a:p>
            <a:pPr marL="609600" indent="-609600" eaLnBrk="1" hangingPunct="1">
              <a:buFontTx/>
              <a:buNone/>
            </a:pPr>
            <a:r>
              <a:rPr lang="zh-CN" altLang="en-US" sz="2000" b="1" smtClean="0">
                <a:latin typeface="楷体_GB2312" pitchFamily="49" charset="-122"/>
                <a:ea typeface="楷体_GB2312" pitchFamily="49" charset="-122"/>
              </a:rPr>
              <a:t> </a:t>
            </a:r>
            <a:r>
              <a:rPr lang="en-US" altLang="zh-CN" sz="2000" b="1" smtClean="0">
                <a:latin typeface="楷体_GB2312" pitchFamily="49" charset="-122"/>
                <a:ea typeface="楷体_GB2312" pitchFamily="49" charset="-122"/>
              </a:rPr>
              <a:t>       </a:t>
            </a:r>
            <a:r>
              <a:rPr lang="zh-CN" altLang="en-US" sz="2000">
                <a:latin typeface="宋体" panose="02010600030101010101" pitchFamily="2" charset="-122"/>
                <a:sym typeface="+mn-ea"/>
              </a:rPr>
              <a:t>汉语句子可以不用动词，主语也可以省略，而</a:t>
            </a:r>
            <a:r>
              <a:rPr lang="zh-CN" altLang="en-US" sz="2000" b="1">
                <a:latin typeface="宋体" panose="02010600030101010101" pitchFamily="2" charset="-122"/>
                <a:sym typeface="+mn-ea"/>
              </a:rPr>
              <a:t>英语句子一般需要有主语和谓语动词才算完整</a:t>
            </a:r>
            <a:r>
              <a:rPr lang="zh-CN" altLang="en-US" sz="2000">
                <a:latin typeface="宋体" panose="02010600030101010101" pitchFamily="2" charset="-122"/>
                <a:sym typeface="+mn-ea"/>
              </a:rPr>
              <a:t>。再者，与汉语不同，</a:t>
            </a:r>
            <a:r>
              <a:rPr lang="zh-CN" altLang="en-US" sz="2000" b="1">
                <a:latin typeface="宋体" panose="02010600030101010101" pitchFamily="2" charset="-122"/>
                <a:sym typeface="+mn-ea"/>
              </a:rPr>
              <a:t>英语句子中及物动词的宾语不能省略</a:t>
            </a:r>
            <a:r>
              <a:rPr lang="zh-CN" altLang="en-US" sz="2000">
                <a:latin typeface="宋体" panose="02010600030101010101" pitchFamily="2" charset="-122"/>
                <a:sym typeface="+mn-ea"/>
              </a:rPr>
              <a:t>。我们还可以用</a:t>
            </a:r>
            <a:r>
              <a:rPr lang="en-US" altLang="zh-CN" sz="2000">
                <a:latin typeface="Times New Roman" panose="02020603050405020304" pitchFamily="18" charset="0"/>
                <a:sym typeface="+mn-ea"/>
              </a:rPr>
              <a:t>that</a:t>
            </a:r>
            <a:r>
              <a:rPr lang="zh-CN" altLang="en-US" sz="2000">
                <a:latin typeface="Times New Roman" panose="02020603050405020304" pitchFamily="18" charset="0"/>
                <a:sym typeface="+mn-ea"/>
              </a:rPr>
              <a:t>、</a:t>
            </a:r>
            <a:r>
              <a:rPr lang="en-US" altLang="zh-CN" sz="2000">
                <a:latin typeface="Times New Roman" panose="02020603050405020304" pitchFamily="18" charset="0"/>
                <a:sym typeface="+mn-ea"/>
              </a:rPr>
              <a:t>who</a:t>
            </a:r>
            <a:r>
              <a:rPr lang="zh-CN" altLang="en-US" sz="2000">
                <a:latin typeface="宋体" panose="02010600030101010101" pitchFamily="2" charset="-122"/>
                <a:sym typeface="+mn-ea"/>
              </a:rPr>
              <a:t>或</a:t>
            </a:r>
            <a:r>
              <a:rPr lang="en-US" altLang="zh-CN" sz="2000">
                <a:latin typeface="Times New Roman" panose="02020603050405020304" pitchFamily="18" charset="0"/>
                <a:sym typeface="+mn-ea"/>
              </a:rPr>
              <a:t>because</a:t>
            </a:r>
            <a:r>
              <a:rPr lang="zh-CN" altLang="en-US" sz="2000">
                <a:latin typeface="Times New Roman" panose="02020603050405020304" pitchFamily="18" charset="0"/>
                <a:sym typeface="+mn-ea"/>
              </a:rPr>
              <a:t>等关联词</a:t>
            </a:r>
            <a:r>
              <a:rPr lang="zh-CN" altLang="en-US" sz="2000">
                <a:latin typeface="宋体" panose="02010600030101010101" pitchFamily="2" charset="-122"/>
                <a:sym typeface="+mn-ea"/>
              </a:rPr>
              <a:t>词把简单句连在一起，组成复合句。例如：</a:t>
            </a:r>
            <a:endParaRPr lang="zh-CN" altLang="en-US" sz="2000">
              <a:latin typeface="宋体" panose="02010600030101010101" pitchFamily="2" charset="-122"/>
            </a:endParaRPr>
          </a:p>
          <a:p>
            <a:pPr marL="609600" indent="-609600" eaLnBrk="1" hangingPunct="1">
              <a:buFontTx/>
              <a:buNone/>
            </a:pPr>
            <a:r>
              <a:rPr lang="en-US" altLang="zh-CN" sz="2000" i="1" smtClean="0">
                <a:solidFill>
                  <a:srgbClr val="CC6600"/>
                </a:solidFill>
                <a:sym typeface="+mn-ea"/>
              </a:rPr>
              <a:t>Wrong</a:t>
            </a:r>
            <a:r>
              <a:rPr lang="en-US" altLang="zh-CN" sz="2000" smtClean="0">
                <a:solidFill>
                  <a:srgbClr val="CC6600"/>
                </a:solidFill>
                <a:sym typeface="+mn-ea"/>
              </a:rPr>
              <a:t>:</a:t>
            </a:r>
            <a:r>
              <a:rPr lang="en-US" altLang="zh-CN" sz="2000" smtClean="0">
                <a:sym typeface="+mn-ea"/>
              </a:rPr>
              <a:t> </a:t>
            </a:r>
            <a:r>
              <a:rPr lang="en-US" altLang="zh-CN" sz="2000" b="1" smtClean="0">
                <a:latin typeface="Times New Roman" panose="02020603050405020304" pitchFamily="18" charset="0"/>
                <a:sym typeface="+mn-ea"/>
              </a:rPr>
              <a:t>My name Helen</a:t>
            </a:r>
            <a:r>
              <a:rPr lang="en-US" altLang="zh-CN" sz="2000" smtClean="0">
                <a:latin typeface="Times New Roman" panose="02020603050405020304" pitchFamily="18" charset="0"/>
                <a:sym typeface="+mn-ea"/>
              </a:rPr>
              <a:t>.</a:t>
            </a:r>
            <a:r>
              <a:rPr lang="en-US" altLang="zh-CN" sz="2000" smtClean="0">
                <a:latin typeface="Arial" panose="020B0604020202020204" pitchFamily="34" charset="0"/>
                <a:sym typeface="+mn-ea"/>
              </a:rPr>
              <a:t> </a:t>
            </a:r>
            <a:endParaRPr lang="en-US" altLang="zh-CN" sz="2000" smtClean="0"/>
          </a:p>
          <a:p>
            <a:pPr marL="609600" indent="-609600" eaLnBrk="1" hangingPunct="1">
              <a:buFontTx/>
              <a:buNone/>
            </a:pPr>
            <a:r>
              <a:rPr lang="en-US" altLang="zh-CN" sz="2000" b="1" i="1">
                <a:solidFill>
                  <a:srgbClr val="333399"/>
                </a:solidFill>
                <a:latin typeface="Times New Roman" panose="02020603050405020304" pitchFamily="18" charset="0"/>
                <a:sym typeface="+mn-ea"/>
              </a:rPr>
              <a:t>Correct</a:t>
            </a:r>
            <a:r>
              <a:rPr lang="en-US" altLang="zh-CN" sz="2000" b="1">
                <a:solidFill>
                  <a:srgbClr val="333399"/>
                </a:solidFill>
                <a:latin typeface="Times New Roman" panose="02020603050405020304" pitchFamily="18" charset="0"/>
                <a:sym typeface="+mn-ea"/>
              </a:rPr>
              <a:t>: </a:t>
            </a:r>
            <a:r>
              <a:rPr lang="en-US" altLang="zh-CN" sz="2000" b="1">
                <a:solidFill>
                  <a:srgbClr val="000066"/>
                </a:solidFill>
                <a:latin typeface="Times New Roman" panose="02020603050405020304" pitchFamily="18" charset="0"/>
                <a:ea typeface="楷体_GB2312" pitchFamily="49" charset="-122"/>
                <a:sym typeface="+mn-ea"/>
              </a:rPr>
              <a:t>My name</a:t>
            </a:r>
            <a:r>
              <a:rPr lang="en-US" altLang="zh-CN" sz="2000" b="1">
                <a:solidFill>
                  <a:srgbClr val="333399"/>
                </a:solidFill>
                <a:latin typeface="Times New Roman" panose="02020603050405020304" pitchFamily="18" charset="0"/>
                <a:sym typeface="+mn-ea"/>
              </a:rPr>
              <a:t> </a:t>
            </a:r>
            <a:r>
              <a:rPr lang="en-US" altLang="zh-CN" sz="2000" b="1">
                <a:solidFill>
                  <a:srgbClr val="CC6600"/>
                </a:solidFill>
                <a:latin typeface="Times New Roman" panose="02020603050405020304" pitchFamily="18" charset="0"/>
                <a:sym typeface="+mn-ea"/>
              </a:rPr>
              <a:t>is</a:t>
            </a:r>
            <a:r>
              <a:rPr lang="en-US" altLang="zh-CN" sz="2000" b="1">
                <a:solidFill>
                  <a:srgbClr val="333399"/>
                </a:solidFill>
                <a:latin typeface="Times New Roman" panose="02020603050405020304" pitchFamily="18" charset="0"/>
                <a:sym typeface="+mn-ea"/>
              </a:rPr>
              <a:t> </a:t>
            </a:r>
            <a:r>
              <a:rPr lang="en-US" altLang="zh-CN" sz="2000" b="1">
                <a:latin typeface="Times New Roman" panose="02020603050405020304" pitchFamily="18" charset="0"/>
                <a:ea typeface="楷体_GB2312" pitchFamily="49" charset="-122"/>
                <a:sym typeface="+mn-ea"/>
              </a:rPr>
              <a:t>Helen</a:t>
            </a:r>
            <a:r>
              <a:rPr lang="en-US" altLang="zh-CN" sz="2000" b="1">
                <a:solidFill>
                  <a:srgbClr val="000066"/>
                </a:solidFill>
                <a:latin typeface="Times New Roman" panose="02020603050405020304" pitchFamily="18" charset="0"/>
                <a:ea typeface="楷体_GB2312" pitchFamily="49" charset="-122"/>
                <a:sym typeface="+mn-ea"/>
              </a:rPr>
              <a:t>.</a:t>
            </a:r>
            <a:endParaRPr lang="en-US" altLang="zh-CN" sz="2000" b="1">
              <a:solidFill>
                <a:srgbClr val="000066"/>
              </a:solidFill>
              <a:latin typeface="Times New Roman" panose="02020603050405020304" pitchFamily="18" charset="0"/>
              <a:ea typeface="楷体_GB2312" pitchFamily="49" charset="-122"/>
            </a:endParaRPr>
          </a:p>
          <a:p>
            <a:pPr marL="0" indent="0" algn="just">
              <a:lnSpc>
                <a:spcPct val="90000"/>
              </a:lnSpc>
              <a:spcBef>
                <a:spcPct val="20000"/>
              </a:spcBef>
              <a:buSzPct val="70000"/>
              <a:buNone/>
            </a:pPr>
            <a:r>
              <a:rPr lang="en-US" altLang="zh-CN" sz="2000" b="1" i="1">
                <a:solidFill>
                  <a:srgbClr val="CC6600"/>
                </a:solidFill>
                <a:latin typeface="Times New Roman" panose="02020603050405020304" pitchFamily="18" charset="0"/>
                <a:sym typeface="+mn-ea"/>
              </a:rPr>
              <a:t>Wrong</a:t>
            </a:r>
            <a:r>
              <a:rPr lang="en-US" altLang="zh-CN" sz="2000" b="1">
                <a:solidFill>
                  <a:srgbClr val="CC6600"/>
                </a:solidFill>
                <a:latin typeface="Times New Roman" panose="02020603050405020304" pitchFamily="18" charset="0"/>
                <a:sym typeface="+mn-ea"/>
              </a:rPr>
              <a:t>:</a:t>
            </a:r>
            <a:r>
              <a:rPr lang="en-US" altLang="zh-CN" sz="2000" b="1">
                <a:latin typeface="Times New Roman" panose="02020603050405020304" pitchFamily="18" charset="0"/>
                <a:sym typeface="+mn-ea"/>
              </a:rPr>
              <a:t> </a:t>
            </a:r>
            <a:r>
              <a:rPr lang="en-US" altLang="zh-CN" sz="2000" b="1">
                <a:solidFill>
                  <a:srgbClr val="000066"/>
                </a:solidFill>
                <a:latin typeface="Times New Roman" panose="02020603050405020304" pitchFamily="18" charset="0"/>
                <a:ea typeface="楷体_GB2312" pitchFamily="49" charset="-122"/>
                <a:sym typeface="+mn-ea"/>
              </a:rPr>
              <a:t>They eat rice, and we eat, too.</a:t>
            </a:r>
          </a:p>
          <a:p>
            <a:pPr marL="0" indent="0" algn="just">
              <a:lnSpc>
                <a:spcPct val="90000"/>
              </a:lnSpc>
              <a:spcBef>
                <a:spcPct val="20000"/>
              </a:spcBef>
              <a:buSzPct val="70000"/>
              <a:buNone/>
            </a:pPr>
            <a:r>
              <a:rPr lang="en-US" altLang="zh-CN" sz="2000" b="1" i="1">
                <a:solidFill>
                  <a:srgbClr val="333399"/>
                </a:solidFill>
                <a:latin typeface="Times New Roman" panose="02020603050405020304" pitchFamily="18" charset="0"/>
                <a:sym typeface="+mn-ea"/>
              </a:rPr>
              <a:t>Correct</a:t>
            </a:r>
            <a:r>
              <a:rPr lang="en-US" altLang="zh-CN" sz="2000" b="1">
                <a:solidFill>
                  <a:srgbClr val="333399"/>
                </a:solidFill>
                <a:latin typeface="Times New Roman" panose="02020603050405020304" pitchFamily="18" charset="0"/>
                <a:sym typeface="+mn-ea"/>
              </a:rPr>
              <a:t>: </a:t>
            </a:r>
            <a:r>
              <a:rPr lang="en-US" altLang="zh-CN" sz="2000" b="1">
                <a:solidFill>
                  <a:srgbClr val="000066"/>
                </a:solidFill>
                <a:latin typeface="Times New Roman" panose="02020603050405020304" pitchFamily="18" charset="0"/>
                <a:ea typeface="楷体_GB2312" pitchFamily="49" charset="-122"/>
                <a:sym typeface="+mn-ea"/>
              </a:rPr>
              <a:t>They eat rice, and we</a:t>
            </a:r>
            <a:r>
              <a:rPr lang="en-US" altLang="zh-CN" sz="2000" b="1">
                <a:solidFill>
                  <a:srgbClr val="333399"/>
                </a:solidFill>
                <a:latin typeface="Times New Roman" panose="02020603050405020304" pitchFamily="18" charset="0"/>
                <a:sym typeface="+mn-ea"/>
              </a:rPr>
              <a:t> </a:t>
            </a:r>
            <a:r>
              <a:rPr lang="en-US" altLang="zh-CN" sz="2000" b="1">
                <a:solidFill>
                  <a:srgbClr val="CC6600"/>
                </a:solidFill>
                <a:latin typeface="Times New Roman" panose="02020603050405020304" pitchFamily="18" charset="0"/>
                <a:sym typeface="+mn-ea"/>
              </a:rPr>
              <a:t>eat rice</a:t>
            </a:r>
            <a:r>
              <a:rPr lang="en-US" altLang="zh-CN" sz="2000" b="1">
                <a:solidFill>
                  <a:srgbClr val="000066"/>
                </a:solidFill>
                <a:latin typeface="Times New Roman" panose="02020603050405020304" pitchFamily="18" charset="0"/>
                <a:ea typeface="楷体_GB2312" pitchFamily="49" charset="-122"/>
                <a:sym typeface="+mn-ea"/>
              </a:rPr>
              <a:t>,</a:t>
            </a:r>
            <a:r>
              <a:rPr lang="en-US" altLang="zh-CN" sz="2000" b="1">
                <a:solidFill>
                  <a:srgbClr val="333399"/>
                </a:solidFill>
                <a:latin typeface="Times New Roman" panose="02020603050405020304" pitchFamily="18" charset="0"/>
                <a:sym typeface="+mn-ea"/>
              </a:rPr>
              <a:t> </a:t>
            </a:r>
            <a:r>
              <a:rPr lang="en-US" altLang="zh-CN" sz="2000" b="1">
                <a:solidFill>
                  <a:srgbClr val="000066"/>
                </a:solidFill>
                <a:latin typeface="Times New Roman" panose="02020603050405020304" pitchFamily="18" charset="0"/>
                <a:ea typeface="楷体_GB2312" pitchFamily="49" charset="-122"/>
                <a:sym typeface="+mn-ea"/>
              </a:rPr>
              <a:t>too.</a:t>
            </a:r>
            <a:endParaRPr lang="en-US" altLang="zh-CN" sz="2000" b="1">
              <a:solidFill>
                <a:srgbClr val="000066"/>
              </a:solidFill>
              <a:latin typeface="Times New Roman" panose="02020603050405020304" pitchFamily="18" charset="0"/>
              <a:ea typeface="楷体_GB2312" pitchFamily="49" charset="-122"/>
            </a:endParaRPr>
          </a:p>
          <a:p>
            <a:pPr marL="0" indent="0" algn="just">
              <a:lnSpc>
                <a:spcPct val="90000"/>
              </a:lnSpc>
              <a:spcBef>
                <a:spcPct val="20000"/>
              </a:spcBef>
              <a:buSzPct val="70000"/>
              <a:buNone/>
            </a:pPr>
            <a:endParaRPr lang="zh-CN" altLang="en-US" sz="2000" b="1" smtClean="0">
              <a:latin typeface="楷体_GB2312" pitchFamily="49" charset="-122"/>
              <a:ea typeface="楷体_GB2312" pitchFamily="49" charset="-122"/>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noChangeArrowheads="1"/>
          </p:cNvSpPr>
          <p:nvPr>
            <p:ph idx="1"/>
          </p:nvPr>
        </p:nvSpPr>
        <p:spPr>
          <a:xfrm>
            <a:off x="468313" y="549275"/>
            <a:ext cx="8280400" cy="4937125"/>
          </a:xfrm>
        </p:spPr>
        <p:txBody>
          <a:bodyPr/>
          <a:lstStyle/>
          <a:p>
            <a:pPr marL="609600" indent="-609600" eaLnBrk="1" hangingPunct="1">
              <a:buFontTx/>
              <a:buNone/>
            </a:pPr>
            <a:r>
              <a:rPr lang="en-US" altLang="zh-CN" sz="2800" b="1" smtClean="0">
                <a:latin typeface="楷体_GB2312" pitchFamily="49" charset="-122"/>
                <a:ea typeface="楷体_GB2312" pitchFamily="49" charset="-122"/>
              </a:rPr>
              <a:t>(2)</a:t>
            </a:r>
            <a:r>
              <a:rPr lang="zh-CN" altLang="en-US" sz="2800" b="1" smtClean="0">
                <a:latin typeface="楷体_GB2312" pitchFamily="49" charset="-122"/>
                <a:ea typeface="楷体_GB2312" pitchFamily="49" charset="-122"/>
              </a:rPr>
              <a:t>意义上的完整</a:t>
            </a:r>
          </a:p>
          <a:p>
            <a:pPr marL="609600" indent="-609600" eaLnBrk="1" hangingPunct="1">
              <a:buFontTx/>
              <a:buNone/>
            </a:pPr>
            <a:r>
              <a:rPr lang="zh-CN" altLang="en-US" sz="2800" b="1" smtClean="0"/>
              <a:t>   </a:t>
            </a:r>
            <a:r>
              <a:rPr lang="zh-CN" altLang="en-US" sz="2400" b="1" smtClean="0">
                <a:latin typeface="楷体_GB2312" pitchFamily="49" charset="-122"/>
                <a:ea typeface="楷体_GB2312" pitchFamily="49" charset="-122"/>
              </a:rPr>
              <a:t>意义上的完整指句意要完整。它至少是一个简单句，只能有一个中心思想。</a:t>
            </a:r>
          </a:p>
          <a:p>
            <a:pPr marL="609600" indent="-609600" eaLnBrk="1" hangingPunct="1">
              <a:buFontTx/>
              <a:buNone/>
            </a:pPr>
            <a:r>
              <a:rPr lang="zh-CN" altLang="en-US" sz="2400" b="1" smtClean="0">
                <a:latin typeface="楷体_GB2312" pitchFamily="49" charset="-122"/>
                <a:ea typeface="楷体_GB2312" pitchFamily="49" charset="-122"/>
              </a:rPr>
              <a:t>	请看下列句子：</a:t>
            </a:r>
          </a:p>
          <a:p>
            <a:pPr marL="609600" indent="-609600" eaLnBrk="1" hangingPunct="1">
              <a:buFontTx/>
              <a:buNone/>
            </a:pPr>
            <a:r>
              <a:rPr lang="zh-CN" altLang="en-US" sz="2800" b="1" smtClean="0">
                <a:solidFill>
                  <a:schemeClr val="tx2"/>
                </a:solidFill>
                <a:latin typeface="Times New Roman" panose="02020603050405020304" pitchFamily="18" charset="0"/>
              </a:rPr>
              <a:t>                </a:t>
            </a:r>
            <a:r>
              <a:rPr lang="en-US" altLang="zh-CN" sz="2800" b="1" smtClean="0">
                <a:latin typeface="Times New Roman" panose="02020603050405020304" pitchFamily="18" charset="0"/>
              </a:rPr>
              <a:t>a.</a:t>
            </a:r>
            <a:r>
              <a:rPr lang="en-US" altLang="zh-CN" sz="2800" b="1" smtClean="0"/>
              <a:t> </a:t>
            </a:r>
            <a:r>
              <a:rPr lang="en-US" altLang="zh-CN" sz="2400" b="1" smtClean="0">
                <a:latin typeface="Times New Roman" panose="02020603050405020304" pitchFamily="18" charset="0"/>
              </a:rPr>
              <a:t>We are going to meet Jean Harris,</a:t>
            </a:r>
          </a:p>
          <a:p>
            <a:pPr marL="609600" indent="-609600" eaLnBrk="1" hangingPunct="1">
              <a:buFontTx/>
              <a:buNone/>
            </a:pPr>
            <a:r>
              <a:rPr lang="en-US" altLang="zh-CN" sz="2400" b="1" smtClean="0">
                <a:latin typeface="Times New Roman" panose="02020603050405020304" pitchFamily="18" charset="0"/>
              </a:rPr>
              <a:t>                         and she is a professor of English</a:t>
            </a:r>
          </a:p>
          <a:p>
            <a:pPr marL="609600" indent="-609600" eaLnBrk="1" hangingPunct="1">
              <a:buFontTx/>
              <a:buNone/>
            </a:pPr>
            <a:r>
              <a:rPr lang="en-US" altLang="zh-CN" sz="2400" b="1" smtClean="0">
                <a:latin typeface="Times New Roman" panose="02020603050405020304" pitchFamily="18" charset="0"/>
              </a:rPr>
              <a:t>                         literature.</a:t>
            </a:r>
          </a:p>
          <a:p>
            <a:pPr marL="609600" indent="-609600" eaLnBrk="1" hangingPunct="1">
              <a:spcBef>
                <a:spcPct val="0"/>
              </a:spcBef>
              <a:buFontTx/>
              <a:buAutoNum type="alphaLcPeriod" startAt="2"/>
            </a:pPr>
            <a:r>
              <a:rPr lang="en-US" altLang="zh-CN" sz="2400" b="1" smtClean="0">
                <a:latin typeface="Times New Roman" panose="02020603050405020304" pitchFamily="18" charset="0"/>
                <a:cs typeface="Courier New" panose="02070309020205020404" pitchFamily="49" charset="0"/>
              </a:rPr>
              <a:t>Jim is one of the fastest runners.</a:t>
            </a:r>
          </a:p>
          <a:p>
            <a:pPr marL="609600" indent="-609600" eaLnBrk="1" hangingPunct="1">
              <a:spcBef>
                <a:spcPct val="0"/>
              </a:spcBef>
              <a:buFontTx/>
              <a:buAutoNum type="alphaLcPeriod" startAt="2"/>
            </a:pPr>
            <a:endParaRPr lang="en-US" altLang="zh-CN" sz="2400" b="1" smtClean="0">
              <a:latin typeface="Times New Roman" panose="02020603050405020304" pitchFamily="18" charset="0"/>
              <a:cs typeface="Courier New" panose="02070309020205020404" pitchFamily="49" charset="0"/>
            </a:endParaRPr>
          </a:p>
          <a:p>
            <a:pPr marL="609600" indent="-609600" algn="just" eaLnBrk="1" hangingPunct="1">
              <a:spcBef>
                <a:spcPct val="0"/>
              </a:spcBef>
              <a:buFontTx/>
              <a:buAutoNum type="alphaLcPeriod" startAt="3"/>
            </a:pPr>
            <a:r>
              <a:rPr lang="en-US" altLang="zh-CN" sz="2400" b="1" smtClean="0">
                <a:latin typeface="Times New Roman" panose="02020603050405020304" pitchFamily="18" charset="0"/>
                <a:cs typeface="Courier New" panose="02070309020205020404" pitchFamily="49" charset="0"/>
              </a:rPr>
              <a:t>Ernest Hemingway was an American novelist, </a:t>
            </a:r>
          </a:p>
          <a:p>
            <a:pPr marL="609600" indent="-609600" algn="just" eaLnBrk="1" hangingPunct="1">
              <a:spcBef>
                <a:spcPct val="0"/>
              </a:spcBef>
              <a:buFontTx/>
              <a:buNone/>
            </a:pPr>
            <a:r>
              <a:rPr lang="en-US" altLang="zh-CN" sz="2400" b="1" smtClean="0">
                <a:latin typeface="Times New Roman" panose="02020603050405020304" pitchFamily="18" charset="0"/>
                <a:cs typeface="Courier New" panose="02070309020205020404" pitchFamily="49" charset="0"/>
              </a:rPr>
              <a:t>       and he won the Nobel Prize for Literature in 1954.</a:t>
            </a:r>
          </a:p>
          <a:p>
            <a:pPr marL="609600" indent="-609600" eaLnBrk="1" hangingPunct="1">
              <a:buFontTx/>
              <a:buNone/>
            </a:pPr>
            <a:endParaRPr lang="en-US" altLang="zh-CN" sz="2400" b="1" smtClean="0">
              <a:latin typeface="Times New Roman" panose="02020603050405020304" pitchFamily="18" charset="0"/>
            </a:endParaRPr>
          </a:p>
          <a:p>
            <a:pPr marL="609600" indent="-609600" eaLnBrk="1" hangingPunct="1">
              <a:buFontTx/>
              <a:buNone/>
            </a:pPr>
            <a:endParaRPr lang="en-US" altLang="zh-CN" sz="2400" smtClean="0">
              <a:latin typeface="Times New Roman" panose="02020603050405020304" pitchFamily="18" charset="0"/>
            </a:endParaRPr>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629765" name="AutoShape 5"/>
          <p:cNvSpPr>
            <a:spLocks noChangeArrowheads="1"/>
          </p:cNvSpPr>
          <p:nvPr/>
        </p:nvSpPr>
        <p:spPr bwMode="auto">
          <a:xfrm>
            <a:off x="179388" y="2636838"/>
            <a:ext cx="1584325" cy="50482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Example</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629765"/>
                                        </p:tgtEl>
                                        <p:attrNameLst>
                                          <p:attrName>style.visibility</p:attrName>
                                        </p:attrNameLst>
                                      </p:cBhvr>
                                      <p:to>
                                        <p:strVal val="visible"/>
                                      </p:to>
                                    </p:set>
                                    <p:animEffect transition="in" filter="box(out)">
                                      <p:cBhvr>
                                        <p:cTn id="7" dur="1000"/>
                                        <p:tgtEl>
                                          <p:spTgt spid="629765"/>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6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3"/>
          <p:cNvSpPr>
            <a:spLocks noGrp="1" noChangeArrowheads="1"/>
          </p:cNvSpPr>
          <p:nvPr>
            <p:ph idx="1"/>
          </p:nvPr>
        </p:nvSpPr>
        <p:spPr>
          <a:xfrm>
            <a:off x="323850" y="549275"/>
            <a:ext cx="8208963" cy="2087563"/>
          </a:xfrm>
        </p:spPr>
        <p:txBody>
          <a:bodyPr/>
          <a:lstStyle/>
          <a:p>
            <a:pPr marL="609600" indent="-609600" algn="just" eaLnBrk="1" hangingPunct="1">
              <a:lnSpc>
                <a:spcPct val="90000"/>
              </a:lnSpc>
              <a:spcBef>
                <a:spcPct val="0"/>
              </a:spcBef>
              <a:buFontTx/>
              <a:buNone/>
            </a:pPr>
            <a:r>
              <a:rPr lang="en-US" altLang="zh-CN" sz="2800" b="1" smtClean="0">
                <a:latin typeface="Times New Roman" panose="02020603050405020304" pitchFamily="18" charset="0"/>
                <a:cs typeface="Courier New" panose="02070309020205020404" pitchFamily="49" charset="0"/>
              </a:rPr>
              <a:t> </a:t>
            </a:r>
          </a:p>
          <a:p>
            <a:pPr marL="609600" indent="-609600" eaLnBrk="1" hangingPunct="1">
              <a:lnSpc>
                <a:spcPct val="90000"/>
              </a:lnSpc>
            </a:pPr>
            <a:endParaRPr lang="en-US" altLang="zh-CN" sz="2800" smtClean="0"/>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360452" name="Text Box 4"/>
          <p:cNvSpPr txBox="1">
            <a:spLocks noChangeArrowheads="1"/>
          </p:cNvSpPr>
          <p:nvPr/>
        </p:nvSpPr>
        <p:spPr bwMode="auto">
          <a:xfrm>
            <a:off x="539750" y="1341438"/>
            <a:ext cx="7920038" cy="3508375"/>
          </a:xfrm>
          <a:prstGeom prst="rect">
            <a:avLst/>
          </a:prstGeom>
          <a:noFill/>
          <a:ln w="9525" algn="ctr">
            <a:noFill/>
            <a:miter lim="800000"/>
          </a:ln>
        </p:spPr>
        <p:txBody>
          <a:bodyPr>
            <a:spAutoFit/>
          </a:bodyPr>
          <a:lstStyle/>
          <a:p>
            <a:pPr marL="342900" indent="-342900"/>
            <a:r>
              <a:rPr lang="zh-CN" altLang="en-US" sz="2800" b="1">
                <a:latin typeface="Cambria" panose="02040503050406030204" charset="0"/>
                <a:ea typeface="楷体_GB2312" pitchFamily="49" charset="-122"/>
              </a:rPr>
              <a:t>以上三个句子都不符合句子只有一个中心思想这一要求，句意不完整。可作如下修改：</a:t>
            </a:r>
          </a:p>
          <a:p>
            <a:pPr marL="342900" indent="-342900"/>
            <a:r>
              <a:rPr lang="en-US" altLang="zh-CN" sz="2800" b="1">
                <a:latin typeface="Times New Roman" panose="02020603050405020304" pitchFamily="18" charset="0"/>
                <a:cs typeface="Courier New" panose="02070309020205020404" pitchFamily="49" charset="0"/>
              </a:rPr>
              <a:t>a.</a:t>
            </a:r>
            <a:r>
              <a:rPr lang="en-US" altLang="zh-CN">
                <a:latin typeface="Cambria" panose="02040503050406030204" charset="0"/>
              </a:rPr>
              <a:t> </a:t>
            </a:r>
            <a:r>
              <a:rPr lang="en-US" altLang="zh-CN" sz="2800" b="1">
                <a:latin typeface="Times New Roman" panose="02020603050405020304" pitchFamily="18" charset="0"/>
              </a:rPr>
              <a:t>We are going to meet Jean Harris, and she is a professor of English literature</a:t>
            </a:r>
            <a:r>
              <a:rPr lang="en-US" altLang="zh-CN" sz="2800" b="1">
                <a:solidFill>
                  <a:schemeClr val="tx2"/>
                </a:solidFill>
                <a:latin typeface="Times New Roman" panose="02020603050405020304" pitchFamily="18" charset="0"/>
              </a:rPr>
              <a:t>.</a:t>
            </a:r>
          </a:p>
          <a:p>
            <a:pPr marL="342900" indent="-342900"/>
            <a:r>
              <a:rPr lang="zh-CN" altLang="en-US" sz="2800" b="1">
                <a:latin typeface="Times New Roman" panose="02020603050405020304" pitchFamily="18" charset="0"/>
              </a:rPr>
              <a:t>修改： </a:t>
            </a:r>
            <a:r>
              <a:rPr lang="en-US" altLang="zh-CN" sz="2800" b="1">
                <a:solidFill>
                  <a:schemeClr val="tx2"/>
                </a:solidFill>
                <a:latin typeface="Times New Roman" panose="02020603050405020304" pitchFamily="18" charset="0"/>
              </a:rPr>
              <a:t>We are going to meet Jean Harris, who is a professor of English literature. </a:t>
            </a:r>
          </a:p>
          <a:p>
            <a:pPr marL="342900" indent="-342900"/>
            <a:endParaRPr lang="en-US" altLang="zh-CN" sz="2800" b="1">
              <a:solidFill>
                <a:schemeClr val="tx2"/>
              </a:solidFill>
              <a:latin typeface="Times New Roman" panose="02020603050405020304" pitchFamily="18" charset="0"/>
            </a:endParaRPr>
          </a:p>
          <a:p>
            <a:pPr marL="342900" indent="-342900"/>
            <a:endParaRPr lang="en-US" altLang="zh-CN" sz="2800" b="1">
              <a:solidFill>
                <a:schemeClr val="tx2"/>
              </a:solidFill>
              <a:latin typeface="Times New Roman" panose="02020603050405020304" pitchFamily="18"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0452">
                                            <p:txEl>
                                              <p:pRg st="2" end="2"/>
                                            </p:txEl>
                                          </p:spTgt>
                                        </p:tgtEl>
                                        <p:attrNameLst>
                                          <p:attrName>style.visibility</p:attrName>
                                        </p:attrNameLst>
                                      </p:cBhvr>
                                      <p:to>
                                        <p:strVal val="visible"/>
                                      </p:to>
                                    </p:set>
                                    <p:anim calcmode="lin" valueType="num">
                                      <p:cBhvr additive="base">
                                        <p:cTn id="7" dur="500" fill="hold"/>
                                        <p:tgtEl>
                                          <p:spTgt spid="36045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045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1395" name="Rectangle 3"/>
          <p:cNvSpPr>
            <a:spLocks noGrp="1" noChangeArrowheads="1"/>
          </p:cNvSpPr>
          <p:nvPr>
            <p:ph idx="1"/>
          </p:nvPr>
        </p:nvSpPr>
        <p:spPr>
          <a:xfrm>
            <a:off x="395288" y="1196975"/>
            <a:ext cx="7734300" cy="3816350"/>
          </a:xfrm>
        </p:spPr>
        <p:txBody>
          <a:bodyPr/>
          <a:lstStyle/>
          <a:p>
            <a:pPr marL="609600" indent="-609600" eaLnBrk="1" hangingPunct="1">
              <a:lnSpc>
                <a:spcPct val="90000"/>
              </a:lnSpc>
              <a:spcBef>
                <a:spcPct val="0"/>
              </a:spcBef>
              <a:buFontTx/>
              <a:buAutoNum type="alphaLcPeriod" startAt="2"/>
            </a:pPr>
            <a:r>
              <a:rPr lang="en-US" altLang="zh-CN" sz="2800" b="1" dirty="0" smtClean="0">
                <a:latin typeface="Times New Roman" panose="02020603050405020304" pitchFamily="18" charset="0"/>
                <a:cs typeface="Courier New" panose="02070309020205020404" pitchFamily="49" charset="0"/>
              </a:rPr>
              <a:t>Jim is one of the fastest runners.</a:t>
            </a:r>
          </a:p>
          <a:p>
            <a:pPr marL="609600" indent="-609600" eaLnBrk="1" hangingPunct="1">
              <a:lnSpc>
                <a:spcPct val="90000"/>
              </a:lnSpc>
              <a:spcBef>
                <a:spcPct val="0"/>
              </a:spcBef>
              <a:buFontTx/>
              <a:buNone/>
            </a:pPr>
            <a:r>
              <a:rPr lang="zh-CN" altLang="en-US" sz="2800" b="1" dirty="0" smtClean="0">
                <a:latin typeface="Times New Roman" panose="02020603050405020304" pitchFamily="18" charset="0"/>
              </a:rPr>
              <a:t>修改</a:t>
            </a:r>
            <a:r>
              <a:rPr lang="zh-CN" altLang="en-US" sz="2800" dirty="0" smtClean="0">
                <a:latin typeface="Times New Roman" panose="02020603050405020304" pitchFamily="18" charset="0"/>
              </a:rPr>
              <a:t>： </a:t>
            </a:r>
            <a:r>
              <a:rPr lang="en-US" altLang="zh-CN" sz="2800" b="1" dirty="0" smtClean="0">
                <a:solidFill>
                  <a:schemeClr val="tx2"/>
                </a:solidFill>
                <a:latin typeface="Times New Roman" panose="02020603050405020304" pitchFamily="18" charset="0"/>
              </a:rPr>
              <a:t>Jim is one of the fastest runners of our school.</a:t>
            </a:r>
          </a:p>
          <a:p>
            <a:pPr marL="609600" indent="-609600" eaLnBrk="1" hangingPunct="1">
              <a:lnSpc>
                <a:spcPct val="90000"/>
              </a:lnSpc>
              <a:spcBef>
                <a:spcPct val="0"/>
              </a:spcBef>
              <a:buFontTx/>
              <a:buNone/>
            </a:pPr>
            <a:endParaRPr lang="en-US" altLang="zh-CN" sz="2800" b="1" dirty="0" smtClean="0">
              <a:solidFill>
                <a:schemeClr val="tx2"/>
              </a:solidFill>
              <a:latin typeface="Times New Roman" panose="02020603050405020304" pitchFamily="18" charset="0"/>
            </a:endParaRPr>
          </a:p>
          <a:p>
            <a:pPr marL="609600" indent="-609600" algn="just" eaLnBrk="1" hangingPunct="1">
              <a:lnSpc>
                <a:spcPct val="90000"/>
              </a:lnSpc>
              <a:spcBef>
                <a:spcPct val="0"/>
              </a:spcBef>
              <a:buFontTx/>
              <a:buAutoNum type="alphaLcPeriod" startAt="3"/>
            </a:pPr>
            <a:r>
              <a:rPr lang="en-US" altLang="zh-CN" sz="2800" b="1" dirty="0" smtClean="0">
                <a:latin typeface="Times New Roman" panose="02020603050405020304" pitchFamily="18" charset="0"/>
                <a:cs typeface="Courier New" panose="02070309020205020404" pitchFamily="49" charset="0"/>
              </a:rPr>
              <a:t>Ernest Hemingway was an American novelist, and he won the Nobel Prize for Literature in 1954.</a:t>
            </a:r>
          </a:p>
          <a:p>
            <a:pPr marL="609600" indent="-609600" eaLnBrk="1" hangingPunct="1">
              <a:lnSpc>
                <a:spcPct val="90000"/>
              </a:lnSpc>
              <a:buFontTx/>
              <a:buNone/>
            </a:pPr>
            <a:r>
              <a:rPr lang="zh-CN" altLang="en-US" sz="2800" b="1" dirty="0" smtClean="0">
                <a:latin typeface="Times New Roman" panose="02020603050405020304" pitchFamily="18" charset="0"/>
              </a:rPr>
              <a:t>修改</a:t>
            </a:r>
            <a:r>
              <a:rPr lang="zh-CN" altLang="en-US" sz="2800" dirty="0" smtClean="0">
                <a:latin typeface="Times New Roman" panose="02020603050405020304" pitchFamily="18" charset="0"/>
              </a:rPr>
              <a:t>：</a:t>
            </a:r>
            <a:r>
              <a:rPr lang="zh-CN" altLang="en-US" sz="2800" b="1" dirty="0" smtClean="0">
                <a:latin typeface="Times New Roman" panose="02020603050405020304" pitchFamily="18" charset="0"/>
              </a:rPr>
              <a:t> </a:t>
            </a:r>
            <a:r>
              <a:rPr lang="en-US" altLang="zh-CN" sz="2800" b="1" dirty="0" smtClean="0">
                <a:solidFill>
                  <a:schemeClr val="tx2"/>
                </a:solidFill>
                <a:latin typeface="Times New Roman" panose="02020603050405020304" pitchFamily="18" charset="0"/>
              </a:rPr>
              <a:t>Ernest Hemingway, an American novelist, won the Nobel Prize for Literature in 1954. </a:t>
            </a:r>
          </a:p>
          <a:p>
            <a:pPr marL="609600" indent="-609600" eaLnBrk="1" hangingPunct="1">
              <a:lnSpc>
                <a:spcPct val="90000"/>
              </a:lnSpc>
            </a:pPr>
            <a:endParaRPr lang="en-US" altLang="zh-CN" sz="2800" b="1" dirty="0" smtClean="0">
              <a:solidFill>
                <a:schemeClr val="tx2"/>
              </a:solidFill>
              <a:latin typeface="Times New Roman" panose="02020603050405020304" pitchFamily="18" charset="0"/>
            </a:endParaRPr>
          </a:p>
          <a:p>
            <a:pPr marL="609600" indent="-609600" eaLnBrk="1" hangingPunct="1">
              <a:lnSpc>
                <a:spcPct val="90000"/>
              </a:lnSpc>
              <a:spcBef>
                <a:spcPct val="0"/>
              </a:spcBef>
              <a:buFontTx/>
              <a:buNone/>
            </a:pPr>
            <a:endParaRPr lang="en-US" altLang="zh-CN" sz="2800" b="1" dirty="0" smtClean="0">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71395">
                                            <p:txEl>
                                              <p:pRg st="4" end="4"/>
                                            </p:txEl>
                                          </p:spTgt>
                                        </p:tgtEl>
                                        <p:attrNameLst>
                                          <p:attrName>style.visibility</p:attrName>
                                        </p:attrNameLst>
                                      </p:cBhvr>
                                      <p:to>
                                        <p:strVal val="visible"/>
                                      </p:to>
                                    </p:set>
                                    <p:anim calcmode="lin" valueType="num">
                                      <p:cBhvr additive="base">
                                        <p:cTn id="7" dur="500" fill="hold"/>
                                        <p:tgtEl>
                                          <p:spTgt spid="57139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139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idx="1"/>
          </p:nvPr>
        </p:nvSpPr>
        <p:spPr>
          <a:xfrm>
            <a:off x="323850" y="333375"/>
            <a:ext cx="7551738" cy="5661025"/>
          </a:xfrm>
        </p:spPr>
        <p:txBody>
          <a:bodyPr/>
          <a:lstStyle/>
          <a:p>
            <a:pPr eaLnBrk="1" hangingPunct="1">
              <a:buFontTx/>
              <a:buNone/>
            </a:pPr>
            <a:r>
              <a:rPr lang="en-US" altLang="zh-CN" b="1" smtClean="0">
                <a:latin typeface="楷体_GB2312" pitchFamily="49" charset="-122"/>
                <a:ea typeface="楷体_GB2312" pitchFamily="49" charset="-122"/>
              </a:rPr>
              <a:t>2.</a:t>
            </a:r>
            <a:r>
              <a:rPr lang="zh-CN" altLang="en-US" b="1" smtClean="0">
                <a:latin typeface="楷体_GB2312" pitchFamily="49" charset="-122"/>
                <a:ea typeface="楷体_GB2312" pitchFamily="49" charset="-122"/>
              </a:rPr>
              <a:t>写清晰的句子</a:t>
            </a:r>
            <a:r>
              <a:rPr lang="zh-CN" altLang="en-US" b="1" smtClean="0"/>
              <a:t> </a:t>
            </a:r>
            <a:r>
              <a:rPr lang="en-US" altLang="zh-CN" b="1" smtClean="0">
                <a:latin typeface="Times New Roman" panose="02020603050405020304" pitchFamily="18" charset="0"/>
              </a:rPr>
              <a:t>(Clarity)</a:t>
            </a:r>
          </a:p>
          <a:p>
            <a:pPr eaLnBrk="1" hangingPunct="1">
              <a:buFontTx/>
              <a:buNone/>
            </a:pPr>
            <a:r>
              <a:rPr lang="en-US" altLang="zh-CN" smtClean="0"/>
              <a:t>   </a:t>
            </a:r>
            <a:r>
              <a:rPr lang="zh-CN" altLang="en-US" sz="2800" b="1" smtClean="0">
                <a:latin typeface="楷体_GB2312" pitchFamily="49" charset="-122"/>
                <a:ea typeface="楷体_GB2312" pitchFamily="49" charset="-122"/>
              </a:rPr>
              <a:t>写作要注意句子的清晰度。以下几种情况妨碍文章的清晰，影响读者的理解。</a:t>
            </a:r>
          </a:p>
          <a:p>
            <a:pPr eaLnBrk="1" hangingPunct="1">
              <a:buFontTx/>
              <a:buNone/>
            </a:pPr>
            <a:r>
              <a:rPr lang="zh-CN" altLang="en-US" sz="2800" b="1" smtClean="0">
                <a:latin typeface="楷体_GB2312" pitchFamily="49" charset="-122"/>
                <a:ea typeface="楷体_GB2312" pitchFamily="49" charset="-122"/>
              </a:rPr>
              <a:t> </a:t>
            </a:r>
            <a:r>
              <a:rPr lang="en-US" altLang="zh-CN" sz="2800" b="1" smtClean="0">
                <a:latin typeface="楷体_GB2312" pitchFamily="49" charset="-122"/>
                <a:ea typeface="楷体_GB2312" pitchFamily="49" charset="-122"/>
              </a:rPr>
              <a:t>(1) </a:t>
            </a:r>
            <a:r>
              <a:rPr lang="zh-CN" altLang="en-US" sz="2800" b="1" smtClean="0">
                <a:latin typeface="楷体_GB2312" pitchFamily="49" charset="-122"/>
                <a:ea typeface="楷体_GB2312" pitchFamily="49" charset="-122"/>
              </a:rPr>
              <a:t>缺乏必要的细节。</a:t>
            </a:r>
          </a:p>
          <a:p>
            <a:pPr eaLnBrk="1" hangingPunct="1">
              <a:buFontTx/>
              <a:buNone/>
            </a:pPr>
            <a:r>
              <a:rPr lang="zh-CN" altLang="en-US" sz="2800" b="1" smtClean="0">
                <a:latin typeface="楷体_GB2312" pitchFamily="49" charset="-122"/>
                <a:ea typeface="楷体_GB2312" pitchFamily="49" charset="-122"/>
              </a:rPr>
              <a:t>   简洁尽管重要，但必要细节的缺乏也会使读者产生误解甚至不知所云。例如：</a:t>
            </a:r>
          </a:p>
          <a:p>
            <a:pPr eaLnBrk="1" hangingPunct="1">
              <a:buFontTx/>
              <a:buNone/>
            </a:pPr>
            <a:r>
              <a:rPr lang="en-US" altLang="zh-CN" sz="2800" b="1" smtClean="0">
                <a:latin typeface="Times New Roman" panose="02020603050405020304" pitchFamily="18" charset="0"/>
              </a:rPr>
              <a:t>a.</a:t>
            </a:r>
            <a:r>
              <a:rPr lang="en-US" altLang="zh-CN" sz="2800" b="1" smtClean="0">
                <a:solidFill>
                  <a:schemeClr val="tx2"/>
                </a:solidFill>
                <a:latin typeface="Times New Roman" panose="02020603050405020304" pitchFamily="18" charset="0"/>
              </a:rPr>
              <a:t> </a:t>
            </a:r>
            <a:r>
              <a:rPr lang="en-US" altLang="zh-CN" sz="2800" b="1" smtClean="0">
                <a:latin typeface="Times New Roman" panose="02020603050405020304" pitchFamily="18" charset="0"/>
              </a:rPr>
              <a:t>He loves sports much more than his sister.</a:t>
            </a:r>
          </a:p>
          <a:p>
            <a:pPr eaLnBrk="1" hangingPunct="1">
              <a:buFontTx/>
              <a:buNone/>
            </a:pPr>
            <a:r>
              <a:rPr lang="en-US" altLang="zh-CN" sz="2800" b="1" smtClean="0">
                <a:latin typeface="Times New Roman" panose="02020603050405020304" pitchFamily="18" charset="0"/>
              </a:rPr>
              <a:t>b. When a person gets married, you take on new responsibilities.</a:t>
            </a:r>
          </a:p>
          <a:p>
            <a:pPr eaLnBrk="1" hangingPunct="1">
              <a:buFontTx/>
              <a:buNone/>
            </a:pPr>
            <a:r>
              <a:rPr lang="en-US" altLang="zh-CN" sz="2800" b="1" smtClean="0">
                <a:latin typeface="Times New Roman" panose="02020603050405020304" pitchFamily="18" charset="0"/>
              </a:rPr>
              <a:t>c. The city has about one million.</a:t>
            </a:r>
            <a:endParaRPr lang="en-US" altLang="zh-CN" sz="2400" b="1" smtClean="0">
              <a:latin typeface="Times New Roman" panose="02020603050405020304" pitchFamily="18" charset="0"/>
            </a:endParaRPr>
          </a:p>
          <a:p>
            <a:pPr eaLnBrk="1" hangingPunct="1"/>
            <a:endParaRPr lang="en-US" altLang="zh-CN" smtClean="0">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50178" name="Text Box 5"/>
          <p:cNvSpPr txBox="1">
            <a:spLocks noChangeArrowheads="1"/>
          </p:cNvSpPr>
          <p:nvPr/>
        </p:nvSpPr>
        <p:spPr bwMode="auto">
          <a:xfrm>
            <a:off x="468313" y="765175"/>
            <a:ext cx="7200900" cy="4724400"/>
          </a:xfrm>
          <a:prstGeom prst="rect">
            <a:avLst/>
          </a:prstGeom>
          <a:noFill/>
          <a:ln w="9525">
            <a:noFill/>
            <a:miter lim="800000"/>
          </a:ln>
        </p:spPr>
        <p:txBody>
          <a:bodyPr>
            <a:spAutoFit/>
          </a:bodyPr>
          <a:lstStyle/>
          <a:p>
            <a:pPr marL="342900" indent="-342900"/>
            <a:r>
              <a:rPr lang="en-US" altLang="zh-CN" sz="3200" b="1">
                <a:latin typeface="Times New Roman" panose="02020603050405020304" pitchFamily="18" charset="0"/>
              </a:rPr>
              <a:t>a</a:t>
            </a:r>
            <a:r>
              <a:rPr lang="zh-CN" altLang="en-US" sz="2800" b="1">
                <a:latin typeface="Times New Roman" panose="02020603050405020304" pitchFamily="18" charset="0"/>
              </a:rPr>
              <a:t>句既可理解为“他比妹妹更喜欢运动”，也可以理解为“他喜爱运动胜过喜爱他妹妹”。为了使意义清晰明了，应该在该句的后半部补上相应的谓语：</a:t>
            </a:r>
          </a:p>
          <a:p>
            <a:pPr marL="342900" indent="-342900"/>
            <a:endParaRPr lang="zh-CN" altLang="en-US" sz="2800" b="1">
              <a:latin typeface="Times New Roman" panose="02020603050405020304" pitchFamily="18" charset="0"/>
            </a:endParaRPr>
          </a:p>
          <a:p>
            <a:pPr marL="342900" indent="-342900"/>
            <a:r>
              <a:rPr lang="zh-CN" altLang="en-US" sz="3200" b="1">
                <a:latin typeface="Times New Roman" panose="02020603050405020304" pitchFamily="18" charset="0"/>
              </a:rPr>
              <a:t>修改</a:t>
            </a:r>
            <a:r>
              <a:rPr lang="zh-CN" altLang="en-US" sz="3200">
                <a:latin typeface="Times New Roman" panose="02020603050405020304" pitchFamily="18" charset="0"/>
              </a:rPr>
              <a:t>： </a:t>
            </a:r>
            <a:r>
              <a:rPr lang="en-US" altLang="zh-CN" sz="3200">
                <a:solidFill>
                  <a:schemeClr val="tx2"/>
                </a:solidFill>
                <a:latin typeface="Times New Roman" panose="02020603050405020304" pitchFamily="18" charset="0"/>
              </a:rPr>
              <a:t>He loves sports much more than</a:t>
            </a:r>
          </a:p>
          <a:p>
            <a:pPr marL="342900" indent="-342900"/>
            <a:r>
              <a:rPr lang="en-US" altLang="zh-CN" sz="3200">
                <a:solidFill>
                  <a:schemeClr val="tx2"/>
                </a:solidFill>
                <a:latin typeface="Times New Roman" panose="02020603050405020304" pitchFamily="18" charset="0"/>
              </a:rPr>
              <a:t>             his sister does.</a:t>
            </a:r>
          </a:p>
          <a:p>
            <a:pPr marL="342900" indent="-342900"/>
            <a:r>
              <a:rPr lang="en-US" altLang="zh-CN" sz="3200">
                <a:latin typeface="Times New Roman" panose="02020603050405020304" pitchFamily="18" charset="0"/>
              </a:rPr>
              <a:t>     </a:t>
            </a:r>
            <a:r>
              <a:rPr lang="zh-CN" altLang="en-US" sz="3200">
                <a:latin typeface="Times New Roman" panose="02020603050405020304" pitchFamily="18" charset="0"/>
              </a:rPr>
              <a:t>或：</a:t>
            </a:r>
            <a:r>
              <a:rPr lang="en-US" altLang="zh-CN" sz="3200">
                <a:solidFill>
                  <a:schemeClr val="tx2"/>
                </a:solidFill>
                <a:latin typeface="Times New Roman" panose="02020603050405020304" pitchFamily="18" charset="0"/>
              </a:rPr>
              <a:t>He loves sports much more than</a:t>
            </a:r>
          </a:p>
          <a:p>
            <a:pPr marL="342900" indent="-342900"/>
            <a:r>
              <a:rPr lang="en-US" altLang="zh-CN" sz="3200">
                <a:solidFill>
                  <a:schemeClr val="tx2"/>
                </a:solidFill>
                <a:latin typeface="Times New Roman" panose="02020603050405020304" pitchFamily="18" charset="0"/>
              </a:rPr>
              <a:t>             he loves his sister</a:t>
            </a:r>
            <a:r>
              <a:rPr lang="en-US" altLang="zh-CN" sz="3200">
                <a:solidFill>
                  <a:schemeClr val="tx2"/>
                </a:solidFill>
                <a:latin typeface="Cambria" panose="02040503050406030204" charset="0"/>
              </a:rPr>
              <a:t>.</a:t>
            </a:r>
          </a:p>
          <a:p>
            <a:pPr marL="342900" indent="-342900"/>
            <a:endParaRPr lang="en-US" altLang="zh-CN" sz="3200">
              <a:latin typeface="Cambria" panose="02040503050406030204" charset="0"/>
            </a:endParaRPr>
          </a:p>
        </p:txBody>
      </p:sp>
    </p:spTree>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52226" name="Text Box 4"/>
          <p:cNvSpPr txBox="1">
            <a:spLocks noChangeArrowheads="1"/>
          </p:cNvSpPr>
          <p:nvPr/>
        </p:nvSpPr>
        <p:spPr bwMode="auto">
          <a:xfrm>
            <a:off x="395288" y="333375"/>
            <a:ext cx="8137525" cy="4524375"/>
          </a:xfrm>
          <a:prstGeom prst="rect">
            <a:avLst/>
          </a:prstGeom>
          <a:noFill/>
          <a:ln w="9525">
            <a:noFill/>
            <a:miter lim="800000"/>
          </a:ln>
        </p:spPr>
        <p:txBody>
          <a:bodyPr>
            <a:spAutoFit/>
          </a:bodyPr>
          <a:lstStyle/>
          <a:p>
            <a:pPr marL="342900" indent="-342900"/>
            <a:r>
              <a:rPr lang="en-US" altLang="zh-CN" sz="2400" b="1">
                <a:latin typeface="楷体_GB2312" pitchFamily="49" charset="-122"/>
                <a:ea typeface="楷体_GB2312" pitchFamily="49" charset="-122"/>
              </a:rPr>
              <a:t>(2) </a:t>
            </a:r>
            <a:r>
              <a:rPr lang="zh-CN" altLang="en-US" sz="2400" b="1">
                <a:latin typeface="楷体_GB2312" pitchFamily="49" charset="-122"/>
                <a:ea typeface="楷体_GB2312" pitchFamily="49" charset="-122"/>
              </a:rPr>
              <a:t>缺乏连贯性。</a:t>
            </a:r>
          </a:p>
          <a:p>
            <a:pPr marL="342900" indent="-342900"/>
            <a:r>
              <a:rPr lang="zh-CN" altLang="en-US" sz="2400" b="1">
                <a:latin typeface="楷体_GB2312" pitchFamily="49" charset="-122"/>
                <a:ea typeface="楷体_GB2312" pitchFamily="49" charset="-122"/>
              </a:rPr>
              <a:t>     一个完整的意思被不必要地切割成几个句子，这样</a:t>
            </a:r>
          </a:p>
          <a:p>
            <a:pPr marL="342900" indent="-342900"/>
            <a:r>
              <a:rPr lang="zh-CN" altLang="en-US" sz="2400" b="1">
                <a:latin typeface="楷体_GB2312" pitchFamily="49" charset="-122"/>
                <a:ea typeface="楷体_GB2312" pitchFamily="49" charset="-122"/>
              </a:rPr>
              <a:t>一连串的短句由于未能体现出相互间的关系，读起来费</a:t>
            </a:r>
          </a:p>
          <a:p>
            <a:pPr marL="342900" indent="-342900"/>
            <a:r>
              <a:rPr lang="zh-CN" altLang="en-US" sz="2400" b="1">
                <a:latin typeface="楷体_GB2312" pitchFamily="49" charset="-122"/>
                <a:ea typeface="楷体_GB2312" pitchFamily="49" charset="-122"/>
              </a:rPr>
              <a:t>解，妨碍思维</a:t>
            </a:r>
            <a:r>
              <a:rPr lang="zh-CN" altLang="en-US" sz="2400">
                <a:latin typeface="楷体_GB2312" pitchFamily="49" charset="-122"/>
                <a:ea typeface="楷体_GB2312" pitchFamily="49" charset="-122"/>
              </a:rPr>
              <a:t>。</a:t>
            </a:r>
          </a:p>
          <a:p>
            <a:pPr marL="342900" indent="-342900"/>
            <a:r>
              <a:rPr lang="zh-CN" altLang="en-US" sz="2400">
                <a:latin typeface="楷体_GB2312" pitchFamily="49" charset="-122"/>
                <a:ea typeface="楷体_GB2312" pitchFamily="49" charset="-122"/>
              </a:rPr>
              <a:t>     </a:t>
            </a:r>
            <a:r>
              <a:rPr lang="zh-CN" altLang="en-US" sz="2400" b="1">
                <a:latin typeface="楷体_GB2312" pitchFamily="49" charset="-122"/>
                <a:ea typeface="楷体_GB2312" pitchFamily="49" charset="-122"/>
              </a:rPr>
              <a:t>为了使句子连贯，应注意不要将联系密切的词分开；</a:t>
            </a:r>
          </a:p>
          <a:p>
            <a:pPr marL="342900" indent="-342900"/>
            <a:r>
              <a:rPr lang="zh-CN" altLang="en-US" sz="2400" b="1">
                <a:latin typeface="楷体_GB2312" pitchFamily="49" charset="-122"/>
                <a:ea typeface="楷体_GB2312" pitchFamily="49" charset="-122"/>
              </a:rPr>
              <a:t>应围绕一个中心意思，多用修饰语（如分词短语、介词短</a:t>
            </a:r>
          </a:p>
          <a:p>
            <a:pPr marL="342900" indent="-342900"/>
            <a:r>
              <a:rPr lang="zh-CN" altLang="en-US" sz="2400" b="1">
                <a:latin typeface="楷体_GB2312" pitchFamily="49" charset="-122"/>
                <a:ea typeface="楷体_GB2312" pitchFamily="49" charset="-122"/>
              </a:rPr>
              <a:t>语、从句等）。例如：</a:t>
            </a:r>
          </a:p>
          <a:p>
            <a:pPr marL="342900" indent="-342900">
              <a:buFontTx/>
              <a:buAutoNum type="alphaLcPeriod"/>
            </a:pPr>
            <a:r>
              <a:rPr lang="zh-CN" altLang="en-US" sz="2400" b="1">
                <a:latin typeface="Times New Roman" panose="02020603050405020304" pitchFamily="18" charset="0"/>
                <a:ea typeface="华文楷体" panose="02010600040101010101" pitchFamily="2" charset="-122"/>
              </a:rPr>
              <a:t> </a:t>
            </a:r>
            <a:r>
              <a:rPr lang="en-US" altLang="zh-CN" sz="2400" b="1">
                <a:latin typeface="Times New Roman" panose="02020603050405020304" pitchFamily="18" charset="0"/>
                <a:ea typeface="华文楷体" panose="02010600040101010101" pitchFamily="2" charset="-122"/>
              </a:rPr>
              <a:t>Some people can not distinguish between colors .they are</a:t>
            </a:r>
          </a:p>
          <a:p>
            <a:pPr marL="342900" indent="-342900"/>
            <a:r>
              <a:rPr lang="en-US" altLang="zh-CN" sz="2400" b="1">
                <a:latin typeface="Times New Roman" panose="02020603050405020304" pitchFamily="18" charset="0"/>
                <a:ea typeface="华文楷体" panose="02010600040101010101" pitchFamily="2" charset="-122"/>
              </a:rPr>
              <a:t>    said to be color-blinded.</a:t>
            </a:r>
            <a:r>
              <a:rPr lang="en-US" altLang="zh-CN" sz="2400">
                <a:solidFill>
                  <a:schemeClr val="tx2"/>
                </a:solidFill>
                <a:latin typeface="Cambria" panose="02040503050406030204" charset="0"/>
                <a:ea typeface="华文楷体" panose="02010600040101010101" pitchFamily="2" charset="-122"/>
              </a:rPr>
              <a:t> </a:t>
            </a:r>
          </a:p>
          <a:p>
            <a:pPr marL="342900" indent="-342900"/>
            <a:r>
              <a:rPr lang="en-US" altLang="zh-CN" sz="2400" b="1">
                <a:latin typeface="Times New Roman" panose="02020603050405020304" pitchFamily="18" charset="0"/>
                <a:ea typeface="楷体_GB2312" pitchFamily="49" charset="-122"/>
              </a:rPr>
              <a:t>    </a:t>
            </a:r>
            <a:r>
              <a:rPr lang="zh-CN" altLang="en-US" sz="2400" b="1">
                <a:latin typeface="Times New Roman" panose="02020603050405020304" pitchFamily="18" charset="0"/>
                <a:ea typeface="楷体_GB2312" pitchFamily="49" charset="-122"/>
              </a:rPr>
              <a:t>此句将其中一句改成定语从句</a:t>
            </a:r>
          </a:p>
          <a:p>
            <a:pPr marL="342900" indent="-342900"/>
            <a:r>
              <a:rPr lang="zh-CN" altLang="en-US" sz="2400" b="1">
                <a:latin typeface="Times New Roman" panose="02020603050405020304" pitchFamily="18" charset="0"/>
                <a:ea typeface="楷体_GB2312" pitchFamily="49" charset="-122"/>
              </a:rPr>
              <a:t>应该为：</a:t>
            </a:r>
            <a:r>
              <a:rPr lang="en-US" altLang="zh-CN" sz="2400" b="1">
                <a:solidFill>
                  <a:schemeClr val="tx2"/>
                </a:solidFill>
                <a:latin typeface="Times New Roman" panose="02020603050405020304" pitchFamily="18" charset="0"/>
              </a:rPr>
              <a:t>Some people </a:t>
            </a:r>
            <a:r>
              <a:rPr lang="en-US" altLang="zh-CN" sz="2400" b="1" u="sng">
                <a:solidFill>
                  <a:schemeClr val="tx2"/>
                </a:solidFill>
                <a:latin typeface="Times New Roman" panose="02020603050405020304" pitchFamily="18" charset="0"/>
              </a:rPr>
              <a:t>who can not distinguish between</a:t>
            </a:r>
          </a:p>
          <a:p>
            <a:pPr marL="342900" indent="-342900"/>
            <a:r>
              <a:rPr lang="en-US" altLang="zh-CN" sz="2400" b="1">
                <a:solidFill>
                  <a:schemeClr val="tx2"/>
                </a:solidFill>
                <a:latin typeface="Times New Roman" panose="02020603050405020304" pitchFamily="18" charset="0"/>
              </a:rPr>
              <a:t>              </a:t>
            </a:r>
            <a:r>
              <a:rPr lang="en-US" altLang="zh-CN" sz="2400" b="1" u="sng">
                <a:solidFill>
                  <a:schemeClr val="tx2"/>
                </a:solidFill>
                <a:latin typeface="Times New Roman" panose="02020603050405020304" pitchFamily="18" charset="0"/>
              </a:rPr>
              <a:t> colors</a:t>
            </a:r>
            <a:r>
              <a:rPr lang="en-US" altLang="zh-CN" sz="2400" b="1">
                <a:solidFill>
                  <a:schemeClr val="tx2"/>
                </a:solidFill>
                <a:latin typeface="Times New Roman" panose="02020603050405020304" pitchFamily="18" charset="0"/>
              </a:rPr>
              <a:t> are said to be color-blinded.</a:t>
            </a:r>
            <a:r>
              <a:rPr lang="en-US" altLang="zh-CN" sz="2400">
                <a:solidFill>
                  <a:schemeClr val="tx2"/>
                </a:solidFill>
                <a:latin typeface="Times New Roman" panose="02020603050405020304" pitchFamily="18" charset="0"/>
              </a:rPr>
              <a:t> </a:t>
            </a:r>
          </a:p>
        </p:txBody>
      </p:sp>
    </p:spTree>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53250" name="Text Box 4"/>
          <p:cNvSpPr txBox="1">
            <a:spLocks noChangeArrowheads="1"/>
          </p:cNvSpPr>
          <p:nvPr/>
        </p:nvSpPr>
        <p:spPr bwMode="auto">
          <a:xfrm>
            <a:off x="539750" y="1196975"/>
            <a:ext cx="7488238" cy="2227263"/>
          </a:xfrm>
          <a:prstGeom prst="rect">
            <a:avLst/>
          </a:prstGeom>
          <a:noFill/>
          <a:ln w="9525">
            <a:noFill/>
            <a:miter lim="800000"/>
          </a:ln>
        </p:spPr>
        <p:txBody>
          <a:bodyPr>
            <a:spAutoFit/>
          </a:bodyPr>
          <a:lstStyle/>
          <a:p>
            <a:pPr>
              <a:spcBef>
                <a:spcPct val="20000"/>
              </a:spcBef>
            </a:pPr>
            <a:r>
              <a:rPr lang="en-US" altLang="zh-CN" sz="2800" b="1">
                <a:latin typeface="Times New Roman" panose="02020603050405020304" pitchFamily="18" charset="0"/>
              </a:rPr>
              <a:t>b. He found the kitchen window open. He put a ladder against the window. He climbed in</a:t>
            </a:r>
            <a:r>
              <a:rPr lang="en-US" altLang="zh-CN" sz="2800">
                <a:latin typeface="Times New Roman" panose="02020603050405020304" pitchFamily="18" charset="0"/>
              </a:rPr>
              <a:t>.</a:t>
            </a:r>
          </a:p>
          <a:p>
            <a:r>
              <a:rPr lang="zh-CN" altLang="en-US" sz="2800" b="1">
                <a:latin typeface="Times New Roman" panose="02020603050405020304" pitchFamily="18" charset="0"/>
                <a:ea typeface="楷体_GB2312" pitchFamily="49" charset="-122"/>
              </a:rPr>
              <a:t>此句子可改为：</a:t>
            </a:r>
          </a:p>
          <a:p>
            <a:r>
              <a:rPr lang="en-US" altLang="zh-CN" sz="2800" b="1">
                <a:solidFill>
                  <a:schemeClr val="tx2"/>
                </a:solidFill>
                <a:latin typeface="Times New Roman" panose="02020603050405020304" pitchFamily="18" charset="0"/>
              </a:rPr>
              <a:t>Finding the kitchen window open, he put a ladder against it and climbed in.</a:t>
            </a:r>
          </a:p>
        </p:txBody>
      </p:sp>
    </p:spTree>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3"/>
          <p:cNvSpPr>
            <a:spLocks noGrp="1" noChangeArrowheads="1"/>
          </p:cNvSpPr>
          <p:nvPr>
            <p:ph idx="1"/>
          </p:nvPr>
        </p:nvSpPr>
        <p:spPr>
          <a:xfrm>
            <a:off x="395288" y="620713"/>
            <a:ext cx="7696200" cy="4895850"/>
          </a:xfrm>
        </p:spPr>
        <p:txBody>
          <a:bodyPr>
            <a:normAutofit lnSpcReduction="10000"/>
          </a:bodyPr>
          <a:lstStyle/>
          <a:p>
            <a:pPr marL="609600" indent="-609600" eaLnBrk="1" hangingPunct="1">
              <a:lnSpc>
                <a:spcPct val="90000"/>
              </a:lnSpc>
              <a:buFontTx/>
              <a:buNone/>
            </a:pPr>
            <a:r>
              <a:rPr lang="en-US" altLang="zh-CN" b="1" smtClean="0">
                <a:latin typeface="楷体_GB2312" pitchFamily="49" charset="-122"/>
                <a:ea typeface="楷体_GB2312" pitchFamily="49" charset="-122"/>
              </a:rPr>
              <a:t>(3) </a:t>
            </a:r>
            <a:r>
              <a:rPr lang="zh-CN" altLang="en-US" b="1" smtClean="0">
                <a:latin typeface="楷体_GB2312" pitchFamily="49" charset="-122"/>
                <a:ea typeface="楷体_GB2312" pitchFamily="49" charset="-122"/>
              </a:rPr>
              <a:t>随意转换。</a:t>
            </a:r>
          </a:p>
          <a:p>
            <a:pPr marL="609600" indent="-609600" eaLnBrk="1" hangingPunct="1">
              <a:lnSpc>
                <a:spcPct val="90000"/>
              </a:lnSpc>
              <a:buFontTx/>
              <a:buNone/>
            </a:pPr>
            <a:r>
              <a:rPr lang="zh-CN" altLang="en-US" sz="2800" smtClean="0">
                <a:latin typeface="Times New Roman" panose="02020603050405020304" pitchFamily="18" charset="0"/>
              </a:rPr>
              <a:t>               </a:t>
            </a:r>
            <a:r>
              <a:rPr lang="zh-CN" altLang="en-US" sz="2800" b="1" smtClean="0">
                <a:latin typeface="Times New Roman" panose="02020603050405020304" pitchFamily="18" charset="0"/>
                <a:ea typeface="楷体_GB2312" pitchFamily="49" charset="-122"/>
              </a:rPr>
              <a:t>英语句子的时态、语态、语气等在句中必须保持一致，随意转换往往造成句子意思模糊不清。</a:t>
            </a:r>
          </a:p>
          <a:p>
            <a:pPr marL="609600" indent="-609600" eaLnBrk="1" hangingPunct="1">
              <a:lnSpc>
                <a:spcPct val="90000"/>
              </a:lnSpc>
              <a:buFontTx/>
              <a:buNone/>
            </a:pPr>
            <a:r>
              <a:rPr lang="zh-CN" altLang="en-US" sz="2800" b="1" smtClean="0">
                <a:latin typeface="Times New Roman" panose="02020603050405020304" pitchFamily="18" charset="0"/>
              </a:rPr>
              <a:t>       ① 时态的随意转换。</a:t>
            </a:r>
          </a:p>
          <a:p>
            <a:pPr marL="609600" indent="-609600" eaLnBrk="1" hangingPunct="1">
              <a:lnSpc>
                <a:spcPct val="90000"/>
              </a:lnSpc>
              <a:buFontTx/>
              <a:buAutoNum type="alphaLcPeriod"/>
            </a:pPr>
            <a:r>
              <a:rPr lang="en-US" altLang="zh-CN" sz="2800" b="1" smtClean="0">
                <a:latin typeface="Times New Roman" panose="02020603050405020304" pitchFamily="18" charset="0"/>
              </a:rPr>
              <a:t>They did not know when they will go to the Great Wall.</a:t>
            </a:r>
          </a:p>
          <a:p>
            <a:pPr marL="609600" indent="-609600" eaLnBrk="1" hangingPunct="1">
              <a:lnSpc>
                <a:spcPct val="90000"/>
              </a:lnSpc>
              <a:buFontTx/>
              <a:buNone/>
            </a:pPr>
            <a:r>
              <a:rPr lang="en-US" altLang="zh-CN" sz="2800" b="1" smtClean="0">
                <a:latin typeface="Times New Roman" panose="02020603050405020304" pitchFamily="18" charset="0"/>
              </a:rPr>
              <a:t>       </a:t>
            </a:r>
            <a:r>
              <a:rPr lang="zh-CN" altLang="en-US" sz="2800" b="1" smtClean="0">
                <a:latin typeface="Times New Roman" panose="02020603050405020304" pitchFamily="18" charset="0"/>
              </a:rPr>
              <a:t>应改为：</a:t>
            </a:r>
          </a:p>
          <a:p>
            <a:pPr marL="609600" indent="-609600" eaLnBrk="1" hangingPunct="1">
              <a:lnSpc>
                <a:spcPct val="90000"/>
              </a:lnSpc>
              <a:buFontTx/>
              <a:buNone/>
            </a:pPr>
            <a:r>
              <a:rPr lang="zh-CN" altLang="en-US" sz="2800" b="1" smtClean="0">
                <a:solidFill>
                  <a:schemeClr val="tx2"/>
                </a:solidFill>
                <a:latin typeface="Times New Roman" panose="02020603050405020304" pitchFamily="18" charset="0"/>
              </a:rPr>
              <a:t>       </a:t>
            </a:r>
            <a:r>
              <a:rPr lang="en-US" altLang="zh-CN" sz="2800" b="1" smtClean="0">
                <a:solidFill>
                  <a:schemeClr val="tx2"/>
                </a:solidFill>
                <a:latin typeface="Times New Roman" panose="02020603050405020304" pitchFamily="18" charset="0"/>
              </a:rPr>
              <a:t>They did not know when they would go to the Great Wall.</a:t>
            </a:r>
          </a:p>
          <a:p>
            <a:pPr marL="609600" indent="-609600" eaLnBrk="1" hangingPunct="1">
              <a:lnSpc>
                <a:spcPct val="90000"/>
              </a:lnSpc>
              <a:buFontTx/>
              <a:buNone/>
            </a:pPr>
            <a:r>
              <a:rPr lang="en-US" altLang="zh-CN" sz="2800" b="1" smtClean="0">
                <a:solidFill>
                  <a:schemeClr val="tx2"/>
                </a:solidFill>
                <a:latin typeface="Times New Roman" panose="02020603050405020304" pitchFamily="18" charset="0"/>
              </a:rPr>
              <a:t> </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1" name="Rectangle 3"/>
          <p:cNvSpPr>
            <a:spLocks noGrp="1" noChangeArrowheads="1"/>
          </p:cNvSpPr>
          <p:nvPr>
            <p:ph idx="1"/>
          </p:nvPr>
        </p:nvSpPr>
        <p:spPr>
          <a:xfrm>
            <a:off x="827584" y="1340768"/>
            <a:ext cx="8424862" cy="3887788"/>
          </a:xfrm>
        </p:spPr>
        <p:txBody>
          <a:bodyPr/>
          <a:lstStyle/>
          <a:p>
            <a:pPr marL="381000" indent="-381000" eaLnBrk="1" hangingPunct="1">
              <a:lnSpc>
                <a:spcPct val="90000"/>
              </a:lnSpc>
              <a:buFontTx/>
              <a:buNone/>
            </a:pPr>
            <a:endParaRPr lang="en-US" altLang="zh-CN" sz="3600" b="1" dirty="0" smtClean="0"/>
          </a:p>
          <a:p>
            <a:pPr marL="381000" indent="-381000" eaLnBrk="1" hangingPunct="1">
              <a:lnSpc>
                <a:spcPct val="90000"/>
              </a:lnSpc>
              <a:buFontTx/>
              <a:buNone/>
            </a:pPr>
            <a:r>
              <a:rPr lang="en-US" altLang="zh-CN" sz="2800" b="1" dirty="0" smtClean="0">
                <a:latin typeface="楷体_GB2312" pitchFamily="49" charset="-122"/>
                <a:ea typeface="楷体_GB2312" pitchFamily="49" charset="-122"/>
              </a:rPr>
              <a:t>② </a:t>
            </a:r>
            <a:r>
              <a:rPr lang="zh-CN" altLang="en-US" sz="2800" b="1" dirty="0" smtClean="0">
                <a:latin typeface="楷体_GB2312" pitchFamily="49" charset="-122"/>
                <a:ea typeface="楷体_GB2312" pitchFamily="49" charset="-122"/>
              </a:rPr>
              <a:t>语态和主语的随意转换。</a:t>
            </a:r>
          </a:p>
          <a:p>
            <a:pPr marL="381000" indent="-381000" eaLnBrk="1" hangingPunct="1">
              <a:lnSpc>
                <a:spcPct val="90000"/>
              </a:lnSpc>
              <a:buFontTx/>
              <a:buAutoNum type="alphaLcPeriod"/>
            </a:pPr>
            <a:r>
              <a:rPr lang="en-US" altLang="zh-CN" sz="2800" b="1" dirty="0" smtClean="0">
                <a:latin typeface="Times New Roman" panose="02020603050405020304" pitchFamily="18" charset="0"/>
              </a:rPr>
              <a:t>He was running very hard in the race and his ankle was broken.</a:t>
            </a:r>
          </a:p>
          <a:p>
            <a:pPr marL="381000" indent="-381000" eaLnBrk="1" hangingPunct="1">
              <a:lnSpc>
                <a:spcPct val="90000"/>
              </a:lnSpc>
              <a:buFontTx/>
              <a:buNone/>
            </a:pPr>
            <a:r>
              <a:rPr lang="en-US" altLang="zh-CN" sz="2800" b="1" dirty="0" smtClean="0">
                <a:latin typeface="Times New Roman" panose="02020603050405020304" pitchFamily="18" charset="0"/>
              </a:rPr>
              <a:t>   </a:t>
            </a:r>
            <a:r>
              <a:rPr lang="zh-CN" altLang="en-US" sz="2800" b="1" dirty="0" smtClean="0">
                <a:latin typeface="Times New Roman" panose="02020603050405020304" pitchFamily="18" charset="0"/>
              </a:rPr>
              <a:t>应改为：</a:t>
            </a:r>
          </a:p>
          <a:p>
            <a:pPr marL="381000" indent="-381000" eaLnBrk="1" hangingPunct="1">
              <a:lnSpc>
                <a:spcPct val="90000"/>
              </a:lnSpc>
              <a:buFontTx/>
              <a:buNone/>
            </a:pPr>
            <a:r>
              <a:rPr lang="zh-CN" altLang="en-US" sz="2800" b="1" dirty="0" smtClean="0">
                <a:solidFill>
                  <a:schemeClr val="tx2"/>
                </a:solidFill>
                <a:latin typeface="Times New Roman" panose="02020603050405020304" pitchFamily="18" charset="0"/>
              </a:rPr>
              <a:t>    </a:t>
            </a:r>
            <a:r>
              <a:rPr lang="en-US" altLang="zh-CN" sz="2800" b="1" dirty="0" smtClean="0">
                <a:solidFill>
                  <a:schemeClr val="tx2"/>
                </a:solidFill>
                <a:latin typeface="Times New Roman" panose="02020603050405020304" pitchFamily="18" charset="0"/>
              </a:rPr>
              <a:t>He was running very hard in the race and broke his ankle.</a:t>
            </a:r>
          </a:p>
          <a:p>
            <a:pPr marL="381000" indent="-381000" eaLnBrk="1" hangingPunct="1">
              <a:lnSpc>
                <a:spcPct val="90000"/>
              </a:lnSpc>
            </a:pPr>
            <a:endParaRPr lang="en-US" altLang="zh-CN" sz="2800" b="1" dirty="0" smtClean="0">
              <a:solidFill>
                <a:schemeClr val="tx2"/>
              </a:solidFill>
              <a:latin typeface="Times New Roman" panose="02020603050405020304" pitchFamily="18" charset="0"/>
            </a:endParaRPr>
          </a:p>
          <a:p>
            <a:pPr marL="381000" indent="-381000" eaLnBrk="1" hangingPunct="1">
              <a:lnSpc>
                <a:spcPct val="90000"/>
              </a:lnSpc>
              <a:buFontTx/>
              <a:buNone/>
            </a:pPr>
            <a:endParaRPr lang="en-US" altLang="zh-CN" sz="4000" b="1" dirty="0" smtClean="0">
              <a:solidFill>
                <a:schemeClr val="tx2"/>
              </a:solidFill>
              <a:latin typeface="Times New Roman" panose="02020603050405020304" pitchFamily="18" charset="0"/>
            </a:endParaRPr>
          </a:p>
          <a:p>
            <a:pPr marL="381000" indent="-381000" eaLnBrk="1" hangingPunct="1">
              <a:lnSpc>
                <a:spcPct val="90000"/>
              </a:lnSpc>
            </a:pPr>
            <a:endParaRPr lang="en-US" altLang="zh-CN" dirty="0" smtClean="0">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1571">
                                            <p:txEl>
                                              <p:pRg st="3" end="3"/>
                                            </p:txEl>
                                          </p:spTgt>
                                        </p:tgtEl>
                                        <p:attrNameLst>
                                          <p:attrName>style.visibility</p:attrName>
                                        </p:attrNameLst>
                                      </p:cBhvr>
                                      <p:to>
                                        <p:strVal val="visible"/>
                                      </p:to>
                                    </p:set>
                                    <p:anim calcmode="lin" valueType="num">
                                      <p:cBhvr additive="base">
                                        <p:cTn id="7" dur="500" fill="hold"/>
                                        <p:tgtEl>
                                          <p:spTgt spid="621571">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1571">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21571">
                                            <p:txEl>
                                              <p:pRg st="4" end="4"/>
                                            </p:txEl>
                                          </p:spTgt>
                                        </p:tgtEl>
                                        <p:attrNameLst>
                                          <p:attrName>style.visibility</p:attrName>
                                        </p:attrNameLst>
                                      </p:cBhvr>
                                      <p:to>
                                        <p:strVal val="visible"/>
                                      </p:to>
                                    </p:set>
                                    <p:anim calcmode="lin" valueType="num">
                                      <p:cBhvr additive="base">
                                        <p:cTn id="11" dur="500" fill="hold"/>
                                        <p:tgtEl>
                                          <p:spTgt spid="621571">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2157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9" name="Rectangle 3"/>
          <p:cNvSpPr>
            <a:spLocks noGrp="1" noChangeArrowheads="1"/>
          </p:cNvSpPr>
          <p:nvPr>
            <p:ph idx="1"/>
          </p:nvPr>
        </p:nvSpPr>
        <p:spPr>
          <a:xfrm>
            <a:off x="539750" y="1052513"/>
            <a:ext cx="7696200" cy="3657600"/>
          </a:xfrm>
        </p:spPr>
        <p:txBody>
          <a:bodyPr>
            <a:normAutofit lnSpcReduction="10000"/>
          </a:bodyPr>
          <a:lstStyle/>
          <a:p>
            <a:pPr eaLnBrk="1" hangingPunct="1">
              <a:lnSpc>
                <a:spcPct val="90000"/>
              </a:lnSpc>
              <a:buFontTx/>
              <a:buNone/>
            </a:pPr>
            <a:r>
              <a:rPr lang="en-US" altLang="zh-CN" sz="2800" b="1" smtClean="0">
                <a:latin typeface="Times New Roman" panose="02020603050405020304" pitchFamily="18" charset="0"/>
              </a:rPr>
              <a:t>b. The teacher left the classroom after the lecture was finished.</a:t>
            </a:r>
          </a:p>
          <a:p>
            <a:pPr eaLnBrk="1" hangingPunct="1">
              <a:lnSpc>
                <a:spcPct val="90000"/>
              </a:lnSpc>
              <a:buFontTx/>
              <a:buNone/>
            </a:pPr>
            <a:r>
              <a:rPr lang="en-US" altLang="zh-CN" sz="2800" b="1" smtClean="0">
                <a:latin typeface="Times New Roman" panose="02020603050405020304" pitchFamily="18" charset="0"/>
              </a:rPr>
              <a:t>     </a:t>
            </a:r>
            <a:r>
              <a:rPr lang="zh-CN" altLang="en-US" sz="2800" b="1" smtClean="0">
                <a:latin typeface="Times New Roman" panose="02020603050405020304" pitchFamily="18" charset="0"/>
              </a:rPr>
              <a:t>应改为：</a:t>
            </a:r>
          </a:p>
          <a:p>
            <a:pPr eaLnBrk="1" hangingPunct="1">
              <a:lnSpc>
                <a:spcPct val="90000"/>
              </a:lnSpc>
              <a:buFontTx/>
              <a:buNone/>
            </a:pPr>
            <a:r>
              <a:rPr lang="zh-CN" altLang="en-US" sz="3600" b="1" smtClean="0">
                <a:solidFill>
                  <a:schemeClr val="tx2"/>
                </a:solidFill>
                <a:latin typeface="Times New Roman" panose="02020603050405020304" pitchFamily="18" charset="0"/>
              </a:rPr>
              <a:t>   </a:t>
            </a:r>
            <a:r>
              <a:rPr lang="en-US" altLang="zh-CN" sz="2800" b="1" smtClean="0">
                <a:solidFill>
                  <a:schemeClr val="tx2"/>
                </a:solidFill>
                <a:latin typeface="Times New Roman" panose="02020603050405020304" pitchFamily="18" charset="0"/>
              </a:rPr>
              <a:t>The teacher left the classroom after he finished the lecture.</a:t>
            </a:r>
          </a:p>
          <a:p>
            <a:pPr eaLnBrk="1" hangingPunct="1">
              <a:lnSpc>
                <a:spcPct val="90000"/>
              </a:lnSpc>
              <a:buFontTx/>
              <a:buNone/>
            </a:pPr>
            <a:r>
              <a:rPr lang="en-US" altLang="zh-CN" sz="2800" b="1" smtClean="0">
                <a:solidFill>
                  <a:schemeClr val="tx2"/>
                </a:solidFill>
                <a:latin typeface="Times New Roman" panose="02020603050405020304" pitchFamily="18" charset="0"/>
              </a:rPr>
              <a:t>  </a:t>
            </a:r>
            <a:r>
              <a:rPr lang="zh-CN" altLang="en-US" sz="2800" b="1" smtClean="0">
                <a:solidFill>
                  <a:schemeClr val="tx2"/>
                </a:solidFill>
                <a:latin typeface="Times New Roman" panose="02020603050405020304" pitchFamily="18" charset="0"/>
              </a:rPr>
              <a:t>或：</a:t>
            </a:r>
          </a:p>
          <a:p>
            <a:pPr eaLnBrk="1" hangingPunct="1">
              <a:lnSpc>
                <a:spcPct val="90000"/>
              </a:lnSpc>
              <a:buFontTx/>
              <a:buNone/>
            </a:pPr>
            <a:r>
              <a:rPr lang="zh-CN" altLang="en-US" sz="2800" b="1" smtClean="0">
                <a:solidFill>
                  <a:schemeClr val="tx2"/>
                </a:solidFill>
                <a:latin typeface="Times New Roman" panose="02020603050405020304" pitchFamily="18" charset="0"/>
              </a:rPr>
              <a:t>   </a:t>
            </a:r>
            <a:r>
              <a:rPr lang="en-US" altLang="zh-CN" sz="2800" b="1" smtClean="0">
                <a:solidFill>
                  <a:schemeClr val="tx2"/>
                </a:solidFill>
                <a:latin typeface="Times New Roman" panose="02020603050405020304" pitchFamily="18" charset="0"/>
              </a:rPr>
              <a:t>Having finished the lecture, the teacher left the classroom.</a:t>
            </a:r>
          </a:p>
          <a:p>
            <a:pPr eaLnBrk="1" hangingPunct="1">
              <a:lnSpc>
                <a:spcPct val="90000"/>
              </a:lnSpc>
              <a:buFontTx/>
              <a:buNone/>
            </a:pPr>
            <a:endParaRPr lang="en-US" altLang="zh-CN" sz="2800" b="1" smtClean="0">
              <a:solidFill>
                <a:schemeClr val="tx2"/>
              </a:solidFill>
              <a:latin typeface="Times New Roman" panose="02020603050405020304" pitchFamily="18" charset="0"/>
            </a:endParaRPr>
          </a:p>
          <a:p>
            <a:pPr eaLnBrk="1" hangingPunct="1">
              <a:lnSpc>
                <a:spcPct val="90000"/>
              </a:lnSpc>
            </a:pPr>
            <a:endParaRPr lang="en-US" altLang="zh-CN" sz="2800" smtClean="0">
              <a:latin typeface="Times New Roman" panose="02020603050405020304" pitchFamily="18" charset="0"/>
            </a:endParaRPr>
          </a:p>
          <a:p>
            <a:pPr eaLnBrk="1" hangingPunct="1">
              <a:lnSpc>
                <a:spcPct val="90000"/>
              </a:lnSpc>
            </a:pPr>
            <a:endParaRPr lang="en-US" altLang="zh-CN" sz="2400" smtClean="0"/>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23619">
                                            <p:txEl>
                                              <p:pRg st="1" end="1"/>
                                            </p:txEl>
                                          </p:spTgt>
                                        </p:tgtEl>
                                        <p:attrNameLst>
                                          <p:attrName>style.visibility</p:attrName>
                                        </p:attrNameLst>
                                      </p:cBhvr>
                                      <p:to>
                                        <p:strVal val="visible"/>
                                      </p:to>
                                    </p:set>
                                    <p:anim calcmode="lin" valueType="num">
                                      <p:cBhvr additive="base">
                                        <p:cTn id="7" dur="500" fill="hold"/>
                                        <p:tgtEl>
                                          <p:spTgt spid="62361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2361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23619">
                                            <p:txEl>
                                              <p:pRg st="2" end="2"/>
                                            </p:txEl>
                                          </p:spTgt>
                                        </p:tgtEl>
                                        <p:attrNameLst>
                                          <p:attrName>style.visibility</p:attrName>
                                        </p:attrNameLst>
                                      </p:cBhvr>
                                      <p:to>
                                        <p:strVal val="visible"/>
                                      </p:to>
                                    </p:set>
                                    <p:anim calcmode="lin" valueType="num">
                                      <p:cBhvr additive="base">
                                        <p:cTn id="11" dur="500" fill="hold"/>
                                        <p:tgtEl>
                                          <p:spTgt spid="62361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236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23619">
                                            <p:txEl>
                                              <p:pRg st="4" end="4"/>
                                            </p:txEl>
                                          </p:spTgt>
                                        </p:tgtEl>
                                        <p:attrNameLst>
                                          <p:attrName>style.visibility</p:attrName>
                                        </p:attrNameLst>
                                      </p:cBhvr>
                                      <p:to>
                                        <p:strVal val="visible"/>
                                      </p:to>
                                    </p:set>
                                    <p:animEffect transition="in" filter="box(in)">
                                      <p:cBhvr>
                                        <p:cTn id="17" dur="500"/>
                                        <p:tgtEl>
                                          <p:spTgt spid="6236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368644" name="Text Box 4"/>
          <p:cNvSpPr txBox="1">
            <a:spLocks noChangeArrowheads="1"/>
          </p:cNvSpPr>
          <p:nvPr/>
        </p:nvSpPr>
        <p:spPr bwMode="auto">
          <a:xfrm>
            <a:off x="611188" y="981075"/>
            <a:ext cx="8208962" cy="3141663"/>
          </a:xfrm>
          <a:prstGeom prst="rect">
            <a:avLst/>
          </a:prstGeom>
          <a:noFill/>
          <a:ln w="9525">
            <a:noFill/>
            <a:miter lim="800000"/>
          </a:ln>
        </p:spPr>
        <p:txBody>
          <a:bodyPr>
            <a:spAutoFit/>
          </a:bodyPr>
          <a:lstStyle/>
          <a:p>
            <a:endParaRPr lang="en-US" altLang="zh-CN" sz="3200" b="1">
              <a:latin typeface="Cambria" panose="02040503050406030204" charset="0"/>
            </a:endParaRPr>
          </a:p>
          <a:p>
            <a:r>
              <a:rPr lang="en-US" altLang="zh-CN" sz="2800">
                <a:latin typeface="Times New Roman" panose="02020603050405020304" pitchFamily="18" charset="0"/>
              </a:rPr>
              <a:t>c. </a:t>
            </a:r>
            <a:r>
              <a:rPr lang="en-US" altLang="zh-CN" sz="2800" b="1">
                <a:latin typeface="Times New Roman" panose="02020603050405020304" pitchFamily="18" charset="0"/>
              </a:rPr>
              <a:t>She reviewed the lessons and all the exercises</a:t>
            </a:r>
          </a:p>
          <a:p>
            <a:r>
              <a:rPr lang="en-US" altLang="zh-CN" sz="2800" b="1">
                <a:latin typeface="Times New Roman" panose="02020603050405020304" pitchFamily="18" charset="0"/>
              </a:rPr>
              <a:t>    assigned by the teacher were done</a:t>
            </a:r>
            <a:r>
              <a:rPr lang="en-US" altLang="zh-CN" sz="2800">
                <a:latin typeface="Times New Roman" panose="02020603050405020304" pitchFamily="18" charset="0"/>
              </a:rPr>
              <a:t>.</a:t>
            </a:r>
          </a:p>
          <a:p>
            <a:endParaRPr lang="en-US" altLang="zh-CN" sz="2800">
              <a:latin typeface="Times New Roman" panose="02020603050405020304" pitchFamily="18" charset="0"/>
            </a:endParaRPr>
          </a:p>
          <a:p>
            <a:r>
              <a:rPr lang="zh-CN" altLang="en-US" sz="2800" b="1">
                <a:latin typeface="Times New Roman" panose="02020603050405020304" pitchFamily="18" charset="0"/>
              </a:rPr>
              <a:t>应改为</a:t>
            </a:r>
            <a:r>
              <a:rPr lang="zh-CN" altLang="en-US" sz="2800">
                <a:latin typeface="Times New Roman" panose="02020603050405020304" pitchFamily="18" charset="0"/>
              </a:rPr>
              <a:t>：</a:t>
            </a:r>
          </a:p>
          <a:p>
            <a:r>
              <a:rPr lang="zh-CN" altLang="en-US" sz="2800" b="1">
                <a:solidFill>
                  <a:schemeClr val="tx2"/>
                </a:solidFill>
                <a:latin typeface="Times New Roman" panose="02020603050405020304" pitchFamily="18" charset="0"/>
              </a:rPr>
              <a:t> </a:t>
            </a:r>
            <a:r>
              <a:rPr lang="en-US" altLang="zh-CN" sz="2800" b="1">
                <a:solidFill>
                  <a:schemeClr val="tx2"/>
                </a:solidFill>
                <a:latin typeface="Times New Roman" panose="02020603050405020304" pitchFamily="18" charset="0"/>
              </a:rPr>
              <a:t>She reviewed the lessons and did all the exercises assigned by the teacher.</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68644">
                                            <p:txEl>
                                              <p:pRg st="4" end="4"/>
                                            </p:txEl>
                                          </p:spTgt>
                                        </p:tgtEl>
                                        <p:attrNameLst>
                                          <p:attrName>style.visibility</p:attrName>
                                        </p:attrNameLst>
                                      </p:cBhvr>
                                      <p:to>
                                        <p:strVal val="visible"/>
                                      </p:to>
                                    </p:set>
                                    <p:animEffect transition="in" filter="diamond(in)">
                                      <p:cBhvr>
                                        <p:cTn id="7" dur="2000"/>
                                        <p:tgtEl>
                                          <p:spTgt spid="368644">
                                            <p:txEl>
                                              <p:pRg st="4" end="4"/>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368644">
                                            <p:txEl>
                                              <p:pRg st="5" end="5"/>
                                            </p:txEl>
                                          </p:spTgt>
                                        </p:tgtEl>
                                        <p:attrNameLst>
                                          <p:attrName>style.visibility</p:attrName>
                                        </p:attrNameLst>
                                      </p:cBhvr>
                                      <p:to>
                                        <p:strVal val="visible"/>
                                      </p:to>
                                    </p:set>
                                    <p:animEffect transition="in" filter="diamond(in)">
                                      <p:cBhvr>
                                        <p:cTn id="10" dur="2000"/>
                                        <p:tgtEl>
                                          <p:spTgt spid="36864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67" name="Rectangle 3"/>
          <p:cNvSpPr>
            <a:spLocks noGrp="1" noChangeArrowheads="1"/>
          </p:cNvSpPr>
          <p:nvPr>
            <p:ph idx="1"/>
          </p:nvPr>
        </p:nvSpPr>
        <p:spPr>
          <a:xfrm>
            <a:off x="323850" y="1196975"/>
            <a:ext cx="8280400" cy="3657600"/>
          </a:xfrm>
        </p:spPr>
        <p:txBody>
          <a:bodyPr/>
          <a:lstStyle/>
          <a:p>
            <a:pPr marL="609600" indent="-609600" eaLnBrk="1" hangingPunct="1">
              <a:lnSpc>
                <a:spcPct val="80000"/>
              </a:lnSpc>
              <a:buFontTx/>
              <a:buAutoNum type="circleNumDbPlain" startAt="3"/>
            </a:pPr>
            <a:r>
              <a:rPr lang="zh-CN" altLang="en-US" b="1" smtClean="0">
                <a:latin typeface="Times New Roman" panose="02020603050405020304" pitchFamily="18" charset="0"/>
              </a:rPr>
              <a:t>语气随意转换</a:t>
            </a:r>
            <a:r>
              <a:rPr lang="zh-CN" altLang="en-US" smtClean="0">
                <a:latin typeface="Times New Roman" panose="02020603050405020304" pitchFamily="18" charset="0"/>
              </a:rPr>
              <a:t>。</a:t>
            </a:r>
          </a:p>
          <a:p>
            <a:pPr marL="609600" indent="-609600" eaLnBrk="1" hangingPunct="1">
              <a:lnSpc>
                <a:spcPct val="80000"/>
              </a:lnSpc>
              <a:buFontTx/>
              <a:buNone/>
            </a:pPr>
            <a:r>
              <a:rPr lang="en-US" altLang="zh-CN" sz="3600" smtClean="0">
                <a:latin typeface="Times New Roman" panose="02020603050405020304" pitchFamily="18" charset="0"/>
              </a:rPr>
              <a:t>a.  First stop the noise and then you may start discussion.</a:t>
            </a:r>
          </a:p>
          <a:p>
            <a:pPr marL="609600" indent="-609600" eaLnBrk="1" hangingPunct="1">
              <a:lnSpc>
                <a:spcPct val="80000"/>
              </a:lnSpc>
              <a:buFontTx/>
              <a:buNone/>
            </a:pPr>
            <a:r>
              <a:rPr lang="en-US" altLang="zh-CN" sz="3600" b="1" smtClean="0">
                <a:latin typeface="Times New Roman" panose="02020603050405020304" pitchFamily="18" charset="0"/>
              </a:rPr>
              <a:t>   </a:t>
            </a:r>
            <a:r>
              <a:rPr lang="zh-CN" altLang="en-US" sz="3600" b="1" smtClean="0">
                <a:latin typeface="Times New Roman" panose="02020603050405020304" pitchFamily="18" charset="0"/>
              </a:rPr>
              <a:t>应改为</a:t>
            </a:r>
            <a:r>
              <a:rPr lang="zh-CN" altLang="en-US" sz="3600" smtClean="0">
                <a:latin typeface="Times New Roman" panose="02020603050405020304" pitchFamily="18" charset="0"/>
              </a:rPr>
              <a:t>：</a:t>
            </a:r>
          </a:p>
          <a:p>
            <a:pPr marL="609600" indent="-609600" eaLnBrk="1" hangingPunct="1">
              <a:lnSpc>
                <a:spcPct val="80000"/>
              </a:lnSpc>
              <a:buFontTx/>
              <a:buNone/>
            </a:pPr>
            <a:r>
              <a:rPr lang="zh-CN" altLang="en-US" sz="3600" smtClean="0">
                <a:latin typeface="Times New Roman" panose="02020603050405020304" pitchFamily="18" charset="0"/>
              </a:rPr>
              <a:t>     </a:t>
            </a:r>
            <a:r>
              <a:rPr lang="en-US" altLang="zh-CN" sz="3600" smtClean="0">
                <a:solidFill>
                  <a:schemeClr val="tx2"/>
                </a:solidFill>
                <a:latin typeface="Times New Roman" panose="02020603050405020304" pitchFamily="18" charset="0"/>
              </a:rPr>
              <a:t>First stop the noise and then start discussion</a:t>
            </a:r>
            <a:r>
              <a:rPr lang="en-US" altLang="zh-CN" sz="2800" smtClean="0">
                <a:solidFill>
                  <a:schemeClr val="tx2"/>
                </a:solidFill>
                <a:latin typeface="Times New Roman" panose="02020603050405020304" pitchFamily="18" charset="0"/>
              </a:rPr>
              <a:t>.</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69667">
                                            <p:txEl>
                                              <p:pRg st="2" end="2"/>
                                            </p:txEl>
                                          </p:spTgt>
                                        </p:tgtEl>
                                        <p:attrNameLst>
                                          <p:attrName>style.visibility</p:attrName>
                                        </p:attrNameLst>
                                      </p:cBhvr>
                                      <p:to>
                                        <p:strVal val="visible"/>
                                      </p:to>
                                    </p:set>
                                    <p:animEffect transition="in" filter="checkerboard(across)">
                                      <p:cBhvr>
                                        <p:cTn id="7" dur="500"/>
                                        <p:tgtEl>
                                          <p:spTgt spid="369667">
                                            <p:txEl>
                                              <p:pRg st="2" end="2"/>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69667">
                                            <p:txEl>
                                              <p:pRg st="3" end="3"/>
                                            </p:txEl>
                                          </p:spTgt>
                                        </p:tgtEl>
                                        <p:attrNameLst>
                                          <p:attrName>style.visibility</p:attrName>
                                        </p:attrNameLst>
                                      </p:cBhvr>
                                      <p:to>
                                        <p:strVal val="visible"/>
                                      </p:to>
                                    </p:set>
                                    <p:animEffect transition="in" filter="checkerboard(across)">
                                      <p:cBhvr>
                                        <p:cTn id="10" dur="500"/>
                                        <p:tgtEl>
                                          <p:spTgt spid="36966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370692" name="Text Box 4"/>
          <p:cNvSpPr txBox="1">
            <a:spLocks noChangeArrowheads="1"/>
          </p:cNvSpPr>
          <p:nvPr/>
        </p:nvSpPr>
        <p:spPr bwMode="auto">
          <a:xfrm>
            <a:off x="179388" y="430213"/>
            <a:ext cx="7561262" cy="4478337"/>
          </a:xfrm>
          <a:prstGeom prst="rect">
            <a:avLst/>
          </a:prstGeom>
          <a:noFill/>
          <a:ln w="9525">
            <a:noFill/>
            <a:miter lim="800000"/>
          </a:ln>
        </p:spPr>
        <p:txBody>
          <a:bodyPr>
            <a:spAutoFit/>
          </a:bodyPr>
          <a:lstStyle/>
          <a:p>
            <a:r>
              <a:rPr lang="en-US" altLang="zh-CN" sz="3200" b="1">
                <a:latin typeface="Cambria" panose="02040503050406030204" charset="0"/>
              </a:rPr>
              <a:t>④ </a:t>
            </a:r>
            <a:r>
              <a:rPr lang="zh-CN" altLang="en-US" sz="3200" b="1">
                <a:latin typeface="Times New Roman" panose="02020603050405020304" pitchFamily="18" charset="0"/>
              </a:rPr>
              <a:t>人称和数的随意转换。</a:t>
            </a:r>
          </a:p>
          <a:p>
            <a:r>
              <a:rPr lang="zh-CN" altLang="en-US" sz="3200" b="1">
                <a:solidFill>
                  <a:schemeClr val="tx2"/>
                </a:solidFill>
                <a:latin typeface="Times New Roman" panose="02020603050405020304" pitchFamily="18" charset="0"/>
              </a:rPr>
              <a:t>    </a:t>
            </a:r>
            <a:r>
              <a:rPr lang="en-US" altLang="zh-CN" sz="3200" b="1">
                <a:latin typeface="Times New Roman" panose="02020603050405020304" pitchFamily="18" charset="0"/>
              </a:rPr>
              <a:t>a. If one has talents, we will be</a:t>
            </a:r>
          </a:p>
          <a:p>
            <a:r>
              <a:rPr lang="en-US" altLang="zh-CN" sz="3200" b="1">
                <a:latin typeface="Times New Roman" panose="02020603050405020304" pitchFamily="18" charset="0"/>
              </a:rPr>
              <a:t>       likely to   succeed.</a:t>
            </a:r>
          </a:p>
          <a:p>
            <a:r>
              <a:rPr lang="en-US" altLang="zh-CN" sz="3200" b="1">
                <a:latin typeface="Times New Roman" panose="02020603050405020304" pitchFamily="18" charset="0"/>
              </a:rPr>
              <a:t>    </a:t>
            </a:r>
            <a:r>
              <a:rPr lang="zh-CN" altLang="en-US" sz="3200" b="1">
                <a:latin typeface="Times New Roman" panose="02020603050405020304" pitchFamily="18" charset="0"/>
              </a:rPr>
              <a:t>应改为：</a:t>
            </a:r>
          </a:p>
          <a:p>
            <a:r>
              <a:rPr lang="zh-CN" altLang="en-US" sz="3200" b="1">
                <a:latin typeface="Times New Roman" panose="02020603050405020304" pitchFamily="18" charset="0"/>
              </a:rPr>
              <a:t>    </a:t>
            </a:r>
            <a:r>
              <a:rPr lang="en-US" altLang="zh-CN" sz="3200" b="1">
                <a:solidFill>
                  <a:schemeClr val="tx2"/>
                </a:solidFill>
                <a:latin typeface="Times New Roman" panose="02020603050405020304" pitchFamily="18" charset="0"/>
              </a:rPr>
              <a:t>If one has talents, one will be likely</a:t>
            </a:r>
          </a:p>
          <a:p>
            <a:r>
              <a:rPr lang="en-US" altLang="zh-CN" sz="3200" b="1">
                <a:solidFill>
                  <a:schemeClr val="tx2"/>
                </a:solidFill>
                <a:latin typeface="Times New Roman" panose="02020603050405020304" pitchFamily="18" charset="0"/>
              </a:rPr>
              <a:t>    to succeed.</a:t>
            </a:r>
          </a:p>
          <a:p>
            <a:r>
              <a:rPr lang="en-US" altLang="zh-CN" sz="3200" b="1">
                <a:solidFill>
                  <a:schemeClr val="tx2"/>
                </a:solidFill>
                <a:latin typeface="Times New Roman" panose="02020603050405020304" pitchFamily="18" charset="0"/>
              </a:rPr>
              <a:t>    </a:t>
            </a:r>
            <a:r>
              <a:rPr lang="zh-CN" altLang="en-US" sz="3200" b="1">
                <a:solidFill>
                  <a:schemeClr val="tx2"/>
                </a:solidFill>
                <a:latin typeface="Times New Roman" panose="02020603050405020304" pitchFamily="18" charset="0"/>
              </a:rPr>
              <a:t>或</a:t>
            </a:r>
            <a:r>
              <a:rPr lang="en-US" altLang="zh-CN" sz="3200" b="1">
                <a:solidFill>
                  <a:schemeClr val="tx2"/>
                </a:solidFill>
                <a:latin typeface="Times New Roman" panose="02020603050405020304" pitchFamily="18" charset="0"/>
              </a:rPr>
              <a:t>: </a:t>
            </a:r>
          </a:p>
          <a:p>
            <a:r>
              <a:rPr lang="en-US" altLang="zh-CN" sz="3200" b="1">
                <a:solidFill>
                  <a:schemeClr val="tx2"/>
                </a:solidFill>
                <a:latin typeface="Times New Roman" panose="02020603050405020304" pitchFamily="18" charset="0"/>
              </a:rPr>
              <a:t>    If we have talents, we will be likely </a:t>
            </a:r>
          </a:p>
          <a:p>
            <a:r>
              <a:rPr lang="en-US" altLang="zh-CN" sz="3200" b="1">
                <a:solidFill>
                  <a:schemeClr val="tx2"/>
                </a:solidFill>
                <a:latin typeface="Times New Roman" panose="02020603050405020304" pitchFamily="18" charset="0"/>
              </a:rPr>
              <a:t>    to succeed.</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0692">
                                            <p:txEl>
                                              <p:pRg st="3" end="3"/>
                                            </p:txEl>
                                          </p:spTgt>
                                        </p:tgtEl>
                                        <p:attrNameLst>
                                          <p:attrName>style.visibility</p:attrName>
                                        </p:attrNameLst>
                                      </p:cBhvr>
                                      <p:to>
                                        <p:strVal val="visible"/>
                                      </p:to>
                                    </p:set>
                                    <p:animEffect transition="in" filter="blinds(horizontal)">
                                      <p:cBhvr>
                                        <p:cTn id="7" dur="500"/>
                                        <p:tgtEl>
                                          <p:spTgt spid="370692">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70692">
                                            <p:txEl>
                                              <p:pRg st="4" end="4"/>
                                            </p:txEl>
                                          </p:spTgt>
                                        </p:tgtEl>
                                        <p:attrNameLst>
                                          <p:attrName>style.visibility</p:attrName>
                                        </p:attrNameLst>
                                      </p:cBhvr>
                                      <p:to>
                                        <p:strVal val="visible"/>
                                      </p:to>
                                    </p:set>
                                    <p:animEffect transition="in" filter="blinds(horizontal)">
                                      <p:cBhvr>
                                        <p:cTn id="10" dur="500"/>
                                        <p:tgtEl>
                                          <p:spTgt spid="370692">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70692">
                                            <p:txEl>
                                              <p:pRg st="5" end="5"/>
                                            </p:txEl>
                                          </p:spTgt>
                                        </p:tgtEl>
                                        <p:attrNameLst>
                                          <p:attrName>style.visibility</p:attrName>
                                        </p:attrNameLst>
                                      </p:cBhvr>
                                      <p:to>
                                        <p:strVal val="visible"/>
                                      </p:to>
                                    </p:set>
                                    <p:animEffect transition="in" filter="blinds(horizontal)">
                                      <p:cBhvr>
                                        <p:cTn id="13" dur="500"/>
                                        <p:tgtEl>
                                          <p:spTgt spid="370692">
                                            <p:txEl>
                                              <p:pRg st="5" end="5"/>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370692">
                                            <p:txEl>
                                              <p:pRg st="6" end="6"/>
                                            </p:txEl>
                                          </p:spTgt>
                                        </p:tgtEl>
                                        <p:attrNameLst>
                                          <p:attrName>style.visibility</p:attrName>
                                        </p:attrNameLst>
                                      </p:cBhvr>
                                      <p:to>
                                        <p:strVal val="visible"/>
                                      </p:to>
                                    </p:set>
                                    <p:anim calcmode="lin" valueType="num">
                                      <p:cBhvr additive="base">
                                        <p:cTn id="18" dur="500" fill="hold"/>
                                        <p:tgtEl>
                                          <p:spTgt spid="370692">
                                            <p:txEl>
                                              <p:pRg st="6" end="6"/>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70692">
                                            <p:txEl>
                                              <p:pRg st="6" end="6"/>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370692">
                                            <p:txEl>
                                              <p:pRg st="7" end="7"/>
                                            </p:txEl>
                                          </p:spTgt>
                                        </p:tgtEl>
                                        <p:attrNameLst>
                                          <p:attrName>style.visibility</p:attrName>
                                        </p:attrNameLst>
                                      </p:cBhvr>
                                      <p:to>
                                        <p:strVal val="visible"/>
                                      </p:to>
                                    </p:set>
                                    <p:anim calcmode="lin" valueType="num">
                                      <p:cBhvr additive="base">
                                        <p:cTn id="22" dur="500" fill="hold"/>
                                        <p:tgtEl>
                                          <p:spTgt spid="370692">
                                            <p:txEl>
                                              <p:pRg st="7" end="7"/>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370692">
                                            <p:txEl>
                                              <p:pRg st="7" end="7"/>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370692">
                                            <p:txEl>
                                              <p:pRg st="8" end="8"/>
                                            </p:txEl>
                                          </p:spTgt>
                                        </p:tgtEl>
                                        <p:attrNameLst>
                                          <p:attrName>style.visibility</p:attrName>
                                        </p:attrNameLst>
                                      </p:cBhvr>
                                      <p:to>
                                        <p:strVal val="visible"/>
                                      </p:to>
                                    </p:set>
                                    <p:anim calcmode="lin" valueType="num">
                                      <p:cBhvr additive="base">
                                        <p:cTn id="26" dur="500" fill="hold"/>
                                        <p:tgtEl>
                                          <p:spTgt spid="370692">
                                            <p:txEl>
                                              <p:pRg st="8" end="8"/>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37069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9" name="Rectangle 3"/>
          <p:cNvSpPr>
            <a:spLocks noGrp="1" noChangeArrowheads="1"/>
          </p:cNvSpPr>
          <p:nvPr>
            <p:ph idx="1"/>
          </p:nvPr>
        </p:nvSpPr>
        <p:spPr>
          <a:xfrm>
            <a:off x="611188" y="1196975"/>
            <a:ext cx="8280400" cy="4521200"/>
          </a:xfrm>
        </p:spPr>
        <p:txBody>
          <a:bodyPr/>
          <a:lstStyle/>
          <a:p>
            <a:pPr marL="609600" indent="-609600" eaLnBrk="1" hangingPunct="1">
              <a:buFontTx/>
              <a:buNone/>
            </a:pPr>
            <a:r>
              <a:rPr lang="en-US" altLang="zh-CN" b="1" smtClean="0">
                <a:latin typeface="Times New Roman" panose="02020603050405020304" pitchFamily="18" charset="0"/>
              </a:rPr>
              <a:t>⑤ </a:t>
            </a:r>
            <a:r>
              <a:rPr lang="zh-CN" altLang="en-US" b="1" smtClean="0">
                <a:latin typeface="Times New Roman" panose="02020603050405020304" pitchFamily="18" charset="0"/>
              </a:rPr>
              <a:t>代词指代不明。</a:t>
            </a:r>
            <a:endParaRPr lang="zh-CN" altLang="en-US" smtClean="0">
              <a:solidFill>
                <a:schemeClr val="tx2"/>
              </a:solidFill>
              <a:latin typeface="Times New Roman" panose="02020603050405020304" pitchFamily="18" charset="0"/>
            </a:endParaRPr>
          </a:p>
          <a:p>
            <a:pPr marL="609600" indent="-609600" eaLnBrk="1" hangingPunct="1">
              <a:buFontTx/>
              <a:buAutoNum type="alphaLcPeriod"/>
            </a:pPr>
            <a:r>
              <a:rPr lang="en-US" altLang="zh-CN" sz="2800" b="1" smtClean="0">
                <a:latin typeface="Times New Roman" panose="02020603050405020304" pitchFamily="18" charset="0"/>
              </a:rPr>
              <a:t>The pollution in this area is serious; they should</a:t>
            </a:r>
          </a:p>
          <a:p>
            <a:pPr marL="609600" indent="-609600" eaLnBrk="1" hangingPunct="1">
              <a:buFontTx/>
              <a:buNone/>
            </a:pPr>
            <a:r>
              <a:rPr lang="en-US" altLang="zh-CN" sz="2800" b="1" smtClean="0">
                <a:latin typeface="Times New Roman" panose="02020603050405020304" pitchFamily="18" charset="0"/>
              </a:rPr>
              <a:t>       do something about it.</a:t>
            </a:r>
          </a:p>
          <a:p>
            <a:pPr marL="609600" indent="-609600" eaLnBrk="1" hangingPunct="1">
              <a:buFontTx/>
              <a:buNone/>
            </a:pPr>
            <a:r>
              <a:rPr lang="zh-CN" altLang="en-US" sz="2800" b="1" smtClean="0">
                <a:latin typeface="Times New Roman" panose="02020603050405020304" pitchFamily="18" charset="0"/>
              </a:rPr>
              <a:t>应改为：</a:t>
            </a:r>
          </a:p>
          <a:p>
            <a:pPr marL="609600" indent="-609600" eaLnBrk="1" hangingPunct="1">
              <a:spcBef>
                <a:spcPct val="0"/>
              </a:spcBef>
              <a:buFontTx/>
              <a:buNone/>
            </a:pPr>
            <a:r>
              <a:rPr lang="zh-CN" altLang="en-US" sz="2800" b="1" smtClean="0">
                <a:solidFill>
                  <a:schemeClr val="tx2"/>
                </a:solidFill>
                <a:latin typeface="Times New Roman" panose="02020603050405020304" pitchFamily="18" charset="0"/>
              </a:rPr>
              <a:t>  </a:t>
            </a:r>
            <a:r>
              <a:rPr lang="en-US" altLang="zh-CN" sz="2800" b="1" smtClean="0">
                <a:solidFill>
                  <a:schemeClr val="tx2"/>
                </a:solidFill>
                <a:latin typeface="Times New Roman" panose="02020603050405020304" pitchFamily="18" charset="0"/>
              </a:rPr>
              <a:t>The pollution in this area is serious; the government</a:t>
            </a:r>
          </a:p>
          <a:p>
            <a:pPr marL="609600" indent="-609600" eaLnBrk="1" hangingPunct="1">
              <a:spcBef>
                <a:spcPct val="0"/>
              </a:spcBef>
              <a:buFontTx/>
              <a:buNone/>
            </a:pPr>
            <a:r>
              <a:rPr lang="en-US" altLang="zh-CN" sz="2800" b="1" smtClean="0">
                <a:solidFill>
                  <a:schemeClr val="tx2"/>
                </a:solidFill>
                <a:latin typeface="Times New Roman" panose="02020603050405020304" pitchFamily="18" charset="0"/>
              </a:rPr>
              <a:t>   should do something about it.</a:t>
            </a:r>
          </a:p>
          <a:p>
            <a:pPr marL="609600" indent="-609600" eaLnBrk="1" hangingPunct="1"/>
            <a:endParaRPr lang="en-US" altLang="zh-CN" sz="2800" smtClean="0">
              <a:solidFill>
                <a:schemeClr val="tx2"/>
              </a:solidFill>
              <a:latin typeface="Times New Roman" panose="02020603050405020304" pitchFamily="18" charset="0"/>
            </a:endParaRPr>
          </a:p>
          <a:p>
            <a:pPr marL="609600" indent="-609600" eaLnBrk="1" hangingPunct="1"/>
            <a:endParaRPr lang="en-US" altLang="zh-CN" sz="3600" smtClean="0"/>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28739">
                                            <p:txEl>
                                              <p:pRg st="3" end="3"/>
                                            </p:txEl>
                                          </p:spTgt>
                                        </p:tgtEl>
                                        <p:attrNameLst>
                                          <p:attrName>style.visibility</p:attrName>
                                        </p:attrNameLst>
                                      </p:cBhvr>
                                      <p:to>
                                        <p:strVal val="visible"/>
                                      </p:to>
                                    </p:set>
                                    <p:animEffect transition="in" filter="slide(fromBottom)">
                                      <p:cBhvr>
                                        <p:cTn id="7" dur="500"/>
                                        <p:tgtEl>
                                          <p:spTgt spid="628739">
                                            <p:txEl>
                                              <p:pRg st="3" end="3"/>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628739">
                                            <p:txEl>
                                              <p:pRg st="4" end="4"/>
                                            </p:txEl>
                                          </p:spTgt>
                                        </p:tgtEl>
                                        <p:attrNameLst>
                                          <p:attrName>style.visibility</p:attrName>
                                        </p:attrNameLst>
                                      </p:cBhvr>
                                      <p:to>
                                        <p:strVal val="visible"/>
                                      </p:to>
                                    </p:set>
                                    <p:animEffect transition="in" filter="slide(fromBottom)">
                                      <p:cBhvr>
                                        <p:cTn id="10" dur="500"/>
                                        <p:tgtEl>
                                          <p:spTgt spid="628739">
                                            <p:txEl>
                                              <p:pRg st="4" end="4"/>
                                            </p:txEl>
                                          </p:spTgt>
                                        </p:tgtEl>
                                      </p:cBhvr>
                                    </p:animEffect>
                                  </p:childTnLst>
                                </p:cTn>
                              </p:par>
                              <p:par>
                                <p:cTn id="11" presetID="12" presetClass="entr" presetSubtype="4" fill="hold" nodeType="withEffect">
                                  <p:stCondLst>
                                    <p:cond delay="0"/>
                                  </p:stCondLst>
                                  <p:childTnLst>
                                    <p:set>
                                      <p:cBhvr>
                                        <p:cTn id="12" dur="1" fill="hold">
                                          <p:stCondLst>
                                            <p:cond delay="0"/>
                                          </p:stCondLst>
                                        </p:cTn>
                                        <p:tgtEl>
                                          <p:spTgt spid="628739">
                                            <p:txEl>
                                              <p:pRg st="5" end="5"/>
                                            </p:txEl>
                                          </p:spTgt>
                                        </p:tgtEl>
                                        <p:attrNameLst>
                                          <p:attrName>style.visibility</p:attrName>
                                        </p:attrNameLst>
                                      </p:cBhvr>
                                      <p:to>
                                        <p:strVal val="visible"/>
                                      </p:to>
                                    </p:set>
                                    <p:animEffect transition="in" filter="slide(fromBottom)">
                                      <p:cBhvr>
                                        <p:cTn id="13" dur="500"/>
                                        <p:tgtEl>
                                          <p:spTgt spid="62873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3"/>
          <p:cNvSpPr>
            <a:spLocks noGrp="1" noChangeArrowheads="1"/>
          </p:cNvSpPr>
          <p:nvPr>
            <p:ph idx="1"/>
          </p:nvPr>
        </p:nvSpPr>
        <p:spPr>
          <a:xfrm>
            <a:off x="323850" y="260350"/>
            <a:ext cx="8569325" cy="5832475"/>
          </a:xfrm>
        </p:spPr>
        <p:txBody>
          <a:bodyPr/>
          <a:lstStyle/>
          <a:p>
            <a:pPr eaLnBrk="1" hangingPunct="1">
              <a:buFontTx/>
              <a:buNone/>
            </a:pPr>
            <a:r>
              <a:rPr lang="en-US" altLang="zh-CN" dirty="0" smtClean="0">
                <a:latin typeface="Times New Roman" panose="02020603050405020304" pitchFamily="18" charset="0"/>
              </a:rPr>
              <a:t>When only five years old, my father took me to a circus</a:t>
            </a:r>
            <a:r>
              <a:rPr lang="en-US" altLang="zh-CN" sz="2400" dirty="0" smtClean="0">
                <a:latin typeface="Times New Roman" panose="02020603050405020304" pitchFamily="18" charset="0"/>
              </a:rPr>
              <a:t>(</a:t>
            </a:r>
            <a:r>
              <a:rPr lang="zh-CN" altLang="en-US" sz="2400" dirty="0" smtClean="0"/>
              <a:t>杂技团</a:t>
            </a:r>
            <a:r>
              <a:rPr lang="en-US" altLang="zh-CN" sz="2400" dirty="0" smtClean="0"/>
              <a:t>).</a:t>
            </a:r>
          </a:p>
        </p:txBody>
      </p:sp>
      <p:sp>
        <p:nvSpPr>
          <p:cNvPr id="6"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699396" name="Text Box 4"/>
          <p:cNvSpPr txBox="1">
            <a:spLocks noChangeArrowheads="1"/>
          </p:cNvSpPr>
          <p:nvPr/>
        </p:nvSpPr>
        <p:spPr bwMode="auto">
          <a:xfrm>
            <a:off x="395288" y="1341438"/>
            <a:ext cx="8080375" cy="2528887"/>
          </a:xfrm>
          <a:prstGeom prst="rect">
            <a:avLst/>
          </a:prstGeom>
          <a:noFill/>
          <a:ln w="9525">
            <a:noFill/>
            <a:miter lim="800000"/>
          </a:ln>
        </p:spPr>
        <p:txBody>
          <a:bodyPr wrap="none">
            <a:spAutoFit/>
          </a:bodyPr>
          <a:lstStyle/>
          <a:p>
            <a:r>
              <a:rPr lang="en-US" altLang="zh-CN">
                <a:latin typeface="Cambria" panose="02040503050406030204" charset="0"/>
              </a:rPr>
              <a:t>_____ </a:t>
            </a:r>
            <a:r>
              <a:rPr lang="en-US" altLang="zh-CN" sz="3200">
                <a:latin typeface="Times New Roman" panose="02020603050405020304" pitchFamily="18" charset="0"/>
              </a:rPr>
              <a:t>When only five years old, </a:t>
            </a:r>
            <a:r>
              <a:rPr lang="en-US" altLang="zh-CN" sz="3200" u="sng">
                <a:solidFill>
                  <a:schemeClr val="tx2"/>
                </a:solidFill>
                <a:latin typeface="Times New Roman" panose="02020603050405020304" pitchFamily="18" charset="0"/>
              </a:rPr>
              <a:t>I was taken to</a:t>
            </a:r>
          </a:p>
          <a:p>
            <a:r>
              <a:rPr lang="en-US" altLang="zh-CN" sz="3200" u="sng">
                <a:solidFill>
                  <a:schemeClr val="tx2"/>
                </a:solidFill>
                <a:latin typeface="Times New Roman" panose="02020603050405020304" pitchFamily="18" charset="0"/>
              </a:rPr>
              <a:t> a circus by my father.</a:t>
            </a:r>
          </a:p>
          <a:p>
            <a:r>
              <a:rPr lang="en-US" altLang="zh-CN">
                <a:latin typeface="Cambria" panose="02040503050406030204" charset="0"/>
              </a:rPr>
              <a:t>_____ </a:t>
            </a:r>
            <a:r>
              <a:rPr lang="en-US" altLang="zh-CN" sz="3200" u="sng">
                <a:solidFill>
                  <a:schemeClr val="tx2"/>
                </a:solidFill>
                <a:latin typeface="Times New Roman" panose="02020603050405020304" pitchFamily="18" charset="0"/>
              </a:rPr>
              <a:t>When I was only five years old</a:t>
            </a:r>
            <a:r>
              <a:rPr lang="en-US" altLang="zh-CN" sz="3200">
                <a:latin typeface="Times New Roman" panose="02020603050405020304" pitchFamily="18" charset="0"/>
              </a:rPr>
              <a:t>, my father</a:t>
            </a:r>
          </a:p>
          <a:p>
            <a:r>
              <a:rPr lang="en-US" altLang="zh-CN" sz="3200">
                <a:latin typeface="Times New Roman" panose="02020603050405020304" pitchFamily="18" charset="0"/>
              </a:rPr>
              <a:t> took me to a circus.</a:t>
            </a:r>
          </a:p>
          <a:p>
            <a:endParaRPr lang="en-US" altLang="zh-CN" sz="3200">
              <a:latin typeface="Times New Roman" panose="02020603050405020304" pitchFamily="18" charset="0"/>
            </a:endParaRPr>
          </a:p>
        </p:txBody>
      </p:sp>
      <p:sp>
        <p:nvSpPr>
          <p:cNvPr id="699397" name="Text Box 5"/>
          <p:cNvSpPr txBox="1">
            <a:spLocks noChangeArrowheads="1"/>
          </p:cNvSpPr>
          <p:nvPr/>
        </p:nvSpPr>
        <p:spPr bwMode="auto">
          <a:xfrm>
            <a:off x="179388" y="3429000"/>
            <a:ext cx="8964612" cy="1846659"/>
          </a:xfrm>
          <a:prstGeom prst="rect">
            <a:avLst/>
          </a:prstGeom>
          <a:noFill/>
          <a:ln w="9525">
            <a:noFill/>
            <a:miter lim="800000"/>
          </a:ln>
        </p:spPr>
        <p:txBody>
          <a:bodyPr>
            <a:spAutoFit/>
          </a:bodyPr>
          <a:lstStyle/>
          <a:p>
            <a:r>
              <a:rPr lang="en-US" altLang="zh-CN" sz="3200" dirty="0" smtClean="0">
                <a:latin typeface="Times New Roman" panose="02020603050405020304" pitchFamily="18" charset="0"/>
              </a:rPr>
              <a:t>A </a:t>
            </a:r>
            <a:r>
              <a:rPr lang="en-US" altLang="zh-CN" sz="3200" dirty="0">
                <a:latin typeface="Times New Roman" panose="02020603050405020304" pitchFamily="18" charset="0"/>
              </a:rPr>
              <a:t>car drove down the street </a:t>
            </a:r>
            <a:r>
              <a:rPr lang="en-US" altLang="zh-CN" sz="3200" u="sng" dirty="0">
                <a:latin typeface="Times New Roman" panose="02020603050405020304" pitchFamily="18" charset="0"/>
              </a:rPr>
              <a:t>decked with ribbon</a:t>
            </a:r>
            <a:r>
              <a:rPr lang="en-US" altLang="zh-CN" sz="3200" dirty="0">
                <a:latin typeface="Times New Roman" panose="02020603050405020304" pitchFamily="18" charset="0"/>
              </a:rPr>
              <a:t>.</a:t>
            </a:r>
          </a:p>
          <a:p>
            <a:r>
              <a:rPr lang="en-US" altLang="zh-CN" b="1" dirty="0">
                <a:latin typeface="Cambria" panose="02040503050406030204" charset="0"/>
              </a:rPr>
              <a:t>  </a:t>
            </a:r>
            <a:r>
              <a:rPr lang="zh-CN" altLang="en-US" b="1" dirty="0">
                <a:latin typeface="Cambria" panose="02040503050406030204" charset="0"/>
              </a:rPr>
              <a:t>（用缎带装饰起来的）</a:t>
            </a:r>
            <a:endParaRPr lang="zh-CN" altLang="en-US" sz="3200" dirty="0">
              <a:latin typeface="Times New Roman" panose="02020603050405020304" pitchFamily="18" charset="0"/>
            </a:endParaRPr>
          </a:p>
          <a:p>
            <a:r>
              <a:rPr lang="en-US" altLang="zh-CN" sz="3200" b="1" dirty="0">
                <a:latin typeface="Times New Roman" panose="02020603050405020304" pitchFamily="18" charset="0"/>
              </a:rPr>
              <a:t>____</a:t>
            </a:r>
            <a:r>
              <a:rPr lang="en-US" altLang="zh-CN" sz="3200" dirty="0">
                <a:latin typeface="Times New Roman" panose="02020603050405020304" pitchFamily="18" charset="0"/>
              </a:rPr>
              <a:t> A car </a:t>
            </a:r>
            <a:r>
              <a:rPr lang="en-US" altLang="zh-CN" sz="3200" u="sng" dirty="0">
                <a:solidFill>
                  <a:schemeClr val="tx2"/>
                </a:solidFill>
                <a:latin typeface="Times New Roman" panose="02020603050405020304" pitchFamily="18" charset="0"/>
              </a:rPr>
              <a:t>decked with ribbon</a:t>
            </a:r>
            <a:r>
              <a:rPr lang="en-US" altLang="zh-CN" dirty="0">
                <a:latin typeface="Cambria" panose="02040503050406030204" charset="0"/>
              </a:rPr>
              <a:t> </a:t>
            </a:r>
            <a:r>
              <a:rPr lang="en-US" altLang="zh-CN" sz="3200" dirty="0">
                <a:latin typeface="Times New Roman" panose="02020603050405020304" pitchFamily="18" charset="0"/>
              </a:rPr>
              <a:t>drove down the street.</a:t>
            </a:r>
          </a:p>
          <a:p>
            <a:pPr algn="r"/>
            <a:r>
              <a:rPr lang="en-US" altLang="zh-CN" b="1" dirty="0">
                <a:latin typeface="Times New Roman" panose="02020603050405020304" pitchFamily="18" charset="0"/>
              </a:rPr>
              <a:t>(Misplaced modifier</a:t>
            </a:r>
            <a:r>
              <a:rPr lang="zh-CN" altLang="en-US" b="1" dirty="0">
                <a:latin typeface="Times New Roman" panose="02020603050405020304" pitchFamily="18" charset="0"/>
              </a:rPr>
              <a:t>误置修饰语）</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99396">
                                            <p:txEl>
                                              <p:pRg st="0" end="0"/>
                                            </p:txEl>
                                          </p:spTgt>
                                        </p:tgtEl>
                                        <p:attrNameLst>
                                          <p:attrName>style.visibility</p:attrName>
                                        </p:attrNameLst>
                                      </p:cBhvr>
                                      <p:to>
                                        <p:strVal val="visible"/>
                                      </p:to>
                                    </p:set>
                                    <p:animEffect transition="in" filter="blinds(horizontal)">
                                      <p:cBhvr>
                                        <p:cTn id="7" dur="500"/>
                                        <p:tgtEl>
                                          <p:spTgt spid="699396">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699396">
                                            <p:txEl>
                                              <p:pRg st="1" end="1"/>
                                            </p:txEl>
                                          </p:spTgt>
                                        </p:tgtEl>
                                        <p:attrNameLst>
                                          <p:attrName>style.visibility</p:attrName>
                                        </p:attrNameLst>
                                      </p:cBhvr>
                                      <p:to>
                                        <p:strVal val="visible"/>
                                      </p:to>
                                    </p:set>
                                    <p:animEffect transition="in" filter="blinds(horizontal)">
                                      <p:cBhvr>
                                        <p:cTn id="10" dur="500"/>
                                        <p:tgtEl>
                                          <p:spTgt spid="699396">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99396">
                                            <p:txEl>
                                              <p:pRg st="2" end="2"/>
                                            </p:txEl>
                                          </p:spTgt>
                                        </p:tgtEl>
                                        <p:attrNameLst>
                                          <p:attrName>style.visibility</p:attrName>
                                        </p:attrNameLst>
                                      </p:cBhvr>
                                      <p:to>
                                        <p:strVal val="visible"/>
                                      </p:to>
                                    </p:set>
                                    <p:animEffect transition="in" filter="blinds(horizontal)">
                                      <p:cBhvr>
                                        <p:cTn id="15" dur="500"/>
                                        <p:tgtEl>
                                          <p:spTgt spid="699396">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699396">
                                            <p:txEl>
                                              <p:pRg st="3" end="3"/>
                                            </p:txEl>
                                          </p:spTgt>
                                        </p:tgtEl>
                                        <p:attrNameLst>
                                          <p:attrName>style.visibility</p:attrName>
                                        </p:attrNameLst>
                                      </p:cBhvr>
                                      <p:to>
                                        <p:strVal val="visible"/>
                                      </p:to>
                                    </p:set>
                                    <p:animEffect transition="in" filter="blinds(horizontal)">
                                      <p:cBhvr>
                                        <p:cTn id="18" dur="500"/>
                                        <p:tgtEl>
                                          <p:spTgt spid="699396">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699397">
                                            <p:txEl>
                                              <p:pRg st="2" end="2"/>
                                            </p:txEl>
                                          </p:spTgt>
                                        </p:tgtEl>
                                        <p:attrNameLst>
                                          <p:attrName>style.visibility</p:attrName>
                                        </p:attrNameLst>
                                      </p:cBhvr>
                                      <p:to>
                                        <p:strVal val="visible"/>
                                      </p:to>
                                    </p:set>
                                    <p:animEffect transition="in" filter="blinds(horizontal)">
                                      <p:cBhvr>
                                        <p:cTn id="23" dur="500"/>
                                        <p:tgtEl>
                                          <p:spTgt spid="699397">
                                            <p:txEl>
                                              <p:pRg st="2" end="2"/>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699397">
                                            <p:txEl>
                                              <p:pRg st="3" end="3"/>
                                            </p:txEl>
                                          </p:spTgt>
                                        </p:tgtEl>
                                        <p:attrNameLst>
                                          <p:attrName>style.visibility</p:attrName>
                                        </p:attrNameLst>
                                      </p:cBhvr>
                                      <p:to>
                                        <p:strVal val="visible"/>
                                      </p:to>
                                    </p:set>
                                    <p:animEffect transition="in" filter="blinds(horizontal)">
                                      <p:cBhvr>
                                        <p:cTn id="26" dur="500"/>
                                        <p:tgtEl>
                                          <p:spTgt spid="69939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68610" name="Text Box 5"/>
          <p:cNvSpPr txBox="1">
            <a:spLocks noChangeArrowheads="1"/>
          </p:cNvSpPr>
          <p:nvPr/>
        </p:nvSpPr>
        <p:spPr bwMode="auto">
          <a:xfrm>
            <a:off x="250825" y="333375"/>
            <a:ext cx="8497888" cy="4295775"/>
          </a:xfrm>
          <a:prstGeom prst="rect">
            <a:avLst/>
          </a:prstGeom>
          <a:noFill/>
          <a:ln w="9525">
            <a:noFill/>
            <a:miter lim="800000"/>
          </a:ln>
        </p:spPr>
        <p:txBody>
          <a:bodyPr>
            <a:spAutoFit/>
          </a:bodyPr>
          <a:lstStyle/>
          <a:p>
            <a:endParaRPr lang="en-US" altLang="zh-CN" sz="4000" b="1">
              <a:latin typeface="Cambria" panose="02040503050406030204" charset="0"/>
            </a:endParaRPr>
          </a:p>
          <a:p>
            <a:pPr algn="ctr"/>
            <a:r>
              <a:rPr lang="en-US" altLang="zh-CN" sz="3600" b="1">
                <a:latin typeface="宋体" panose="02010600030101010101" pitchFamily="2" charset="-122"/>
              </a:rPr>
              <a:t>3.</a:t>
            </a:r>
            <a:r>
              <a:rPr lang="zh-CN" altLang="en-US" sz="3600" b="1">
                <a:latin typeface="Cambria" panose="02040503050406030204" charset="0"/>
              </a:rPr>
              <a:t>写简洁的句子 </a:t>
            </a:r>
            <a:r>
              <a:rPr lang="en-US" altLang="zh-CN" sz="3600" b="1">
                <a:latin typeface="Times New Roman" panose="02020603050405020304" pitchFamily="18" charset="0"/>
              </a:rPr>
              <a:t>(Conciseness)</a:t>
            </a:r>
          </a:p>
          <a:p>
            <a:r>
              <a:rPr lang="en-US" altLang="zh-CN" b="1">
                <a:latin typeface="Cambria" panose="02040503050406030204" charset="0"/>
              </a:rPr>
              <a:t>   </a:t>
            </a:r>
          </a:p>
          <a:p>
            <a:endParaRPr lang="en-US" altLang="zh-CN" b="1">
              <a:latin typeface="Cambria" panose="02040503050406030204" charset="0"/>
            </a:endParaRPr>
          </a:p>
          <a:p>
            <a:endParaRPr lang="en-US" altLang="zh-CN" b="1">
              <a:latin typeface="Cambria" panose="02040503050406030204" charset="0"/>
            </a:endParaRPr>
          </a:p>
          <a:p>
            <a:r>
              <a:rPr lang="en-US" altLang="zh-CN" b="1">
                <a:latin typeface="Cambria" panose="02040503050406030204" charset="0"/>
              </a:rPr>
              <a:t>     </a:t>
            </a:r>
            <a:r>
              <a:rPr lang="zh-CN" altLang="en-US" sz="3200" b="1">
                <a:latin typeface="Cambria" panose="02040503050406030204" charset="0"/>
              </a:rPr>
              <a:t>简洁就是用尽可能少的词表达尽可能充分的意思。在不改变句子意义的情况下，在能用词的地方，不用短语；在能用短语的地方不用句子。</a:t>
            </a:r>
          </a:p>
        </p:txBody>
      </p:sp>
    </p:spTree>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11" name="Rectangle 3"/>
          <p:cNvSpPr>
            <a:spLocks noGrp="1" noChangeArrowheads="1"/>
          </p:cNvSpPr>
          <p:nvPr>
            <p:ph idx="1"/>
          </p:nvPr>
        </p:nvSpPr>
        <p:spPr>
          <a:xfrm>
            <a:off x="323850" y="333375"/>
            <a:ext cx="7848600" cy="5400675"/>
          </a:xfrm>
        </p:spPr>
        <p:txBody>
          <a:bodyPr rtlCol="0">
            <a:normAutofit/>
          </a:bodyPr>
          <a:lstStyle/>
          <a:p>
            <a:pPr eaLnBrk="1" fontAlgn="auto" hangingPunct="1">
              <a:lnSpc>
                <a:spcPct val="90000"/>
              </a:lnSpc>
              <a:spcAft>
                <a:spcPts val="0"/>
              </a:spcAft>
              <a:buFontTx/>
              <a:buNone/>
              <a:defRPr/>
            </a:pPr>
            <a:r>
              <a:rPr lang="zh-CN" altLang="en-US" sz="2400" b="1" dirty="0">
                <a:latin typeface="Times New Roman" panose="02020603050405020304" pitchFamily="18" charset="0"/>
              </a:rPr>
              <a:t>比较下列两个句子：</a:t>
            </a:r>
          </a:p>
          <a:p>
            <a:pPr eaLnBrk="1" fontAlgn="auto" hangingPunct="1">
              <a:lnSpc>
                <a:spcPct val="90000"/>
              </a:lnSpc>
              <a:spcAft>
                <a:spcPts val="0"/>
              </a:spcAft>
              <a:buFontTx/>
              <a:buNone/>
              <a:defRPr/>
            </a:pPr>
            <a:r>
              <a:rPr lang="en-US" altLang="zh-CN" sz="2400" b="1" dirty="0">
                <a:latin typeface="Times New Roman" panose="02020603050405020304" pitchFamily="18" charset="0"/>
              </a:rPr>
              <a:t>a. He expresses a number of clever expressions much to the audience’s delight.</a:t>
            </a:r>
          </a:p>
          <a:p>
            <a:pPr eaLnBrk="1" fontAlgn="auto" hangingPunct="1">
              <a:lnSpc>
                <a:spcPct val="90000"/>
              </a:lnSpc>
              <a:spcAft>
                <a:spcPts val="0"/>
              </a:spcAft>
              <a:buFontTx/>
              <a:buNone/>
              <a:defRPr/>
            </a:pPr>
            <a:r>
              <a:rPr lang="en-US" altLang="zh-CN" sz="2400" b="1" dirty="0">
                <a:latin typeface="Arial" panose="020B0604020202020204"/>
              </a:rPr>
              <a:t>—</a:t>
            </a:r>
            <a:r>
              <a:rPr lang="en-US" altLang="zh-CN" sz="2400" b="1" dirty="0">
                <a:solidFill>
                  <a:schemeClr val="tx2"/>
                </a:solidFill>
                <a:latin typeface="Times New Roman" panose="02020603050405020304" pitchFamily="18" charset="0"/>
              </a:rPr>
              <a:t>He delighted the audience with his clever expressions</a:t>
            </a:r>
          </a:p>
          <a:p>
            <a:pPr eaLnBrk="1" fontAlgn="auto" hangingPunct="1">
              <a:lnSpc>
                <a:spcPct val="90000"/>
              </a:lnSpc>
              <a:spcAft>
                <a:spcPts val="0"/>
              </a:spcAft>
              <a:buFontTx/>
              <a:buNone/>
              <a:defRPr/>
            </a:pPr>
            <a:r>
              <a:rPr lang="en-US" altLang="zh-CN" sz="2400" b="1" dirty="0">
                <a:latin typeface="Times New Roman" panose="02020603050405020304" pitchFamily="18" charset="0"/>
              </a:rPr>
              <a:t>b. This morning I went to the classroom, when I got there, I saw many people in the classroom.</a:t>
            </a:r>
          </a:p>
          <a:p>
            <a:pPr eaLnBrk="1" fontAlgn="auto" hangingPunct="1">
              <a:lnSpc>
                <a:spcPct val="90000"/>
              </a:lnSpc>
              <a:spcAft>
                <a:spcPts val="0"/>
              </a:spcAft>
              <a:buFontTx/>
              <a:buNone/>
              <a:defRPr/>
            </a:pPr>
            <a:r>
              <a:rPr lang="en-US" altLang="zh-CN" sz="2400" b="1" dirty="0">
                <a:latin typeface="Arial" panose="020B0604020202020204"/>
              </a:rPr>
              <a:t>—</a:t>
            </a:r>
            <a:r>
              <a:rPr lang="en-US" altLang="zh-CN" sz="2400" b="1" dirty="0">
                <a:solidFill>
                  <a:schemeClr val="tx2"/>
                </a:solidFill>
                <a:latin typeface="Times New Roman" panose="02020603050405020304" pitchFamily="18" charset="0"/>
              </a:rPr>
              <a:t>This morning I went to the classroom</a:t>
            </a:r>
          </a:p>
          <a:p>
            <a:pPr eaLnBrk="1" fontAlgn="auto" hangingPunct="1">
              <a:lnSpc>
                <a:spcPct val="90000"/>
              </a:lnSpc>
              <a:spcAft>
                <a:spcPts val="0"/>
              </a:spcAft>
              <a:buFontTx/>
              <a:buNone/>
              <a:defRPr/>
            </a:pPr>
            <a:r>
              <a:rPr lang="en-US" altLang="zh-CN" sz="2400" b="1" dirty="0">
                <a:solidFill>
                  <a:schemeClr val="tx2"/>
                </a:solidFill>
                <a:latin typeface="Times New Roman" panose="02020603050405020304" pitchFamily="18" charset="0"/>
              </a:rPr>
              <a:t>    and saw many people there.</a:t>
            </a:r>
          </a:p>
          <a:p>
            <a:pPr eaLnBrk="1" fontAlgn="auto" hangingPunct="1">
              <a:lnSpc>
                <a:spcPct val="90000"/>
              </a:lnSpc>
              <a:spcAft>
                <a:spcPts val="0"/>
              </a:spcAft>
              <a:buFont typeface="Wingdings 2" panose="05020102010507070707"/>
              <a:buChar char=""/>
              <a:defRPr/>
            </a:pPr>
            <a:endParaRPr lang="en-US" altLang="zh-CN" sz="2400" dirty="0">
              <a:solidFill>
                <a:schemeClr val="tx2"/>
              </a:solidFill>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70658" name="Text Box 4"/>
          <p:cNvSpPr txBox="1">
            <a:spLocks noChangeArrowheads="1"/>
          </p:cNvSpPr>
          <p:nvPr/>
        </p:nvSpPr>
        <p:spPr bwMode="auto">
          <a:xfrm>
            <a:off x="179388" y="476250"/>
            <a:ext cx="7634287" cy="4965700"/>
          </a:xfrm>
          <a:prstGeom prst="rect">
            <a:avLst/>
          </a:prstGeom>
          <a:noFill/>
          <a:ln w="9525">
            <a:noFill/>
            <a:miter lim="800000"/>
          </a:ln>
        </p:spPr>
        <p:txBody>
          <a:bodyPr>
            <a:spAutoFit/>
          </a:bodyPr>
          <a:lstStyle/>
          <a:p>
            <a:r>
              <a:rPr lang="zh-CN" altLang="en-US" sz="3200" b="1">
                <a:latin typeface="Times New Roman" panose="02020603050405020304" pitchFamily="18" charset="0"/>
              </a:rPr>
              <a:t>要想使句子简洁应注意以下几点：</a:t>
            </a:r>
          </a:p>
          <a:p>
            <a:endParaRPr lang="zh-CN" altLang="en-US" sz="3200" b="1">
              <a:latin typeface="Times New Roman" panose="02020603050405020304" pitchFamily="18" charset="0"/>
            </a:endParaRPr>
          </a:p>
          <a:p>
            <a:r>
              <a:rPr lang="en-US" altLang="zh-CN" sz="3200" b="1">
                <a:latin typeface="Times New Roman" panose="02020603050405020304" pitchFamily="18" charset="0"/>
              </a:rPr>
              <a:t>(1) </a:t>
            </a:r>
            <a:r>
              <a:rPr lang="zh-CN" altLang="en-US" sz="3200" b="1">
                <a:latin typeface="Times New Roman" panose="02020603050405020304" pitchFamily="18" charset="0"/>
              </a:rPr>
              <a:t>避免重复意义相同的词。</a:t>
            </a:r>
          </a:p>
          <a:p>
            <a:r>
              <a:rPr lang="en-US" altLang="zh-CN" sz="3200" b="1">
                <a:latin typeface="Times New Roman" panose="02020603050405020304" pitchFamily="18" charset="0"/>
              </a:rPr>
              <a:t>a. It was blue </a:t>
            </a:r>
            <a:r>
              <a:rPr lang="en-US" altLang="zh-CN" sz="3200" b="1" u="sng">
                <a:solidFill>
                  <a:schemeClr val="tx2"/>
                </a:solidFill>
                <a:latin typeface="Times New Roman" panose="02020603050405020304" pitchFamily="18" charset="0"/>
              </a:rPr>
              <a:t>in color</a:t>
            </a:r>
            <a:r>
              <a:rPr lang="en-US" altLang="zh-CN" sz="3200" b="1" u="sng">
                <a:latin typeface="Times New Roman" panose="02020603050405020304" pitchFamily="18" charset="0"/>
              </a:rPr>
              <a:t>.</a:t>
            </a:r>
            <a:endParaRPr lang="en-US" altLang="zh-CN" sz="3200" b="1">
              <a:latin typeface="Times New Roman" panose="02020603050405020304" pitchFamily="18" charset="0"/>
            </a:endParaRPr>
          </a:p>
          <a:p>
            <a:r>
              <a:rPr lang="en-US" altLang="zh-CN" sz="3200" b="1">
                <a:latin typeface="Times New Roman" panose="02020603050405020304" pitchFamily="18" charset="0"/>
              </a:rPr>
              <a:t>b. It was small </a:t>
            </a:r>
            <a:r>
              <a:rPr lang="en-US" altLang="zh-CN" sz="3200" b="1" u="sng">
                <a:solidFill>
                  <a:schemeClr val="tx2"/>
                </a:solidFill>
                <a:latin typeface="Times New Roman" panose="02020603050405020304" pitchFamily="18" charset="0"/>
              </a:rPr>
              <a:t>in size</a:t>
            </a:r>
            <a:r>
              <a:rPr lang="en-US" altLang="zh-CN" sz="3200" b="1">
                <a:solidFill>
                  <a:schemeClr val="tx2"/>
                </a:solidFill>
                <a:latin typeface="Times New Roman" panose="02020603050405020304" pitchFamily="18" charset="0"/>
              </a:rPr>
              <a:t>.</a:t>
            </a:r>
          </a:p>
          <a:p>
            <a:r>
              <a:rPr lang="en-US" altLang="zh-CN" sz="3200" b="1">
                <a:latin typeface="Times New Roman" panose="02020603050405020304" pitchFamily="18" charset="0"/>
              </a:rPr>
              <a:t>c. </a:t>
            </a:r>
            <a:r>
              <a:rPr lang="en-US" altLang="zh-CN" sz="3200" b="1" u="sng">
                <a:solidFill>
                  <a:schemeClr val="tx2"/>
                </a:solidFill>
                <a:latin typeface="Times New Roman" panose="02020603050405020304" pitchFamily="18" charset="0"/>
              </a:rPr>
              <a:t>In my opinion</a:t>
            </a:r>
            <a:r>
              <a:rPr lang="en-US" altLang="zh-CN" sz="3200" b="1">
                <a:solidFill>
                  <a:schemeClr val="tx2"/>
                </a:solidFill>
                <a:latin typeface="Times New Roman" panose="02020603050405020304" pitchFamily="18" charset="0"/>
              </a:rPr>
              <a:t>,</a:t>
            </a:r>
            <a:r>
              <a:rPr lang="en-US" altLang="zh-CN" sz="3200" b="1">
                <a:latin typeface="Times New Roman" panose="02020603050405020304" pitchFamily="18" charset="0"/>
              </a:rPr>
              <a:t> I think your plan is</a:t>
            </a:r>
          </a:p>
          <a:p>
            <a:r>
              <a:rPr lang="en-US" altLang="zh-CN" sz="3200" b="1">
                <a:latin typeface="Times New Roman" panose="02020603050405020304" pitchFamily="18" charset="0"/>
              </a:rPr>
              <a:t>   feasible.</a:t>
            </a:r>
          </a:p>
          <a:p>
            <a:r>
              <a:rPr lang="en-US" altLang="zh-CN" sz="3200" b="1">
                <a:latin typeface="Times New Roman" panose="02020603050405020304" pitchFamily="18" charset="0"/>
              </a:rPr>
              <a:t>d. Mary is a quiet and careful </a:t>
            </a:r>
            <a:r>
              <a:rPr lang="en-US" altLang="zh-CN" sz="3200" b="1" u="sng">
                <a:solidFill>
                  <a:schemeClr val="tx2"/>
                </a:solidFill>
                <a:latin typeface="Times New Roman" panose="02020603050405020304" pitchFamily="18" charset="0"/>
              </a:rPr>
              <a:t>woman</a:t>
            </a:r>
            <a:r>
              <a:rPr lang="en-US" altLang="zh-CN" sz="3200" b="1">
                <a:solidFill>
                  <a:schemeClr val="tx2"/>
                </a:solidFill>
                <a:latin typeface="Times New Roman" panose="02020603050405020304" pitchFamily="18" charset="0"/>
              </a:rPr>
              <a:t>.</a:t>
            </a:r>
            <a:r>
              <a:rPr lang="en-US" altLang="zh-CN" sz="3200">
                <a:latin typeface="Times New Roman" panose="02020603050405020304" pitchFamily="18" charset="0"/>
              </a:rPr>
              <a:t> </a:t>
            </a:r>
            <a:endParaRPr lang="en-US" altLang="zh-CN" sz="3200" b="1">
              <a:latin typeface="Times New Roman" panose="02020603050405020304" pitchFamily="18" charset="0"/>
            </a:endParaRPr>
          </a:p>
          <a:p>
            <a:endParaRPr lang="en-US" altLang="zh-CN" sz="3200" b="1">
              <a:latin typeface="Times New Roman" panose="02020603050405020304" pitchFamily="18" charset="0"/>
            </a:endParaRPr>
          </a:p>
          <a:p>
            <a:r>
              <a:rPr lang="zh-CN" altLang="en-US" sz="3200" b="1">
                <a:latin typeface="Times New Roman" panose="02020603050405020304" pitchFamily="18" charset="0"/>
              </a:rPr>
              <a:t>以上划线部分都属于意义重复，应去掉。</a:t>
            </a:r>
          </a:p>
        </p:txBody>
      </p:sp>
    </p:spTree>
  </p:cSld>
  <p:clrMapOvr>
    <a:masterClrMapping/>
  </p:clrMapOvr>
  <p:transition advTm="10000"/>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p:cNvSpPr>
            <a:spLocks noGrp="1" noChangeArrowheads="1"/>
          </p:cNvSpPr>
          <p:nvPr>
            <p:ph idx="1"/>
          </p:nvPr>
        </p:nvSpPr>
        <p:spPr>
          <a:xfrm>
            <a:off x="250825" y="1412875"/>
            <a:ext cx="8496300" cy="4824413"/>
          </a:xfrm>
        </p:spPr>
        <p:txBody>
          <a:bodyPr/>
          <a:lstStyle/>
          <a:p>
            <a:pPr eaLnBrk="1" hangingPunct="1">
              <a:buFontTx/>
              <a:buNone/>
            </a:pPr>
            <a:r>
              <a:rPr lang="en-US" altLang="zh-CN" b="1" dirty="0" smtClean="0">
                <a:latin typeface="Times New Roman" panose="02020603050405020304" pitchFamily="18" charset="0"/>
              </a:rPr>
              <a:t>                  </a:t>
            </a:r>
            <a:r>
              <a:rPr lang="zh-CN" altLang="en-US" b="1" dirty="0" smtClean="0">
                <a:latin typeface="Times New Roman" panose="02020603050405020304" pitchFamily="18" charset="0"/>
              </a:rPr>
              <a:t>又如：</a:t>
            </a:r>
          </a:p>
          <a:p>
            <a:pPr eaLnBrk="1" hangingPunct="1">
              <a:buFontTx/>
              <a:buNone/>
            </a:pPr>
            <a:r>
              <a:rPr lang="zh-CN" altLang="en-US" sz="2400" b="1" dirty="0" smtClean="0">
                <a:latin typeface="Times New Roman" panose="02020603050405020304" pitchFamily="18" charset="0"/>
              </a:rPr>
              <a:t>  </a:t>
            </a:r>
            <a:r>
              <a:rPr lang="en-US" altLang="zh-CN" sz="2400" b="1" dirty="0" smtClean="0">
                <a:latin typeface="Times New Roman" panose="02020603050405020304" pitchFamily="18" charset="0"/>
              </a:rPr>
              <a:t>He gave many reasons for his failure, but </a:t>
            </a:r>
            <a:r>
              <a:rPr lang="en-US" altLang="zh-CN" sz="2400" b="1" u="sng" dirty="0" smtClean="0">
                <a:solidFill>
                  <a:schemeClr val="tx2"/>
                </a:solidFill>
                <a:latin typeface="Times New Roman" panose="02020603050405020304" pitchFamily="18" charset="0"/>
              </a:rPr>
              <a:t>the reasons he gave</a:t>
            </a:r>
            <a:r>
              <a:rPr lang="en-US" altLang="zh-CN" sz="2400" b="1" dirty="0" smtClean="0">
                <a:latin typeface="Times New Roman" panose="02020603050405020304" pitchFamily="18" charset="0"/>
              </a:rPr>
              <a:t> were not convincing.</a:t>
            </a:r>
          </a:p>
          <a:p>
            <a:pPr eaLnBrk="1" hangingPunct="1">
              <a:buFontTx/>
              <a:buNone/>
            </a:pPr>
            <a:r>
              <a:rPr lang="zh-CN" altLang="en-US" sz="2400" b="1" dirty="0" smtClean="0">
                <a:latin typeface="Times New Roman" panose="02020603050405020304" pitchFamily="18" charset="0"/>
              </a:rPr>
              <a:t>应改为：</a:t>
            </a:r>
          </a:p>
          <a:p>
            <a:pPr eaLnBrk="1" hangingPunct="1">
              <a:buFontTx/>
              <a:buNone/>
            </a:pPr>
            <a:r>
              <a:rPr lang="zh-CN" altLang="en-US" sz="2400" b="1" dirty="0" smtClean="0">
                <a:latin typeface="Times New Roman" panose="02020603050405020304" pitchFamily="18" charset="0"/>
              </a:rPr>
              <a:t>  </a:t>
            </a:r>
            <a:r>
              <a:rPr lang="en-US" altLang="zh-CN" sz="2400" b="1" dirty="0" smtClean="0">
                <a:latin typeface="Times New Roman" panose="02020603050405020304" pitchFamily="18" charset="0"/>
              </a:rPr>
              <a:t>He gave many reasons for his failure, but none </a:t>
            </a:r>
          </a:p>
          <a:p>
            <a:pPr eaLnBrk="1" hangingPunct="1">
              <a:buFontTx/>
              <a:buNone/>
            </a:pPr>
            <a:r>
              <a:rPr lang="en-US" altLang="zh-CN" sz="2400" b="1" dirty="0" smtClean="0">
                <a:latin typeface="Times New Roman" panose="02020603050405020304" pitchFamily="18" charset="0"/>
              </a:rPr>
              <a:t>  of them was convincing. </a:t>
            </a:r>
          </a:p>
          <a:p>
            <a:pPr eaLnBrk="1" hangingPunct="1"/>
            <a:endParaRPr lang="en-US" altLang="zh-CN" dirty="0" smtClean="0">
              <a:latin typeface="Times New Roman" panose="02020603050405020304" pitchFamily="18" charset="0"/>
            </a:endParaRPr>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633860" name="AutoShape 4"/>
          <p:cNvSpPr>
            <a:spLocks noChangeArrowheads="1"/>
          </p:cNvSpPr>
          <p:nvPr/>
        </p:nvSpPr>
        <p:spPr bwMode="auto">
          <a:xfrm>
            <a:off x="395288" y="1412875"/>
            <a:ext cx="1584325" cy="50482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Example</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633860"/>
                                        </p:tgtEl>
                                        <p:attrNameLst>
                                          <p:attrName>style.visibility</p:attrName>
                                        </p:attrNameLst>
                                      </p:cBhvr>
                                      <p:to>
                                        <p:strVal val="visible"/>
                                      </p:to>
                                    </p:set>
                                    <p:animEffect transition="in" filter="box(out)">
                                      <p:cBhvr>
                                        <p:cTn id="7" dur="1000"/>
                                        <p:tgtEl>
                                          <p:spTgt spid="633860"/>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3860"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72706" name="Text Box 4"/>
          <p:cNvSpPr txBox="1">
            <a:spLocks noChangeArrowheads="1"/>
          </p:cNvSpPr>
          <p:nvPr/>
        </p:nvSpPr>
        <p:spPr bwMode="auto">
          <a:xfrm>
            <a:off x="323850" y="765175"/>
            <a:ext cx="8042275" cy="4540250"/>
          </a:xfrm>
          <a:prstGeom prst="rect">
            <a:avLst/>
          </a:prstGeom>
          <a:noFill/>
          <a:ln w="9525">
            <a:noFill/>
            <a:miter lim="800000"/>
          </a:ln>
        </p:spPr>
        <p:txBody>
          <a:bodyPr>
            <a:spAutoFit/>
          </a:bodyPr>
          <a:lstStyle/>
          <a:p>
            <a:pPr marL="342900" indent="-342900"/>
            <a:r>
              <a:rPr lang="en-US" altLang="zh-CN" sz="3200">
                <a:latin typeface="Times New Roman" panose="02020603050405020304" pitchFamily="18" charset="0"/>
              </a:rPr>
              <a:t>(2)</a:t>
            </a:r>
            <a:r>
              <a:rPr lang="en-US" altLang="zh-CN" sz="3600">
                <a:latin typeface="Times New Roman" panose="02020603050405020304" pitchFamily="18" charset="0"/>
              </a:rPr>
              <a:t> </a:t>
            </a:r>
            <a:r>
              <a:rPr lang="zh-CN" altLang="en-US" sz="3600" b="1">
                <a:latin typeface="Times New Roman" panose="02020603050405020304" pitchFamily="18" charset="0"/>
              </a:rPr>
              <a:t>避免使用累赘的词</a:t>
            </a:r>
            <a:r>
              <a:rPr lang="zh-CN" altLang="en-US" sz="3200" b="1">
                <a:latin typeface="Times New Roman" panose="02020603050405020304" pitchFamily="18" charset="0"/>
              </a:rPr>
              <a:t>。</a:t>
            </a:r>
          </a:p>
          <a:p>
            <a:pPr marL="342900" indent="-342900"/>
            <a:r>
              <a:rPr lang="zh-CN" altLang="en-US" sz="3200" b="1">
                <a:latin typeface="Times New Roman" panose="02020603050405020304" pitchFamily="18" charset="0"/>
              </a:rPr>
              <a:t>累赘的词指的是拖泥带水，啰啰唆唆的词或词组。例如：</a:t>
            </a:r>
          </a:p>
          <a:p>
            <a:pPr marL="342900" indent="-342900">
              <a:buFontTx/>
              <a:buAutoNum type="alphaLcPeriod"/>
            </a:pPr>
            <a:r>
              <a:rPr lang="en-US" altLang="zh-CN" sz="3200">
                <a:latin typeface="Times New Roman" panose="02020603050405020304" pitchFamily="18" charset="0"/>
              </a:rPr>
              <a:t>She was told </a:t>
            </a:r>
            <a:r>
              <a:rPr lang="en-US" altLang="zh-CN" sz="3200" b="1" u="sng">
                <a:solidFill>
                  <a:schemeClr val="tx2"/>
                </a:solidFill>
                <a:latin typeface="Times New Roman" panose="02020603050405020304" pitchFamily="18" charset="0"/>
              </a:rPr>
              <a:t>of the fact</a:t>
            </a:r>
            <a:r>
              <a:rPr lang="en-US" altLang="zh-CN" sz="3200">
                <a:latin typeface="Times New Roman" panose="02020603050405020304" pitchFamily="18" charset="0"/>
              </a:rPr>
              <a:t> that eating junk food</a:t>
            </a:r>
          </a:p>
          <a:p>
            <a:pPr marL="342900" indent="-342900"/>
            <a:r>
              <a:rPr lang="en-US" altLang="zh-CN" sz="3200">
                <a:latin typeface="Times New Roman" panose="02020603050405020304" pitchFamily="18" charset="0"/>
              </a:rPr>
              <a:t>    might harm her health.</a:t>
            </a:r>
          </a:p>
          <a:p>
            <a:pPr marL="342900" indent="-342900"/>
            <a:r>
              <a:rPr lang="en-US" altLang="zh-CN" sz="3200">
                <a:latin typeface="Times New Roman" panose="02020603050405020304" pitchFamily="18" charset="0"/>
              </a:rPr>
              <a:t>b. Mrs. Smith likes to drink all kinds of wines </a:t>
            </a:r>
            <a:r>
              <a:rPr lang="en-US" altLang="zh-CN" sz="3200" b="1" u="sng">
                <a:solidFill>
                  <a:schemeClr val="tx2"/>
                </a:solidFill>
                <a:latin typeface="Times New Roman" panose="02020603050405020304" pitchFamily="18" charset="0"/>
              </a:rPr>
              <a:t>that are</a:t>
            </a:r>
            <a:r>
              <a:rPr lang="en-US" altLang="zh-CN" sz="3200">
                <a:latin typeface="Times New Roman" panose="02020603050405020304" pitchFamily="18" charset="0"/>
              </a:rPr>
              <a:t> produced in France.</a:t>
            </a:r>
          </a:p>
          <a:p>
            <a:pPr marL="342900" indent="-342900"/>
            <a:r>
              <a:rPr lang="en-US" altLang="zh-CN" sz="3200">
                <a:latin typeface="Times New Roman" panose="02020603050405020304" pitchFamily="18" charset="0"/>
              </a:rPr>
              <a:t>c. </a:t>
            </a:r>
            <a:r>
              <a:rPr lang="en-US" altLang="zh-CN" sz="3200" b="1" u="sng">
                <a:solidFill>
                  <a:schemeClr val="tx2"/>
                </a:solidFill>
                <a:latin typeface="Times New Roman" panose="02020603050405020304" pitchFamily="18" charset="0"/>
              </a:rPr>
              <a:t>There are</a:t>
            </a:r>
            <a:r>
              <a:rPr lang="en-US" altLang="zh-CN" sz="3200">
                <a:latin typeface="Times New Roman" panose="02020603050405020304" pitchFamily="18" charset="0"/>
              </a:rPr>
              <a:t> some students </a:t>
            </a:r>
            <a:r>
              <a:rPr lang="en-US" altLang="zh-CN" sz="3200" b="1" u="sng">
                <a:solidFill>
                  <a:schemeClr val="tx2"/>
                </a:solidFill>
                <a:latin typeface="Times New Roman" panose="02020603050405020304" pitchFamily="18" charset="0"/>
              </a:rPr>
              <a:t>who</a:t>
            </a:r>
            <a:r>
              <a:rPr lang="en-US" altLang="zh-CN" sz="3200">
                <a:latin typeface="Times New Roman" panose="02020603050405020304" pitchFamily="18" charset="0"/>
              </a:rPr>
              <a:t> cheat in exams.</a:t>
            </a:r>
          </a:p>
          <a:p>
            <a:pPr marL="342900" indent="-342900"/>
            <a:r>
              <a:rPr lang="zh-CN" altLang="en-US" sz="3200" b="1">
                <a:latin typeface="Times New Roman" panose="02020603050405020304" pitchFamily="18" charset="0"/>
              </a:rPr>
              <a:t>以上划线部分都是累赘的词，应去掉。</a:t>
            </a:r>
          </a:p>
        </p:txBody>
      </p:sp>
    </p:spTree>
  </p:cSld>
  <p:clrMapOvr>
    <a:masterClrMapping/>
  </p:clrMapOvr>
  <p:transition advTm="10000"/>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250" name="Rectangle 2"/>
          <p:cNvSpPr>
            <a:spLocks noGrp="1" noChangeArrowheads="1"/>
          </p:cNvSpPr>
          <p:nvPr>
            <p:ph type="title"/>
          </p:nvPr>
        </p:nvSpPr>
        <p:spPr>
          <a:xfrm>
            <a:off x="323850" y="260350"/>
            <a:ext cx="3744913" cy="647700"/>
          </a:xfrm>
        </p:spPr>
        <p:txBody>
          <a:bodyPr rtlCol="0">
            <a:normAutofit fontScale="90000"/>
          </a:bodyPr>
          <a:lstStyle/>
          <a:p>
            <a:pPr eaLnBrk="1" fontAlgn="auto" hangingPunct="1">
              <a:spcAft>
                <a:spcPts val="0"/>
              </a:spcAft>
              <a:defRPr/>
            </a:pPr>
            <a:r>
              <a:rPr lang="zh-CN" altLang="en-US" sz="4000" b="1"/>
              <a:t>同步练习</a:t>
            </a:r>
          </a:p>
        </p:txBody>
      </p:sp>
      <p:sp>
        <p:nvSpPr>
          <p:cNvPr id="693251" name="Rectangle 3"/>
          <p:cNvSpPr>
            <a:spLocks noGrp="1" noChangeArrowheads="1"/>
          </p:cNvSpPr>
          <p:nvPr>
            <p:ph idx="1"/>
          </p:nvPr>
        </p:nvSpPr>
        <p:spPr>
          <a:xfrm>
            <a:off x="179388" y="1125538"/>
            <a:ext cx="8353425" cy="3657600"/>
          </a:xfrm>
        </p:spPr>
        <p:txBody>
          <a:bodyPr/>
          <a:lstStyle/>
          <a:p>
            <a:pPr marL="609600" indent="-609600" eaLnBrk="1" hangingPunct="1">
              <a:buFontTx/>
              <a:buAutoNum type="arabicPeriod"/>
            </a:pPr>
            <a:r>
              <a:rPr lang="en-US" altLang="zh-CN" smtClean="0">
                <a:latin typeface="Times New Roman" panose="02020603050405020304" pitchFamily="18" charset="0"/>
              </a:rPr>
              <a:t>   </a:t>
            </a:r>
            <a:r>
              <a:rPr lang="en-US" altLang="zh-CN" b="1" smtClean="0">
                <a:latin typeface="Times New Roman" panose="02020603050405020304" pitchFamily="18" charset="0"/>
              </a:rPr>
              <a:t>The chairman will give up his job next</a:t>
            </a:r>
          </a:p>
          <a:p>
            <a:pPr marL="609600" indent="-609600" eaLnBrk="1" hangingPunct="1">
              <a:buFontTx/>
              <a:buNone/>
            </a:pPr>
            <a:r>
              <a:rPr lang="en-US" altLang="zh-CN" b="1" smtClean="0">
                <a:latin typeface="Times New Roman" panose="02020603050405020304" pitchFamily="18" charset="0"/>
              </a:rPr>
              <a:t>         year because of old age.</a:t>
            </a:r>
          </a:p>
          <a:p>
            <a:pPr marL="609600" indent="-609600" eaLnBrk="1" hangingPunct="1">
              <a:buFontTx/>
              <a:buNone/>
            </a:pPr>
            <a:r>
              <a:rPr lang="en-US" altLang="zh-CN" b="1" smtClean="0">
                <a:latin typeface="Times New Roman" panose="02020603050405020304" pitchFamily="18" charset="0"/>
              </a:rPr>
              <a:t>-------The chairman will </a:t>
            </a:r>
            <a:r>
              <a:rPr lang="en-US" altLang="zh-CN" b="1" u="sng" smtClean="0">
                <a:solidFill>
                  <a:schemeClr val="tx2"/>
                </a:solidFill>
                <a:latin typeface="Times New Roman" panose="02020603050405020304" pitchFamily="18" charset="0"/>
              </a:rPr>
              <a:t>retire</a:t>
            </a:r>
            <a:r>
              <a:rPr lang="en-US" altLang="zh-CN" b="1" smtClean="0">
                <a:latin typeface="Times New Roman" panose="02020603050405020304" pitchFamily="18" charset="0"/>
              </a:rPr>
              <a:t> next year.</a:t>
            </a:r>
          </a:p>
        </p:txBody>
      </p:sp>
      <p:sp>
        <p:nvSpPr>
          <p:cNvPr id="6"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693252" name="Text Box 4"/>
          <p:cNvSpPr txBox="1">
            <a:spLocks noChangeArrowheads="1"/>
          </p:cNvSpPr>
          <p:nvPr/>
        </p:nvSpPr>
        <p:spPr bwMode="auto">
          <a:xfrm>
            <a:off x="323850" y="2997200"/>
            <a:ext cx="8569325" cy="3016250"/>
          </a:xfrm>
          <a:prstGeom prst="rect">
            <a:avLst/>
          </a:prstGeom>
          <a:noFill/>
          <a:ln w="9525">
            <a:noFill/>
            <a:miter lim="800000"/>
          </a:ln>
        </p:spPr>
        <p:txBody>
          <a:bodyPr>
            <a:spAutoFit/>
          </a:bodyPr>
          <a:lstStyle/>
          <a:p>
            <a:pPr marL="342900" indent="-342900">
              <a:buFontTx/>
              <a:buAutoNum type="arabicPeriod" startAt="2"/>
            </a:pPr>
            <a:r>
              <a:rPr lang="en-US" altLang="zh-CN" sz="3200" b="1">
                <a:latin typeface="Times New Roman" panose="02020603050405020304" pitchFamily="18" charset="0"/>
              </a:rPr>
              <a:t>The woman who is dressed in black over there </a:t>
            </a:r>
          </a:p>
          <a:p>
            <a:pPr marL="342900" indent="-342900"/>
            <a:r>
              <a:rPr lang="en-US" altLang="zh-CN" sz="3200" b="1">
                <a:latin typeface="Times New Roman" panose="02020603050405020304" pitchFamily="18" charset="0"/>
              </a:rPr>
              <a:t>    is the person who is now in charge of our sales department.</a:t>
            </a:r>
          </a:p>
          <a:p>
            <a:pPr marL="342900" indent="-342900"/>
            <a:r>
              <a:rPr lang="en-US" altLang="zh-CN" sz="3200" b="1">
                <a:latin typeface="Times New Roman" panose="02020603050405020304" pitchFamily="18" charset="0"/>
              </a:rPr>
              <a:t>-------The woman </a:t>
            </a:r>
            <a:r>
              <a:rPr lang="en-US" altLang="zh-CN" sz="3200" b="1" u="sng">
                <a:solidFill>
                  <a:schemeClr val="tx2"/>
                </a:solidFill>
                <a:latin typeface="Times New Roman" panose="02020603050405020304" pitchFamily="18" charset="0"/>
              </a:rPr>
              <a:t>in black</a:t>
            </a:r>
            <a:r>
              <a:rPr lang="en-US" altLang="zh-CN" sz="3200" b="1">
                <a:latin typeface="Times New Roman" panose="02020603050405020304" pitchFamily="18" charset="0"/>
              </a:rPr>
              <a:t> over there  is </a:t>
            </a:r>
            <a:r>
              <a:rPr lang="en-US" altLang="zh-CN" sz="3200" b="1" u="sng">
                <a:solidFill>
                  <a:schemeClr val="tx2"/>
                </a:solidFill>
                <a:latin typeface="Times New Roman" panose="02020603050405020304" pitchFamily="18" charset="0"/>
              </a:rPr>
              <a:t>the </a:t>
            </a:r>
          </a:p>
          <a:p>
            <a:pPr marL="342900" indent="-342900"/>
            <a:r>
              <a:rPr lang="en-US" altLang="zh-CN" sz="3200" b="1">
                <a:solidFill>
                  <a:schemeClr val="tx2"/>
                </a:solidFill>
                <a:latin typeface="Times New Roman" panose="02020603050405020304" pitchFamily="18" charset="0"/>
              </a:rPr>
              <a:t>          </a:t>
            </a:r>
            <a:r>
              <a:rPr lang="en-US" altLang="zh-CN" sz="3200" b="1" u="sng">
                <a:solidFill>
                  <a:schemeClr val="tx2"/>
                </a:solidFill>
                <a:latin typeface="Times New Roman" panose="02020603050405020304" pitchFamily="18" charset="0"/>
              </a:rPr>
              <a:t>manager</a:t>
            </a:r>
            <a:r>
              <a:rPr lang="en-US" altLang="zh-CN" sz="3200" b="1">
                <a:latin typeface="Times New Roman" panose="02020603050405020304" pitchFamily="18" charset="0"/>
              </a:rPr>
              <a:t> of our sales department.</a:t>
            </a:r>
          </a:p>
          <a:p>
            <a:pPr marL="342900" indent="-342900"/>
            <a:endParaRPr lang="en-US" altLang="zh-CN" sz="3200" b="1">
              <a:latin typeface="Times New Roman" panose="02020603050405020304" pitchFamily="18" charset="0"/>
            </a:endParaRP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93251">
                                            <p:txEl>
                                              <p:pRg st="2" end="2"/>
                                            </p:txEl>
                                          </p:spTgt>
                                        </p:tgtEl>
                                        <p:attrNameLst>
                                          <p:attrName>style.visibility</p:attrName>
                                        </p:attrNameLst>
                                      </p:cBhvr>
                                      <p:to>
                                        <p:strVal val="visible"/>
                                      </p:to>
                                    </p:set>
                                    <p:animEffect transition="in" filter="blinds(horizontal)">
                                      <p:cBhvr>
                                        <p:cTn id="7" dur="500"/>
                                        <p:tgtEl>
                                          <p:spTgt spid="693251">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93252">
                                            <p:txEl>
                                              <p:pRg st="2" end="2"/>
                                            </p:txEl>
                                          </p:spTgt>
                                        </p:tgtEl>
                                        <p:attrNameLst>
                                          <p:attrName>style.visibility</p:attrName>
                                        </p:attrNameLst>
                                      </p:cBhvr>
                                      <p:to>
                                        <p:strVal val="visible"/>
                                      </p:to>
                                    </p:set>
                                    <p:animEffect transition="in" filter="blinds(horizontal)">
                                      <p:cBhvr>
                                        <p:cTn id="12" dur="500"/>
                                        <p:tgtEl>
                                          <p:spTgt spid="693252">
                                            <p:txEl>
                                              <p:pRg st="2" end="2"/>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93252">
                                            <p:txEl>
                                              <p:pRg st="3" end="3"/>
                                            </p:txEl>
                                          </p:spTgt>
                                        </p:tgtEl>
                                        <p:attrNameLst>
                                          <p:attrName>style.visibility</p:attrName>
                                        </p:attrNameLst>
                                      </p:cBhvr>
                                      <p:to>
                                        <p:strVal val="visible"/>
                                      </p:to>
                                    </p:set>
                                    <p:animEffect transition="in" filter="blinds(horizontal)">
                                      <p:cBhvr>
                                        <p:cTn id="15" dur="500"/>
                                        <p:tgtEl>
                                          <p:spTgt spid="69325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p:cNvSpPr>
            <a:spLocks noGrp="1" noChangeArrowheads="1"/>
          </p:cNvSpPr>
          <p:nvPr>
            <p:ph idx="1"/>
          </p:nvPr>
        </p:nvSpPr>
        <p:spPr>
          <a:xfrm>
            <a:off x="539750" y="476250"/>
            <a:ext cx="7696200" cy="4608513"/>
          </a:xfrm>
        </p:spPr>
        <p:txBody>
          <a:bodyPr/>
          <a:lstStyle/>
          <a:p>
            <a:pPr algn="ctr" eaLnBrk="1" hangingPunct="1">
              <a:buFontTx/>
              <a:buNone/>
            </a:pPr>
            <a:r>
              <a:rPr lang="en-US" altLang="zh-CN" sz="3600" b="1" dirty="0" smtClean="0">
                <a:latin typeface="宋体" panose="02010600030101010101" pitchFamily="2" charset="-122"/>
              </a:rPr>
              <a:t>4.</a:t>
            </a:r>
            <a:r>
              <a:rPr lang="zh-CN" altLang="en-US" sz="3600" b="1" dirty="0" smtClean="0"/>
              <a:t>写平行结构的句子</a:t>
            </a:r>
            <a:r>
              <a:rPr lang="zh-CN" altLang="en-US" sz="3600" b="1" dirty="0" smtClean="0">
                <a:latin typeface="Times New Roman" panose="02020603050405020304" pitchFamily="18" charset="0"/>
              </a:rPr>
              <a:t>（</a:t>
            </a:r>
            <a:r>
              <a:rPr lang="en-US" altLang="zh-CN" sz="3600" b="1" dirty="0" smtClean="0">
                <a:latin typeface="Times New Roman" panose="02020603050405020304" pitchFamily="18" charset="0"/>
              </a:rPr>
              <a:t>Parallelism)</a:t>
            </a:r>
          </a:p>
          <a:p>
            <a:pPr eaLnBrk="1" hangingPunct="1">
              <a:buFontTx/>
              <a:buNone/>
            </a:pPr>
            <a:r>
              <a:rPr lang="en-US" altLang="zh-CN" b="1" dirty="0" smtClean="0"/>
              <a:t>     </a:t>
            </a:r>
            <a:r>
              <a:rPr lang="zh-CN" altLang="en-US" sz="2400" b="1" dirty="0" smtClean="0"/>
              <a:t>在一个句子中，有几个表达相近或相对意义的并列成分时，应该使用词性一致的排比结构，这就是写作中的平行结构原则。</a:t>
            </a:r>
            <a:r>
              <a:rPr lang="zh-CN" altLang="en-US" sz="2400" b="1" dirty="0" smtClean="0">
                <a:latin typeface="楷体_GB2312" pitchFamily="49" charset="-122"/>
              </a:rPr>
              <a:t>两三个词性相同的词连成一串，形成平行结构。这种结构能使句子显得严谨，层次分明，增强感染力。例如</a:t>
            </a:r>
            <a:r>
              <a:rPr lang="zh-CN" altLang="en-US" sz="2400" b="1" dirty="0" smtClean="0">
                <a:latin typeface="宋体" panose="02010600030101010101" pitchFamily="2" charset="-122"/>
              </a:rPr>
              <a:t>：</a:t>
            </a:r>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3"/>
          <p:cNvSpPr>
            <a:spLocks noGrp="1" noChangeArrowheads="1"/>
          </p:cNvSpPr>
          <p:nvPr>
            <p:ph idx="1"/>
          </p:nvPr>
        </p:nvSpPr>
        <p:spPr>
          <a:xfrm>
            <a:off x="250825" y="333375"/>
            <a:ext cx="8351838" cy="5329238"/>
          </a:xfrm>
        </p:spPr>
        <p:txBody>
          <a:bodyPr/>
          <a:lstStyle/>
          <a:p>
            <a:pPr eaLnBrk="1" hangingPunct="1">
              <a:buFontTx/>
              <a:buNone/>
            </a:pPr>
            <a:r>
              <a:rPr lang="en-US" altLang="zh-CN" b="1" smtClean="0">
                <a:solidFill>
                  <a:schemeClr val="tx2"/>
                </a:solidFill>
                <a:latin typeface="Times New Roman" panose="02020603050405020304" pitchFamily="18" charset="0"/>
              </a:rPr>
              <a:t>  </a:t>
            </a:r>
            <a:r>
              <a:rPr lang="en-US" altLang="zh-CN" b="1" smtClean="0">
                <a:latin typeface="Times New Roman" panose="02020603050405020304" pitchFamily="18" charset="0"/>
              </a:rPr>
              <a:t>a.</a:t>
            </a:r>
            <a:r>
              <a:rPr lang="en-US" altLang="zh-CN" smtClean="0">
                <a:latin typeface="Times New Roman" panose="02020603050405020304" pitchFamily="18" charset="0"/>
              </a:rPr>
              <a:t> </a:t>
            </a:r>
            <a:r>
              <a:rPr lang="en-US" altLang="zh-CN" b="1" smtClean="0">
                <a:latin typeface="Times New Roman" panose="02020603050405020304" pitchFamily="18" charset="0"/>
              </a:rPr>
              <a:t>The article is short, informative, and</a:t>
            </a:r>
          </a:p>
          <a:p>
            <a:pPr eaLnBrk="1" hangingPunct="1">
              <a:buFontTx/>
              <a:buNone/>
            </a:pPr>
            <a:r>
              <a:rPr lang="en-US" altLang="zh-CN" b="1" smtClean="0">
                <a:latin typeface="Times New Roman" panose="02020603050405020304" pitchFamily="18" charset="0"/>
              </a:rPr>
              <a:t>      reading it was easy</a:t>
            </a:r>
          </a:p>
          <a:p>
            <a:pPr algn="just" eaLnBrk="1" hangingPunct="1">
              <a:buFontTx/>
              <a:buNone/>
            </a:pPr>
            <a:endParaRPr lang="en-US" altLang="zh-CN" b="1" smtClean="0">
              <a:cs typeface="Times New Roman" panose="02020603050405020304" pitchFamily="18" charset="0"/>
            </a:endParaRPr>
          </a:p>
          <a:p>
            <a:pPr algn="just" eaLnBrk="1" hangingPunct="1">
              <a:buFontTx/>
              <a:buNone/>
            </a:pPr>
            <a:endParaRPr lang="en-US" altLang="zh-CN" sz="3100" b="1" smtClean="0"/>
          </a:p>
          <a:p>
            <a:pPr eaLnBrk="1" hangingPunct="1"/>
            <a:endParaRPr lang="en-US" altLang="zh-CN" b="1" smtClean="0"/>
          </a:p>
          <a:p>
            <a:pPr eaLnBrk="1" hangingPunct="1"/>
            <a:endParaRPr lang="en-US" altLang="zh-CN" smtClean="0"/>
          </a:p>
        </p:txBody>
      </p:sp>
      <p:sp>
        <p:nvSpPr>
          <p:cNvPr id="7"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75779" name="Text Box 6"/>
          <p:cNvSpPr txBox="1">
            <a:spLocks noChangeArrowheads="1"/>
          </p:cNvSpPr>
          <p:nvPr/>
        </p:nvSpPr>
        <p:spPr bwMode="auto">
          <a:xfrm>
            <a:off x="395288" y="1557338"/>
            <a:ext cx="8207375" cy="1800225"/>
          </a:xfrm>
          <a:prstGeom prst="rect">
            <a:avLst/>
          </a:prstGeom>
          <a:noFill/>
          <a:ln w="9525">
            <a:noFill/>
            <a:miter lim="800000"/>
          </a:ln>
        </p:spPr>
        <p:txBody>
          <a:bodyPr>
            <a:spAutoFit/>
          </a:bodyPr>
          <a:lstStyle/>
          <a:p>
            <a:r>
              <a:rPr lang="zh-CN" altLang="en-US" sz="2800" b="1">
                <a:latin typeface="Times New Roman" panose="02020603050405020304" pitchFamily="18" charset="0"/>
              </a:rPr>
              <a:t>应该为：</a:t>
            </a:r>
          </a:p>
          <a:p>
            <a:r>
              <a:rPr lang="en-US" altLang="zh-CN" sz="2800" b="1">
                <a:solidFill>
                  <a:schemeClr val="tx2"/>
                </a:solidFill>
                <a:latin typeface="Times New Roman" panose="02020603050405020304" pitchFamily="18" charset="0"/>
              </a:rPr>
              <a:t>The article is short, informative, and </a:t>
            </a:r>
            <a:r>
              <a:rPr lang="en-US" altLang="zh-CN" sz="2800" b="1" u="sng">
                <a:solidFill>
                  <a:schemeClr val="tx2"/>
                </a:solidFill>
                <a:latin typeface="Times New Roman" panose="02020603050405020304" pitchFamily="18" charset="0"/>
              </a:rPr>
              <a:t>easy to read</a:t>
            </a:r>
            <a:r>
              <a:rPr lang="en-US" altLang="zh-CN" sz="2800" b="1">
                <a:solidFill>
                  <a:schemeClr val="tx2"/>
                </a:solidFill>
                <a:latin typeface="Times New Roman" panose="02020603050405020304" pitchFamily="18" charset="0"/>
              </a:rPr>
              <a:t>. (three adjectives)</a:t>
            </a:r>
          </a:p>
          <a:p>
            <a:endParaRPr lang="en-US" altLang="zh-CN" sz="2800">
              <a:solidFill>
                <a:schemeClr val="tx2"/>
              </a:solidFill>
              <a:latin typeface="Times New Roman" panose="02020603050405020304" pitchFamily="18" charset="0"/>
            </a:endParaRPr>
          </a:p>
        </p:txBody>
      </p:sp>
      <p:sp>
        <p:nvSpPr>
          <p:cNvPr id="75780" name="Text Box 7"/>
          <p:cNvSpPr txBox="1">
            <a:spLocks noChangeArrowheads="1"/>
          </p:cNvSpPr>
          <p:nvPr/>
        </p:nvSpPr>
        <p:spPr bwMode="auto">
          <a:xfrm>
            <a:off x="250825" y="2852738"/>
            <a:ext cx="7796213" cy="1066800"/>
          </a:xfrm>
          <a:prstGeom prst="rect">
            <a:avLst/>
          </a:prstGeom>
          <a:noFill/>
          <a:ln w="9525">
            <a:noFill/>
            <a:miter lim="800000"/>
          </a:ln>
        </p:spPr>
        <p:txBody>
          <a:bodyPr>
            <a:spAutoFit/>
          </a:bodyPr>
          <a:lstStyle/>
          <a:p>
            <a:r>
              <a:rPr lang="en-US" altLang="zh-CN" sz="3200" b="1">
                <a:latin typeface="Times New Roman" panose="02020603050405020304" pitchFamily="18" charset="0"/>
              </a:rPr>
              <a:t>b. Knowing what to do and to do it well will</a:t>
            </a:r>
          </a:p>
          <a:p>
            <a:r>
              <a:rPr lang="en-US" altLang="zh-CN" sz="3200" b="1">
                <a:latin typeface="Times New Roman" panose="02020603050405020304" pitchFamily="18" charset="0"/>
              </a:rPr>
              <a:t>    bring you success.</a:t>
            </a:r>
          </a:p>
        </p:txBody>
      </p:sp>
      <p:sp>
        <p:nvSpPr>
          <p:cNvPr id="75781" name="Text Box 8"/>
          <p:cNvSpPr txBox="1">
            <a:spLocks noChangeArrowheads="1"/>
          </p:cNvSpPr>
          <p:nvPr/>
        </p:nvSpPr>
        <p:spPr bwMode="auto">
          <a:xfrm>
            <a:off x="250825" y="3933825"/>
            <a:ext cx="8424863" cy="1800225"/>
          </a:xfrm>
          <a:prstGeom prst="rect">
            <a:avLst/>
          </a:prstGeom>
          <a:noFill/>
          <a:ln w="9525">
            <a:noFill/>
            <a:miter lim="800000"/>
          </a:ln>
        </p:spPr>
        <p:txBody>
          <a:bodyPr>
            <a:spAutoFit/>
          </a:bodyPr>
          <a:lstStyle/>
          <a:p>
            <a:r>
              <a:rPr lang="zh-CN" altLang="en-US" sz="2800" b="1">
                <a:latin typeface="Cambria" panose="02040503050406030204" charset="0"/>
              </a:rPr>
              <a:t>应该为</a:t>
            </a:r>
            <a:endParaRPr lang="zh-CN" altLang="en-US" sz="2800" b="1">
              <a:solidFill>
                <a:schemeClr val="tx2"/>
              </a:solidFill>
              <a:latin typeface="Cambria" panose="02040503050406030204" charset="0"/>
            </a:endParaRPr>
          </a:p>
          <a:p>
            <a:r>
              <a:rPr lang="en-US" altLang="zh-CN" sz="2800" b="1">
                <a:solidFill>
                  <a:schemeClr val="tx2"/>
                </a:solidFill>
                <a:latin typeface="Times New Roman" panose="02020603050405020304" pitchFamily="18" charset="0"/>
              </a:rPr>
              <a:t>Knowing what to do and </a:t>
            </a:r>
            <a:r>
              <a:rPr lang="en-US" altLang="zh-CN" sz="2800" b="1" u="sng">
                <a:solidFill>
                  <a:schemeClr val="tx2"/>
                </a:solidFill>
                <a:latin typeface="Times New Roman" panose="02020603050405020304" pitchFamily="18" charset="0"/>
              </a:rPr>
              <a:t>doing</a:t>
            </a:r>
            <a:r>
              <a:rPr lang="en-US" altLang="zh-CN" sz="2800" b="1">
                <a:solidFill>
                  <a:schemeClr val="tx2"/>
                </a:solidFill>
                <a:latin typeface="Times New Roman" panose="02020603050405020304" pitchFamily="18" charset="0"/>
              </a:rPr>
              <a:t> it well will bring you success. (two gerund phrases)</a:t>
            </a:r>
          </a:p>
          <a:p>
            <a:endParaRPr lang="en-US" altLang="zh-CN" sz="2800" b="1">
              <a:solidFill>
                <a:schemeClr val="tx2"/>
              </a:solidFill>
              <a:latin typeface="Times New Roman" panose="02020603050405020304" pitchFamily="18" charset="0"/>
            </a:endParaRPr>
          </a:p>
        </p:txBody>
      </p:sp>
    </p:spTree>
  </p:cSld>
  <p:clrMapOvr>
    <a:masterClrMapping/>
  </p:clrMapOvr>
  <p:transition advTm="10000"/>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19" name="Rectangle 3"/>
          <p:cNvSpPr>
            <a:spLocks noGrp="1" noChangeArrowheads="1"/>
          </p:cNvSpPr>
          <p:nvPr>
            <p:ph idx="1"/>
          </p:nvPr>
        </p:nvSpPr>
        <p:spPr>
          <a:xfrm>
            <a:off x="468313" y="404813"/>
            <a:ext cx="8280400" cy="5184775"/>
          </a:xfrm>
        </p:spPr>
        <p:txBody>
          <a:bodyPr rtlCol="0">
            <a:normAutofit/>
          </a:bodyPr>
          <a:lstStyle/>
          <a:p>
            <a:pPr eaLnBrk="1" fontAlgn="auto" hangingPunct="1">
              <a:spcAft>
                <a:spcPts val="0"/>
              </a:spcAft>
              <a:buFontTx/>
              <a:buNone/>
              <a:defRPr/>
            </a:pPr>
            <a:r>
              <a:rPr lang="zh-CN" altLang="en-US" b="1"/>
              <a:t>同步练习</a:t>
            </a:r>
            <a:endParaRPr lang="zh-CN" altLang="en-US" sz="3600" b="1">
              <a:latin typeface="Times New Roman" panose="02020603050405020304" pitchFamily="18" charset="0"/>
            </a:endParaRPr>
          </a:p>
          <a:p>
            <a:pPr eaLnBrk="1" fontAlgn="auto" hangingPunct="1">
              <a:spcAft>
                <a:spcPts val="0"/>
              </a:spcAft>
              <a:buFontTx/>
              <a:buNone/>
              <a:defRPr/>
            </a:pPr>
            <a:r>
              <a:rPr lang="en-US" altLang="zh-CN" sz="3600" b="1">
                <a:latin typeface="Times New Roman" panose="02020603050405020304" pitchFamily="18" charset="0"/>
              </a:rPr>
              <a:t>1. She spends her free time reading, listening to music, and she works in the garden.</a:t>
            </a:r>
          </a:p>
          <a:p>
            <a:pPr eaLnBrk="1" fontAlgn="auto" hangingPunct="1">
              <a:spcAft>
                <a:spcPts val="0"/>
              </a:spcAft>
              <a:buFontTx/>
              <a:buNone/>
              <a:defRPr/>
            </a:pPr>
            <a:endParaRPr lang="en-US" altLang="zh-CN" sz="3600" b="1">
              <a:latin typeface="Times New Roman" panose="02020603050405020304" pitchFamily="18" charset="0"/>
            </a:endParaRPr>
          </a:p>
          <a:p>
            <a:pPr eaLnBrk="1" fontAlgn="auto" hangingPunct="1">
              <a:spcAft>
                <a:spcPts val="0"/>
              </a:spcAft>
              <a:buFontTx/>
              <a:buNone/>
              <a:defRPr/>
            </a:pPr>
            <a:r>
              <a:rPr lang="en-US" altLang="zh-CN" sz="3600" b="1">
                <a:solidFill>
                  <a:schemeClr val="tx2"/>
                </a:solidFill>
                <a:latin typeface="Times New Roman" panose="02020603050405020304" pitchFamily="18" charset="0"/>
              </a:rPr>
              <a:t>——She spends her free time reading, listening to music and </a:t>
            </a:r>
            <a:r>
              <a:rPr lang="en-US" altLang="zh-CN" sz="3600" b="1" u="sng">
                <a:solidFill>
                  <a:schemeClr val="tx2"/>
                </a:solidFill>
                <a:latin typeface="Times New Roman" panose="02020603050405020304" pitchFamily="18" charset="0"/>
              </a:rPr>
              <a:t>working </a:t>
            </a:r>
            <a:r>
              <a:rPr lang="en-US" altLang="zh-CN" sz="3600" b="1">
                <a:solidFill>
                  <a:schemeClr val="tx2"/>
                </a:solidFill>
                <a:latin typeface="Times New Roman" panose="02020603050405020304" pitchFamily="18" charset="0"/>
              </a:rPr>
              <a:t>in the garden.</a:t>
            </a:r>
            <a:br>
              <a:rPr lang="en-US" altLang="zh-CN" sz="3600" b="1">
                <a:solidFill>
                  <a:schemeClr val="tx2"/>
                </a:solidFill>
                <a:latin typeface="Times New Roman" panose="02020603050405020304" pitchFamily="18" charset="0"/>
              </a:rPr>
            </a:br>
            <a:endParaRPr lang="en-US" altLang="zh-CN" sz="3600" b="1">
              <a:solidFill>
                <a:schemeClr val="tx2"/>
              </a:solidFill>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49219">
                                            <p:txEl>
                                              <p:pRg st="3" end="3"/>
                                            </p:txEl>
                                          </p:spTgt>
                                        </p:tgtEl>
                                        <p:attrNameLst>
                                          <p:attrName>style.visibility</p:attrName>
                                        </p:attrNameLst>
                                      </p:cBhvr>
                                      <p:to>
                                        <p:strVal val="visible"/>
                                      </p:to>
                                    </p:set>
                                    <p:animEffect transition="in" filter="slide(fromBottom)">
                                      <p:cBhvr>
                                        <p:cTn id="7" dur="500"/>
                                        <p:tgtEl>
                                          <p:spTgt spid="6492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7" name="Rectangle 3"/>
          <p:cNvSpPr>
            <a:spLocks noGrp="1" noChangeArrowheads="1"/>
          </p:cNvSpPr>
          <p:nvPr>
            <p:ph idx="1"/>
          </p:nvPr>
        </p:nvSpPr>
        <p:spPr>
          <a:xfrm>
            <a:off x="684213" y="1125538"/>
            <a:ext cx="7696200" cy="3657600"/>
          </a:xfrm>
        </p:spPr>
        <p:txBody>
          <a:bodyPr>
            <a:noAutofit/>
          </a:bodyPr>
          <a:lstStyle/>
          <a:p>
            <a:pPr eaLnBrk="1" hangingPunct="1">
              <a:spcBef>
                <a:spcPct val="40000"/>
              </a:spcBef>
              <a:buFontTx/>
              <a:buNone/>
            </a:pPr>
            <a:r>
              <a:rPr lang="en-US" altLang="zh-CN" sz="3200" b="1" dirty="0" smtClean="0">
                <a:latin typeface="Times New Roman" panose="02020603050405020304" pitchFamily="18" charset="0"/>
                <a:cs typeface="Times New Roman" panose="02020603050405020304" pitchFamily="18" charset="0"/>
              </a:rPr>
              <a:t>3. Mr. Butler is a man of wide experience and who is very popular with his co-workers.</a:t>
            </a:r>
          </a:p>
          <a:p>
            <a:pPr eaLnBrk="1" hangingPunct="1">
              <a:spcBef>
                <a:spcPct val="40000"/>
              </a:spcBef>
              <a:buFontTx/>
              <a:buNone/>
            </a:pPr>
            <a:r>
              <a:rPr lang="en-US" altLang="zh-CN" sz="3200" b="1" dirty="0" smtClean="0">
                <a:solidFill>
                  <a:schemeClr val="hlink"/>
                </a:solidFill>
                <a:latin typeface="Times New Roman" panose="02020603050405020304" pitchFamily="18" charset="0"/>
                <a:cs typeface="Times New Roman" panose="02020603050405020304" pitchFamily="18" charset="0"/>
              </a:rPr>
              <a:t>—— </a:t>
            </a:r>
            <a:r>
              <a:rPr lang="en-US" altLang="zh-CN" sz="3200" b="1" dirty="0" smtClean="0">
                <a:latin typeface="Times New Roman" panose="02020603050405020304" pitchFamily="18" charset="0"/>
                <a:cs typeface="Times New Roman" panose="02020603050405020304" pitchFamily="18" charset="0"/>
              </a:rPr>
              <a:t>Mr. Butler is a man of</a:t>
            </a:r>
            <a:r>
              <a:rPr lang="en-US" altLang="zh-CN" sz="3200" b="1" dirty="0" smtClean="0">
                <a:solidFill>
                  <a:schemeClr val="hlink"/>
                </a:solidFill>
                <a:latin typeface="Times New Roman" panose="02020603050405020304" pitchFamily="18" charset="0"/>
                <a:cs typeface="Times New Roman" panose="02020603050405020304" pitchFamily="18" charset="0"/>
              </a:rPr>
              <a:t> </a:t>
            </a:r>
            <a:r>
              <a:rPr lang="en-US" altLang="zh-CN" sz="3200" b="1" u="sng" dirty="0" smtClean="0">
                <a:solidFill>
                  <a:schemeClr val="tx2"/>
                </a:solidFill>
                <a:latin typeface="Times New Roman" panose="02020603050405020304" pitchFamily="18" charset="0"/>
                <a:cs typeface="Times New Roman" panose="02020603050405020304" pitchFamily="18" charset="0"/>
              </a:rPr>
              <a:t>wide experience</a:t>
            </a:r>
            <a:r>
              <a:rPr lang="en-US" altLang="zh-CN" sz="3200" b="1" u="sng" dirty="0" smtClean="0">
                <a:solidFill>
                  <a:schemeClr val="hlink"/>
                </a:solidFill>
                <a:latin typeface="Times New Roman" panose="02020603050405020304" pitchFamily="18" charset="0"/>
                <a:cs typeface="Times New Roman" panose="02020603050405020304" pitchFamily="18" charset="0"/>
              </a:rPr>
              <a:t> </a:t>
            </a:r>
            <a:r>
              <a:rPr lang="en-US" altLang="zh-CN" sz="3200" b="1" u="sng" dirty="0" smtClean="0">
                <a:latin typeface="Times New Roman" panose="02020603050405020304" pitchFamily="18" charset="0"/>
                <a:cs typeface="Times New Roman" panose="02020603050405020304" pitchFamily="18" charset="0"/>
              </a:rPr>
              <a:t>and</a:t>
            </a:r>
            <a:r>
              <a:rPr lang="en-US" altLang="zh-CN" sz="3200" b="1" u="sng" dirty="0" smtClean="0">
                <a:solidFill>
                  <a:schemeClr val="hlink"/>
                </a:solidFill>
                <a:latin typeface="Times New Roman" panose="02020603050405020304" pitchFamily="18" charset="0"/>
                <a:cs typeface="Times New Roman" panose="02020603050405020304" pitchFamily="18" charset="0"/>
              </a:rPr>
              <a:t> </a:t>
            </a:r>
            <a:r>
              <a:rPr lang="en-US" altLang="zh-CN" sz="3200" b="1" u="sng" dirty="0" smtClean="0">
                <a:solidFill>
                  <a:schemeClr val="tx2"/>
                </a:solidFill>
                <a:latin typeface="Times New Roman" panose="02020603050405020304" pitchFamily="18" charset="0"/>
                <a:cs typeface="Times New Roman" panose="02020603050405020304" pitchFamily="18" charset="0"/>
              </a:rPr>
              <a:t>great popularity</a:t>
            </a:r>
            <a:r>
              <a:rPr lang="en-US" altLang="zh-CN" sz="3200" b="1" dirty="0" smtClean="0">
                <a:solidFill>
                  <a:schemeClr val="hlink"/>
                </a:solidFill>
                <a:latin typeface="Times New Roman" panose="02020603050405020304" pitchFamily="18" charset="0"/>
                <a:cs typeface="Times New Roman" panose="02020603050405020304" pitchFamily="18" charset="0"/>
              </a:rPr>
              <a:t> </a:t>
            </a:r>
            <a:r>
              <a:rPr lang="en-US" altLang="zh-CN" sz="3200" b="1" dirty="0" smtClean="0">
                <a:latin typeface="Times New Roman" panose="02020603050405020304" pitchFamily="18" charset="0"/>
                <a:cs typeface="Times New Roman" panose="02020603050405020304" pitchFamily="18" charset="0"/>
              </a:rPr>
              <a:t>among his co-workers</a:t>
            </a:r>
            <a:r>
              <a:rPr lang="en-US" altLang="zh-CN" sz="3200" b="1" dirty="0" smtClean="0">
                <a:solidFill>
                  <a:schemeClr val="hlink"/>
                </a:solidFill>
                <a:latin typeface="Times New Roman" panose="02020603050405020304" pitchFamily="18" charset="0"/>
                <a:cs typeface="Times New Roman" panose="02020603050405020304" pitchFamily="18" charset="0"/>
              </a:rPr>
              <a:t>. </a:t>
            </a:r>
          </a:p>
          <a:p>
            <a:pPr eaLnBrk="1" hangingPunct="1"/>
            <a:r>
              <a:rPr lang="en-US" altLang="zh-CN" sz="3200" b="1" dirty="0" smtClean="0">
                <a:latin typeface="Times New Roman" panose="02020603050405020304" pitchFamily="18" charset="0"/>
              </a:rPr>
              <a:t>Importance  significance criticism cynicism </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51267">
                                            <p:txEl>
                                              <p:pRg st="1" end="1"/>
                                            </p:txEl>
                                          </p:spTgt>
                                        </p:tgtEl>
                                        <p:attrNameLst>
                                          <p:attrName>style.visibility</p:attrName>
                                        </p:attrNameLst>
                                      </p:cBhvr>
                                      <p:to>
                                        <p:strVal val="visible"/>
                                      </p:to>
                                    </p:set>
                                    <p:animEffect transition="in" filter="slide(fromBottom)">
                                      <p:cBhvr>
                                        <p:cTn id="7" dur="500"/>
                                        <p:tgtEl>
                                          <p:spTgt spid="651267">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651267">
                                            <p:txEl>
                                              <p:pRg st="2" end="2"/>
                                            </p:txEl>
                                          </p:spTgt>
                                        </p:tgtEl>
                                        <p:attrNameLst>
                                          <p:attrName>style.visibility</p:attrName>
                                        </p:attrNameLst>
                                      </p:cBhvr>
                                      <p:to>
                                        <p:strVal val="visible"/>
                                      </p:to>
                                    </p:set>
                                    <p:animEffect transition="in" filter="slide(fromBottom)">
                                      <p:cBhvr>
                                        <p:cTn id="12" dur="500"/>
                                        <p:tgtEl>
                                          <p:spTgt spid="6512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86018" name="Text Box 1028"/>
          <p:cNvSpPr txBox="1">
            <a:spLocks noChangeArrowheads="1"/>
          </p:cNvSpPr>
          <p:nvPr/>
        </p:nvSpPr>
        <p:spPr bwMode="auto">
          <a:xfrm>
            <a:off x="684213" y="692150"/>
            <a:ext cx="7135812" cy="3937000"/>
          </a:xfrm>
          <a:prstGeom prst="rect">
            <a:avLst/>
          </a:prstGeom>
          <a:noFill/>
          <a:ln w="9525">
            <a:noFill/>
            <a:miter lim="800000"/>
          </a:ln>
        </p:spPr>
        <p:txBody>
          <a:bodyPr>
            <a:spAutoFit/>
          </a:bodyPr>
          <a:lstStyle/>
          <a:p>
            <a:pPr algn="ctr"/>
            <a:r>
              <a:rPr lang="en-US" altLang="zh-CN" sz="3600" b="1">
                <a:latin typeface="Times New Roman" panose="02020603050405020304" pitchFamily="18" charset="0"/>
              </a:rPr>
              <a:t>5.</a:t>
            </a:r>
            <a:r>
              <a:rPr lang="zh-CN" altLang="en-US" sz="3600" b="1">
                <a:latin typeface="Times New Roman" panose="02020603050405020304" pitchFamily="18" charset="0"/>
              </a:rPr>
              <a:t>写灵活多变的句子 </a:t>
            </a:r>
            <a:r>
              <a:rPr lang="en-US" altLang="zh-CN" sz="3600" b="1">
                <a:latin typeface="Times New Roman" panose="02020603050405020304" pitchFamily="18" charset="0"/>
              </a:rPr>
              <a:t>(Variety)</a:t>
            </a:r>
          </a:p>
          <a:p>
            <a:pPr algn="ctr"/>
            <a:endParaRPr lang="en-US" altLang="zh-CN" sz="3600" b="1">
              <a:latin typeface="Times New Roman" panose="02020603050405020304" pitchFamily="18" charset="0"/>
            </a:endParaRPr>
          </a:p>
          <a:p>
            <a:r>
              <a:rPr lang="en-US" altLang="zh-CN" sz="3600" b="1">
                <a:latin typeface="Times New Roman" panose="02020603050405020304" pitchFamily="18" charset="0"/>
              </a:rPr>
              <a:t>     </a:t>
            </a:r>
            <a:r>
              <a:rPr lang="zh-CN" altLang="en-US" sz="3600" b="1">
                <a:latin typeface="Times New Roman" panose="02020603050405020304" pitchFamily="18" charset="0"/>
              </a:rPr>
              <a:t>要使文章生动吸引人，写作时要经常变换句型和句子结构。</a:t>
            </a:r>
          </a:p>
          <a:p>
            <a:endParaRPr lang="zh-CN" altLang="en-US" sz="3600" b="1">
              <a:latin typeface="Times New Roman" panose="02020603050405020304" pitchFamily="18" charset="0"/>
            </a:endParaRPr>
          </a:p>
          <a:p>
            <a:endParaRPr lang="zh-CN" altLang="en-US" sz="3600" b="1">
              <a:latin typeface="Times New Roman" panose="02020603050405020304" pitchFamily="18" charset="0"/>
            </a:endParaRPr>
          </a:p>
          <a:p>
            <a:r>
              <a:rPr lang="en-US" altLang="zh-CN" sz="3600" b="1">
                <a:latin typeface="Times New Roman" panose="02020603050405020304" pitchFamily="18" charset="0"/>
              </a:rPr>
              <a:t>(1) </a:t>
            </a:r>
            <a:r>
              <a:rPr lang="zh-CN" altLang="en-US" sz="3600" b="1">
                <a:latin typeface="Times New Roman" panose="02020603050405020304" pitchFamily="18" charset="0"/>
              </a:rPr>
              <a:t>句子开头多样化</a:t>
            </a:r>
          </a:p>
        </p:txBody>
      </p:sp>
    </p:spTree>
  </p:cSld>
  <p:clrMapOvr>
    <a:masterClrMapping/>
  </p:clrMapOvr>
  <p:transition advTm="10000"/>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931" name="Rectangle 3"/>
          <p:cNvSpPr>
            <a:spLocks noGrp="1" noChangeArrowheads="1"/>
          </p:cNvSpPr>
          <p:nvPr>
            <p:ph idx="1"/>
          </p:nvPr>
        </p:nvSpPr>
        <p:spPr>
          <a:xfrm>
            <a:off x="395288" y="620712"/>
            <a:ext cx="7921128" cy="5184551"/>
          </a:xfrm>
        </p:spPr>
        <p:txBody>
          <a:bodyPr rtlCol="0">
            <a:normAutofit/>
          </a:bodyPr>
          <a:lstStyle/>
          <a:p>
            <a:pPr eaLnBrk="1" fontAlgn="auto" hangingPunct="1">
              <a:spcAft>
                <a:spcPts val="0"/>
              </a:spcAft>
              <a:buFontTx/>
              <a:buNone/>
              <a:defRPr/>
            </a:pPr>
            <a:r>
              <a:rPr lang="en-US" altLang="zh-CN" sz="2800" b="1" dirty="0"/>
              <a:t>① </a:t>
            </a:r>
            <a:r>
              <a:rPr lang="zh-CN" altLang="en-US" sz="2800" b="1" dirty="0"/>
              <a:t>分词或分词短语开头。</a:t>
            </a:r>
          </a:p>
          <a:p>
            <a:pPr eaLnBrk="1" fontAlgn="auto" hangingPunct="1">
              <a:spcAft>
                <a:spcPts val="0"/>
              </a:spcAft>
              <a:buFontTx/>
              <a:buNone/>
              <a:defRPr/>
            </a:pPr>
            <a:r>
              <a:rPr lang="en-US" altLang="zh-CN" sz="2800" b="1" dirty="0">
                <a:latin typeface="Times New Roman" panose="02020603050405020304" pitchFamily="18" charset="0"/>
              </a:rPr>
              <a:t>a. We reached our destination exhausted.</a:t>
            </a:r>
          </a:p>
          <a:p>
            <a:pPr eaLnBrk="1" fontAlgn="auto" hangingPunct="1">
              <a:spcAft>
                <a:spcPts val="0"/>
              </a:spcAft>
              <a:buFontTx/>
              <a:buNone/>
              <a:defRPr/>
            </a:pPr>
            <a:r>
              <a:rPr lang="zh-CN" altLang="en-US" sz="2800" b="1" dirty="0">
                <a:latin typeface="Times New Roman" panose="02020603050405020304" pitchFamily="18" charset="0"/>
              </a:rPr>
              <a:t>应该为：</a:t>
            </a:r>
            <a:r>
              <a:rPr lang="en-US" altLang="zh-CN" sz="2800" b="1" u="sng" dirty="0">
                <a:solidFill>
                  <a:schemeClr val="tx2"/>
                </a:solidFill>
                <a:latin typeface="Times New Roman" panose="02020603050405020304" pitchFamily="18" charset="0"/>
              </a:rPr>
              <a:t>Exhausted</a:t>
            </a:r>
            <a:r>
              <a:rPr lang="en-US" altLang="zh-CN" sz="2800" b="1" dirty="0">
                <a:latin typeface="Times New Roman" panose="02020603050405020304" pitchFamily="18" charset="0"/>
              </a:rPr>
              <a:t>, we reached our </a:t>
            </a:r>
          </a:p>
          <a:p>
            <a:pPr eaLnBrk="1" fontAlgn="auto" hangingPunct="1">
              <a:spcAft>
                <a:spcPts val="0"/>
              </a:spcAft>
              <a:buFontTx/>
              <a:buNone/>
              <a:defRPr/>
            </a:pPr>
            <a:r>
              <a:rPr lang="en-US" altLang="zh-CN" sz="2800" b="1" dirty="0">
                <a:latin typeface="Times New Roman" panose="02020603050405020304" pitchFamily="18" charset="0"/>
              </a:rPr>
              <a:t>                 destination.</a:t>
            </a:r>
          </a:p>
          <a:p>
            <a:pPr eaLnBrk="1" fontAlgn="auto" hangingPunct="1">
              <a:spcAft>
                <a:spcPts val="0"/>
              </a:spcAft>
              <a:buFontTx/>
              <a:buNone/>
              <a:defRPr/>
            </a:pPr>
            <a:r>
              <a:rPr lang="en-US" altLang="zh-CN" sz="2800" b="1" dirty="0">
                <a:latin typeface="Times New Roman" panose="02020603050405020304" pitchFamily="18" charset="0"/>
              </a:rPr>
              <a:t>b. I finished my homework and began to review the lessons.</a:t>
            </a:r>
          </a:p>
          <a:p>
            <a:pPr eaLnBrk="1" fontAlgn="auto" hangingPunct="1">
              <a:spcAft>
                <a:spcPts val="0"/>
              </a:spcAft>
              <a:buFontTx/>
              <a:buNone/>
              <a:defRPr/>
            </a:pPr>
            <a:r>
              <a:rPr lang="zh-CN" altLang="en-US" sz="2800" b="1" dirty="0">
                <a:latin typeface="Times New Roman" panose="02020603050405020304" pitchFamily="18" charset="0"/>
              </a:rPr>
              <a:t>应该为： </a:t>
            </a:r>
            <a:r>
              <a:rPr lang="en-US" altLang="zh-CN" sz="2800" b="1" u="sng" dirty="0">
                <a:solidFill>
                  <a:schemeClr val="tx2"/>
                </a:solidFill>
                <a:latin typeface="Times New Roman" panose="02020603050405020304" pitchFamily="18" charset="0"/>
              </a:rPr>
              <a:t>Having finished my homework</a:t>
            </a:r>
            <a:r>
              <a:rPr lang="en-US" altLang="zh-CN" sz="2800" b="1" dirty="0">
                <a:latin typeface="Times New Roman" panose="02020603050405020304" pitchFamily="18" charset="0"/>
              </a:rPr>
              <a:t>, I </a:t>
            </a:r>
          </a:p>
          <a:p>
            <a:pPr eaLnBrk="1" fontAlgn="auto" hangingPunct="1">
              <a:spcAft>
                <a:spcPts val="0"/>
              </a:spcAft>
              <a:buFontTx/>
              <a:buNone/>
              <a:defRPr/>
            </a:pPr>
            <a:r>
              <a:rPr lang="en-US" altLang="zh-CN" sz="2800" b="1" dirty="0">
                <a:latin typeface="Times New Roman" panose="02020603050405020304" pitchFamily="18" charset="0"/>
              </a:rPr>
              <a:t>                 began to review the lessons.</a:t>
            </a:r>
          </a:p>
          <a:p>
            <a:pPr eaLnBrk="1" fontAlgn="auto" hangingPunct="1">
              <a:spcAft>
                <a:spcPts val="0"/>
              </a:spcAft>
              <a:buFont typeface="Wingdings 2" panose="05020102010507070707"/>
              <a:buChar char=""/>
              <a:defRPr/>
            </a:pPr>
            <a:endParaRPr lang="en-US" altLang="zh-CN" b="1" dirty="0">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36931">
                                            <p:txEl>
                                              <p:pRg st="2" end="2"/>
                                            </p:txEl>
                                          </p:spTgt>
                                        </p:tgtEl>
                                        <p:attrNameLst>
                                          <p:attrName>style.visibility</p:attrName>
                                        </p:attrNameLst>
                                      </p:cBhvr>
                                      <p:to>
                                        <p:strVal val="visible"/>
                                      </p:to>
                                    </p:set>
                                    <p:anim calcmode="lin" valueType="num">
                                      <p:cBhvr additive="base">
                                        <p:cTn id="7" dur="500" fill="hold"/>
                                        <p:tgtEl>
                                          <p:spTgt spid="63693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369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36931">
                                            <p:txEl>
                                              <p:pRg st="3" end="3"/>
                                            </p:txEl>
                                          </p:spTgt>
                                        </p:tgtEl>
                                        <p:attrNameLst>
                                          <p:attrName>style.visibility</p:attrName>
                                        </p:attrNameLst>
                                      </p:cBhvr>
                                      <p:to>
                                        <p:strVal val="visible"/>
                                      </p:to>
                                    </p:set>
                                    <p:anim calcmode="lin" valueType="num">
                                      <p:cBhvr additive="base">
                                        <p:cTn id="13" dur="500" fill="hold"/>
                                        <p:tgtEl>
                                          <p:spTgt spid="636931">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3693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36931">
                                            <p:txEl>
                                              <p:pRg st="5" end="5"/>
                                            </p:txEl>
                                          </p:spTgt>
                                        </p:tgtEl>
                                        <p:attrNameLst>
                                          <p:attrName>style.visibility</p:attrName>
                                        </p:attrNameLst>
                                      </p:cBhvr>
                                      <p:to>
                                        <p:strVal val="visible"/>
                                      </p:to>
                                    </p:set>
                                    <p:anim calcmode="lin" valueType="num">
                                      <p:cBhvr additive="base">
                                        <p:cTn id="19" dur="500" fill="hold"/>
                                        <p:tgtEl>
                                          <p:spTgt spid="636931">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3693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36931">
                                            <p:txEl>
                                              <p:pRg st="6" end="6"/>
                                            </p:txEl>
                                          </p:spTgt>
                                        </p:tgtEl>
                                        <p:attrNameLst>
                                          <p:attrName>style.visibility</p:attrName>
                                        </p:attrNameLst>
                                      </p:cBhvr>
                                      <p:to>
                                        <p:strVal val="visible"/>
                                      </p:to>
                                    </p:set>
                                    <p:anim calcmode="lin" valueType="num">
                                      <p:cBhvr additive="base">
                                        <p:cTn id="25" dur="500" fill="hold"/>
                                        <p:tgtEl>
                                          <p:spTgt spid="636931">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3693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377860" name="Text Box 4"/>
          <p:cNvSpPr txBox="1">
            <a:spLocks noChangeArrowheads="1"/>
          </p:cNvSpPr>
          <p:nvPr/>
        </p:nvSpPr>
        <p:spPr bwMode="auto">
          <a:xfrm>
            <a:off x="323850" y="836613"/>
            <a:ext cx="8280400" cy="3503612"/>
          </a:xfrm>
          <a:prstGeom prst="rect">
            <a:avLst/>
          </a:prstGeom>
          <a:noFill/>
          <a:ln w="9525">
            <a:noFill/>
            <a:miter lim="800000"/>
          </a:ln>
        </p:spPr>
        <p:txBody>
          <a:bodyPr>
            <a:spAutoFit/>
          </a:bodyPr>
          <a:lstStyle/>
          <a:p>
            <a:r>
              <a:rPr lang="en-US" altLang="zh-CN" sz="3200" b="1">
                <a:latin typeface="Times New Roman" panose="02020603050405020304" pitchFamily="18" charset="0"/>
              </a:rPr>
              <a:t>② </a:t>
            </a:r>
            <a:r>
              <a:rPr lang="zh-CN" altLang="en-US" sz="3200" b="1">
                <a:latin typeface="Times New Roman" panose="02020603050405020304" pitchFamily="18" charset="0"/>
              </a:rPr>
              <a:t>形容词开头。</a:t>
            </a:r>
          </a:p>
          <a:p>
            <a:r>
              <a:rPr lang="en-US" altLang="zh-CN" sz="3200" b="1">
                <a:latin typeface="Times New Roman" panose="02020603050405020304" pitchFamily="18" charset="0"/>
              </a:rPr>
              <a:t>He was intelligent and hard-working, and he graduated with honors.</a:t>
            </a:r>
          </a:p>
          <a:p>
            <a:endParaRPr lang="en-US" altLang="zh-CN" sz="3200" b="1">
              <a:latin typeface="Times New Roman" panose="02020603050405020304" pitchFamily="18" charset="0"/>
            </a:endParaRPr>
          </a:p>
          <a:p>
            <a:r>
              <a:rPr lang="zh-CN" altLang="en-US" sz="3200" b="1">
                <a:latin typeface="Cambria" panose="02040503050406030204" charset="0"/>
              </a:rPr>
              <a:t>应该为：</a:t>
            </a:r>
            <a:r>
              <a:rPr lang="zh-CN" altLang="en-US">
                <a:latin typeface="Cambria" panose="02040503050406030204" charset="0"/>
              </a:rPr>
              <a:t> </a:t>
            </a:r>
            <a:r>
              <a:rPr lang="en-US" altLang="zh-CN" sz="3200" b="1" u="sng">
                <a:solidFill>
                  <a:schemeClr val="tx2"/>
                </a:solidFill>
                <a:latin typeface="Times New Roman" panose="02020603050405020304" pitchFamily="18" charset="0"/>
              </a:rPr>
              <a:t>Intelligent and hard-working</a:t>
            </a:r>
            <a:r>
              <a:rPr lang="en-US" altLang="zh-CN" sz="3200" b="1">
                <a:latin typeface="Times New Roman" panose="02020603050405020304" pitchFamily="18" charset="0"/>
              </a:rPr>
              <a:t>, he</a:t>
            </a:r>
          </a:p>
          <a:p>
            <a:r>
              <a:rPr lang="en-US" altLang="zh-CN" sz="3200" b="1">
                <a:latin typeface="Times New Roman" panose="02020603050405020304" pitchFamily="18" charset="0"/>
              </a:rPr>
              <a:t>                 graduated with honors.</a:t>
            </a:r>
          </a:p>
          <a:p>
            <a:endParaRPr lang="en-US" altLang="zh-CN" sz="3200" b="1">
              <a:latin typeface="Times New Roman" panose="02020603050405020304" pitchFamily="18" charset="0"/>
            </a:endParaRP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7860">
                                            <p:txEl>
                                              <p:pRg st="3" end="3"/>
                                            </p:txEl>
                                          </p:spTgt>
                                        </p:tgtEl>
                                        <p:attrNameLst>
                                          <p:attrName>style.visibility</p:attrName>
                                        </p:attrNameLst>
                                      </p:cBhvr>
                                      <p:to>
                                        <p:strVal val="visible"/>
                                      </p:to>
                                    </p:set>
                                    <p:animEffect transition="in" filter="blinds(horizontal)">
                                      <p:cBhvr>
                                        <p:cTn id="7" dur="500"/>
                                        <p:tgtEl>
                                          <p:spTgt spid="377860">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7860">
                                            <p:txEl>
                                              <p:pRg st="4" end="4"/>
                                            </p:txEl>
                                          </p:spTgt>
                                        </p:tgtEl>
                                        <p:attrNameLst>
                                          <p:attrName>style.visibility</p:attrName>
                                        </p:attrNameLst>
                                      </p:cBhvr>
                                      <p:to>
                                        <p:strVal val="visible"/>
                                      </p:to>
                                    </p:set>
                                    <p:animEffect transition="in" filter="blinds(horizontal)">
                                      <p:cBhvr>
                                        <p:cTn id="12" dur="500"/>
                                        <p:tgtEl>
                                          <p:spTgt spid="37786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955" name="Rectangle 3"/>
          <p:cNvSpPr>
            <a:spLocks noGrp="1" noChangeArrowheads="1"/>
          </p:cNvSpPr>
          <p:nvPr>
            <p:ph idx="1"/>
          </p:nvPr>
        </p:nvSpPr>
        <p:spPr>
          <a:xfrm>
            <a:off x="539750" y="981075"/>
            <a:ext cx="7696200" cy="3657600"/>
          </a:xfrm>
        </p:spPr>
        <p:txBody>
          <a:bodyPr/>
          <a:lstStyle/>
          <a:p>
            <a:pPr eaLnBrk="1" hangingPunct="1">
              <a:buFontTx/>
              <a:buNone/>
            </a:pPr>
            <a:r>
              <a:rPr lang="en-US" altLang="zh-CN" sz="3600" b="1" smtClean="0">
                <a:latin typeface="Times New Roman" panose="02020603050405020304" pitchFamily="18" charset="0"/>
              </a:rPr>
              <a:t>③ </a:t>
            </a:r>
            <a:r>
              <a:rPr lang="zh-CN" altLang="en-US" sz="3600" b="1" smtClean="0">
                <a:latin typeface="Times New Roman" panose="02020603050405020304" pitchFamily="18" charset="0"/>
              </a:rPr>
              <a:t>介词短语开头。</a:t>
            </a:r>
          </a:p>
          <a:p>
            <a:pPr eaLnBrk="1" hangingPunct="1">
              <a:buFontTx/>
              <a:buNone/>
            </a:pPr>
            <a:r>
              <a:rPr lang="en-US" altLang="zh-CN" sz="3600" b="1" smtClean="0">
                <a:latin typeface="Times New Roman" panose="02020603050405020304" pitchFamily="18" charset="0"/>
              </a:rPr>
              <a:t>a. The girl was in despair and turned to her friends for help.</a:t>
            </a:r>
          </a:p>
          <a:p>
            <a:pPr eaLnBrk="1" hangingPunct="1">
              <a:buFontTx/>
              <a:buNone/>
            </a:pPr>
            <a:r>
              <a:rPr lang="zh-CN" altLang="en-US" b="1" smtClean="0">
                <a:latin typeface="Times New Roman" panose="02020603050405020304" pitchFamily="18" charset="0"/>
              </a:rPr>
              <a:t>应该为：</a:t>
            </a:r>
            <a:r>
              <a:rPr lang="zh-CN" altLang="en-US" sz="3600" b="1" smtClean="0">
                <a:latin typeface="Times New Roman" panose="02020603050405020304" pitchFamily="18" charset="0"/>
              </a:rPr>
              <a:t> </a:t>
            </a:r>
            <a:r>
              <a:rPr lang="en-US" altLang="zh-CN" sz="3600" b="1" u="sng" smtClean="0">
                <a:solidFill>
                  <a:schemeClr val="tx2"/>
                </a:solidFill>
                <a:latin typeface="Times New Roman" panose="02020603050405020304" pitchFamily="18" charset="0"/>
              </a:rPr>
              <a:t>In despair</a:t>
            </a:r>
            <a:r>
              <a:rPr lang="en-US" altLang="zh-CN" sz="3600" b="1" smtClean="0">
                <a:latin typeface="Times New Roman" panose="02020603050405020304" pitchFamily="18" charset="0"/>
              </a:rPr>
              <a:t>, the girl turned to</a:t>
            </a:r>
          </a:p>
          <a:p>
            <a:pPr eaLnBrk="1" hangingPunct="1">
              <a:buFontTx/>
              <a:buNone/>
            </a:pPr>
            <a:r>
              <a:rPr lang="en-US" altLang="zh-CN" sz="3600" b="1" smtClean="0">
                <a:latin typeface="Times New Roman" panose="02020603050405020304" pitchFamily="18" charset="0"/>
              </a:rPr>
              <a:t>               her friends for help.</a:t>
            </a:r>
          </a:p>
          <a:p>
            <a:pPr eaLnBrk="1" hangingPunct="1">
              <a:buFontTx/>
              <a:buNone/>
            </a:pPr>
            <a:endParaRPr lang="en-US" altLang="zh-CN" sz="3600" smtClean="0">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637955">
                                            <p:txEl>
                                              <p:pRg st="2" end="2"/>
                                            </p:txEl>
                                          </p:spTgt>
                                        </p:tgtEl>
                                        <p:attrNameLst>
                                          <p:attrName>style.visibility</p:attrName>
                                        </p:attrNameLst>
                                      </p:cBhvr>
                                      <p:to>
                                        <p:strVal val="visible"/>
                                      </p:to>
                                    </p:set>
                                    <p:animEffect transition="in" filter="slide(fromBottom)">
                                      <p:cBhvr>
                                        <p:cTn id="7" dur="500"/>
                                        <p:tgtEl>
                                          <p:spTgt spid="63795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637955">
                                            <p:txEl>
                                              <p:pRg st="3" end="3"/>
                                            </p:txEl>
                                          </p:spTgt>
                                        </p:tgtEl>
                                        <p:attrNameLst>
                                          <p:attrName>style.visibility</p:attrName>
                                        </p:attrNameLst>
                                      </p:cBhvr>
                                      <p:to>
                                        <p:strVal val="visible"/>
                                      </p:to>
                                    </p:set>
                                    <p:animEffect transition="in" filter="slide(fromBottom)">
                                      <p:cBhvr>
                                        <p:cTn id="12" dur="500"/>
                                        <p:tgtEl>
                                          <p:spTgt spid="6379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378884" name="Text Box 4"/>
          <p:cNvSpPr txBox="1">
            <a:spLocks noChangeArrowheads="1"/>
          </p:cNvSpPr>
          <p:nvPr/>
        </p:nvSpPr>
        <p:spPr bwMode="auto">
          <a:xfrm>
            <a:off x="323850" y="620713"/>
            <a:ext cx="7450138" cy="4965700"/>
          </a:xfrm>
          <a:prstGeom prst="rect">
            <a:avLst/>
          </a:prstGeom>
          <a:noFill/>
          <a:ln w="9525">
            <a:noFill/>
            <a:miter lim="800000"/>
          </a:ln>
        </p:spPr>
        <p:txBody>
          <a:bodyPr>
            <a:spAutoFit/>
          </a:bodyPr>
          <a:lstStyle/>
          <a:p>
            <a:r>
              <a:rPr lang="en-US" altLang="zh-CN" sz="3200" b="1">
                <a:latin typeface="Times New Roman" panose="02020603050405020304" pitchFamily="18" charset="0"/>
              </a:rPr>
              <a:t>④ </a:t>
            </a:r>
            <a:r>
              <a:rPr lang="zh-CN" altLang="en-US" sz="3200" b="1">
                <a:latin typeface="Times New Roman" panose="02020603050405020304" pitchFamily="18" charset="0"/>
              </a:rPr>
              <a:t>不定式短语开头。</a:t>
            </a:r>
          </a:p>
          <a:p>
            <a:r>
              <a:rPr lang="en-US" altLang="zh-CN" sz="3200" b="1">
                <a:latin typeface="Times New Roman" panose="02020603050405020304" pitchFamily="18" charset="0"/>
              </a:rPr>
              <a:t>a. He worked hard day and night to pass the exams.</a:t>
            </a:r>
          </a:p>
          <a:p>
            <a:r>
              <a:rPr lang="zh-CN" altLang="en-US" sz="3200" b="1">
                <a:latin typeface="Cambria" panose="02040503050406030204" charset="0"/>
              </a:rPr>
              <a:t>应该为：</a:t>
            </a:r>
            <a:r>
              <a:rPr lang="en-US" altLang="zh-CN" sz="3200" b="1" u="sng">
                <a:solidFill>
                  <a:schemeClr val="tx2"/>
                </a:solidFill>
                <a:latin typeface="Times New Roman" panose="02020603050405020304" pitchFamily="18" charset="0"/>
              </a:rPr>
              <a:t>To pass the exams,</a:t>
            </a:r>
            <a:r>
              <a:rPr lang="en-US" altLang="zh-CN" sz="3200" b="1">
                <a:latin typeface="Times New Roman" panose="02020603050405020304" pitchFamily="18" charset="0"/>
              </a:rPr>
              <a:t> he worked</a:t>
            </a:r>
          </a:p>
          <a:p>
            <a:r>
              <a:rPr lang="en-US" altLang="zh-CN" sz="3200" b="1">
                <a:latin typeface="Times New Roman" panose="02020603050405020304" pitchFamily="18" charset="0"/>
              </a:rPr>
              <a:t>                 hard day and night.</a:t>
            </a:r>
          </a:p>
          <a:p>
            <a:endParaRPr lang="en-US" altLang="zh-CN" sz="3200" b="1">
              <a:latin typeface="Times New Roman" panose="02020603050405020304" pitchFamily="18" charset="0"/>
            </a:endParaRPr>
          </a:p>
          <a:p>
            <a:r>
              <a:rPr lang="en-US" altLang="zh-CN" sz="3200" b="1">
                <a:latin typeface="Times New Roman" panose="02020603050405020304" pitchFamily="18" charset="0"/>
              </a:rPr>
              <a:t>b. He spoke slowly and emphatically to make everything clear.</a:t>
            </a:r>
          </a:p>
          <a:p>
            <a:r>
              <a:rPr lang="zh-CN" altLang="en-US" sz="3200" b="1">
                <a:latin typeface="Cambria" panose="02040503050406030204" charset="0"/>
              </a:rPr>
              <a:t>应该为：</a:t>
            </a:r>
            <a:r>
              <a:rPr lang="zh-CN" altLang="en-US">
                <a:latin typeface="Cambria" panose="02040503050406030204" charset="0"/>
              </a:rPr>
              <a:t> </a:t>
            </a:r>
            <a:r>
              <a:rPr lang="en-US" altLang="zh-CN" sz="3200" b="1" u="sng">
                <a:solidFill>
                  <a:schemeClr val="tx2"/>
                </a:solidFill>
                <a:latin typeface="Times New Roman" panose="02020603050405020304" pitchFamily="18" charset="0"/>
              </a:rPr>
              <a:t>To make everything clear</a:t>
            </a:r>
            <a:r>
              <a:rPr lang="en-US" altLang="zh-CN" sz="3200" b="1">
                <a:latin typeface="Times New Roman" panose="02020603050405020304" pitchFamily="18" charset="0"/>
              </a:rPr>
              <a:t>, he </a:t>
            </a:r>
          </a:p>
          <a:p>
            <a:r>
              <a:rPr lang="en-US" altLang="zh-CN" sz="3200" b="1">
                <a:latin typeface="Times New Roman" panose="02020603050405020304" pitchFamily="18" charset="0"/>
              </a:rPr>
              <a:t>                  spoke slowly and emphatically. </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78884">
                                            <p:txEl>
                                              <p:pRg st="2" end="2"/>
                                            </p:txEl>
                                          </p:spTgt>
                                        </p:tgtEl>
                                        <p:attrNameLst>
                                          <p:attrName>style.visibility</p:attrName>
                                        </p:attrNameLst>
                                      </p:cBhvr>
                                      <p:to>
                                        <p:strVal val="visible"/>
                                      </p:to>
                                    </p:set>
                                    <p:animEffect transition="in" filter="blinds(horizontal)">
                                      <p:cBhvr>
                                        <p:cTn id="7" dur="500"/>
                                        <p:tgtEl>
                                          <p:spTgt spid="378884">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78884">
                                            <p:txEl>
                                              <p:pRg st="3" end="3"/>
                                            </p:txEl>
                                          </p:spTgt>
                                        </p:tgtEl>
                                        <p:attrNameLst>
                                          <p:attrName>style.visibility</p:attrName>
                                        </p:attrNameLst>
                                      </p:cBhvr>
                                      <p:to>
                                        <p:strVal val="visible"/>
                                      </p:to>
                                    </p:set>
                                    <p:animEffect transition="in" filter="blinds(horizontal)">
                                      <p:cBhvr>
                                        <p:cTn id="12" dur="500"/>
                                        <p:tgtEl>
                                          <p:spTgt spid="378884">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78884">
                                            <p:txEl>
                                              <p:pRg st="6" end="6"/>
                                            </p:txEl>
                                          </p:spTgt>
                                        </p:tgtEl>
                                        <p:attrNameLst>
                                          <p:attrName>style.visibility</p:attrName>
                                        </p:attrNameLst>
                                      </p:cBhvr>
                                      <p:to>
                                        <p:strVal val="visible"/>
                                      </p:to>
                                    </p:set>
                                    <p:animEffect transition="in" filter="blinds(horizontal)">
                                      <p:cBhvr>
                                        <p:cTn id="17" dur="500"/>
                                        <p:tgtEl>
                                          <p:spTgt spid="378884">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78884">
                                            <p:txEl>
                                              <p:pRg st="7" end="7"/>
                                            </p:txEl>
                                          </p:spTgt>
                                        </p:tgtEl>
                                        <p:attrNameLst>
                                          <p:attrName>style.visibility</p:attrName>
                                        </p:attrNameLst>
                                      </p:cBhvr>
                                      <p:to>
                                        <p:strVal val="visible"/>
                                      </p:to>
                                    </p:set>
                                    <p:animEffect transition="in" filter="blinds(horizontal)">
                                      <p:cBhvr>
                                        <p:cTn id="22" dur="500"/>
                                        <p:tgtEl>
                                          <p:spTgt spid="37888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3"/>
          <p:cNvSpPr>
            <a:spLocks noGrp="1" noChangeArrowheads="1"/>
          </p:cNvSpPr>
          <p:nvPr>
            <p:ph idx="1"/>
          </p:nvPr>
        </p:nvSpPr>
        <p:spPr>
          <a:xfrm>
            <a:off x="323850" y="333375"/>
            <a:ext cx="8640763" cy="5400675"/>
          </a:xfrm>
        </p:spPr>
        <p:txBody>
          <a:bodyPr/>
          <a:lstStyle/>
          <a:p>
            <a:pPr eaLnBrk="1" hangingPunct="1">
              <a:buFontTx/>
              <a:buNone/>
            </a:pPr>
            <a:endParaRPr lang="en-US" altLang="zh-CN" sz="2400" dirty="0" smtClean="0">
              <a:solidFill>
                <a:schemeClr val="tx2"/>
              </a:solidFill>
            </a:endParaRPr>
          </a:p>
          <a:p>
            <a:pPr eaLnBrk="1" hangingPunct="1">
              <a:buFontTx/>
              <a:buNone/>
            </a:pPr>
            <a:r>
              <a:rPr lang="en-US" altLang="zh-CN" sz="3600" b="1" dirty="0" smtClean="0">
                <a:solidFill>
                  <a:schemeClr val="tx2"/>
                </a:solidFill>
                <a:latin typeface="Times New Roman" panose="02020603050405020304" pitchFamily="18" charset="0"/>
              </a:rPr>
              <a:t>(2)</a:t>
            </a:r>
            <a:r>
              <a:rPr lang="en-US" altLang="zh-CN" sz="3600" b="1" dirty="0" smtClean="0">
                <a:latin typeface="Times New Roman" panose="02020603050405020304" pitchFamily="18" charset="0"/>
              </a:rPr>
              <a:t> </a:t>
            </a:r>
            <a:r>
              <a:rPr lang="zh-CN" altLang="en-US" sz="3600" b="1" dirty="0" smtClean="0">
                <a:solidFill>
                  <a:schemeClr val="tx2"/>
                </a:solidFill>
                <a:latin typeface="Times New Roman" panose="02020603050405020304" pitchFamily="18" charset="0"/>
              </a:rPr>
              <a:t>句型多样化</a:t>
            </a:r>
            <a:r>
              <a:rPr lang="zh-CN" altLang="en-US" sz="3600" b="1" dirty="0" smtClean="0">
                <a:latin typeface="Times New Roman" panose="02020603050405020304" pitchFamily="18" charset="0"/>
              </a:rPr>
              <a:t>。</a:t>
            </a:r>
          </a:p>
          <a:p>
            <a:pPr eaLnBrk="1" hangingPunct="1">
              <a:buFontTx/>
              <a:buNone/>
            </a:pPr>
            <a:r>
              <a:rPr lang="zh-CN" altLang="en-US" sz="2800" b="1" dirty="0" smtClean="0">
                <a:latin typeface="Times New Roman" panose="02020603050405020304" pitchFamily="18" charset="0"/>
              </a:rPr>
              <a:t>    用排比句、修辞疑问句、倒装句等多样化的句型能增添语言的渲染力，增加文章的艺术色彩。例如：</a:t>
            </a:r>
          </a:p>
          <a:p>
            <a:pPr eaLnBrk="1" hangingPunct="1">
              <a:buFontTx/>
              <a:buNone/>
            </a:pPr>
            <a:endParaRPr lang="zh-CN" altLang="en-US" sz="2800" b="1" dirty="0" smtClean="0">
              <a:latin typeface="Times New Roman" panose="02020603050405020304" pitchFamily="18" charset="0"/>
            </a:endParaRPr>
          </a:p>
          <a:p>
            <a:pPr eaLnBrk="1" hangingPunct="1">
              <a:buFontTx/>
              <a:buNone/>
            </a:pPr>
            <a:r>
              <a:rPr lang="zh-CN" altLang="en-US" b="1" dirty="0" smtClean="0">
                <a:latin typeface="Times New Roman" panose="02020603050405020304" pitchFamily="18" charset="0"/>
              </a:rPr>
              <a:t>   </a:t>
            </a:r>
            <a:r>
              <a:rPr lang="en-US" altLang="zh-CN" sz="2800" b="1" dirty="0" smtClean="0">
                <a:latin typeface="Times New Roman" panose="02020603050405020304" pitchFamily="18" charset="0"/>
              </a:rPr>
              <a:t>a.  The more we get together, the happier we’ll</a:t>
            </a:r>
          </a:p>
          <a:p>
            <a:pPr eaLnBrk="1" hangingPunct="1">
              <a:buFontTx/>
              <a:buNone/>
            </a:pPr>
            <a:r>
              <a:rPr lang="en-US" altLang="zh-CN" sz="2800" b="1" dirty="0" smtClean="0">
                <a:latin typeface="Times New Roman" panose="02020603050405020304" pitchFamily="18" charset="0"/>
              </a:rPr>
              <a:t>         be.</a:t>
            </a:r>
          </a:p>
          <a:p>
            <a:pPr eaLnBrk="1" hangingPunct="1">
              <a:buFontTx/>
              <a:buNone/>
            </a:pPr>
            <a:r>
              <a:rPr lang="en-US" altLang="zh-CN" sz="2800" b="1" dirty="0" smtClean="0">
                <a:latin typeface="Times New Roman" panose="02020603050405020304" pitchFamily="18" charset="0"/>
              </a:rPr>
              <a:t>    b. Why is it that the more connected we get, the</a:t>
            </a:r>
          </a:p>
          <a:p>
            <a:pPr eaLnBrk="1" hangingPunct="1">
              <a:buFontTx/>
              <a:buNone/>
            </a:pPr>
            <a:r>
              <a:rPr lang="en-US" altLang="zh-CN" sz="2800" b="1" dirty="0" smtClean="0">
                <a:latin typeface="Times New Roman" panose="02020603050405020304" pitchFamily="18" charset="0"/>
              </a:rPr>
              <a:t>      more disconnected I feel?  </a:t>
            </a:r>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379908" name="AutoShape 4"/>
          <p:cNvSpPr>
            <a:spLocks noChangeArrowheads="1"/>
          </p:cNvSpPr>
          <p:nvPr/>
        </p:nvSpPr>
        <p:spPr bwMode="auto">
          <a:xfrm>
            <a:off x="684213" y="2420938"/>
            <a:ext cx="1584325" cy="50482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Example</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379908"/>
                                        </p:tgtEl>
                                        <p:attrNameLst>
                                          <p:attrName>style.visibility</p:attrName>
                                        </p:attrNameLst>
                                      </p:cBhvr>
                                      <p:to>
                                        <p:strVal val="visible"/>
                                      </p:to>
                                    </p:set>
                                    <p:animEffect transition="in" filter="box(out)">
                                      <p:cBhvr>
                                        <p:cTn id="7" dur="1000"/>
                                        <p:tgtEl>
                                          <p:spTgt spid="379908"/>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90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a:solidFill>
                  <a:schemeClr val="tx2"/>
                </a:solidFill>
                <a:latin typeface="Times New Roman" panose="02020603050405020304" pitchFamily="18" charset="0"/>
                <a:ea typeface="+mn-ea"/>
                <a:cs typeface="+mn-cs"/>
              </a:rPr>
              <a:t>（</a:t>
            </a:r>
            <a:r>
              <a:rPr lang="en-US" altLang="zh-CN" b="1" dirty="0">
                <a:solidFill>
                  <a:schemeClr val="tx2"/>
                </a:solidFill>
                <a:latin typeface="Times New Roman" panose="02020603050405020304" pitchFamily="18" charset="0"/>
                <a:ea typeface="+mn-ea"/>
                <a:cs typeface="+mn-cs"/>
              </a:rPr>
              <a:t>3</a:t>
            </a:r>
            <a:r>
              <a:rPr lang="zh-CN" altLang="en-US" b="1" dirty="0">
                <a:solidFill>
                  <a:schemeClr val="tx2"/>
                </a:solidFill>
                <a:latin typeface="Times New Roman" panose="02020603050405020304" pitchFamily="18" charset="0"/>
                <a:ea typeface="+mn-ea"/>
                <a:cs typeface="+mn-cs"/>
              </a:rPr>
              <a:t>）用词多样化</a:t>
            </a:r>
          </a:p>
        </p:txBody>
      </p:sp>
      <p:sp>
        <p:nvSpPr>
          <p:cNvPr id="3" name="内容占位符 2"/>
          <p:cNvSpPr>
            <a:spLocks noGrp="1"/>
          </p:cNvSpPr>
          <p:nvPr>
            <p:ph idx="1"/>
          </p:nvPr>
        </p:nvSpPr>
        <p:spPr>
          <a:xfrm>
            <a:off x="609598" y="1484784"/>
            <a:ext cx="6626697" cy="4968552"/>
          </a:xfrm>
        </p:spPr>
        <p:txBody>
          <a:bodyPr>
            <a:normAutofit fontScale="92500" lnSpcReduction="20000"/>
          </a:bodyPr>
          <a:lstStyle/>
          <a:p>
            <a:r>
              <a:rPr lang="en-US" altLang="zh-CN" dirty="0"/>
              <a:t>Pretty beautiful </a:t>
            </a:r>
            <a:r>
              <a:rPr lang="en-US" altLang="zh-CN" dirty="0" smtClean="0"/>
              <a:t>lovely graceful elegant</a:t>
            </a:r>
            <a:r>
              <a:rPr lang="zh-CN" altLang="zh-CN" dirty="0" smtClean="0"/>
              <a:t>很多</a:t>
            </a:r>
            <a:r>
              <a:rPr lang="zh-CN" altLang="en-US" dirty="0" smtClean="0"/>
              <a:t>词可以</a:t>
            </a:r>
            <a:r>
              <a:rPr lang="zh-CN" altLang="zh-CN" dirty="0" smtClean="0"/>
              <a:t>表达“很美”</a:t>
            </a:r>
            <a:r>
              <a:rPr lang="zh-CN" altLang="en-US" dirty="0" smtClean="0"/>
              <a:t>所以老外写作文时，很少使用重复单词。</a:t>
            </a:r>
            <a:r>
              <a:rPr lang="zh-CN" altLang="zh-CN" dirty="0" smtClean="0"/>
              <a:t>第</a:t>
            </a:r>
            <a:r>
              <a:rPr lang="zh-CN" altLang="zh-CN" dirty="0"/>
              <a:t>一段可能是</a:t>
            </a:r>
            <a:r>
              <a:rPr lang="en-US" altLang="zh-CN" dirty="0"/>
              <a:t>marvelous</a:t>
            </a:r>
            <a:r>
              <a:rPr lang="zh-CN" altLang="zh-CN" dirty="0"/>
              <a:t>和</a:t>
            </a:r>
            <a:r>
              <a:rPr lang="en-US" altLang="zh-CN" dirty="0"/>
              <a:t>gorgeous</a:t>
            </a:r>
            <a:r>
              <a:rPr lang="zh-CN" altLang="zh-CN" dirty="0"/>
              <a:t>；第二段马上换成</a:t>
            </a:r>
            <a:r>
              <a:rPr lang="en-US" altLang="zh-CN" dirty="0"/>
              <a:t>splendid</a:t>
            </a:r>
            <a:r>
              <a:rPr lang="zh-CN" altLang="zh-CN" dirty="0"/>
              <a:t>和</a:t>
            </a:r>
            <a:r>
              <a:rPr lang="en-US" altLang="zh-CN" dirty="0"/>
              <a:t>fantastic</a:t>
            </a:r>
            <a:r>
              <a:rPr lang="zh-CN" altLang="zh-CN" dirty="0"/>
              <a:t>；第三段又变成了</a:t>
            </a:r>
            <a:r>
              <a:rPr lang="en-US" altLang="zh-CN" dirty="0"/>
              <a:t>magnificent</a:t>
            </a:r>
            <a:r>
              <a:rPr lang="zh-CN" altLang="zh-CN" dirty="0"/>
              <a:t>和</a:t>
            </a:r>
            <a:r>
              <a:rPr lang="en-US" altLang="zh-CN" dirty="0"/>
              <a:t>glorious</a:t>
            </a:r>
            <a:r>
              <a:rPr lang="zh-CN" altLang="zh-CN" dirty="0"/>
              <a:t>。从“真</a:t>
            </a:r>
            <a:r>
              <a:rPr lang="en-US" altLang="zh-CN" dirty="0"/>
              <a:t>XX</a:t>
            </a:r>
            <a:r>
              <a:rPr lang="zh-CN" altLang="zh-CN" dirty="0"/>
              <a:t>美”一下子就上升成了“土地平旷、屋舍俨然、有良田美池桑竹之属”。</a:t>
            </a:r>
          </a:p>
          <a:p>
            <a:r>
              <a:rPr lang="en-US" altLang="zh-CN" dirty="0"/>
              <a:t> </a:t>
            </a:r>
            <a:endParaRPr lang="zh-CN" altLang="zh-CN" dirty="0"/>
          </a:p>
          <a:p>
            <a:r>
              <a:rPr lang="zh-CN" altLang="zh-CN" dirty="0"/>
              <a:t>同样，</a:t>
            </a:r>
            <a:r>
              <a:rPr lang="en-US" altLang="zh-CN" dirty="0"/>
              <a:t>increase</a:t>
            </a:r>
            <a:r>
              <a:rPr lang="zh-CN" altLang="zh-CN" dirty="0"/>
              <a:t>和</a:t>
            </a:r>
            <a:r>
              <a:rPr lang="en-US" altLang="zh-CN" dirty="0"/>
              <a:t>going up</a:t>
            </a:r>
            <a:r>
              <a:rPr lang="zh-CN" altLang="zh-CN" dirty="0"/>
              <a:t>可以替换为</a:t>
            </a:r>
            <a:r>
              <a:rPr lang="en-US" altLang="zh-CN" dirty="0"/>
              <a:t>raise</a:t>
            </a:r>
            <a:r>
              <a:rPr lang="zh-CN" altLang="zh-CN" dirty="0"/>
              <a:t>，</a:t>
            </a:r>
            <a:r>
              <a:rPr lang="en-US" altLang="zh-CN" dirty="0"/>
              <a:t>expand</a:t>
            </a:r>
            <a:r>
              <a:rPr lang="zh-CN" altLang="zh-CN" dirty="0"/>
              <a:t>，</a:t>
            </a:r>
            <a:r>
              <a:rPr lang="en-US" altLang="zh-CN" dirty="0"/>
              <a:t>amplify</a:t>
            </a:r>
            <a:r>
              <a:rPr lang="zh-CN" altLang="zh-CN" dirty="0"/>
              <a:t>，还可以来个修饰，用</a:t>
            </a:r>
            <a:r>
              <a:rPr lang="en-US" altLang="zh-CN" dirty="0"/>
              <a:t>rocket</a:t>
            </a:r>
            <a:r>
              <a:rPr lang="zh-CN" altLang="zh-CN" dirty="0"/>
              <a:t>来形容迅猛上升。</a:t>
            </a:r>
          </a:p>
          <a:p>
            <a:r>
              <a:rPr lang="en-US" altLang="zh-CN" dirty="0"/>
              <a:t>Big/large/huge/plenty of</a:t>
            </a:r>
            <a:r>
              <a:rPr lang="zh-CN" altLang="zh-CN" dirty="0"/>
              <a:t>替换为</a:t>
            </a:r>
            <a:r>
              <a:rPr lang="en-US" altLang="zh-CN" dirty="0"/>
              <a:t>enormous, tremendous, immense</a:t>
            </a:r>
            <a:r>
              <a:rPr lang="zh-CN" altLang="zh-CN" dirty="0"/>
              <a:t>，</a:t>
            </a:r>
            <a:r>
              <a:rPr lang="en-US" altLang="zh-CN" dirty="0"/>
              <a:t>colossal</a:t>
            </a:r>
            <a:r>
              <a:rPr lang="zh-CN" altLang="zh-CN" dirty="0"/>
              <a:t>，</a:t>
            </a:r>
            <a:r>
              <a:rPr lang="en-US" altLang="zh-CN" dirty="0"/>
              <a:t>gigantic</a:t>
            </a:r>
            <a:r>
              <a:rPr lang="zh-CN" altLang="zh-CN" dirty="0"/>
              <a:t>等。</a:t>
            </a:r>
          </a:p>
          <a:p>
            <a:r>
              <a:rPr lang="en-US" altLang="zh-CN" dirty="0"/>
              <a:t> </a:t>
            </a:r>
            <a:endParaRPr lang="zh-CN" altLang="zh-CN" dirty="0"/>
          </a:p>
          <a:p>
            <a:r>
              <a:rPr lang="zh-CN" altLang="zh-CN" dirty="0"/>
              <a:t>用这些词去替换掉自己的文章中老外不忍直视的那些烂俗的词，格局一下子就可以超脱“帮李华写作文”。</a:t>
            </a:r>
          </a:p>
          <a:p>
            <a:r>
              <a:rPr lang="en-US" altLang="zh-CN" dirty="0"/>
              <a:t> </a:t>
            </a:r>
            <a:endParaRPr lang="zh-CN" altLang="zh-CN" dirty="0"/>
          </a:p>
          <a:p>
            <a:r>
              <a:rPr lang="zh-CN" altLang="zh-CN" dirty="0"/>
              <a:t>现学现用。上一部分说到的逻辑词就可以做个这样的替换。例如我们作文中常见的“无限并列”“</a:t>
            </a:r>
            <a:r>
              <a:rPr lang="en-US" altLang="zh-CN" dirty="0"/>
              <a:t>A and B and C</a:t>
            </a:r>
            <a:r>
              <a:rPr lang="zh-CN" altLang="zh-CN" dirty="0"/>
              <a:t>，</a:t>
            </a:r>
            <a:r>
              <a:rPr lang="en-US" altLang="zh-CN" dirty="0"/>
              <a:t>D and E</a:t>
            </a:r>
            <a:r>
              <a:rPr lang="zh-CN" altLang="zh-CN" dirty="0"/>
              <a:t>”，看上去就乱。此时可以改成“</a:t>
            </a:r>
            <a:r>
              <a:rPr lang="en-US" altLang="zh-CN" dirty="0"/>
              <a:t>A, together with B, as well as C</a:t>
            </a:r>
            <a:r>
              <a:rPr lang="zh-CN" altLang="zh-CN" dirty="0"/>
              <a:t>”，或者“</a:t>
            </a:r>
            <a:r>
              <a:rPr lang="en-US" altLang="zh-CN" dirty="0"/>
              <a:t>D, coupled with E</a:t>
            </a:r>
            <a:r>
              <a:rPr lang="zh-CN" altLang="zh-CN" dirty="0"/>
              <a:t>”是不是立刻就上了一个档次。</a:t>
            </a:r>
          </a:p>
          <a:p>
            <a:endParaRPr lang="zh-CN" altLang="en-US" dirty="0"/>
          </a:p>
        </p:txBody>
      </p:sp>
    </p:spTree>
    <p:extLst>
      <p:ext uri="{BB962C8B-B14F-4D97-AF65-F5344CB8AC3E}">
        <p14:creationId xmlns:p14="http://schemas.microsoft.com/office/powerpoint/2010/main" val="365255627"/>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11560" y="332656"/>
            <a:ext cx="6552728" cy="504056"/>
          </a:xfrm>
        </p:spPr>
        <p:txBody>
          <a:bodyPr>
            <a:normAutofit fontScale="90000"/>
          </a:bodyPr>
          <a:lstStyle/>
          <a:p>
            <a:r>
              <a:rPr lang="en-US" altLang="zh-CN" dirty="0" smtClean="0"/>
              <a:t>PS </a:t>
            </a:r>
            <a:r>
              <a:rPr lang="zh-CN" altLang="en-US" dirty="0" smtClean="0"/>
              <a:t>英语</a:t>
            </a:r>
            <a:r>
              <a:rPr lang="zh-CN" altLang="en-US" dirty="0"/>
              <a:t>写作过渡性词语大全</a:t>
            </a:r>
            <a:br>
              <a:rPr lang="zh-CN" altLang="en-US" dirty="0"/>
            </a:br>
            <a:endParaRPr lang="zh-CN" altLang="en-US" dirty="0"/>
          </a:p>
        </p:txBody>
      </p:sp>
      <p:sp>
        <p:nvSpPr>
          <p:cNvPr id="3" name="内容占位符 2"/>
          <p:cNvSpPr>
            <a:spLocks noGrp="1"/>
          </p:cNvSpPr>
          <p:nvPr>
            <p:ph idx="1"/>
          </p:nvPr>
        </p:nvSpPr>
        <p:spPr>
          <a:xfrm>
            <a:off x="467544" y="854278"/>
            <a:ext cx="8352928" cy="5760640"/>
          </a:xfrm>
        </p:spPr>
        <p:txBody>
          <a:bodyPr>
            <a:normAutofit fontScale="77500" lnSpcReduction="20000"/>
          </a:bodyPr>
          <a:lstStyle/>
          <a:p>
            <a:r>
              <a:rPr lang="en-US" altLang="zh-CN" dirty="0" smtClean="0"/>
              <a:t>(1)</a:t>
            </a:r>
            <a:r>
              <a:rPr lang="zh-CN" altLang="en-US" dirty="0" smtClean="0"/>
              <a:t>表示增加的过渡词：</a:t>
            </a:r>
          </a:p>
          <a:p>
            <a:r>
              <a:rPr lang="en-US" altLang="zh-CN" dirty="0" smtClean="0"/>
              <a:t>also, and, and then, too, in addition, furthermore, moreover, again, on top of that, another, first/second/third</a:t>
            </a:r>
            <a:r>
              <a:rPr lang="zh-CN" altLang="en-US" dirty="0" smtClean="0"/>
              <a:t>等。</a:t>
            </a:r>
          </a:p>
          <a:p>
            <a:r>
              <a:rPr lang="en-US" altLang="zh-CN" dirty="0" smtClean="0"/>
              <a:t>(2)</a:t>
            </a:r>
            <a:r>
              <a:rPr lang="zh-CN" altLang="en-US" dirty="0" smtClean="0"/>
              <a:t>表示时 间顺序的过渡词：</a:t>
            </a:r>
          </a:p>
          <a:p>
            <a:r>
              <a:rPr lang="en-US" altLang="zh-CN" dirty="0" smtClean="0"/>
              <a:t>now, then, before, after, afterwards, earlier, later, immediately, soon, next, in a few days, gradually, suddenly, finally</a:t>
            </a:r>
            <a:r>
              <a:rPr lang="zh-CN" altLang="en-US" dirty="0" smtClean="0"/>
              <a:t>等。</a:t>
            </a:r>
            <a:endParaRPr lang="en-US" altLang="zh-CN" dirty="0" smtClean="0"/>
          </a:p>
          <a:p>
            <a:r>
              <a:rPr lang="en-US" altLang="zh-CN" dirty="0" smtClean="0"/>
              <a:t>(</a:t>
            </a:r>
            <a:r>
              <a:rPr lang="en-US" altLang="zh-CN" dirty="0"/>
              <a:t>3)</a:t>
            </a:r>
            <a:r>
              <a:rPr lang="zh-CN" altLang="en-US" dirty="0"/>
              <a:t>表示空间顺序的过渡词：</a:t>
            </a:r>
          </a:p>
          <a:p>
            <a:r>
              <a:rPr lang="en-US" altLang="zh-CN" dirty="0"/>
              <a:t>near(to), far(from), in front of, behind, beside, beyond, above, below, to the right/ left, around, outside</a:t>
            </a:r>
            <a:r>
              <a:rPr lang="zh-CN" altLang="en-US" dirty="0"/>
              <a:t>等。</a:t>
            </a:r>
          </a:p>
          <a:p>
            <a:r>
              <a:rPr lang="en-US" altLang="zh-CN" dirty="0"/>
              <a:t>(4)</a:t>
            </a:r>
            <a:r>
              <a:rPr lang="zh-CN" altLang="en-US" dirty="0"/>
              <a:t>表示比较的过渡词： </a:t>
            </a:r>
            <a:r>
              <a:rPr lang="en-US" altLang="zh-CN" dirty="0"/>
              <a:t>in the same way, just like, just as</a:t>
            </a:r>
            <a:r>
              <a:rPr lang="zh-CN" altLang="en-US" dirty="0"/>
              <a:t>等。</a:t>
            </a:r>
          </a:p>
          <a:p>
            <a:r>
              <a:rPr lang="en-US" altLang="zh-CN" dirty="0"/>
              <a:t>(5)</a:t>
            </a:r>
            <a:r>
              <a:rPr lang="zh-CN" altLang="en-US" dirty="0"/>
              <a:t>表示对照的过渡词：</a:t>
            </a:r>
          </a:p>
          <a:p>
            <a:r>
              <a:rPr lang="en-US" altLang="zh-CN" dirty="0"/>
              <a:t>but, still, yet, however, on the other hand, on the contrary, in spite of, even though</a:t>
            </a:r>
            <a:r>
              <a:rPr lang="zh-CN" altLang="en-US" dirty="0"/>
              <a:t>等。</a:t>
            </a:r>
            <a:r>
              <a:rPr lang="en-US" altLang="zh-CN" dirty="0"/>
              <a:t> (6)</a:t>
            </a:r>
            <a:r>
              <a:rPr lang="zh-CN" altLang="en-US" dirty="0"/>
              <a:t>表示结果和原因的过渡词：</a:t>
            </a:r>
          </a:p>
          <a:p>
            <a:r>
              <a:rPr lang="en-US" altLang="zh-CN" dirty="0"/>
              <a:t>because, since, so, as a result, therefore, then, thus, otherwise</a:t>
            </a:r>
            <a:r>
              <a:rPr lang="zh-CN" altLang="en-US" dirty="0"/>
              <a:t>等。</a:t>
            </a:r>
          </a:p>
          <a:p>
            <a:r>
              <a:rPr lang="zh-CN" altLang="en-US" dirty="0" smtClean="0"/>
              <a:t></a:t>
            </a:r>
            <a:r>
              <a:rPr lang="en-US" altLang="zh-CN" dirty="0"/>
              <a:t>(7)</a:t>
            </a:r>
            <a:r>
              <a:rPr lang="zh-CN" altLang="en-US" dirty="0"/>
              <a:t>表示目的的过渡词： </a:t>
            </a:r>
            <a:r>
              <a:rPr lang="en-US" altLang="zh-CN" dirty="0"/>
              <a:t>for this reason, for this purpose, so that</a:t>
            </a:r>
            <a:r>
              <a:rPr lang="zh-CN" altLang="en-US" dirty="0"/>
              <a:t>等。</a:t>
            </a:r>
          </a:p>
          <a:p>
            <a:r>
              <a:rPr lang="en-US" altLang="zh-CN" dirty="0"/>
              <a:t>(8)</a:t>
            </a:r>
            <a:r>
              <a:rPr lang="zh-CN" altLang="en-US" dirty="0"/>
              <a:t>表示强调的过渡词：</a:t>
            </a:r>
          </a:p>
          <a:p>
            <a:r>
              <a:rPr lang="en-US" altLang="zh-CN" dirty="0"/>
              <a:t>in fact, indeed, surely, necessarily, certainly, without any doubt, truly, to repeat, above all, most important</a:t>
            </a:r>
            <a:r>
              <a:rPr lang="zh-CN" altLang="en-US" dirty="0"/>
              <a:t>等。</a:t>
            </a:r>
          </a:p>
          <a:p>
            <a:r>
              <a:rPr lang="en-US" altLang="zh-CN" dirty="0"/>
              <a:t>(9</a:t>
            </a:r>
            <a:r>
              <a:rPr lang="zh-CN" altLang="en-US" dirty="0"/>
              <a:t>表示解释说明的过渡词：</a:t>
            </a:r>
            <a:r>
              <a:rPr lang="en-US" altLang="zh-CN" dirty="0"/>
              <a:t>for example, in fact, in this case, for actually</a:t>
            </a:r>
            <a:r>
              <a:rPr lang="zh-CN" altLang="en-US" dirty="0"/>
              <a:t>等</a:t>
            </a:r>
          </a:p>
          <a:p>
            <a:r>
              <a:rPr lang="en-US" altLang="zh-CN" dirty="0"/>
              <a:t>10)</a:t>
            </a:r>
            <a:r>
              <a:rPr lang="zh-CN" altLang="en-US" dirty="0"/>
              <a:t>表示总结的过渡词：</a:t>
            </a:r>
          </a:p>
          <a:p>
            <a:r>
              <a:rPr lang="en-US" altLang="zh-CN" dirty="0"/>
              <a:t>finally, at last, in conclusion, as I have shown, in other word, in brief, in short, in general, on the whole, as has been stated</a:t>
            </a:r>
            <a:r>
              <a:rPr lang="zh-CN" altLang="en-US" dirty="0"/>
              <a:t>等。</a:t>
            </a:r>
          </a:p>
          <a:p>
            <a:endParaRPr lang="zh-CN" altLang="en-US" dirty="0" smtClean="0"/>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3"/>
          <p:cNvSpPr>
            <a:spLocks noGrp="1" noChangeArrowheads="1"/>
          </p:cNvSpPr>
          <p:nvPr>
            <p:ph idx="1"/>
          </p:nvPr>
        </p:nvSpPr>
        <p:spPr>
          <a:xfrm>
            <a:off x="323850" y="404813"/>
            <a:ext cx="8496300" cy="5688012"/>
          </a:xfrm>
        </p:spPr>
        <p:txBody>
          <a:bodyPr>
            <a:normAutofit/>
          </a:bodyPr>
          <a:lstStyle/>
          <a:p>
            <a:pPr algn="ctr"/>
            <a:r>
              <a:rPr lang="zh-CN" altLang="en-US" sz="3200" b="1" dirty="0">
                <a:latin typeface="宋体" panose="02010600030101010101" pitchFamily="2" charset="-122"/>
              </a:rPr>
              <a:t>第二节 英语段落</a:t>
            </a:r>
            <a:r>
              <a:rPr lang="zh-CN" altLang="en-US" sz="2000" b="1" dirty="0">
                <a:latin typeface="楷体_GB2312" pitchFamily="49" charset="-122"/>
                <a:ea typeface="楷体_GB2312" pitchFamily="49" charset="-122"/>
              </a:rPr>
              <a:t> </a:t>
            </a:r>
            <a:r>
              <a:rPr lang="en-US" altLang="zh-CN" sz="2800" dirty="0">
                <a:latin typeface="Times New Roman" panose="02020603050405020304" pitchFamily="18" charset="0"/>
                <a:ea typeface="楷体_GB2312" pitchFamily="49" charset="-122"/>
              </a:rPr>
              <a:t>(</a:t>
            </a:r>
            <a:r>
              <a:rPr lang="en-US" altLang="zh-CN" sz="2800" b="1" dirty="0">
                <a:latin typeface="Times New Roman" panose="02020603050405020304" pitchFamily="18" charset="0"/>
                <a:ea typeface="楷体_GB2312" pitchFamily="49" charset="-122"/>
              </a:rPr>
              <a:t>Paragraphs)</a:t>
            </a:r>
          </a:p>
          <a:p>
            <a:pPr eaLnBrk="1" hangingPunct="1">
              <a:lnSpc>
                <a:spcPct val="90000"/>
              </a:lnSpc>
              <a:buFontTx/>
              <a:buNone/>
            </a:pPr>
            <a:r>
              <a:rPr lang="en-US" altLang="zh-CN" sz="2800" b="1" dirty="0" smtClean="0">
                <a:latin typeface="宋体" panose="02010600030101010101" pitchFamily="2" charset="-122"/>
              </a:rPr>
              <a:t>1.2.1.</a:t>
            </a:r>
            <a:r>
              <a:rPr lang="zh-CN" altLang="en-US" sz="2800" b="1" dirty="0" smtClean="0"/>
              <a:t>段落的组成 </a:t>
            </a:r>
            <a:r>
              <a:rPr lang="en-US" altLang="zh-CN" sz="2800" b="1" dirty="0" smtClean="0">
                <a:latin typeface="Times New Roman" panose="02020603050405020304" pitchFamily="18" charset="0"/>
              </a:rPr>
              <a:t>(Basic Structure of a Paragraph)</a:t>
            </a:r>
          </a:p>
          <a:p>
            <a:pPr eaLnBrk="1" hangingPunct="1">
              <a:lnSpc>
                <a:spcPct val="90000"/>
              </a:lnSpc>
              <a:buFontTx/>
              <a:buNone/>
            </a:pPr>
            <a:r>
              <a:rPr lang="en-US" altLang="zh-CN" sz="2800" b="1" dirty="0" smtClean="0"/>
              <a:t>		</a:t>
            </a:r>
            <a:r>
              <a:rPr lang="zh-CN" altLang="en-US" sz="2800" b="1" dirty="0" smtClean="0"/>
              <a:t>一个核心的英语段落一般由一个主题句</a:t>
            </a:r>
            <a:r>
              <a:rPr lang="en-US" altLang="zh-CN" sz="2800" b="1" dirty="0" smtClean="0">
                <a:solidFill>
                  <a:schemeClr val="tx2"/>
                </a:solidFill>
                <a:latin typeface="Times New Roman" panose="02020603050405020304" pitchFamily="18" charset="0"/>
              </a:rPr>
              <a:t>(topic sentence)</a:t>
            </a:r>
            <a:r>
              <a:rPr lang="zh-CN" altLang="en-US" sz="2800" b="1" dirty="0" smtClean="0">
                <a:latin typeface="Times New Roman" panose="02020603050405020304" pitchFamily="18" charset="0"/>
              </a:rPr>
              <a:t>、若干个支持句或扩展句</a:t>
            </a:r>
            <a:r>
              <a:rPr lang="en-US" altLang="zh-CN" sz="2800" b="1" dirty="0" smtClean="0">
                <a:latin typeface="Times New Roman" panose="02020603050405020304" pitchFamily="18" charset="0"/>
              </a:rPr>
              <a:t>(supporting sentence</a:t>
            </a:r>
            <a:r>
              <a:rPr lang="zh-CN" altLang="en-US" sz="2800" b="1" dirty="0" smtClean="0">
                <a:latin typeface="Times New Roman" panose="02020603050405020304" pitchFamily="18" charset="0"/>
              </a:rPr>
              <a:t>或</a:t>
            </a:r>
            <a:r>
              <a:rPr lang="en-US" altLang="zh-CN" sz="2800" b="1" dirty="0" smtClean="0">
                <a:latin typeface="Times New Roman" panose="02020603050405020304" pitchFamily="18" charset="0"/>
              </a:rPr>
              <a:t>developing sentence)</a:t>
            </a:r>
            <a:r>
              <a:rPr lang="zh-CN" altLang="en-US" sz="2800" b="1" dirty="0" smtClean="0">
                <a:latin typeface="Times New Roman" panose="02020603050405020304" pitchFamily="18" charset="0"/>
              </a:rPr>
              <a:t>构成</a:t>
            </a:r>
            <a:r>
              <a:rPr lang="en-US" altLang="zh-CN" sz="2800" b="1" dirty="0" smtClean="0">
                <a:latin typeface="Times New Roman" panose="02020603050405020304" pitchFamily="18" charset="0"/>
              </a:rPr>
              <a:t>, </a:t>
            </a:r>
            <a:r>
              <a:rPr lang="zh-CN" altLang="en-US" sz="2800" b="1" dirty="0" smtClean="0">
                <a:latin typeface="Times New Roman" panose="02020603050405020304" pitchFamily="18" charset="0"/>
              </a:rPr>
              <a:t>有的还有关联句（</a:t>
            </a:r>
            <a:r>
              <a:rPr lang="en-US" altLang="zh-CN" sz="2800" b="1" dirty="0" smtClean="0">
                <a:latin typeface="Times New Roman" panose="02020603050405020304" pitchFamily="18" charset="0"/>
              </a:rPr>
              <a:t>transitional sentence</a:t>
            </a:r>
            <a:r>
              <a:rPr lang="zh-CN" altLang="en-US" sz="2800" b="1" dirty="0" smtClean="0">
                <a:latin typeface="Times New Roman" panose="02020603050405020304" pitchFamily="18" charset="0"/>
              </a:rPr>
              <a:t>）和结论句（</a:t>
            </a:r>
            <a:r>
              <a:rPr lang="en-US" altLang="zh-CN" sz="2800" b="1" dirty="0" smtClean="0">
                <a:latin typeface="Times New Roman" panose="02020603050405020304" pitchFamily="18" charset="0"/>
              </a:rPr>
              <a:t>concluding sentence</a:t>
            </a:r>
            <a:r>
              <a:rPr lang="zh-CN" altLang="en-US" sz="2800" b="1" dirty="0" smtClean="0">
                <a:latin typeface="Times New Roman" panose="02020603050405020304" pitchFamily="18" charset="0"/>
              </a:rPr>
              <a:t>）。</a:t>
            </a:r>
            <a:endParaRPr lang="en-US" altLang="zh-CN" sz="2800" b="1" dirty="0" smtClean="0">
              <a:latin typeface="Times New Roman" panose="02020603050405020304" pitchFamily="18" charset="0"/>
            </a:endParaRPr>
          </a:p>
          <a:p>
            <a:pPr eaLnBrk="1" hangingPunct="1">
              <a:lnSpc>
                <a:spcPct val="90000"/>
              </a:lnSpc>
              <a:buFontTx/>
              <a:buNone/>
            </a:pPr>
            <a:r>
              <a:rPr lang="en-US" altLang="zh-CN" sz="2800" b="1" dirty="0">
                <a:latin typeface="Times New Roman" panose="02020603050405020304" pitchFamily="18" charset="0"/>
              </a:rPr>
              <a:t> </a:t>
            </a:r>
            <a:r>
              <a:rPr lang="en-US" altLang="zh-CN" sz="2800" b="1" dirty="0" smtClean="0">
                <a:latin typeface="Times New Roman" panose="02020603050405020304" pitchFamily="18" charset="0"/>
              </a:rPr>
              <a:t>         </a:t>
            </a:r>
            <a:r>
              <a:rPr lang="zh-CN" altLang="en-US" sz="2800" b="1" dirty="0" smtClean="0">
                <a:latin typeface="Times New Roman" panose="02020603050405020304" pitchFamily="18" charset="0"/>
              </a:rPr>
              <a:t>主题句</a:t>
            </a:r>
            <a:r>
              <a:rPr lang="zh-CN" altLang="en-US" sz="2800" b="1" dirty="0" smtClean="0"/>
              <a:t>给出谈论的话题，或着段落的主旨即中心思想；支持句是对主题句进行的阐释、说明、例证或引申等；关联句使主题句和各支持句连贯成一个整体；结论句对全段作总结，往往照应主题句，起承上的作用。</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97282" name="Rectangle 4"/>
          <p:cNvSpPr>
            <a:spLocks noChangeArrowheads="1"/>
          </p:cNvSpPr>
          <p:nvPr/>
        </p:nvSpPr>
        <p:spPr bwMode="auto">
          <a:xfrm>
            <a:off x="1476375" y="404813"/>
            <a:ext cx="6408738" cy="504825"/>
          </a:xfrm>
          <a:prstGeom prst="rect">
            <a:avLst/>
          </a:prstGeom>
          <a:solidFill>
            <a:schemeClr val="accent1"/>
          </a:solidFill>
          <a:ln w="9525">
            <a:solidFill>
              <a:schemeClr val="tx1"/>
            </a:solidFill>
            <a:miter lim="800000"/>
          </a:ln>
        </p:spPr>
        <p:txBody>
          <a:bodyPr wrap="none" anchor="ctr"/>
          <a:lstStyle/>
          <a:p>
            <a:pPr algn="ctr"/>
            <a:r>
              <a:rPr lang="en-US" altLang="zh-CN" sz="2800" b="1">
                <a:latin typeface="Times New Roman" panose="02020603050405020304" pitchFamily="18" charset="0"/>
              </a:rPr>
              <a:t>Topic Sentence (general)</a:t>
            </a:r>
          </a:p>
        </p:txBody>
      </p:sp>
      <p:sp>
        <p:nvSpPr>
          <p:cNvPr id="97283" name="Rectangle 6"/>
          <p:cNvSpPr>
            <a:spLocks noChangeArrowheads="1"/>
          </p:cNvSpPr>
          <p:nvPr/>
        </p:nvSpPr>
        <p:spPr bwMode="auto">
          <a:xfrm>
            <a:off x="1476375" y="1412875"/>
            <a:ext cx="6480175" cy="792163"/>
          </a:xfrm>
          <a:prstGeom prst="rect">
            <a:avLst/>
          </a:prstGeom>
          <a:solidFill>
            <a:schemeClr val="accent1"/>
          </a:solidFill>
          <a:ln w="9525">
            <a:solidFill>
              <a:schemeClr val="tx1"/>
            </a:solidFill>
            <a:miter lim="800000"/>
          </a:ln>
        </p:spPr>
        <p:txBody>
          <a:bodyPr wrap="none" anchor="ctr"/>
          <a:lstStyle/>
          <a:p>
            <a:pPr marL="342900" indent="-342900" algn="ctr"/>
            <a:endParaRPr lang="en-US" altLang="zh-CN">
              <a:latin typeface="Cambria" panose="02040503050406030204" charset="0"/>
            </a:endParaRPr>
          </a:p>
          <a:p>
            <a:pPr marL="342900" indent="-342900" algn="ctr"/>
            <a:r>
              <a:rPr lang="en-US" altLang="zh-CN" b="1">
                <a:latin typeface="Times New Roman" panose="02020603050405020304" pitchFamily="18" charset="0"/>
              </a:rPr>
              <a:t>Supporting Sentence No.1 (specific)</a:t>
            </a:r>
          </a:p>
          <a:p>
            <a:pPr marL="342900" indent="-342900" algn="ctr"/>
            <a:r>
              <a:rPr lang="en-US" altLang="zh-CN" b="1">
                <a:latin typeface="Times New Roman" panose="02020603050405020304" pitchFamily="18" charset="0"/>
              </a:rPr>
              <a:t>(explanation, example, or more details)</a:t>
            </a:r>
          </a:p>
          <a:p>
            <a:pPr marL="342900" indent="-342900" algn="ctr"/>
            <a:endParaRPr lang="en-US" altLang="zh-CN" b="1">
              <a:latin typeface="Times New Roman" panose="02020603050405020304" pitchFamily="18" charset="0"/>
            </a:endParaRPr>
          </a:p>
        </p:txBody>
      </p:sp>
      <p:sp>
        <p:nvSpPr>
          <p:cNvPr id="97284" name="Rectangle 7"/>
          <p:cNvSpPr>
            <a:spLocks noChangeArrowheads="1"/>
          </p:cNvSpPr>
          <p:nvPr/>
        </p:nvSpPr>
        <p:spPr bwMode="auto">
          <a:xfrm>
            <a:off x="1476375" y="2708275"/>
            <a:ext cx="6480175" cy="504825"/>
          </a:xfrm>
          <a:prstGeom prst="rect">
            <a:avLst/>
          </a:prstGeom>
          <a:solidFill>
            <a:schemeClr val="accent1"/>
          </a:solidFill>
          <a:ln w="9525">
            <a:solidFill>
              <a:schemeClr val="tx1"/>
            </a:solidFill>
            <a:miter lim="800000"/>
          </a:ln>
        </p:spPr>
        <p:txBody>
          <a:bodyPr wrap="none" anchor="ctr"/>
          <a:lstStyle/>
          <a:p>
            <a:pPr algn="ctr"/>
            <a:endParaRPr lang="en-US" altLang="zh-CN" b="1">
              <a:latin typeface="Cambria" panose="02040503050406030204" charset="0"/>
            </a:endParaRPr>
          </a:p>
          <a:p>
            <a:pPr algn="ctr"/>
            <a:r>
              <a:rPr lang="en-US" altLang="zh-CN" sz="2800" b="1">
                <a:latin typeface="Times New Roman" panose="02020603050405020304" pitchFamily="18" charset="0"/>
              </a:rPr>
              <a:t> Supporting Sentence </a:t>
            </a:r>
            <a:r>
              <a:rPr lang="en-US" altLang="zh-CN" b="1">
                <a:latin typeface="Times New Roman" panose="02020603050405020304" pitchFamily="18" charset="0"/>
              </a:rPr>
              <a:t>No.2</a:t>
            </a:r>
            <a:r>
              <a:rPr lang="en-US" altLang="zh-CN" sz="2800" b="1">
                <a:latin typeface="Times New Roman" panose="02020603050405020304" pitchFamily="18" charset="0"/>
              </a:rPr>
              <a:t> (specific)</a:t>
            </a:r>
          </a:p>
          <a:p>
            <a:pPr algn="ctr"/>
            <a:endParaRPr lang="en-US" altLang="zh-CN" sz="2800" b="1">
              <a:latin typeface="Times New Roman" panose="02020603050405020304" pitchFamily="18" charset="0"/>
            </a:endParaRPr>
          </a:p>
        </p:txBody>
      </p:sp>
      <p:sp>
        <p:nvSpPr>
          <p:cNvPr id="97285" name="Rectangle 8"/>
          <p:cNvSpPr>
            <a:spLocks noChangeArrowheads="1"/>
          </p:cNvSpPr>
          <p:nvPr/>
        </p:nvSpPr>
        <p:spPr bwMode="auto">
          <a:xfrm>
            <a:off x="1403350" y="3716338"/>
            <a:ext cx="6480175" cy="649287"/>
          </a:xfrm>
          <a:prstGeom prst="rect">
            <a:avLst/>
          </a:prstGeom>
          <a:solidFill>
            <a:schemeClr val="accent1"/>
          </a:solidFill>
          <a:ln w="9525">
            <a:solidFill>
              <a:schemeClr val="tx1"/>
            </a:solidFill>
            <a:miter lim="800000"/>
          </a:ln>
        </p:spPr>
        <p:txBody>
          <a:bodyPr wrap="none" anchor="ctr"/>
          <a:lstStyle/>
          <a:p>
            <a:pPr algn="ctr"/>
            <a:endParaRPr lang="en-US" altLang="zh-CN" b="1">
              <a:latin typeface="Cambria" panose="02040503050406030204" charset="0"/>
            </a:endParaRPr>
          </a:p>
          <a:p>
            <a:pPr algn="ctr"/>
            <a:r>
              <a:rPr lang="en-US" altLang="zh-CN" sz="2800" b="1">
                <a:latin typeface="Times New Roman" panose="02020603050405020304" pitchFamily="18" charset="0"/>
              </a:rPr>
              <a:t>Supporting Sentence </a:t>
            </a:r>
            <a:r>
              <a:rPr lang="en-US" altLang="zh-CN" b="1">
                <a:latin typeface="Times New Roman" panose="02020603050405020304" pitchFamily="18" charset="0"/>
              </a:rPr>
              <a:t>No.3</a:t>
            </a:r>
            <a:r>
              <a:rPr lang="en-US" altLang="zh-CN">
                <a:latin typeface="Cambria" panose="02040503050406030204" charset="0"/>
              </a:rPr>
              <a:t> </a:t>
            </a:r>
            <a:r>
              <a:rPr lang="en-US" altLang="zh-CN" sz="2800" b="1">
                <a:latin typeface="Times New Roman" panose="02020603050405020304" pitchFamily="18" charset="0"/>
              </a:rPr>
              <a:t>(specific)</a:t>
            </a:r>
          </a:p>
          <a:p>
            <a:pPr algn="ctr"/>
            <a:endParaRPr lang="en-US" altLang="zh-CN" sz="2800" b="1">
              <a:latin typeface="Times New Roman" panose="02020603050405020304" pitchFamily="18" charset="0"/>
            </a:endParaRPr>
          </a:p>
        </p:txBody>
      </p:sp>
      <p:sp>
        <p:nvSpPr>
          <p:cNvPr id="97286" name="Rectangle 9"/>
          <p:cNvSpPr>
            <a:spLocks noChangeArrowheads="1"/>
          </p:cNvSpPr>
          <p:nvPr/>
        </p:nvSpPr>
        <p:spPr bwMode="auto">
          <a:xfrm>
            <a:off x="1476375" y="4868863"/>
            <a:ext cx="6480175" cy="504825"/>
          </a:xfrm>
          <a:prstGeom prst="rect">
            <a:avLst/>
          </a:prstGeom>
          <a:solidFill>
            <a:schemeClr val="accent1"/>
          </a:solidFill>
          <a:ln w="9525">
            <a:solidFill>
              <a:schemeClr val="tx1"/>
            </a:solidFill>
            <a:miter lim="800000"/>
          </a:ln>
        </p:spPr>
        <p:txBody>
          <a:bodyPr wrap="none" anchor="ctr"/>
          <a:lstStyle/>
          <a:p>
            <a:pPr algn="ctr"/>
            <a:endParaRPr lang="en-US" altLang="zh-CN" sz="2800" b="1">
              <a:latin typeface="Times New Roman" panose="02020603050405020304" pitchFamily="18" charset="0"/>
            </a:endParaRPr>
          </a:p>
          <a:p>
            <a:pPr algn="ctr"/>
            <a:r>
              <a:rPr lang="en-US" altLang="zh-CN" sz="2800" b="1">
                <a:latin typeface="Times New Roman" panose="02020603050405020304" pitchFamily="18" charset="0"/>
              </a:rPr>
              <a:t>Concluding Sentence (general)</a:t>
            </a:r>
          </a:p>
          <a:p>
            <a:pPr algn="ctr"/>
            <a:endParaRPr lang="en-US" altLang="zh-CN" sz="2800" b="1">
              <a:latin typeface="Times New Roman" panose="02020603050405020304" pitchFamily="18" charset="0"/>
            </a:endParaRPr>
          </a:p>
        </p:txBody>
      </p:sp>
      <p:sp>
        <p:nvSpPr>
          <p:cNvPr id="97287" name="AutoShape 17"/>
          <p:cNvSpPr>
            <a:spLocks noChangeArrowheads="1"/>
          </p:cNvSpPr>
          <p:nvPr/>
        </p:nvSpPr>
        <p:spPr bwMode="auto">
          <a:xfrm>
            <a:off x="4643438" y="908050"/>
            <a:ext cx="144462" cy="504825"/>
          </a:xfrm>
          <a:prstGeom prst="downArrow">
            <a:avLst>
              <a:gd name="adj1" fmla="val 50000"/>
              <a:gd name="adj2" fmla="val 87363"/>
            </a:avLst>
          </a:prstGeom>
          <a:solidFill>
            <a:schemeClr val="bg1"/>
          </a:solidFill>
          <a:ln w="9525">
            <a:solidFill>
              <a:schemeClr val="hlink"/>
            </a:solidFill>
            <a:miter lim="800000"/>
          </a:ln>
        </p:spPr>
        <p:txBody>
          <a:bodyPr wrap="none" anchor="ctr"/>
          <a:lstStyle/>
          <a:p>
            <a:endParaRPr lang="zh-CN" altLang="en-US">
              <a:latin typeface="Cambria" panose="02040503050406030204" charset="0"/>
              <a:ea typeface="华文楷体" panose="02010600040101010101" pitchFamily="2" charset="-122"/>
            </a:endParaRPr>
          </a:p>
        </p:txBody>
      </p:sp>
      <p:sp>
        <p:nvSpPr>
          <p:cNvPr id="97288" name="AutoShape 18"/>
          <p:cNvSpPr>
            <a:spLocks noChangeArrowheads="1"/>
          </p:cNvSpPr>
          <p:nvPr/>
        </p:nvSpPr>
        <p:spPr bwMode="auto">
          <a:xfrm>
            <a:off x="4643438" y="3213100"/>
            <a:ext cx="144462" cy="504825"/>
          </a:xfrm>
          <a:prstGeom prst="downArrow">
            <a:avLst>
              <a:gd name="adj1" fmla="val 50000"/>
              <a:gd name="adj2" fmla="val 87363"/>
            </a:avLst>
          </a:prstGeom>
          <a:solidFill>
            <a:schemeClr val="bg1"/>
          </a:solidFill>
          <a:ln w="9525">
            <a:solidFill>
              <a:schemeClr val="tx1"/>
            </a:solidFill>
            <a:miter lim="800000"/>
          </a:ln>
        </p:spPr>
        <p:txBody>
          <a:bodyPr wrap="none" anchor="ctr"/>
          <a:lstStyle/>
          <a:p>
            <a:endParaRPr lang="zh-CN" altLang="en-US">
              <a:latin typeface="Cambria" panose="02040503050406030204" charset="0"/>
              <a:ea typeface="华文楷体" panose="02010600040101010101" pitchFamily="2" charset="-122"/>
            </a:endParaRPr>
          </a:p>
        </p:txBody>
      </p:sp>
      <p:sp>
        <p:nvSpPr>
          <p:cNvPr id="97289" name="AutoShape 19"/>
          <p:cNvSpPr>
            <a:spLocks noChangeArrowheads="1"/>
          </p:cNvSpPr>
          <p:nvPr/>
        </p:nvSpPr>
        <p:spPr bwMode="auto">
          <a:xfrm>
            <a:off x="4643438" y="2205038"/>
            <a:ext cx="144462" cy="504825"/>
          </a:xfrm>
          <a:prstGeom prst="downArrow">
            <a:avLst>
              <a:gd name="adj1" fmla="val 50000"/>
              <a:gd name="adj2" fmla="val 87363"/>
            </a:avLst>
          </a:prstGeom>
          <a:solidFill>
            <a:schemeClr val="bg1"/>
          </a:solidFill>
          <a:ln w="9525">
            <a:solidFill>
              <a:schemeClr val="tx1"/>
            </a:solidFill>
            <a:miter lim="800000"/>
          </a:ln>
        </p:spPr>
        <p:txBody>
          <a:bodyPr wrap="none" anchor="ctr"/>
          <a:lstStyle/>
          <a:p>
            <a:endParaRPr lang="zh-CN" altLang="en-US">
              <a:latin typeface="Cambria" panose="02040503050406030204" charset="0"/>
              <a:ea typeface="华文楷体" panose="02010600040101010101" pitchFamily="2" charset="-122"/>
            </a:endParaRPr>
          </a:p>
        </p:txBody>
      </p:sp>
      <p:sp>
        <p:nvSpPr>
          <p:cNvPr id="97290" name="AutoShape 20"/>
          <p:cNvSpPr>
            <a:spLocks noChangeArrowheads="1"/>
          </p:cNvSpPr>
          <p:nvPr/>
        </p:nvSpPr>
        <p:spPr bwMode="auto">
          <a:xfrm>
            <a:off x="4716463" y="4365625"/>
            <a:ext cx="142875" cy="504825"/>
          </a:xfrm>
          <a:prstGeom prst="downArrow">
            <a:avLst>
              <a:gd name="adj1" fmla="val 50000"/>
              <a:gd name="adj2" fmla="val 88333"/>
            </a:avLst>
          </a:prstGeom>
          <a:solidFill>
            <a:schemeClr val="bg1"/>
          </a:solidFill>
          <a:ln w="9525">
            <a:solidFill>
              <a:schemeClr val="tx1"/>
            </a:solidFill>
            <a:miter lim="800000"/>
          </a:ln>
        </p:spPr>
        <p:txBody>
          <a:bodyPr wrap="none" anchor="ctr"/>
          <a:lstStyle/>
          <a:p>
            <a:endParaRPr lang="zh-CN" altLang="en-US">
              <a:latin typeface="Cambria" panose="02040503050406030204" charset="0"/>
              <a:ea typeface="华文楷体" panose="02010600040101010101" pitchFamily="2" charset="-122"/>
            </a:endParaRPr>
          </a:p>
        </p:txBody>
      </p:sp>
    </p:spTree>
  </p:cSld>
  <p:clrMapOvr>
    <a:masterClrMapping/>
  </p:clrMapOvr>
  <p:transition advTm="10000"/>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支持句与主题句关系</a:t>
            </a:r>
            <a:endParaRPr lang="zh-CN" altLang="en-US" dirty="0"/>
          </a:p>
        </p:txBody>
      </p:sp>
      <p:sp>
        <p:nvSpPr>
          <p:cNvPr id="3" name="内容占位符 2"/>
          <p:cNvSpPr>
            <a:spLocks noGrp="1"/>
          </p:cNvSpPr>
          <p:nvPr>
            <p:ph idx="1"/>
          </p:nvPr>
        </p:nvSpPr>
        <p:spPr>
          <a:xfrm>
            <a:off x="683567" y="1412776"/>
            <a:ext cx="6273745" cy="4628587"/>
          </a:xfrm>
        </p:spPr>
        <p:txBody>
          <a:bodyPr>
            <a:normAutofit/>
          </a:bodyPr>
          <a:lstStyle/>
          <a:p>
            <a:r>
              <a:rPr lang="zh-CN" altLang="en-US" sz="2400" dirty="0" smtClean="0"/>
              <a:t>总分，原因，一般到具体，正反论证，例证，递进，下定义，时间，空间，步骤</a:t>
            </a:r>
            <a:endParaRPr lang="zh-CN" altLang="en-US" sz="2400" dirty="0"/>
          </a:p>
        </p:txBody>
      </p:sp>
    </p:spTree>
  </p:cSld>
  <p:clrMapOvr>
    <a:masterClrMapping/>
  </p:clrMapOvr>
  <p:transition>
    <p:fade/>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147248" cy="202034"/>
          </a:xfrm>
        </p:spPr>
        <p:txBody>
          <a:bodyPr>
            <a:normAutofit fontScale="90000"/>
          </a:bodyPr>
          <a:lstStyle/>
          <a:p>
            <a:r>
              <a:rPr lang="zh-CN" altLang="en-US" dirty="0" smtClean="0"/>
              <a:t> </a:t>
            </a:r>
            <a:endParaRPr lang="zh-CN" altLang="en-US" dirty="0"/>
          </a:p>
        </p:txBody>
      </p:sp>
      <p:sp>
        <p:nvSpPr>
          <p:cNvPr id="3" name="内容占位符 2"/>
          <p:cNvSpPr>
            <a:spLocks noGrp="1"/>
          </p:cNvSpPr>
          <p:nvPr>
            <p:ph idx="1"/>
          </p:nvPr>
        </p:nvSpPr>
        <p:spPr>
          <a:xfrm>
            <a:off x="539552" y="404664"/>
            <a:ext cx="8496944" cy="5976664"/>
          </a:xfrm>
        </p:spPr>
        <p:txBody>
          <a:bodyPr/>
          <a:lstStyle/>
          <a:p>
            <a:r>
              <a:rPr lang="zh-CN" altLang="en-US" dirty="0" smtClean="0"/>
              <a:t>　</a:t>
            </a:r>
            <a:r>
              <a:rPr lang="en-US" altLang="zh-CN" sz="2400" dirty="0" smtClean="0"/>
              <a:t>We learn from the bar chart that people in mounting numbers would like to choose electronic books, while less people like paper books. What might account for this phenomenon? Reasons can be listed as follows: for one </a:t>
            </a:r>
            <a:r>
              <a:rPr lang="en-US" altLang="zh-CN" sz="2400" b="1" dirty="0" smtClean="0"/>
              <a:t>thing</a:t>
            </a:r>
            <a:r>
              <a:rPr lang="en-US" altLang="zh-CN" sz="2400" dirty="0" smtClean="0"/>
              <a:t>, with the widespread availability of electronic devices such as </a:t>
            </a:r>
            <a:r>
              <a:rPr lang="en-US" altLang="zh-CN" sz="2400" dirty="0" err="1" smtClean="0"/>
              <a:t>smartphones</a:t>
            </a:r>
            <a:r>
              <a:rPr lang="zh-CN" altLang="en-US" sz="2400" dirty="0" smtClean="0"/>
              <a:t>，</a:t>
            </a:r>
            <a:r>
              <a:rPr lang="en-US" altLang="zh-CN" sz="2400" dirty="0" smtClean="0"/>
              <a:t>tablet PC and Electronic Reader</a:t>
            </a:r>
            <a:r>
              <a:rPr lang="zh-CN" altLang="en-US" sz="2400" dirty="0" smtClean="0"/>
              <a:t>，</a:t>
            </a:r>
            <a:r>
              <a:rPr lang="en-US" altLang="zh-CN" sz="2400" dirty="0" smtClean="0"/>
              <a:t>it is much easier for electronic books to be applied and popularized</a:t>
            </a:r>
            <a:r>
              <a:rPr lang="en-US" altLang="zh-CN" sz="2400" b="1" dirty="0" smtClean="0"/>
              <a:t>. Secondly, </a:t>
            </a:r>
            <a:r>
              <a:rPr lang="en-US" altLang="zh-CN" sz="2400" dirty="0" smtClean="0"/>
              <a:t>compared with paper books, electronic books are characterized by convenience in terms of carrying and saving spaces. </a:t>
            </a:r>
            <a:r>
              <a:rPr lang="en-US" altLang="zh-CN" sz="2400" b="1" dirty="0" smtClean="0"/>
              <a:t>Furthermore</a:t>
            </a:r>
            <a:r>
              <a:rPr lang="en-US" altLang="zh-CN" sz="2400" dirty="0" smtClean="0"/>
              <a:t>, the costs of purchasing and downloading electronic books are lower than that of paper books, which enables readers to save a great deal of money. </a:t>
            </a:r>
            <a:r>
              <a:rPr lang="en-US" altLang="zh-CN" sz="2400" b="1" dirty="0" smtClean="0"/>
              <a:t>Last but not least</a:t>
            </a:r>
            <a:r>
              <a:rPr lang="en-US" altLang="zh-CN" sz="2400" dirty="0" smtClean="0"/>
              <a:t>, electronic books sometimes stand for high fashion and efficiency.</a:t>
            </a:r>
            <a:endParaRPr lang="zh-CN" altLang="en-US" sz="2400" dirty="0"/>
          </a:p>
        </p:txBody>
      </p:sp>
    </p:spTree>
  </p:cSld>
  <p:clrMapOvr>
    <a:masterClrMapping/>
  </p:clrMapOvr>
  <p:transition>
    <p:fade/>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 </a:t>
            </a:r>
            <a:endParaRPr lang="zh-CN" altLang="en-US" dirty="0"/>
          </a:p>
        </p:txBody>
      </p:sp>
      <p:sp>
        <p:nvSpPr>
          <p:cNvPr id="3" name="内容占位符 2"/>
          <p:cNvSpPr>
            <a:spLocks noGrp="1"/>
          </p:cNvSpPr>
          <p:nvPr>
            <p:ph idx="1"/>
          </p:nvPr>
        </p:nvSpPr>
        <p:spPr>
          <a:xfrm>
            <a:off x="395536" y="836712"/>
            <a:ext cx="8291264" cy="5289451"/>
          </a:xfrm>
        </p:spPr>
        <p:txBody>
          <a:bodyPr/>
          <a:lstStyle/>
          <a:p>
            <a:r>
              <a:rPr lang="en-US" altLang="zh-CN" dirty="0" smtClean="0"/>
              <a:t>With the gloomy prospect of returning to school, many students could suffer from post-holiday syndrome, which refers to a general feeling of depression before returning to campus life, which is caused by irregular lifestyles during the holiday. Symptoms include fatigue, lack of appetite and concentration, irritability and a feeling of helplessness.</a:t>
            </a:r>
            <a:r>
              <a:rPr lang="zh-CN" altLang="en-US" dirty="0" smtClean="0"/>
              <a:t> </a:t>
            </a:r>
            <a:endParaRPr lang="zh-CN" altLang="en-US" dirty="0"/>
          </a:p>
        </p:txBody>
      </p:sp>
    </p:spTree>
  </p:cSld>
  <p:clrMapOvr>
    <a:masterClrMapping/>
  </p:clrMapOvr>
  <p:transition>
    <p:fade/>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3"/>
          <p:cNvSpPr>
            <a:spLocks noGrp="1" noChangeArrowheads="1"/>
          </p:cNvSpPr>
          <p:nvPr>
            <p:ph idx="1"/>
          </p:nvPr>
        </p:nvSpPr>
        <p:spPr>
          <a:xfrm>
            <a:off x="395288" y="765174"/>
            <a:ext cx="8281168" cy="5112097"/>
          </a:xfrm>
        </p:spPr>
        <p:txBody>
          <a:bodyPr>
            <a:normAutofit/>
          </a:bodyPr>
          <a:lstStyle/>
          <a:p>
            <a:pPr algn="ctr" eaLnBrk="1" hangingPunct="1">
              <a:lnSpc>
                <a:spcPct val="90000"/>
              </a:lnSpc>
              <a:buFontTx/>
              <a:buNone/>
            </a:pPr>
            <a:r>
              <a:rPr lang="zh-CN" altLang="en-US" b="1" dirty="0" smtClean="0">
                <a:solidFill>
                  <a:schemeClr val="hlink"/>
                </a:solidFill>
                <a:latin typeface="Times New Roman" panose="02020603050405020304" pitchFamily="18" charset="0"/>
              </a:rPr>
              <a:t>主题句 </a:t>
            </a:r>
            <a:r>
              <a:rPr lang="en-US" altLang="zh-CN" b="1" dirty="0" smtClean="0">
                <a:solidFill>
                  <a:schemeClr val="hlink"/>
                </a:solidFill>
                <a:latin typeface="Times New Roman" panose="02020603050405020304" pitchFamily="18" charset="0"/>
              </a:rPr>
              <a:t>(Topic Sentence)</a:t>
            </a:r>
          </a:p>
          <a:p>
            <a:pPr algn="ctr" eaLnBrk="1" hangingPunct="1">
              <a:lnSpc>
                <a:spcPct val="90000"/>
              </a:lnSpc>
              <a:buFontTx/>
              <a:buNone/>
            </a:pPr>
            <a:endParaRPr lang="en-US" altLang="zh-CN" b="1" dirty="0" smtClean="0">
              <a:latin typeface="Times New Roman" panose="02020603050405020304" pitchFamily="18" charset="0"/>
            </a:endParaRPr>
          </a:p>
          <a:p>
            <a:pPr>
              <a:lnSpc>
                <a:spcPct val="90000"/>
              </a:lnSpc>
              <a:buNone/>
            </a:pPr>
            <a:r>
              <a:rPr lang="en-US" altLang="zh-CN" b="1" dirty="0" smtClean="0">
                <a:latin typeface="Times New Roman" panose="02020603050405020304" pitchFamily="18" charset="0"/>
              </a:rPr>
              <a:t>		</a:t>
            </a:r>
            <a:r>
              <a:rPr lang="zh-CN" altLang="en-US" b="1" dirty="0" smtClean="0">
                <a:latin typeface="Times New Roman" panose="02020603050405020304" pitchFamily="18" charset="0"/>
              </a:rPr>
              <a:t>主题句在英语段落中起着举足轻重的作用。英语段落的主题句大多位于</a:t>
            </a:r>
            <a:r>
              <a:rPr lang="zh-CN" altLang="en-US" b="1" dirty="0">
                <a:latin typeface="Times New Roman" panose="02020603050405020304" pitchFamily="18" charset="0"/>
              </a:rPr>
              <a:t>段</a:t>
            </a:r>
            <a:r>
              <a:rPr lang="zh-CN" altLang="en-US" b="1" dirty="0" smtClean="0">
                <a:latin typeface="Times New Roman" panose="02020603050405020304" pitchFamily="18" charset="0"/>
              </a:rPr>
              <a:t>首，但也有居于中间或末尾的。主题句位于段首，开段明义，让读者很快就能了解作者要说明的问题。例如</a:t>
            </a:r>
            <a:r>
              <a:rPr lang="zh-CN" altLang="en-US" b="1" dirty="0" smtClean="0">
                <a:latin typeface="Times New Roman" panose="02020603050405020304" pitchFamily="18" charset="0"/>
              </a:rPr>
              <a:t>：</a:t>
            </a:r>
            <a:endParaRPr lang="en-US" altLang="zh-CN" b="1" dirty="0" smtClean="0">
              <a:latin typeface="Times New Roman" panose="02020603050405020304" pitchFamily="18" charset="0"/>
            </a:endParaRPr>
          </a:p>
          <a:p>
            <a:pPr>
              <a:lnSpc>
                <a:spcPct val="90000"/>
              </a:lnSpc>
              <a:buNone/>
            </a:pPr>
            <a:r>
              <a:rPr lang="en-US" altLang="zh-CN" b="1" dirty="0">
                <a:latin typeface="Times New Roman" panose="02020603050405020304" pitchFamily="18" charset="0"/>
              </a:rPr>
              <a:t> </a:t>
            </a:r>
            <a:r>
              <a:rPr lang="en-US" altLang="zh-CN" b="1" dirty="0" smtClean="0">
                <a:latin typeface="Times New Roman" panose="02020603050405020304" pitchFamily="18" charset="0"/>
              </a:rPr>
              <a:t>          </a:t>
            </a:r>
          </a:p>
          <a:p>
            <a:pPr>
              <a:lnSpc>
                <a:spcPct val="90000"/>
              </a:lnSpc>
              <a:buNone/>
            </a:pPr>
            <a:r>
              <a:rPr lang="en-US" altLang="zh-CN" b="1" dirty="0">
                <a:latin typeface="Times New Roman" panose="02020603050405020304" pitchFamily="18" charset="0"/>
              </a:rPr>
              <a:t> </a:t>
            </a:r>
            <a:r>
              <a:rPr lang="en-US" altLang="zh-CN" b="1" dirty="0" smtClean="0">
                <a:latin typeface="Times New Roman" panose="02020603050405020304" pitchFamily="18" charset="0"/>
              </a:rPr>
              <a:t>           </a:t>
            </a:r>
            <a:r>
              <a:rPr lang="en-US" altLang="zh-CN" b="1" u="sng" dirty="0" smtClean="0">
                <a:latin typeface="Times New Roman" panose="02020603050405020304" pitchFamily="18" charset="0"/>
              </a:rPr>
              <a:t>   Playing </a:t>
            </a:r>
            <a:r>
              <a:rPr lang="en-US" altLang="zh-CN" b="1" u="sng" dirty="0">
                <a:latin typeface="Times New Roman" panose="02020603050405020304" pitchFamily="18" charset="0"/>
              </a:rPr>
              <a:t>violent video games can cause changes in young </a:t>
            </a:r>
            <a:r>
              <a:rPr lang="en-US" altLang="zh-CN" b="1" u="sng" dirty="0" smtClean="0">
                <a:latin typeface="Times New Roman" panose="02020603050405020304" pitchFamily="18" charset="0"/>
              </a:rPr>
              <a:t>people</a:t>
            </a:r>
            <a:r>
              <a:rPr lang="zh-CN" altLang="en-US" b="1" u="sng" dirty="0" smtClean="0">
                <a:latin typeface="Times New Roman" panose="02020603050405020304" pitchFamily="18" charset="0"/>
              </a:rPr>
              <a:t>’</a:t>
            </a:r>
            <a:r>
              <a:rPr lang="en-US" altLang="zh-CN" b="1" u="sng" dirty="0" smtClean="0">
                <a:latin typeface="Times New Roman" panose="02020603050405020304" pitchFamily="18" charset="0"/>
              </a:rPr>
              <a:t>s behavior. </a:t>
            </a:r>
            <a:r>
              <a:rPr lang="en-US" altLang="zh-CN" b="1" dirty="0" smtClean="0">
                <a:latin typeface="Times New Roman" panose="02020603050405020304" pitchFamily="18" charset="0"/>
              </a:rPr>
              <a:t>These </a:t>
            </a:r>
            <a:r>
              <a:rPr lang="en-US" altLang="zh-CN" b="1" dirty="0">
                <a:latin typeface="Times New Roman" panose="02020603050405020304" pitchFamily="18" charset="0"/>
              </a:rPr>
              <a:t>games use a wide variety </a:t>
            </a:r>
            <a:r>
              <a:rPr lang="en-US" altLang="zh-CN" b="1" dirty="0" smtClean="0">
                <a:latin typeface="Times New Roman" panose="02020603050405020304" pitchFamily="18" charset="0"/>
              </a:rPr>
              <a:t>of</a:t>
            </a:r>
            <a:r>
              <a:rPr lang="zh-CN" altLang="en-US" b="1" dirty="0" smtClean="0">
                <a:latin typeface="Times New Roman" panose="02020603050405020304" pitchFamily="18" charset="0"/>
              </a:rPr>
              <a:t> </a:t>
            </a:r>
            <a:r>
              <a:rPr lang="en-US" altLang="zh-CN" b="1" dirty="0" smtClean="0">
                <a:latin typeface="Times New Roman" panose="02020603050405020304" pitchFamily="18" charset="0"/>
              </a:rPr>
              <a:t>technology </a:t>
            </a:r>
            <a:r>
              <a:rPr lang="en-US" altLang="zh-CN" b="1" dirty="0">
                <a:latin typeface="Times New Roman" panose="02020603050405020304" pitchFamily="18" charset="0"/>
              </a:rPr>
              <a:t>to make it fun to fight and kill</a:t>
            </a:r>
            <a:r>
              <a:rPr lang="en-US" altLang="zh-CN" b="1" dirty="0" smtClean="0">
                <a:latin typeface="Times New Roman" panose="02020603050405020304" pitchFamily="18" charset="0"/>
              </a:rPr>
              <a:t>. They </a:t>
            </a:r>
            <a:r>
              <a:rPr lang="en-US" altLang="zh-CN" b="1" dirty="0">
                <a:latin typeface="Times New Roman" panose="02020603050405020304" pitchFamily="18" charset="0"/>
              </a:rPr>
              <a:t>also teach young people to use violence to solve problems</a:t>
            </a:r>
            <a:r>
              <a:rPr lang="en-US" altLang="zh-CN" b="1" dirty="0" smtClean="0">
                <a:latin typeface="Times New Roman" panose="02020603050405020304" pitchFamily="18" charset="0"/>
              </a:rPr>
              <a:t>. As </a:t>
            </a:r>
            <a:r>
              <a:rPr lang="en-US" altLang="zh-CN" b="1" dirty="0">
                <a:latin typeface="Times New Roman" panose="02020603050405020304" pitchFamily="18" charset="0"/>
              </a:rPr>
              <a:t>a </a:t>
            </a:r>
            <a:r>
              <a:rPr lang="en-US" altLang="zh-CN" b="1" dirty="0" smtClean="0">
                <a:latin typeface="Times New Roman" panose="02020603050405020304" pitchFamily="18" charset="0"/>
              </a:rPr>
              <a:t>result, </a:t>
            </a:r>
            <a:r>
              <a:rPr lang="en-US" altLang="zh-CN" b="1" dirty="0">
                <a:latin typeface="Times New Roman" panose="02020603050405020304" pitchFamily="18" charset="0"/>
              </a:rPr>
              <a:t>many young players become </a:t>
            </a:r>
            <a:r>
              <a:rPr lang="en-US" altLang="zh-CN" b="1" dirty="0" smtClean="0">
                <a:latin typeface="Times New Roman" panose="02020603050405020304" pitchFamily="18" charset="0"/>
              </a:rPr>
              <a:t>aggressive</a:t>
            </a:r>
            <a:r>
              <a:rPr lang="zh-CN" altLang="en-US" b="1" dirty="0" smtClean="0">
                <a:latin typeface="Times New Roman" panose="02020603050405020304" pitchFamily="18" charset="0"/>
              </a:rPr>
              <a:t> </a:t>
            </a:r>
            <a:r>
              <a:rPr lang="en-US" altLang="zh-CN" b="1" dirty="0" smtClean="0">
                <a:latin typeface="Times New Roman" panose="02020603050405020304" pitchFamily="18" charset="0"/>
              </a:rPr>
              <a:t>towards </a:t>
            </a:r>
            <a:r>
              <a:rPr lang="en-US" altLang="zh-CN" b="1" dirty="0">
                <a:latin typeface="Times New Roman" panose="02020603050405020304" pitchFamily="18" charset="0"/>
              </a:rPr>
              <a:t>their teachers, classmates and even their parents.</a:t>
            </a:r>
            <a:endParaRPr lang="zh-CN" altLang="en-US" b="1" dirty="0" smtClean="0">
              <a:latin typeface="Times New Roman" panose="02020603050405020304" pitchFamily="18" charset="0"/>
            </a:endParaRPr>
          </a:p>
          <a:p>
            <a:pPr eaLnBrk="1" hangingPunct="1">
              <a:lnSpc>
                <a:spcPct val="90000"/>
              </a:lnSpc>
            </a:pPr>
            <a:endParaRPr lang="en-US" altLang="zh-CN" dirty="0" smtClean="0">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3"/>
          <p:cNvSpPr>
            <a:spLocks noGrp="1" noChangeArrowheads="1"/>
          </p:cNvSpPr>
          <p:nvPr>
            <p:ph idx="1"/>
          </p:nvPr>
        </p:nvSpPr>
        <p:spPr>
          <a:xfrm>
            <a:off x="179388" y="476250"/>
            <a:ext cx="8281044" cy="5833070"/>
          </a:xfrm>
        </p:spPr>
        <p:txBody>
          <a:bodyPr>
            <a:normAutofit lnSpcReduction="10000"/>
          </a:bodyPr>
          <a:lstStyle/>
          <a:p>
            <a:pPr eaLnBrk="1" hangingPunct="1">
              <a:lnSpc>
                <a:spcPct val="80000"/>
              </a:lnSpc>
              <a:buFontTx/>
              <a:buNone/>
            </a:pPr>
            <a:r>
              <a:rPr lang="en-US" altLang="zh-CN" sz="2400" b="1" dirty="0" smtClean="0">
                <a:latin typeface="Times New Roman" panose="02020603050405020304" pitchFamily="18" charset="0"/>
              </a:rPr>
              <a:t>	</a:t>
            </a:r>
          </a:p>
          <a:p>
            <a:pPr>
              <a:lnSpc>
                <a:spcPct val="80000"/>
              </a:lnSpc>
              <a:buNone/>
            </a:pPr>
            <a:r>
              <a:rPr lang="en-US" altLang="zh-CN" sz="2400" b="1" dirty="0">
                <a:latin typeface="Times New Roman" panose="02020603050405020304" pitchFamily="18" charset="0"/>
              </a:rPr>
              <a:t> </a:t>
            </a:r>
            <a:r>
              <a:rPr lang="en-US" altLang="zh-CN" sz="2400" b="1" dirty="0" smtClean="0">
                <a:latin typeface="Times New Roman" panose="02020603050405020304" pitchFamily="18" charset="0"/>
              </a:rPr>
              <a:t>            </a:t>
            </a:r>
            <a:r>
              <a:rPr lang="en-US" altLang="zh-CN" sz="2400" b="1" u="sng" dirty="0" smtClean="0">
                <a:latin typeface="Times New Roman" panose="02020603050405020304" pitchFamily="18" charset="0"/>
              </a:rPr>
              <a:t>To </a:t>
            </a:r>
            <a:r>
              <a:rPr lang="en-US" altLang="zh-CN" sz="2400" b="1" u="sng" dirty="0">
                <a:latin typeface="Times New Roman" panose="02020603050405020304" pitchFamily="18" charset="0"/>
              </a:rPr>
              <a:t>begin with</a:t>
            </a:r>
            <a:r>
              <a:rPr lang="zh-CN" altLang="en-US" sz="2400" b="1" u="sng" dirty="0">
                <a:latin typeface="Times New Roman" panose="02020603050405020304" pitchFamily="18" charset="0"/>
              </a:rPr>
              <a:t>，</a:t>
            </a:r>
            <a:r>
              <a:rPr lang="en-US" altLang="zh-CN" sz="2400" b="1" u="sng" dirty="0">
                <a:latin typeface="Times New Roman" panose="02020603050405020304" pitchFamily="18" charset="0"/>
              </a:rPr>
              <a:t>social skills are extremely critical to certain professional fields and posts</a:t>
            </a:r>
            <a:r>
              <a:rPr lang="en-US" altLang="zh-CN" sz="2400" b="1" u="sng" dirty="0" smtClean="0">
                <a:latin typeface="Times New Roman" panose="02020603050405020304" pitchFamily="18" charset="0"/>
              </a:rPr>
              <a:t>. </a:t>
            </a:r>
            <a:r>
              <a:rPr lang="en-US" altLang="zh-CN" sz="2400" b="1" dirty="0" smtClean="0">
                <a:latin typeface="Times New Roman" panose="02020603050405020304" pitchFamily="18" charset="0"/>
              </a:rPr>
              <a:t>Many </a:t>
            </a:r>
            <a:r>
              <a:rPr lang="en-US" altLang="zh-CN" sz="2400" b="1" dirty="0">
                <a:latin typeface="Times New Roman" panose="02020603050405020304" pitchFamily="18" charset="0"/>
              </a:rPr>
              <a:t>jobs require persuasion</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active listening</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delegation</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and leadership</a:t>
            </a:r>
            <a:r>
              <a:rPr lang="en-US" altLang="zh-CN" sz="2400" b="1" dirty="0" smtClean="0">
                <a:latin typeface="Times New Roman" panose="02020603050405020304" pitchFamily="18" charset="0"/>
              </a:rPr>
              <a:t>. As </a:t>
            </a:r>
            <a:r>
              <a:rPr lang="en-US" altLang="zh-CN" sz="2400" b="1" dirty="0">
                <a:latin typeface="Times New Roman" panose="02020603050405020304" pitchFamily="18" charset="0"/>
              </a:rPr>
              <a:t>for those who are engaged in the sales industry</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one of the most essential prerequisites is the competence to socialize with potential customers or business partners</a:t>
            </a:r>
            <a:r>
              <a:rPr lang="en-US" altLang="zh-CN" sz="2400" b="1" dirty="0" smtClean="0">
                <a:latin typeface="Times New Roman" panose="02020603050405020304" pitchFamily="18" charset="0"/>
              </a:rPr>
              <a:t>. In </a:t>
            </a:r>
            <a:r>
              <a:rPr lang="en-US" altLang="zh-CN" sz="2400" b="1" dirty="0">
                <a:latin typeface="Times New Roman" panose="02020603050405020304" pitchFamily="18" charset="0"/>
              </a:rPr>
              <a:t>addition</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possessing a large social network helps to establish a grand platform for further cooperation between different enterprises and groups</a:t>
            </a:r>
            <a:r>
              <a:rPr lang="en-US" altLang="zh-CN" sz="2400" b="1" dirty="0" smtClean="0">
                <a:latin typeface="Times New Roman" panose="02020603050405020304" pitchFamily="18" charset="0"/>
              </a:rPr>
              <a:t>. By </a:t>
            </a:r>
            <a:r>
              <a:rPr lang="en-US" altLang="zh-CN" sz="2400" b="1" dirty="0">
                <a:latin typeface="Times New Roman" panose="02020603050405020304" pitchFamily="18" charset="0"/>
              </a:rPr>
              <a:t>contrast</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if a salesperson lacks the knowledge and techniques of smart interaction with others</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it might be difficult for him or her to market their own products or succeed in winning the trust of their clients</a:t>
            </a:r>
            <a:r>
              <a:rPr lang="en-US" altLang="zh-CN" sz="2400" b="1" dirty="0" smtClean="0">
                <a:latin typeface="Times New Roman" panose="02020603050405020304" pitchFamily="18" charset="0"/>
              </a:rPr>
              <a:t>. The </a:t>
            </a:r>
            <a:r>
              <a:rPr lang="en-US" altLang="zh-CN" sz="2400" b="1" dirty="0">
                <a:latin typeface="Times New Roman" panose="02020603050405020304" pitchFamily="18" charset="0"/>
              </a:rPr>
              <a:t>same is true with leaders of any enterprises or social </a:t>
            </a:r>
            <a:r>
              <a:rPr lang="en-US" altLang="zh-CN" sz="2400" b="1" dirty="0" smtClean="0">
                <a:latin typeface="Times New Roman" panose="02020603050405020304" pitchFamily="18" charset="0"/>
              </a:rPr>
              <a:t>organizations. As </a:t>
            </a:r>
            <a:r>
              <a:rPr lang="en-US" altLang="zh-CN" sz="2400" b="1" dirty="0">
                <a:latin typeface="Times New Roman" panose="02020603050405020304" pitchFamily="18" charset="0"/>
              </a:rPr>
              <a:t>the chief decision-maker</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they have to sketch out long-term blueprints for survival and far-reaching development</a:t>
            </a:r>
            <a:r>
              <a:rPr lang="en-US" altLang="zh-CN" sz="2400" b="1" dirty="0" smtClean="0">
                <a:latin typeface="Times New Roman" panose="02020603050405020304" pitchFamily="18" charset="0"/>
              </a:rPr>
              <a:t>. In </a:t>
            </a:r>
            <a:r>
              <a:rPr lang="en-US" altLang="zh-CN" sz="2400" b="1" dirty="0">
                <a:latin typeface="Times New Roman" panose="02020603050405020304" pitchFamily="18" charset="0"/>
              </a:rPr>
              <a:t>this process</a:t>
            </a:r>
            <a:r>
              <a:rPr lang="zh-CN" altLang="en-US" sz="2400" b="1" dirty="0">
                <a:latin typeface="Times New Roman" panose="02020603050405020304" pitchFamily="18" charset="0"/>
              </a:rPr>
              <a:t>，</a:t>
            </a:r>
            <a:r>
              <a:rPr lang="en-US" altLang="zh-CN" sz="2400" b="1" dirty="0">
                <a:latin typeface="Times New Roman" panose="02020603050405020304" pitchFamily="18" charset="0"/>
              </a:rPr>
              <a:t>the role played by others should by no means be underestimated</a:t>
            </a:r>
            <a:r>
              <a:rPr lang="en-US" altLang="zh-CN" sz="2400" b="1" dirty="0" smtClean="0">
                <a:latin typeface="Times New Roman" panose="02020603050405020304" pitchFamily="18" charset="0"/>
              </a:rPr>
              <a:t>. The </a:t>
            </a:r>
            <a:r>
              <a:rPr lang="en-US" altLang="zh-CN" sz="2400" b="1" dirty="0">
                <a:latin typeface="Times New Roman" panose="02020603050405020304" pitchFamily="18" charset="0"/>
              </a:rPr>
              <a:t>maintenance of good partnership with people in and out of the corporation ensures smooth business operation and administration</a:t>
            </a:r>
            <a:r>
              <a:rPr lang="en-US" altLang="zh-CN" sz="2400" b="1" dirty="0" smtClean="0">
                <a:latin typeface="Times New Roman" panose="02020603050405020304" pitchFamily="18" charset="0"/>
              </a:rPr>
              <a:t>. </a:t>
            </a:r>
            <a:endParaRPr lang="en-US" altLang="zh-CN" sz="2400" b="1" dirty="0" smtClean="0">
              <a:latin typeface="Times New Roman" panose="02020603050405020304" pitchFamily="18" charset="0"/>
            </a:endParaRPr>
          </a:p>
        </p:txBody>
      </p:sp>
      <p:sp>
        <p:nvSpPr>
          <p:cNvPr id="6" name="页脚占位符 4"/>
          <p:cNvSpPr>
            <a:spLocks noGrp="1"/>
          </p:cNvSpPr>
          <p:nvPr>
            <p:ph type="ftr" sz="quarter" idx="11"/>
          </p:nvPr>
        </p:nvSpPr>
        <p:spPr/>
        <p:txBody>
          <a:bodyPr/>
          <a:lstStyle/>
          <a:p>
            <a:pPr>
              <a:defRPr/>
            </a:pPr>
            <a:r>
              <a:rPr lang="zh-CN" altLang="zh-CN" dirty="0"/>
              <a:t>《英语应用文写作》多媒体</a:t>
            </a:r>
            <a:r>
              <a:rPr lang="zh-CN" altLang="en-US" dirty="0"/>
              <a:t>教学</a:t>
            </a:r>
            <a:r>
              <a:rPr lang="zh-CN" altLang="zh-CN" dirty="0"/>
              <a:t>课件</a:t>
            </a:r>
            <a:endParaRPr lang="zh-CN" altLang="en-US" dirty="0"/>
          </a:p>
        </p:txBody>
      </p:sp>
      <p:sp>
        <p:nvSpPr>
          <p:cNvPr id="704517" name="Text Box 5"/>
          <p:cNvSpPr txBox="1">
            <a:spLocks noChangeArrowheads="1"/>
          </p:cNvSpPr>
          <p:nvPr/>
        </p:nvSpPr>
        <p:spPr bwMode="auto">
          <a:xfrm>
            <a:off x="539750" y="3644900"/>
            <a:ext cx="417102" cy="369332"/>
          </a:xfrm>
          <a:prstGeom prst="rect">
            <a:avLst/>
          </a:prstGeom>
          <a:noFill/>
          <a:ln w="9525">
            <a:noFill/>
            <a:miter lim="800000"/>
          </a:ln>
        </p:spPr>
        <p:txBody>
          <a:bodyPr wrap="none">
            <a:spAutoFit/>
          </a:bodyPr>
          <a:lstStyle/>
          <a:p>
            <a:r>
              <a:rPr lang="zh-CN" altLang="en-US" b="1" dirty="0" smtClean="0">
                <a:latin typeface="楷体_GB2312" pitchFamily="49" charset="-122"/>
                <a:ea typeface="楷体_GB2312" pitchFamily="49" charset="-122"/>
              </a:rPr>
              <a:t>。</a:t>
            </a:r>
            <a:endParaRPr lang="zh-CN" altLang="en-US" dirty="0">
              <a:latin typeface="楷体_GB2312" pitchFamily="49" charset="-122"/>
              <a:ea typeface="楷体_GB2312" pitchFamily="49" charset="-122"/>
            </a:endParaRPr>
          </a:p>
        </p:txBody>
      </p:sp>
      <p:sp>
        <p:nvSpPr>
          <p:cNvPr id="704518" name="AutoShape 6"/>
          <p:cNvSpPr>
            <a:spLocks noChangeArrowheads="1"/>
          </p:cNvSpPr>
          <p:nvPr/>
        </p:nvSpPr>
        <p:spPr bwMode="auto">
          <a:xfrm>
            <a:off x="611188" y="260350"/>
            <a:ext cx="1584325" cy="50482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Example</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704517">
                                            <p:txEl>
                                              <p:pRg st="0" end="0"/>
                                            </p:txEl>
                                          </p:spTgt>
                                        </p:tgtEl>
                                        <p:attrNameLst>
                                          <p:attrName>style.visibility</p:attrName>
                                        </p:attrNameLst>
                                      </p:cBhvr>
                                      <p:to>
                                        <p:strVal val="visible"/>
                                      </p:to>
                                    </p:set>
                                    <p:animEffect transition="in" filter="blinds(horizontal)">
                                      <p:cBhvr>
                                        <p:cTn id="7" dur="500"/>
                                        <p:tgtEl>
                                          <p:spTgt spid="704517">
                                            <p:txEl>
                                              <p:pRg st="0" end="0"/>
                                            </p:txEl>
                                          </p:spTgt>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704518"/>
                                        </p:tgtEl>
                                        <p:attrNameLst>
                                          <p:attrName>style.visibility</p:attrName>
                                        </p:attrNameLst>
                                      </p:cBhvr>
                                      <p:to>
                                        <p:strVal val="visible"/>
                                      </p:to>
                                    </p:set>
                                    <p:animEffect transition="in" filter="box(out)">
                                      <p:cBhvr>
                                        <p:cTn id="11" dur="1000"/>
                                        <p:tgtEl>
                                          <p:spTgt spid="704518"/>
                                        </p:tgtEl>
                                      </p:cBhvr>
                                    </p:animEffect>
                                  </p:childTnLst>
                                  <p:subTnLst>
                                    <p:audio>
                                      <p:cMediaNode>
                                        <p:cTn display="0" masterRel="sameClick">
                                          <p:stCondLst>
                                            <p:cond evt="begin" delay="0">
                                              <p:tn val="9"/>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4518"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3"/>
          <p:cNvSpPr>
            <a:spLocks noGrp="1" noChangeArrowheads="1"/>
          </p:cNvSpPr>
          <p:nvPr>
            <p:ph idx="1"/>
          </p:nvPr>
        </p:nvSpPr>
        <p:spPr>
          <a:xfrm>
            <a:off x="142875" y="260350"/>
            <a:ext cx="9001125" cy="5256213"/>
          </a:xfrm>
        </p:spPr>
        <p:txBody>
          <a:bodyPr/>
          <a:lstStyle/>
          <a:p>
            <a:pPr eaLnBrk="1" hangingPunct="1">
              <a:buFontTx/>
              <a:buNone/>
            </a:pPr>
            <a:endParaRPr lang="en-US" altLang="zh-CN" b="1" dirty="0" smtClean="0"/>
          </a:p>
          <a:p>
            <a:pPr algn="ctr" eaLnBrk="1" hangingPunct="1">
              <a:buFontTx/>
              <a:buNone/>
            </a:pPr>
            <a:r>
              <a:rPr lang="zh-CN" altLang="en-US" sz="3200" b="1" dirty="0" smtClean="0"/>
              <a:t>段落</a:t>
            </a:r>
            <a:r>
              <a:rPr lang="zh-CN" altLang="en-US" sz="3200" b="1" dirty="0" smtClean="0"/>
              <a:t>的特征</a:t>
            </a:r>
          </a:p>
          <a:p>
            <a:pPr eaLnBrk="1" hangingPunct="1">
              <a:buFontTx/>
              <a:buNone/>
            </a:pPr>
            <a:r>
              <a:rPr lang="zh-CN" altLang="en-US" b="1" dirty="0" smtClean="0"/>
              <a:t>       （</a:t>
            </a:r>
            <a:r>
              <a:rPr lang="en-US" altLang="zh-CN" b="1" dirty="0" smtClean="0">
                <a:latin typeface="Times New Roman" panose="02020603050405020304" pitchFamily="18" charset="0"/>
              </a:rPr>
              <a:t>Qualities of Effective Paragraph</a:t>
            </a:r>
            <a:r>
              <a:rPr lang="zh-CN" altLang="en-US" b="1" dirty="0" smtClean="0">
                <a:latin typeface="Times New Roman" panose="02020603050405020304" pitchFamily="18" charset="0"/>
              </a:rPr>
              <a:t>）</a:t>
            </a:r>
          </a:p>
          <a:p>
            <a:pPr eaLnBrk="1" hangingPunct="1">
              <a:buFontTx/>
              <a:buNone/>
            </a:pPr>
            <a:r>
              <a:rPr lang="zh-CN" altLang="en-US" dirty="0" smtClean="0"/>
              <a:t>  	</a:t>
            </a:r>
            <a:r>
              <a:rPr lang="en-US" altLang="zh-CN" sz="2400" dirty="0" smtClean="0"/>
              <a:t>1. </a:t>
            </a:r>
            <a:r>
              <a:rPr lang="zh-CN" altLang="en-US" sz="2400" b="1" dirty="0" smtClean="0">
                <a:latin typeface="Times New Roman" panose="02020603050405020304" pitchFamily="18" charset="0"/>
              </a:rPr>
              <a:t>段落的统一性</a:t>
            </a:r>
            <a:r>
              <a:rPr lang="en-US" altLang="zh-CN" sz="2400" b="1" dirty="0" smtClean="0">
                <a:latin typeface="Times New Roman" panose="02020603050405020304" pitchFamily="18" charset="0"/>
              </a:rPr>
              <a:t>(Unity)</a:t>
            </a:r>
            <a:r>
              <a:rPr lang="zh-CN" altLang="en-US" sz="2400" b="1" dirty="0" smtClean="0">
                <a:latin typeface="Times New Roman" panose="02020603050405020304" pitchFamily="18" charset="0"/>
              </a:rPr>
              <a:t>。</a:t>
            </a:r>
          </a:p>
          <a:p>
            <a:pPr eaLnBrk="1" hangingPunct="1">
              <a:buFontTx/>
              <a:buNone/>
            </a:pPr>
            <a:r>
              <a:rPr lang="zh-CN" altLang="en-US" sz="2400" b="1" dirty="0" smtClean="0">
                <a:latin typeface="Times New Roman" panose="02020603050405020304" pitchFamily="18" charset="0"/>
              </a:rPr>
              <a:t>  	</a:t>
            </a:r>
            <a:r>
              <a:rPr lang="en-US" altLang="zh-CN" sz="2400" b="1" dirty="0" smtClean="0">
                <a:latin typeface="Times New Roman" panose="02020603050405020304" pitchFamily="18" charset="0"/>
              </a:rPr>
              <a:t>2. </a:t>
            </a:r>
            <a:r>
              <a:rPr lang="zh-CN" altLang="en-US" sz="2400" b="1" dirty="0" smtClean="0">
                <a:latin typeface="Times New Roman" panose="02020603050405020304" pitchFamily="18" charset="0"/>
              </a:rPr>
              <a:t>段落的连贯性</a:t>
            </a:r>
            <a:r>
              <a:rPr lang="en-US" altLang="zh-CN" sz="2400" b="1" dirty="0" smtClean="0">
                <a:latin typeface="Times New Roman" panose="02020603050405020304" pitchFamily="18" charset="0"/>
              </a:rPr>
              <a:t>(Coherence)</a:t>
            </a:r>
            <a:r>
              <a:rPr lang="zh-CN" altLang="en-US" sz="2400" b="1" dirty="0" smtClean="0">
                <a:latin typeface="Times New Roman" panose="02020603050405020304" pitchFamily="18" charset="0"/>
              </a:rPr>
              <a:t>。</a:t>
            </a:r>
          </a:p>
          <a:p>
            <a:pPr eaLnBrk="1" hangingPunct="1">
              <a:buFontTx/>
              <a:buNone/>
            </a:pPr>
            <a:r>
              <a:rPr lang="zh-CN" altLang="en-US" sz="2400" b="1" dirty="0" smtClean="0">
                <a:latin typeface="Times New Roman" panose="02020603050405020304" pitchFamily="18" charset="0"/>
              </a:rPr>
              <a:t> 	</a:t>
            </a:r>
            <a:r>
              <a:rPr lang="en-US" altLang="zh-CN" sz="2400" b="1" dirty="0" smtClean="0">
                <a:latin typeface="Times New Roman" panose="02020603050405020304" pitchFamily="18" charset="0"/>
              </a:rPr>
              <a:t>3. </a:t>
            </a:r>
            <a:r>
              <a:rPr lang="zh-CN" altLang="en-US" sz="2400" b="1" dirty="0" smtClean="0">
                <a:latin typeface="Times New Roman" panose="02020603050405020304" pitchFamily="18" charset="0"/>
              </a:rPr>
              <a:t>段落的完整性</a:t>
            </a:r>
            <a:r>
              <a:rPr lang="en-US" altLang="zh-CN" sz="2400" dirty="0" smtClean="0">
                <a:latin typeface="Times New Roman" panose="02020603050405020304" pitchFamily="18" charset="0"/>
              </a:rPr>
              <a:t>(</a:t>
            </a:r>
            <a:r>
              <a:rPr lang="en-US" altLang="zh-CN" sz="2400" b="1" dirty="0" smtClean="0">
                <a:latin typeface="Times New Roman" panose="02020603050405020304" pitchFamily="18" charset="0"/>
              </a:rPr>
              <a:t>Completeness</a:t>
            </a:r>
            <a:r>
              <a:rPr lang="en-US" altLang="zh-CN" sz="2400" dirty="0" smtClean="0">
                <a:latin typeface="Times New Roman" panose="02020603050405020304" pitchFamily="18" charset="0"/>
              </a:rPr>
              <a:t>)</a:t>
            </a:r>
            <a:r>
              <a:rPr lang="zh-CN" altLang="en-US" sz="2400" dirty="0" smtClean="0">
                <a:latin typeface="Times New Roman" panose="02020603050405020304" pitchFamily="18" charset="0"/>
              </a:rPr>
              <a:t>。</a:t>
            </a:r>
          </a:p>
          <a:p>
            <a:pPr eaLnBrk="1" hangingPunct="1">
              <a:buFontTx/>
              <a:buNone/>
            </a:pPr>
            <a:r>
              <a:rPr lang="zh-CN" altLang="en-US" dirty="0" smtClean="0">
                <a:latin typeface="Times New Roman" panose="02020603050405020304" pitchFamily="18" charset="0"/>
              </a:rPr>
              <a:t>	</a:t>
            </a:r>
            <a:endParaRPr lang="zh-CN" altLang="en-US" b="1" dirty="0" smtClean="0"/>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71" name="Rectangle 3"/>
          <p:cNvSpPr>
            <a:spLocks noGrp="1" noChangeArrowheads="1"/>
          </p:cNvSpPr>
          <p:nvPr>
            <p:ph idx="1"/>
          </p:nvPr>
        </p:nvSpPr>
        <p:spPr>
          <a:xfrm>
            <a:off x="323850" y="404813"/>
            <a:ext cx="8135938" cy="5400675"/>
          </a:xfrm>
        </p:spPr>
        <p:txBody>
          <a:bodyPr/>
          <a:lstStyle/>
          <a:p>
            <a:pPr eaLnBrk="1" hangingPunct="1">
              <a:buFontTx/>
              <a:buNone/>
            </a:pPr>
            <a:r>
              <a:rPr lang="en-US" altLang="zh-CN" sz="2800" b="1" smtClean="0">
                <a:solidFill>
                  <a:schemeClr val="tx2"/>
                </a:solidFill>
                <a:latin typeface="Times New Roman" panose="02020603050405020304" pitchFamily="18" charset="0"/>
              </a:rPr>
              <a:t>    Sample 1:</a:t>
            </a:r>
          </a:p>
          <a:p>
            <a:pPr eaLnBrk="1" hangingPunct="1">
              <a:buFontTx/>
              <a:buNone/>
            </a:pPr>
            <a:r>
              <a:rPr lang="en-US" altLang="zh-CN" sz="2400" b="1" smtClean="0">
                <a:latin typeface="Times New Roman" panose="02020603050405020304" pitchFamily="18" charset="0"/>
              </a:rPr>
              <a:t>    </a:t>
            </a:r>
            <a:r>
              <a:rPr lang="en-US" altLang="zh-CN" sz="2800" b="1" u="sng" smtClean="0">
                <a:latin typeface="Times New Roman" panose="02020603050405020304" pitchFamily="18" charset="0"/>
              </a:rPr>
              <a:t>Television is not only a convenient source of entertainment, but also a comparatively cheap one.</a:t>
            </a:r>
            <a:r>
              <a:rPr lang="en-US" altLang="zh-CN" sz="2800" b="1" smtClean="0">
                <a:latin typeface="Times New Roman" panose="02020603050405020304" pitchFamily="18" charset="0"/>
              </a:rPr>
              <a:t> With a TV set in the family, people don’t have to pay for expensive seats at the theatre, the movies, or the opera. All they have to is to push a button or turn on a knob, and they can see plays, films, operas and shows of every kind.</a:t>
            </a:r>
          </a:p>
          <a:p>
            <a:pPr eaLnBrk="1" hangingPunct="1">
              <a:buFontTx/>
              <a:buNone/>
            </a:pPr>
            <a:r>
              <a:rPr lang="en-US" altLang="zh-CN" sz="2400" b="1" smtClean="0">
                <a:latin typeface="Times New Roman" panose="02020603050405020304" pitchFamily="18" charset="0"/>
              </a:rPr>
              <a:t>    </a:t>
            </a:r>
            <a:r>
              <a:rPr lang="zh-CN" altLang="en-US" sz="2400" b="1" smtClean="0">
                <a:latin typeface="Times New Roman" panose="02020603050405020304" pitchFamily="18" charset="0"/>
                <a:ea typeface="楷体_GB2312" pitchFamily="49" charset="-122"/>
              </a:rPr>
              <a:t>此段的主题句即段首句是本段的中心</a:t>
            </a:r>
            <a:r>
              <a:rPr lang="zh-CN" altLang="en-US" sz="2400" b="1" smtClean="0">
                <a:latin typeface="Times New Roman" panose="02020603050405020304" pitchFamily="18" charset="0"/>
              </a:rPr>
              <a:t>（</a:t>
            </a:r>
            <a:r>
              <a:rPr lang="en-US" altLang="zh-CN" sz="2400" b="1" smtClean="0">
                <a:latin typeface="Times New Roman" panose="02020603050405020304" pitchFamily="18" charset="0"/>
              </a:rPr>
              <a:t>This paragraph is about the convenience and cheapness of television</a:t>
            </a:r>
            <a:r>
              <a:rPr lang="zh-CN" altLang="en-US" sz="2400" b="1" smtClean="0">
                <a:latin typeface="Times New Roman" panose="02020603050405020304" pitchFamily="18" charset="0"/>
              </a:rPr>
              <a:t>）</a:t>
            </a:r>
            <a:r>
              <a:rPr lang="zh-CN" altLang="en-US" sz="2400" b="1" smtClean="0">
                <a:latin typeface="Times New Roman" panose="02020603050405020304" pitchFamily="18" charset="0"/>
                <a:ea typeface="楷体_GB2312" pitchFamily="49" charset="-122"/>
              </a:rPr>
              <a:t>全段围绕这一中心展开，符合段落的统一性原则。再如：</a:t>
            </a:r>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723973" name="AutoShape 5"/>
          <p:cNvSpPr>
            <a:spLocks noChangeArrowheads="1"/>
          </p:cNvSpPr>
          <p:nvPr/>
        </p:nvSpPr>
        <p:spPr bwMode="auto">
          <a:xfrm>
            <a:off x="755650" y="476250"/>
            <a:ext cx="1584325" cy="50482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Sample 1</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23971">
                                            <p:txEl>
                                              <p:pRg st="2" end="2"/>
                                            </p:txEl>
                                          </p:spTgt>
                                        </p:tgtEl>
                                        <p:attrNameLst>
                                          <p:attrName>style.visibility</p:attrName>
                                        </p:attrNameLst>
                                      </p:cBhvr>
                                      <p:to>
                                        <p:strVal val="visible"/>
                                      </p:to>
                                    </p:set>
                                    <p:animEffect transition="in" filter="blinds(horizontal)">
                                      <p:cBhvr>
                                        <p:cTn id="7" dur="500"/>
                                        <p:tgtEl>
                                          <p:spTgt spid="723971">
                                            <p:txEl>
                                              <p:pRg st="2" end="2"/>
                                            </p:txEl>
                                          </p:spTgt>
                                        </p:tgtEl>
                                      </p:cBhvr>
                                    </p:animEffect>
                                  </p:childTnLst>
                                </p:cTn>
                              </p:par>
                            </p:childTnLst>
                          </p:cTn>
                        </p:par>
                        <p:par>
                          <p:cTn id="8" fill="hold">
                            <p:stCondLst>
                              <p:cond delay="500"/>
                            </p:stCondLst>
                            <p:childTnLst>
                              <p:par>
                                <p:cTn id="9" presetID="4" presetClass="entr" presetSubtype="32" fill="hold" grpId="0" nodeType="afterEffect">
                                  <p:stCondLst>
                                    <p:cond delay="0"/>
                                  </p:stCondLst>
                                  <p:childTnLst>
                                    <p:set>
                                      <p:cBhvr>
                                        <p:cTn id="10" dur="1" fill="hold">
                                          <p:stCondLst>
                                            <p:cond delay="0"/>
                                          </p:stCondLst>
                                        </p:cTn>
                                        <p:tgtEl>
                                          <p:spTgt spid="723973"/>
                                        </p:tgtEl>
                                        <p:attrNameLst>
                                          <p:attrName>style.visibility</p:attrName>
                                        </p:attrNameLst>
                                      </p:cBhvr>
                                      <p:to>
                                        <p:strVal val="visible"/>
                                      </p:to>
                                    </p:set>
                                    <p:animEffect transition="in" filter="box(out)">
                                      <p:cBhvr>
                                        <p:cTn id="11" dur="1000"/>
                                        <p:tgtEl>
                                          <p:spTgt spid="723973"/>
                                        </p:tgtEl>
                                      </p:cBhvr>
                                    </p:animEffect>
                                  </p:childTnLst>
                                  <p:subTnLst>
                                    <p:audio>
                                      <p:cMediaNode>
                                        <p:cTn display="0" masterRel="sameClick">
                                          <p:stCondLst>
                                            <p:cond evt="begin" delay="0">
                                              <p:tn val="9"/>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3973"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3"/>
          <p:cNvSpPr>
            <a:spLocks noGrp="1" noChangeArrowheads="1"/>
          </p:cNvSpPr>
          <p:nvPr>
            <p:ph idx="1"/>
          </p:nvPr>
        </p:nvSpPr>
        <p:spPr>
          <a:xfrm>
            <a:off x="611188" y="549275"/>
            <a:ext cx="7696200" cy="4679950"/>
          </a:xfrm>
        </p:spPr>
        <p:txBody>
          <a:bodyPr/>
          <a:lstStyle/>
          <a:p>
            <a:pPr eaLnBrk="1" hangingPunct="1">
              <a:lnSpc>
                <a:spcPct val="90000"/>
              </a:lnSpc>
              <a:buFontTx/>
              <a:buNone/>
            </a:pPr>
            <a:r>
              <a:rPr lang="en-US" altLang="zh-CN" smtClean="0"/>
              <a:t>2. </a:t>
            </a:r>
            <a:r>
              <a:rPr lang="zh-CN" altLang="en-US" b="1" smtClean="0"/>
              <a:t>段落的连贯性</a:t>
            </a:r>
            <a:r>
              <a:rPr lang="en-US" altLang="zh-CN" b="1" smtClean="0">
                <a:latin typeface="Times New Roman" panose="02020603050405020304" pitchFamily="18" charset="0"/>
              </a:rPr>
              <a:t>(Coherence)</a:t>
            </a:r>
            <a:r>
              <a:rPr lang="zh-CN" altLang="en-US" smtClean="0">
                <a:latin typeface="Times New Roman" panose="02020603050405020304" pitchFamily="18" charset="0"/>
              </a:rPr>
              <a:t>。</a:t>
            </a:r>
          </a:p>
          <a:p>
            <a:pPr eaLnBrk="1" hangingPunct="1">
              <a:lnSpc>
                <a:spcPct val="90000"/>
              </a:lnSpc>
              <a:buFontTx/>
              <a:buNone/>
            </a:pPr>
            <a:r>
              <a:rPr lang="zh-CN" altLang="en-US" b="1" smtClean="0"/>
              <a:t>  一个好的段落除了内容要统一、完整外，还要结构连贯。连贯性指的是段落的结构是否有条理。一个段落内的各句应该有逻辑地、自然地衔接在一起，成为一个完整的整体。只有这样，读者才能跟上作者的思路，明白他讲的意思。达到连贯性的一个重要策略是使用合适的连接词。</a:t>
            </a:r>
          </a:p>
          <a:p>
            <a:pPr eaLnBrk="1" hangingPunct="1">
              <a:lnSpc>
                <a:spcPct val="90000"/>
              </a:lnSpc>
              <a:buFontTx/>
              <a:buNone/>
            </a:pPr>
            <a:r>
              <a:rPr lang="zh-CN" altLang="en-US" b="1" smtClean="0"/>
              <a:t>  例如：</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3"/>
          <p:cNvSpPr>
            <a:spLocks noGrp="1" noChangeArrowheads="1"/>
          </p:cNvSpPr>
          <p:nvPr>
            <p:ph idx="1"/>
          </p:nvPr>
        </p:nvSpPr>
        <p:spPr>
          <a:xfrm>
            <a:off x="611188" y="549275"/>
            <a:ext cx="7921625" cy="3657600"/>
          </a:xfrm>
        </p:spPr>
        <p:txBody>
          <a:bodyPr/>
          <a:lstStyle/>
          <a:p>
            <a:pPr eaLnBrk="1" hangingPunct="1">
              <a:lnSpc>
                <a:spcPct val="90000"/>
              </a:lnSpc>
              <a:buFontTx/>
              <a:buNone/>
            </a:pPr>
            <a:r>
              <a:rPr lang="en-US" altLang="zh-CN" sz="2800" smtClean="0">
                <a:latin typeface="Times New Roman" panose="02020603050405020304" pitchFamily="18" charset="0"/>
              </a:rPr>
              <a:t>  </a:t>
            </a:r>
            <a:r>
              <a:rPr lang="en-US" altLang="zh-CN" sz="2800" b="1" smtClean="0">
                <a:solidFill>
                  <a:schemeClr val="tx2"/>
                </a:solidFill>
                <a:latin typeface="Times New Roman" panose="02020603050405020304" pitchFamily="18" charset="0"/>
              </a:rPr>
              <a:t>Sample 1:</a:t>
            </a:r>
          </a:p>
          <a:p>
            <a:pPr eaLnBrk="1" hangingPunct="1">
              <a:lnSpc>
                <a:spcPct val="90000"/>
              </a:lnSpc>
              <a:buFontTx/>
              <a:buNone/>
            </a:pPr>
            <a:r>
              <a:rPr lang="en-US" altLang="zh-CN" sz="2800" smtClean="0">
                <a:latin typeface="Times New Roman" panose="02020603050405020304" pitchFamily="18" charset="0"/>
              </a:rPr>
              <a:t>   </a:t>
            </a:r>
            <a:r>
              <a:rPr lang="en-US" altLang="zh-CN" sz="2800" b="1" smtClean="0">
                <a:latin typeface="Times New Roman" panose="02020603050405020304" pitchFamily="18" charset="0"/>
              </a:rPr>
              <a:t>The moon has always been an object of interest to human beings. Until the 1960s, getting there was only a dream. Some thought that people could never reach the moon. Neil Armstrong stepped onto the lunar</a:t>
            </a:r>
            <a:r>
              <a:rPr lang="en-US" altLang="zh-CN" sz="2400" b="1" smtClean="0">
                <a:latin typeface="楷体_GB2312" pitchFamily="49" charset="-122"/>
                <a:ea typeface="楷体_GB2312" pitchFamily="49" charset="-122"/>
              </a:rPr>
              <a:t>(</a:t>
            </a:r>
            <a:r>
              <a:rPr lang="zh-CN" altLang="en-US" sz="2400" b="1" smtClean="0">
                <a:latin typeface="楷体_GB2312" pitchFamily="49" charset="-122"/>
                <a:ea typeface="楷体_GB2312" pitchFamily="49" charset="-122"/>
              </a:rPr>
              <a:t>月亮的</a:t>
            </a:r>
            <a:r>
              <a:rPr lang="en-US" altLang="zh-CN" sz="2400" b="1" smtClean="0">
                <a:latin typeface="楷体_GB2312" pitchFamily="49" charset="-122"/>
                <a:ea typeface="楷体_GB2312" pitchFamily="49" charset="-122"/>
              </a:rPr>
              <a:t>)</a:t>
            </a:r>
            <a:r>
              <a:rPr lang="en-US" altLang="zh-CN" sz="2800" b="1" smtClean="0">
                <a:latin typeface="Times New Roman" panose="02020603050405020304" pitchFamily="18" charset="0"/>
              </a:rPr>
              <a:t>surface in 1969. Moon landings have become routine</a:t>
            </a:r>
            <a:r>
              <a:rPr lang="en-US" altLang="zh-CN" sz="1800" b="1" smtClean="0">
                <a:latin typeface="宋体" panose="02010600030101010101" pitchFamily="2" charset="-122"/>
              </a:rPr>
              <a:t>(</a:t>
            </a:r>
            <a:r>
              <a:rPr lang="zh-CN" altLang="en-US" sz="2400" b="1" smtClean="0">
                <a:latin typeface="楷体_GB2312" pitchFamily="49" charset="-122"/>
                <a:ea typeface="楷体_GB2312" pitchFamily="49" charset="-122"/>
              </a:rPr>
              <a:t>日常事务</a:t>
            </a:r>
            <a:r>
              <a:rPr lang="en-US" altLang="zh-CN" sz="1800" b="1" smtClean="0">
                <a:latin typeface="宋体" panose="02010600030101010101" pitchFamily="2" charset="-122"/>
              </a:rPr>
              <a:t>)</a:t>
            </a:r>
          </a:p>
          <a:p>
            <a:pPr eaLnBrk="1" hangingPunct="1">
              <a:lnSpc>
                <a:spcPct val="90000"/>
              </a:lnSpc>
              <a:buFontTx/>
              <a:buNone/>
            </a:pPr>
            <a:r>
              <a:rPr lang="en-US" altLang="zh-CN" sz="2800" b="1" smtClean="0">
                <a:latin typeface="Times New Roman" panose="02020603050405020304" pitchFamily="18" charset="0"/>
              </a:rPr>
              <a:t>   to the general public.</a:t>
            </a:r>
          </a:p>
          <a:p>
            <a:pPr eaLnBrk="1" hangingPunct="1">
              <a:lnSpc>
                <a:spcPct val="90000"/>
              </a:lnSpc>
              <a:buFontTx/>
              <a:buNone/>
            </a:pPr>
            <a:endParaRPr lang="en-US" altLang="zh-CN" sz="2800" b="1" smtClean="0">
              <a:latin typeface="Times New Roman" panose="02020603050405020304" pitchFamily="18" charset="0"/>
            </a:endParaRPr>
          </a:p>
        </p:txBody>
      </p:sp>
      <p:sp>
        <p:nvSpPr>
          <p:cNvPr id="6"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112643" name="Text Box 4"/>
          <p:cNvSpPr txBox="1">
            <a:spLocks noChangeArrowheads="1"/>
          </p:cNvSpPr>
          <p:nvPr/>
        </p:nvSpPr>
        <p:spPr bwMode="auto">
          <a:xfrm>
            <a:off x="900113" y="4384675"/>
            <a:ext cx="7634287" cy="519113"/>
          </a:xfrm>
          <a:prstGeom prst="rect">
            <a:avLst/>
          </a:prstGeom>
          <a:noFill/>
          <a:ln w="9525">
            <a:noFill/>
            <a:miter lim="800000"/>
          </a:ln>
        </p:spPr>
        <p:txBody>
          <a:bodyPr wrap="none">
            <a:spAutoFit/>
          </a:bodyPr>
          <a:lstStyle/>
          <a:p>
            <a:r>
              <a:rPr lang="zh-CN" altLang="en-US" sz="2800" b="1">
                <a:latin typeface="Cambria" panose="02040503050406030204" charset="0"/>
                <a:ea typeface="楷体_GB2312" pitchFamily="49" charset="-122"/>
              </a:rPr>
              <a:t>本段没有加连接词，比较下段加连接词的效果</a:t>
            </a:r>
            <a:r>
              <a:rPr lang="zh-CN" altLang="en-US" b="1">
                <a:latin typeface="Cambria" panose="02040503050406030204" charset="0"/>
              </a:rPr>
              <a:t>。</a:t>
            </a:r>
          </a:p>
        </p:txBody>
      </p:sp>
      <p:sp>
        <p:nvSpPr>
          <p:cNvPr id="705541" name="AutoShape 5"/>
          <p:cNvSpPr>
            <a:spLocks noChangeArrowheads="1"/>
          </p:cNvSpPr>
          <p:nvPr/>
        </p:nvSpPr>
        <p:spPr bwMode="auto">
          <a:xfrm>
            <a:off x="900113" y="476250"/>
            <a:ext cx="1584325" cy="50482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Example</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705541"/>
                                        </p:tgtEl>
                                        <p:attrNameLst>
                                          <p:attrName>style.visibility</p:attrName>
                                        </p:attrNameLst>
                                      </p:cBhvr>
                                      <p:to>
                                        <p:strVal val="visible"/>
                                      </p:to>
                                    </p:set>
                                    <p:animEffect transition="in" filter="box(out)">
                                      <p:cBhvr>
                                        <p:cTn id="7" dur="1000"/>
                                        <p:tgtEl>
                                          <p:spTgt spid="705541"/>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54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3"/>
          <p:cNvSpPr>
            <a:spLocks noGrp="1" noChangeArrowheads="1"/>
          </p:cNvSpPr>
          <p:nvPr>
            <p:ph idx="1"/>
          </p:nvPr>
        </p:nvSpPr>
        <p:spPr>
          <a:xfrm>
            <a:off x="468313" y="620713"/>
            <a:ext cx="7920037" cy="5472112"/>
          </a:xfrm>
        </p:spPr>
        <p:txBody>
          <a:bodyPr/>
          <a:lstStyle/>
          <a:p>
            <a:pPr eaLnBrk="1" hangingPunct="1">
              <a:buFontTx/>
              <a:buNone/>
            </a:pPr>
            <a:r>
              <a:rPr lang="en-US" altLang="zh-CN" sz="2400" smtClean="0">
                <a:latin typeface="Times New Roman" panose="02020603050405020304" pitchFamily="18" charset="0"/>
              </a:rPr>
              <a:t>    </a:t>
            </a:r>
            <a:r>
              <a:rPr lang="en-US" altLang="zh-CN" sz="2800" b="1" smtClean="0">
                <a:latin typeface="Times New Roman" panose="02020603050405020304" pitchFamily="18" charset="0"/>
              </a:rPr>
              <a:t>The moon has always been an object of interest to human beings</a:t>
            </a:r>
            <a:r>
              <a:rPr lang="zh-CN" altLang="en-US" sz="2800" b="1" smtClean="0">
                <a:latin typeface="Times New Roman" panose="02020603050405020304" pitchFamily="18" charset="0"/>
              </a:rPr>
              <a:t>；</a:t>
            </a:r>
            <a:r>
              <a:rPr lang="en-US" altLang="zh-CN" sz="2800" b="1" u="sng" smtClean="0">
                <a:solidFill>
                  <a:schemeClr val="tx2"/>
                </a:solidFill>
                <a:latin typeface="Times New Roman" panose="02020603050405020304" pitchFamily="18" charset="0"/>
              </a:rPr>
              <a:t>however</a:t>
            </a:r>
            <a:r>
              <a:rPr lang="en-US" altLang="zh-CN" sz="2800" b="1" smtClean="0">
                <a:latin typeface="Times New Roman" panose="02020603050405020304" pitchFamily="18" charset="0"/>
              </a:rPr>
              <a:t> until the 1960s, getting there was only a dream. </a:t>
            </a:r>
            <a:r>
              <a:rPr lang="en-US" altLang="zh-CN" sz="2800" b="1" u="sng" smtClean="0">
                <a:solidFill>
                  <a:schemeClr val="tx2"/>
                </a:solidFill>
                <a:latin typeface="Times New Roman" panose="02020603050405020304" pitchFamily="18" charset="0"/>
              </a:rPr>
              <a:t>Although</a:t>
            </a:r>
            <a:r>
              <a:rPr lang="en-US" altLang="zh-CN" sz="2800" b="1" smtClean="0">
                <a:latin typeface="Times New Roman" panose="02020603050405020304" pitchFamily="18" charset="0"/>
              </a:rPr>
              <a:t> some thought that people could never reach the moon, Neil Armstrong stepped onto the lunar</a:t>
            </a:r>
            <a:r>
              <a:rPr lang="en-US" altLang="zh-CN" sz="2400" b="1" smtClean="0">
                <a:latin typeface="宋体" panose="02010600030101010101" pitchFamily="2" charset="-122"/>
              </a:rPr>
              <a:t>(</a:t>
            </a:r>
            <a:r>
              <a:rPr lang="zh-CN" altLang="en-US" sz="2400" b="1" smtClean="0">
                <a:latin typeface="宋体" panose="02010600030101010101" pitchFamily="2" charset="-122"/>
              </a:rPr>
              <a:t>月亮的</a:t>
            </a:r>
            <a:r>
              <a:rPr lang="en-US" altLang="zh-CN" sz="1800" b="1" smtClean="0">
                <a:latin typeface="宋体" panose="02010600030101010101" pitchFamily="2" charset="-122"/>
              </a:rPr>
              <a:t>)</a:t>
            </a:r>
            <a:r>
              <a:rPr lang="en-US" altLang="zh-CN" sz="2800" b="1" smtClean="0">
                <a:latin typeface="Times New Roman" panose="02020603050405020304" pitchFamily="18" charset="0"/>
              </a:rPr>
              <a:t>surface in 1969. </a:t>
            </a:r>
            <a:r>
              <a:rPr lang="en-US" altLang="zh-CN" sz="2800" b="1" u="sng" smtClean="0">
                <a:solidFill>
                  <a:schemeClr val="tx2"/>
                </a:solidFill>
                <a:latin typeface="Times New Roman" panose="02020603050405020304" pitchFamily="18" charset="0"/>
              </a:rPr>
              <a:t>After that</a:t>
            </a:r>
            <a:r>
              <a:rPr lang="en-US" altLang="zh-CN" sz="2800" b="1" smtClean="0">
                <a:latin typeface="Times New Roman" panose="02020603050405020304" pitchFamily="18" charset="0"/>
              </a:rPr>
              <a:t> moon landings have become routine</a:t>
            </a:r>
            <a:r>
              <a:rPr lang="en-US" altLang="zh-CN" sz="2400" b="1" smtClean="0">
                <a:latin typeface="宋体" panose="02010600030101010101" pitchFamily="2" charset="-122"/>
              </a:rPr>
              <a:t>(</a:t>
            </a:r>
            <a:r>
              <a:rPr lang="zh-CN" altLang="en-US" sz="2400" b="1" smtClean="0">
                <a:latin typeface="宋体" panose="02010600030101010101" pitchFamily="2" charset="-122"/>
              </a:rPr>
              <a:t>日常事务</a:t>
            </a:r>
            <a:r>
              <a:rPr lang="en-US" altLang="zh-CN" sz="2400" b="1" smtClean="0">
                <a:latin typeface="宋体" panose="02010600030101010101" pitchFamily="2" charset="-122"/>
              </a:rPr>
              <a:t>)</a:t>
            </a:r>
            <a:r>
              <a:rPr lang="en-US" altLang="zh-CN" sz="2800" b="1" smtClean="0">
                <a:latin typeface="Times New Roman" panose="02020603050405020304" pitchFamily="18" charset="0"/>
              </a:rPr>
              <a:t>to the general public.</a:t>
            </a:r>
          </a:p>
          <a:p>
            <a:pPr eaLnBrk="1" hangingPunct="1">
              <a:buFontTx/>
              <a:buNone/>
            </a:pPr>
            <a:r>
              <a:rPr lang="en-US" altLang="zh-CN" sz="2400" b="1" smtClean="0">
                <a:latin typeface="Times New Roman" panose="02020603050405020304" pitchFamily="18" charset="0"/>
                <a:ea typeface="楷体_GB2312" pitchFamily="49" charset="-122"/>
              </a:rPr>
              <a:t>            </a:t>
            </a:r>
            <a:r>
              <a:rPr lang="zh-CN" altLang="en-US" sz="2400" b="1" smtClean="0">
                <a:latin typeface="Times New Roman" panose="02020603050405020304" pitchFamily="18" charset="0"/>
                <a:ea typeface="楷体_GB2312" pitchFamily="49" charset="-122"/>
              </a:rPr>
              <a:t>经过两段的比较可以看出，</a:t>
            </a:r>
            <a:r>
              <a:rPr lang="zh-CN" altLang="en-US" sz="2400" b="1" smtClean="0">
                <a:ea typeface="楷体_GB2312" pitchFamily="49" charset="-122"/>
              </a:rPr>
              <a:t>加了连接词的段落，段落内句与句之间衔接和谐、条理清晰、层次分明、通顺流畅。可见学会正确使用连接词对段落的协调连贯是非常重要的</a:t>
            </a:r>
            <a:endParaRPr lang="zh-CN" altLang="en-US" sz="2400" b="1" smtClean="0">
              <a:latin typeface="Times New Roman" panose="02020603050405020304" pitchFamily="18" charset="0"/>
              <a:ea typeface="楷体_GB2312" pitchFamily="49" charset="-122"/>
            </a:endParaRPr>
          </a:p>
          <a:p>
            <a:pPr eaLnBrk="1" hangingPunct="1"/>
            <a:endParaRPr lang="en-US" altLang="zh-CN" sz="2000" b="1" smtClean="0">
              <a:ea typeface="楷体_GB2312" pitchFamily="49" charset="-122"/>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t>
            </a:r>
            <a:endParaRPr lang="zh-CN" altLang="en-US" dirty="0"/>
          </a:p>
        </p:txBody>
      </p:sp>
      <p:sp>
        <p:nvSpPr>
          <p:cNvPr id="3" name="内容占位符 2"/>
          <p:cNvSpPr>
            <a:spLocks noGrp="1"/>
          </p:cNvSpPr>
          <p:nvPr>
            <p:ph idx="1"/>
          </p:nvPr>
        </p:nvSpPr>
        <p:spPr>
          <a:xfrm>
            <a:off x="395536" y="476672"/>
            <a:ext cx="7992888" cy="6264696"/>
          </a:xfrm>
        </p:spPr>
        <p:txBody>
          <a:bodyPr>
            <a:normAutofit/>
          </a:bodyPr>
          <a:lstStyle/>
          <a:p>
            <a:r>
              <a:rPr lang="en-US" altLang="zh-CN" sz="2000" u="sng" dirty="0"/>
              <a:t>Moreover</a:t>
            </a:r>
            <a:r>
              <a:rPr lang="zh-CN" altLang="en-US" sz="2000" dirty="0"/>
              <a:t>，</a:t>
            </a:r>
            <a:r>
              <a:rPr lang="en-US" altLang="zh-CN" sz="2000" dirty="0"/>
              <a:t>laws limiting the length of time spent in the office may also enhance the working efficiency of employees</a:t>
            </a:r>
            <a:r>
              <a:rPr lang="en-US" altLang="zh-CN" sz="2000" dirty="0" smtClean="0"/>
              <a:t>. Psychologically </a:t>
            </a:r>
            <a:r>
              <a:rPr lang="en-US" altLang="zh-CN" sz="2000" dirty="0"/>
              <a:t>speaking</a:t>
            </a:r>
            <a:r>
              <a:rPr lang="zh-CN" altLang="en-US" sz="2000" dirty="0"/>
              <a:t>，</a:t>
            </a:r>
            <a:r>
              <a:rPr lang="en-US" altLang="zh-CN" sz="2000" dirty="0"/>
              <a:t>when granted more leisure time</a:t>
            </a:r>
            <a:r>
              <a:rPr lang="zh-CN" altLang="en-US" sz="2000" dirty="0"/>
              <a:t>，</a:t>
            </a:r>
            <a:r>
              <a:rPr lang="en-US" altLang="zh-CN" sz="2000" dirty="0"/>
              <a:t>employees are often more stimulated to concentrate all of their attention on their duties during the shorter working period</a:t>
            </a:r>
            <a:r>
              <a:rPr lang="en-US" altLang="zh-CN" sz="2000" dirty="0" smtClean="0"/>
              <a:t>. </a:t>
            </a:r>
            <a:r>
              <a:rPr lang="en-US" altLang="zh-CN" sz="2000" u="sng" dirty="0" smtClean="0"/>
              <a:t>Undoubtedly</a:t>
            </a:r>
            <a:r>
              <a:rPr lang="zh-CN" altLang="en-US" sz="2000" u="sng" dirty="0"/>
              <a:t>，</a:t>
            </a:r>
            <a:r>
              <a:rPr lang="en-US" altLang="zh-CN" sz="2000" dirty="0"/>
              <a:t>this higher degree of attentiveness helps improve the quality of work</a:t>
            </a:r>
            <a:r>
              <a:rPr lang="zh-CN" altLang="en-US" sz="2000" dirty="0"/>
              <a:t>，</a:t>
            </a:r>
            <a:r>
              <a:rPr lang="en-US" altLang="zh-CN" sz="2000" u="sng" dirty="0"/>
              <a:t>thereby</a:t>
            </a:r>
            <a:r>
              <a:rPr lang="en-US" altLang="zh-CN" sz="2000" dirty="0"/>
              <a:t> ensuring the smooth progress of any task undertaken</a:t>
            </a:r>
            <a:r>
              <a:rPr lang="en-US" altLang="zh-CN" sz="2000" dirty="0" smtClean="0"/>
              <a:t>. </a:t>
            </a:r>
            <a:r>
              <a:rPr lang="en-US" altLang="zh-CN" sz="2000" u="sng" dirty="0" smtClean="0"/>
              <a:t>Meanwhile</a:t>
            </a:r>
            <a:r>
              <a:rPr lang="zh-CN" altLang="en-US" sz="2000" dirty="0"/>
              <a:t>，</a:t>
            </a:r>
            <a:r>
              <a:rPr lang="en-US" altLang="zh-CN" sz="2000" dirty="0"/>
              <a:t>thanks to the shorter office hours</a:t>
            </a:r>
            <a:r>
              <a:rPr lang="zh-CN" altLang="en-US" sz="2000" dirty="0"/>
              <a:t>，</a:t>
            </a:r>
            <a:r>
              <a:rPr lang="en-US" altLang="zh-CN" sz="2000" dirty="0"/>
              <a:t>employees will never feel extremely bored or exhausted while working</a:t>
            </a:r>
            <a:r>
              <a:rPr lang="en-US" altLang="zh-CN" sz="2000" dirty="0" smtClean="0"/>
              <a:t>. </a:t>
            </a:r>
            <a:r>
              <a:rPr lang="en-US" altLang="zh-CN" sz="2000" u="sng" dirty="0" smtClean="0"/>
              <a:t>Instead</a:t>
            </a:r>
            <a:r>
              <a:rPr lang="zh-CN" altLang="en-US" sz="2000" dirty="0"/>
              <a:t>，</a:t>
            </a:r>
            <a:r>
              <a:rPr lang="en-US" altLang="zh-CN" sz="2000" dirty="0"/>
              <a:t>they are likely to obtain an agreeable mental state</a:t>
            </a:r>
            <a:r>
              <a:rPr lang="zh-CN" altLang="en-US" sz="2000" dirty="0"/>
              <a:t>，</a:t>
            </a:r>
            <a:r>
              <a:rPr lang="en-US" altLang="zh-CN" sz="2000" dirty="0"/>
              <a:t>which in turn steps up their efforts to do a better job</a:t>
            </a:r>
            <a:r>
              <a:rPr lang="en-US" altLang="zh-CN" sz="2000" dirty="0" smtClean="0"/>
              <a:t>. Working </a:t>
            </a:r>
            <a:r>
              <a:rPr lang="en-US" altLang="zh-CN" sz="2000" dirty="0"/>
              <a:t>in such a mood contributes much to the prevention of health problems or diseases incurred by harsh pressure</a:t>
            </a:r>
            <a:r>
              <a:rPr lang="en-US" altLang="zh-CN" sz="2000" dirty="0" smtClean="0"/>
              <a:t>. </a:t>
            </a:r>
            <a:r>
              <a:rPr lang="en-US" altLang="zh-CN" sz="2000" u="sng" dirty="0" smtClean="0"/>
              <a:t>Besides</a:t>
            </a:r>
            <a:r>
              <a:rPr lang="zh-CN" altLang="en-US" sz="2000" u="sng" dirty="0"/>
              <a:t>，</a:t>
            </a:r>
            <a:r>
              <a:rPr lang="en-US" altLang="zh-CN" sz="2000" dirty="0"/>
              <a:t>they will also have more opportunities to enjoy life and even to pick up beneficial hobbies</a:t>
            </a:r>
            <a:r>
              <a:rPr lang="zh-CN" altLang="en-US" sz="2000" dirty="0"/>
              <a:t>，</a:t>
            </a:r>
            <a:r>
              <a:rPr lang="en-US" altLang="zh-CN" sz="2000" dirty="0"/>
              <a:t>things that are especially valuable in today’s fast-paced society.</a:t>
            </a:r>
            <a:endParaRPr lang="zh-CN" altLang="en-US" sz="2000" dirty="0"/>
          </a:p>
        </p:txBody>
      </p:sp>
    </p:spTree>
    <p:extLst>
      <p:ext uri="{BB962C8B-B14F-4D97-AF65-F5344CB8AC3E}">
        <p14:creationId xmlns:p14="http://schemas.microsoft.com/office/powerpoint/2010/main" val="2704539227"/>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主题句与支持句之间的过渡词</a:t>
            </a:r>
            <a:r>
              <a:rPr lang="en-US" altLang="zh-CN" dirty="0" smtClean="0"/>
              <a:t> </a:t>
            </a:r>
            <a:endParaRPr lang="zh-CN" altLang="en-US" dirty="0"/>
          </a:p>
        </p:txBody>
      </p:sp>
      <p:sp>
        <p:nvSpPr>
          <p:cNvPr id="3" name="内容占位符 2"/>
          <p:cNvSpPr>
            <a:spLocks noGrp="1"/>
          </p:cNvSpPr>
          <p:nvPr>
            <p:ph idx="1"/>
          </p:nvPr>
        </p:nvSpPr>
        <p:spPr>
          <a:xfrm>
            <a:off x="395536" y="1268760"/>
            <a:ext cx="8568952" cy="7317432"/>
          </a:xfrm>
        </p:spPr>
        <p:txBody>
          <a:bodyPr/>
          <a:lstStyle/>
          <a:p>
            <a:r>
              <a:rPr lang="en-US" altLang="zh-CN" sz="2400" dirty="0" smtClean="0"/>
              <a:t>1. </a:t>
            </a:r>
            <a:r>
              <a:rPr lang="zh-CN" altLang="zh-CN" sz="2400" dirty="0" smtClean="0"/>
              <a:t>列举法：指先提出论点，然后举出一系列论据进行陈述或解释的方法。列举法常用的过渡词有：</a:t>
            </a:r>
            <a:r>
              <a:rPr lang="en-US" altLang="zh-CN" sz="2400" dirty="0" smtClean="0"/>
              <a:t>first, second, also, finally; one ,another ,still another , for one thing ...for another ; to begin with, on one hand , on the other hand </a:t>
            </a:r>
            <a:r>
              <a:rPr lang="zh-CN" altLang="zh-CN" sz="2400" dirty="0" smtClean="0"/>
              <a:t>等。</a:t>
            </a:r>
            <a:r>
              <a:rPr lang="en-US" altLang="zh-CN" sz="2400" dirty="0" smtClean="0"/>
              <a:t> </a:t>
            </a:r>
            <a:br>
              <a:rPr lang="en-US" altLang="zh-CN" sz="2400" dirty="0" smtClean="0"/>
            </a:br>
            <a:r>
              <a:rPr lang="zh-CN" altLang="zh-CN" sz="2400" dirty="0" smtClean="0"/>
              <a:t>　　</a:t>
            </a:r>
            <a:r>
              <a:rPr lang="en-US" altLang="zh-CN" sz="2400" dirty="0" smtClean="0"/>
              <a:t>2. </a:t>
            </a:r>
            <a:r>
              <a:rPr lang="zh-CN" altLang="zh-CN" sz="2400" dirty="0" smtClean="0"/>
              <a:t>举例法：就是通过具体的事例扩展段落，阐述主题句中的中心思想。常用的过渡词有：</a:t>
            </a:r>
            <a:r>
              <a:rPr lang="en-US" altLang="zh-CN" sz="2400" dirty="0" smtClean="0"/>
              <a:t>for example/instance, in particular, such as ,like, besides, in addition to</a:t>
            </a:r>
            <a:r>
              <a:rPr lang="zh-CN" altLang="zh-CN" sz="2400" dirty="0" smtClean="0"/>
              <a:t>。</a:t>
            </a:r>
            <a:r>
              <a:rPr lang="en-US" altLang="zh-CN" sz="2400" dirty="0" smtClean="0"/>
              <a:t> </a:t>
            </a:r>
            <a:br>
              <a:rPr lang="en-US" altLang="zh-CN" sz="2400" dirty="0" smtClean="0"/>
            </a:br>
            <a:r>
              <a:rPr lang="zh-CN" altLang="zh-CN" dirty="0" smtClean="0"/>
              <a:t>　　</a:t>
            </a:r>
            <a:endParaRPr lang="zh-CN" altLang="en-US" dirty="0"/>
          </a:p>
        </p:txBody>
      </p:sp>
    </p:spTree>
  </p:cSld>
  <p:clrMapOvr>
    <a:masterClrMapping/>
  </p:clrMapOvr>
  <p:transition>
    <p:fade/>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490066"/>
          </a:xfrm>
        </p:spPr>
        <p:txBody>
          <a:bodyPr>
            <a:normAutofit fontScale="90000"/>
          </a:bodyPr>
          <a:lstStyle/>
          <a:p>
            <a:r>
              <a:rPr lang="en-US" altLang="zh-CN" dirty="0" smtClean="0"/>
              <a:t> </a:t>
            </a:r>
            <a:endParaRPr lang="zh-CN" altLang="en-US" dirty="0"/>
          </a:p>
        </p:txBody>
      </p:sp>
      <p:sp>
        <p:nvSpPr>
          <p:cNvPr id="3" name="内容占位符 2"/>
          <p:cNvSpPr>
            <a:spLocks noGrp="1"/>
          </p:cNvSpPr>
          <p:nvPr>
            <p:ph idx="1"/>
          </p:nvPr>
        </p:nvSpPr>
        <p:spPr>
          <a:xfrm>
            <a:off x="467544" y="620688"/>
            <a:ext cx="8229600" cy="4525963"/>
          </a:xfrm>
        </p:spPr>
        <p:txBody>
          <a:bodyPr>
            <a:normAutofit fontScale="92500" lnSpcReduction="20000"/>
          </a:bodyPr>
          <a:lstStyle/>
          <a:p>
            <a:r>
              <a:rPr lang="en-US" altLang="zh-CN" sz="2800" dirty="0" smtClean="0"/>
              <a:t>3. </a:t>
            </a:r>
            <a:r>
              <a:rPr lang="zh-CN" altLang="zh-CN" sz="2800" dirty="0" smtClean="0"/>
              <a:t>因果法：因果法根据事物发生的原因推断其结果，或根据结果分析其原因。表示结果的常用的过渡词有</a:t>
            </a:r>
            <a:r>
              <a:rPr lang="en-US" altLang="zh-CN" sz="2800" dirty="0" smtClean="0"/>
              <a:t>therefore</a:t>
            </a:r>
            <a:r>
              <a:rPr lang="zh-CN" altLang="zh-CN" sz="2800" dirty="0" smtClean="0"/>
              <a:t>，</a:t>
            </a:r>
            <a:r>
              <a:rPr lang="en-US" altLang="zh-CN" sz="2800" dirty="0" smtClean="0"/>
              <a:t>as a result , </a:t>
            </a:r>
            <a:r>
              <a:rPr lang="en-US" altLang="zh-CN" sz="2800" dirty="0" err="1" smtClean="0"/>
              <a:t>accordingly,for</a:t>
            </a:r>
            <a:r>
              <a:rPr lang="en-US" altLang="zh-CN" sz="2800" dirty="0" smtClean="0"/>
              <a:t> this reason , lead to</a:t>
            </a:r>
            <a:r>
              <a:rPr lang="zh-CN" altLang="zh-CN" sz="2800" dirty="0" smtClean="0"/>
              <a:t>等，表示原因的过渡词有：</a:t>
            </a:r>
            <a:r>
              <a:rPr lang="en-US" altLang="zh-CN" sz="2800" dirty="0" smtClean="0"/>
              <a:t>due to , because of , owing to , since, as , result from, on account of, by reason of </a:t>
            </a:r>
            <a:r>
              <a:rPr lang="zh-CN" altLang="zh-CN" sz="2800" dirty="0" smtClean="0"/>
              <a:t>等。</a:t>
            </a:r>
            <a:r>
              <a:rPr lang="en-US" altLang="zh-CN" sz="2800" dirty="0" smtClean="0"/>
              <a:t> </a:t>
            </a:r>
            <a:br>
              <a:rPr lang="en-US" altLang="zh-CN" sz="2800" dirty="0" smtClean="0"/>
            </a:br>
            <a:r>
              <a:rPr lang="zh-CN" altLang="zh-CN" sz="2800" dirty="0" smtClean="0"/>
              <a:t>　　</a:t>
            </a:r>
            <a:r>
              <a:rPr lang="en-US" altLang="zh-CN" sz="2800" dirty="0" smtClean="0"/>
              <a:t>4. </a:t>
            </a:r>
            <a:r>
              <a:rPr lang="zh-CN" altLang="zh-CN" sz="2800" dirty="0" smtClean="0"/>
              <a:t>比较对照法 ：通过比较两个或一个事物的两个方面的相似点或不同点来支持主题句。常用的过渡词中比较相同点的有：</a:t>
            </a:r>
            <a:r>
              <a:rPr lang="en-US" altLang="zh-CN" sz="2800" dirty="0" smtClean="0"/>
              <a:t>like , same, in the same way, similar to , similarly, in common </a:t>
            </a:r>
            <a:r>
              <a:rPr lang="zh-CN" altLang="zh-CN" sz="2800" dirty="0" smtClean="0"/>
              <a:t>等。对照不同点的有：</a:t>
            </a:r>
            <a:r>
              <a:rPr lang="en-US" altLang="zh-CN" sz="2800" dirty="0" smtClean="0"/>
              <a:t>however, although , but ,unlike ,differ from , be different from, on the other hand, in contrast, whereas</a:t>
            </a:r>
            <a:r>
              <a:rPr lang="zh-CN" altLang="zh-CN" sz="2800" dirty="0" smtClean="0"/>
              <a:t>等。</a:t>
            </a:r>
            <a:r>
              <a:rPr lang="en-US" altLang="zh-CN" sz="2800" dirty="0" smtClean="0"/>
              <a:t> </a:t>
            </a:r>
            <a:endParaRPr lang="zh-CN" altLang="zh-CN" sz="2800" dirty="0" smtClean="0"/>
          </a:p>
          <a:p>
            <a:endParaRPr lang="zh-CN" altLang="en-US" sz="2800" dirty="0"/>
          </a:p>
        </p:txBody>
      </p:sp>
    </p:spTree>
  </p:cSld>
  <p:clrMapOvr>
    <a:masterClrMapping/>
  </p:clrMapOvr>
  <p:transition>
    <p:fade/>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4"/>
          <p:cNvSpPr>
            <a:spLocks noGrp="1" noChangeArrowheads="1"/>
          </p:cNvSpPr>
          <p:nvPr>
            <p:ph idx="1"/>
          </p:nvPr>
        </p:nvSpPr>
        <p:spPr>
          <a:xfrm>
            <a:off x="179388" y="404813"/>
            <a:ext cx="8243887" cy="5184775"/>
          </a:xfrm>
        </p:spPr>
        <p:txBody>
          <a:bodyPr/>
          <a:lstStyle/>
          <a:p>
            <a:pPr eaLnBrk="1" hangingPunct="1">
              <a:buFontTx/>
              <a:buNone/>
            </a:pPr>
            <a:r>
              <a:rPr lang="en-US" altLang="zh-CN" sz="3600" b="1" dirty="0" smtClean="0">
                <a:latin typeface="Times New Roman" panose="02020603050405020304" pitchFamily="18" charset="0"/>
              </a:rPr>
              <a:t> </a:t>
            </a:r>
          </a:p>
          <a:p>
            <a:pPr eaLnBrk="1" hangingPunct="1">
              <a:buFontTx/>
              <a:buNone/>
            </a:pPr>
            <a:r>
              <a:rPr lang="en-US" altLang="zh-CN" b="1" dirty="0" smtClean="0">
                <a:latin typeface="Times New Roman" panose="02020603050405020304" pitchFamily="18" charset="0"/>
              </a:rPr>
              <a:t>    </a:t>
            </a:r>
            <a:r>
              <a:rPr lang="en-US" altLang="zh-CN" sz="2400" b="1" dirty="0" smtClean="0">
                <a:latin typeface="Times New Roman" panose="02020603050405020304" pitchFamily="18" charset="0"/>
              </a:rPr>
              <a:t>3.</a:t>
            </a:r>
            <a:r>
              <a:rPr lang="zh-CN" altLang="en-US" sz="2400" b="1" dirty="0" smtClean="0">
                <a:latin typeface="Times New Roman" panose="02020603050405020304" pitchFamily="18" charset="0"/>
              </a:rPr>
              <a:t>段落的完整性</a:t>
            </a:r>
            <a:r>
              <a:rPr lang="en-US" altLang="zh-CN" sz="2400" dirty="0" smtClean="0">
                <a:latin typeface="Times New Roman" panose="02020603050405020304" pitchFamily="18" charset="0"/>
              </a:rPr>
              <a:t>(</a:t>
            </a:r>
            <a:r>
              <a:rPr lang="en-US" altLang="zh-CN" sz="2400" b="1" dirty="0" smtClean="0">
                <a:latin typeface="Times New Roman" panose="02020603050405020304" pitchFamily="18" charset="0"/>
              </a:rPr>
              <a:t>Completeness</a:t>
            </a:r>
            <a:r>
              <a:rPr lang="en-US" altLang="zh-CN" sz="2400" dirty="0" smtClean="0">
                <a:latin typeface="Times New Roman" panose="02020603050405020304" pitchFamily="18" charset="0"/>
              </a:rPr>
              <a:t>)</a:t>
            </a:r>
          </a:p>
          <a:p>
            <a:pPr eaLnBrk="1" hangingPunct="1">
              <a:buFontTx/>
              <a:buNone/>
            </a:pPr>
            <a:r>
              <a:rPr lang="en-US" altLang="zh-CN" sz="2400" b="1" dirty="0" smtClean="0">
                <a:latin typeface="Times New Roman" panose="02020603050405020304" pitchFamily="18" charset="0"/>
              </a:rPr>
              <a:t>	        </a:t>
            </a:r>
            <a:r>
              <a:rPr lang="zh-CN" altLang="en-US" sz="2400" b="1" dirty="0" smtClean="0">
                <a:latin typeface="Times New Roman" panose="02020603050405020304" pitchFamily="18" charset="0"/>
              </a:rPr>
              <a:t>这里段落的完整性指整个段落在意义上的完整性。段落的中心思想必须得到充分的讨论，一个观点必须得到足够的事实支持，方可进入下一段落。换言之，写了主题句以后还必须回答与之相关的问题。否则，这个段落就是不完整的。例如：</a:t>
            </a:r>
          </a:p>
          <a:p>
            <a:pPr eaLnBrk="1" hangingPunct="1">
              <a:buFontTx/>
              <a:buNone/>
            </a:pPr>
            <a:r>
              <a:rPr lang="zh-CN" altLang="en-US" b="1" dirty="0" smtClean="0">
                <a:latin typeface="Times New Roman" panose="02020603050405020304" pitchFamily="18" charset="0"/>
              </a:rPr>
              <a:t>    </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3"/>
          <p:cNvSpPr>
            <a:spLocks noGrp="1" noChangeArrowheads="1"/>
          </p:cNvSpPr>
          <p:nvPr>
            <p:ph idx="1"/>
          </p:nvPr>
        </p:nvSpPr>
        <p:spPr>
          <a:xfrm>
            <a:off x="539750" y="549275"/>
            <a:ext cx="8064500" cy="4967288"/>
          </a:xfrm>
        </p:spPr>
        <p:txBody>
          <a:bodyPr/>
          <a:lstStyle/>
          <a:p>
            <a:pPr algn="ctr" eaLnBrk="1" hangingPunct="1">
              <a:buFontTx/>
              <a:buNone/>
            </a:pPr>
            <a:r>
              <a:rPr lang="zh-CN" altLang="en-US" sz="3600" b="1" smtClean="0"/>
              <a:t>第三节  英语文章</a:t>
            </a:r>
            <a:r>
              <a:rPr lang="zh-CN" altLang="en-US" sz="3600" b="1" smtClean="0">
                <a:latin typeface="Times New Roman" panose="02020603050405020304" pitchFamily="18" charset="0"/>
              </a:rPr>
              <a:t>（</a:t>
            </a:r>
            <a:r>
              <a:rPr lang="en-US" altLang="zh-CN" sz="3600" b="1" smtClean="0">
                <a:latin typeface="Times New Roman" panose="02020603050405020304" pitchFamily="18" charset="0"/>
              </a:rPr>
              <a:t>Essay</a:t>
            </a:r>
            <a:r>
              <a:rPr lang="zh-CN" altLang="en-US" sz="3600" b="1" smtClean="0">
                <a:latin typeface="Times New Roman" panose="02020603050405020304" pitchFamily="18" charset="0"/>
              </a:rPr>
              <a:t>）</a:t>
            </a:r>
          </a:p>
          <a:p>
            <a:pPr eaLnBrk="1" hangingPunct="1">
              <a:buFontTx/>
              <a:buNone/>
            </a:pPr>
            <a:r>
              <a:rPr lang="zh-CN" altLang="en-US" b="1" smtClean="0"/>
              <a:t>      </a:t>
            </a:r>
          </a:p>
          <a:p>
            <a:pPr eaLnBrk="1" hangingPunct="1">
              <a:buFontTx/>
              <a:buNone/>
            </a:pPr>
            <a:r>
              <a:rPr lang="zh-CN" altLang="en-US" b="1" smtClean="0"/>
              <a:t>     </a:t>
            </a:r>
            <a:r>
              <a:rPr lang="zh-CN" altLang="en-US" sz="2800" b="1" smtClean="0"/>
              <a:t>一篇文章有若干个段落，它们构成一个整体，表达一个主题。文章的结构与段落结构相似，段落由主题句、扩展句和结尾句组成；文章的结构也是三个部分：开头</a:t>
            </a:r>
            <a:r>
              <a:rPr lang="en-US" altLang="zh-CN" sz="2800" b="1" smtClean="0">
                <a:latin typeface="Times New Roman" panose="02020603050405020304" pitchFamily="18" charset="0"/>
              </a:rPr>
              <a:t>(Introduction)</a:t>
            </a:r>
            <a:r>
              <a:rPr lang="zh-CN" altLang="en-US" sz="2800" b="1" smtClean="0">
                <a:latin typeface="Times New Roman" panose="02020603050405020304" pitchFamily="18" charset="0"/>
              </a:rPr>
              <a:t>、正文</a:t>
            </a:r>
            <a:r>
              <a:rPr lang="en-US" altLang="zh-CN" sz="2800" b="1" smtClean="0">
                <a:latin typeface="Times New Roman" panose="02020603050405020304" pitchFamily="18" charset="0"/>
              </a:rPr>
              <a:t>(Body)</a:t>
            </a:r>
            <a:r>
              <a:rPr lang="zh-CN" altLang="en-US" sz="2800" b="1" smtClean="0">
                <a:latin typeface="Times New Roman" panose="02020603050405020304" pitchFamily="18" charset="0"/>
              </a:rPr>
              <a:t>和结尾</a:t>
            </a:r>
            <a:r>
              <a:rPr lang="en-US" altLang="zh-CN" sz="2800" b="1" smtClean="0">
                <a:latin typeface="Times New Roman" panose="02020603050405020304" pitchFamily="18" charset="0"/>
              </a:rPr>
              <a:t>(Conclusion)</a:t>
            </a:r>
            <a:r>
              <a:rPr lang="zh-CN" altLang="en-US" sz="2800" b="1" smtClean="0"/>
              <a:t>。文章的开头、正文和结尾与段落中的主题句、扩展句和结尾句基本上作用相同。因此，一篇文章在形式上是段落的扩展。</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3"/>
          <p:cNvSpPr>
            <a:spLocks noGrp="1" noChangeArrowheads="1"/>
          </p:cNvSpPr>
          <p:nvPr>
            <p:ph idx="1"/>
          </p:nvPr>
        </p:nvSpPr>
        <p:spPr>
          <a:xfrm>
            <a:off x="395288" y="620713"/>
            <a:ext cx="8497887" cy="5545137"/>
          </a:xfrm>
        </p:spPr>
        <p:txBody>
          <a:bodyPr/>
          <a:lstStyle/>
          <a:p>
            <a:pPr eaLnBrk="1" hangingPunct="1">
              <a:buFontTx/>
              <a:buNone/>
            </a:pPr>
            <a:r>
              <a:rPr lang="en-US" altLang="zh-CN" b="1" smtClean="0">
                <a:latin typeface="宋体" panose="02010600030101010101" pitchFamily="2" charset="-122"/>
              </a:rPr>
              <a:t> 1.3.1</a:t>
            </a:r>
            <a:r>
              <a:rPr lang="zh-CN" altLang="en-US" sz="2800" b="1" smtClean="0"/>
              <a:t>文章的组成 （</a:t>
            </a:r>
            <a:r>
              <a:rPr lang="en-US" altLang="zh-CN" sz="2800" b="1" smtClean="0">
                <a:latin typeface="Times New Roman" panose="02020603050405020304" pitchFamily="18" charset="0"/>
              </a:rPr>
              <a:t>The</a:t>
            </a:r>
            <a:r>
              <a:rPr lang="en-US" altLang="zh-CN" sz="2800" b="1" smtClean="0"/>
              <a:t> </a:t>
            </a:r>
            <a:r>
              <a:rPr lang="en-US" altLang="zh-CN" sz="2800" b="1" smtClean="0">
                <a:latin typeface="Times New Roman" panose="02020603050405020304" pitchFamily="18" charset="0"/>
              </a:rPr>
              <a:t>Structure of </a:t>
            </a:r>
            <a:r>
              <a:rPr lang="en-US" altLang="zh-CN" b="1" smtClean="0">
                <a:latin typeface="Times New Roman" panose="02020603050405020304" pitchFamily="18" charset="0"/>
              </a:rPr>
              <a:t>Essay</a:t>
            </a:r>
            <a:r>
              <a:rPr lang="en-US" altLang="zh-CN" sz="2800" b="1" smtClean="0"/>
              <a:t> </a:t>
            </a:r>
            <a:r>
              <a:rPr lang="zh-CN" altLang="en-US" sz="2800" b="1" smtClean="0"/>
              <a:t>）</a:t>
            </a:r>
          </a:p>
          <a:p>
            <a:pPr eaLnBrk="1" hangingPunct="1">
              <a:buFontTx/>
              <a:buNone/>
            </a:pPr>
            <a:r>
              <a:rPr lang="zh-CN" altLang="en-US" sz="2800" b="1" smtClean="0"/>
              <a:t>   文章一般由三个部分组成：开头</a:t>
            </a:r>
            <a:r>
              <a:rPr lang="en-US" altLang="zh-CN" sz="2800" b="1" smtClean="0">
                <a:latin typeface="Times New Roman" panose="02020603050405020304" pitchFamily="18" charset="0"/>
              </a:rPr>
              <a:t>(Introduction)</a:t>
            </a:r>
            <a:r>
              <a:rPr lang="zh-CN" altLang="en-US" sz="2800" b="1" smtClean="0">
                <a:latin typeface="Times New Roman" panose="02020603050405020304" pitchFamily="18" charset="0"/>
              </a:rPr>
              <a:t>、正文</a:t>
            </a:r>
            <a:r>
              <a:rPr lang="en-US" altLang="zh-CN" sz="2800" b="1" smtClean="0">
                <a:latin typeface="Times New Roman" panose="02020603050405020304" pitchFamily="18" charset="0"/>
              </a:rPr>
              <a:t>(Body)</a:t>
            </a:r>
            <a:r>
              <a:rPr lang="zh-CN" altLang="en-US" sz="2800" b="1" smtClean="0">
                <a:latin typeface="Times New Roman" panose="02020603050405020304" pitchFamily="18" charset="0"/>
              </a:rPr>
              <a:t>和结尾（</a:t>
            </a:r>
            <a:r>
              <a:rPr lang="en-US" altLang="zh-CN" sz="2800" b="1" smtClean="0">
                <a:latin typeface="Times New Roman" panose="02020603050405020304" pitchFamily="18" charset="0"/>
              </a:rPr>
              <a:t>Conclusion</a:t>
            </a:r>
            <a:r>
              <a:rPr lang="zh-CN" altLang="en-US" sz="2800" b="1" smtClean="0">
                <a:latin typeface="Times New Roman" panose="02020603050405020304" pitchFamily="18" charset="0"/>
              </a:rPr>
              <a:t>）。</a:t>
            </a:r>
            <a:r>
              <a:rPr lang="zh-CN" altLang="en-US" sz="2800" b="1" smtClean="0"/>
              <a:t>开头部分主要用来引出文章的话题，列出事实，介绍现状，提出观点，使读者了解文章要谈什么问题。正文可以单独一段，也可分为若干个段落，每一段落有各自的小主题。正文用来提供具体细节，对事实、现状等进行分析，说明原因。结尾对全文进行概括、总结，提出结论性的意见、需解决的问题或解决问题的方法等。其结构与段落相似</a:t>
            </a:r>
            <a:r>
              <a:rPr lang="en-US" altLang="zh-CN" sz="2800" b="1" smtClean="0">
                <a:latin typeface="宋体" panose="02010600030101010101" pitchFamily="2" charset="-122"/>
              </a:rPr>
              <a:t>,</a:t>
            </a:r>
            <a:r>
              <a:rPr lang="zh-CN" altLang="en-US" sz="2800" b="1" smtClean="0">
                <a:latin typeface="宋体" panose="02010600030101010101" pitchFamily="2" charset="-122"/>
              </a:rPr>
              <a:t>短文结构图</a:t>
            </a:r>
            <a:r>
              <a:rPr lang="zh-CN" altLang="en-US" sz="2800" b="1" smtClean="0"/>
              <a:t>如下所示：</a:t>
            </a:r>
            <a:endParaRPr lang="zh-CN" altLang="en-US" sz="2800" b="1" smtClean="0">
              <a:latin typeface="Times New Roman" panose="02020603050405020304" pitchFamily="18" charset="0"/>
            </a:endParaRP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764934" name="AutoShape 6"/>
          <p:cNvSpPr>
            <a:spLocks noChangeArrowheads="1"/>
          </p:cNvSpPr>
          <p:nvPr/>
        </p:nvSpPr>
        <p:spPr bwMode="auto">
          <a:xfrm>
            <a:off x="3132138" y="549275"/>
            <a:ext cx="2376487" cy="57467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Title of the Essay</a:t>
            </a:r>
          </a:p>
        </p:txBody>
      </p:sp>
      <p:sp>
        <p:nvSpPr>
          <p:cNvPr id="764938" name="AutoShape 10"/>
          <p:cNvSpPr>
            <a:spLocks noChangeArrowheads="1"/>
          </p:cNvSpPr>
          <p:nvPr/>
        </p:nvSpPr>
        <p:spPr bwMode="auto">
          <a:xfrm>
            <a:off x="323850" y="2924175"/>
            <a:ext cx="1727200" cy="935038"/>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Developing</a:t>
            </a:r>
          </a:p>
          <a:p>
            <a:pPr algn="ctr"/>
            <a:r>
              <a:rPr lang="en-US" altLang="zh-CN" b="1">
                <a:solidFill>
                  <a:schemeClr val="bg1"/>
                </a:solidFill>
                <a:latin typeface="Times New Roman" panose="02020603050405020304" pitchFamily="18" charset="0"/>
              </a:rPr>
              <a:t>Paragraph</a:t>
            </a:r>
          </a:p>
        </p:txBody>
      </p:sp>
      <p:sp>
        <p:nvSpPr>
          <p:cNvPr id="764939" name="AutoShape 11"/>
          <p:cNvSpPr>
            <a:spLocks noChangeArrowheads="1"/>
          </p:cNvSpPr>
          <p:nvPr/>
        </p:nvSpPr>
        <p:spPr bwMode="auto">
          <a:xfrm>
            <a:off x="2916238" y="1412875"/>
            <a:ext cx="2881312" cy="1008063"/>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marL="342900" indent="-342900"/>
            <a:r>
              <a:rPr lang="en-US" altLang="zh-CN" b="1">
                <a:solidFill>
                  <a:schemeClr val="bg1"/>
                </a:solidFill>
                <a:latin typeface="Times New Roman" panose="02020603050405020304" pitchFamily="18" charset="0"/>
              </a:rPr>
              <a:t>Opening Paragraph</a:t>
            </a:r>
          </a:p>
          <a:p>
            <a:pPr marL="342900" indent="-342900">
              <a:buFontTx/>
              <a:buAutoNum type="circleNumDbPlain"/>
            </a:pPr>
            <a:r>
              <a:rPr lang="en-US" altLang="zh-CN" b="1">
                <a:solidFill>
                  <a:schemeClr val="bg1"/>
                </a:solidFill>
                <a:latin typeface="Times New Roman" panose="02020603050405020304" pitchFamily="18" charset="0"/>
              </a:rPr>
              <a:t>General statement</a:t>
            </a:r>
          </a:p>
          <a:p>
            <a:pPr marL="342900" indent="-342900">
              <a:buFontTx/>
              <a:buAutoNum type="circleNumDbPlain"/>
            </a:pPr>
            <a:r>
              <a:rPr lang="en-US" altLang="zh-CN" b="1">
                <a:solidFill>
                  <a:schemeClr val="bg1"/>
                </a:solidFill>
                <a:latin typeface="Times New Roman" panose="02020603050405020304" pitchFamily="18" charset="0"/>
              </a:rPr>
              <a:t>Thesis statement</a:t>
            </a:r>
          </a:p>
        </p:txBody>
      </p:sp>
      <p:sp>
        <p:nvSpPr>
          <p:cNvPr id="764940" name="AutoShape 12"/>
          <p:cNvSpPr>
            <a:spLocks noChangeArrowheads="1"/>
          </p:cNvSpPr>
          <p:nvPr/>
        </p:nvSpPr>
        <p:spPr bwMode="auto">
          <a:xfrm>
            <a:off x="2700338" y="4868863"/>
            <a:ext cx="3240087" cy="576262"/>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Concluding Paragraph</a:t>
            </a:r>
          </a:p>
        </p:txBody>
      </p:sp>
      <p:sp>
        <p:nvSpPr>
          <p:cNvPr id="764941" name="AutoShape 13"/>
          <p:cNvSpPr>
            <a:spLocks noChangeArrowheads="1"/>
          </p:cNvSpPr>
          <p:nvPr/>
        </p:nvSpPr>
        <p:spPr bwMode="auto">
          <a:xfrm>
            <a:off x="2339975" y="2997200"/>
            <a:ext cx="1727200" cy="935038"/>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Developing</a:t>
            </a:r>
          </a:p>
          <a:p>
            <a:pPr algn="ctr"/>
            <a:r>
              <a:rPr lang="en-US" altLang="zh-CN" b="1">
                <a:solidFill>
                  <a:schemeClr val="bg1"/>
                </a:solidFill>
                <a:latin typeface="Times New Roman" panose="02020603050405020304" pitchFamily="18" charset="0"/>
              </a:rPr>
              <a:t>Paragraph</a:t>
            </a:r>
          </a:p>
        </p:txBody>
      </p:sp>
      <p:sp>
        <p:nvSpPr>
          <p:cNvPr id="764942" name="AutoShape 14"/>
          <p:cNvSpPr>
            <a:spLocks noChangeArrowheads="1"/>
          </p:cNvSpPr>
          <p:nvPr/>
        </p:nvSpPr>
        <p:spPr bwMode="auto">
          <a:xfrm>
            <a:off x="4356100" y="3068638"/>
            <a:ext cx="1727200" cy="935037"/>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Developing</a:t>
            </a:r>
          </a:p>
          <a:p>
            <a:pPr algn="ctr"/>
            <a:r>
              <a:rPr lang="en-US" altLang="zh-CN" b="1">
                <a:solidFill>
                  <a:schemeClr val="bg1"/>
                </a:solidFill>
                <a:latin typeface="Times New Roman" panose="02020603050405020304" pitchFamily="18" charset="0"/>
              </a:rPr>
              <a:t>Paragraph</a:t>
            </a:r>
          </a:p>
        </p:txBody>
      </p:sp>
      <p:sp>
        <p:nvSpPr>
          <p:cNvPr id="764943" name="AutoShape 15"/>
          <p:cNvSpPr>
            <a:spLocks noChangeArrowheads="1"/>
          </p:cNvSpPr>
          <p:nvPr/>
        </p:nvSpPr>
        <p:spPr bwMode="auto">
          <a:xfrm>
            <a:off x="6372225" y="3068638"/>
            <a:ext cx="1727200" cy="935037"/>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Developing</a:t>
            </a:r>
          </a:p>
          <a:p>
            <a:pPr algn="ctr"/>
            <a:r>
              <a:rPr lang="en-US" altLang="zh-CN" b="1">
                <a:solidFill>
                  <a:schemeClr val="bg1"/>
                </a:solidFill>
                <a:latin typeface="Times New Roman" panose="02020603050405020304" pitchFamily="18" charset="0"/>
              </a:rPr>
              <a:t>Paragraph</a:t>
            </a:r>
          </a:p>
        </p:txBody>
      </p:sp>
      <p:sp>
        <p:nvSpPr>
          <p:cNvPr id="122889" name="Line 16"/>
          <p:cNvSpPr>
            <a:spLocks noChangeShapeType="1"/>
          </p:cNvSpPr>
          <p:nvPr/>
        </p:nvSpPr>
        <p:spPr bwMode="auto">
          <a:xfrm flipH="1">
            <a:off x="1116013" y="2420938"/>
            <a:ext cx="3240087" cy="503237"/>
          </a:xfrm>
          <a:prstGeom prst="line">
            <a:avLst/>
          </a:prstGeom>
          <a:noFill/>
          <a:ln w="9525">
            <a:solidFill>
              <a:schemeClr val="tx1"/>
            </a:solidFill>
            <a:round/>
          </a:ln>
        </p:spPr>
        <p:txBody>
          <a:bodyPr/>
          <a:lstStyle/>
          <a:p>
            <a:endParaRPr lang="zh-CN" altLang="en-US"/>
          </a:p>
        </p:txBody>
      </p:sp>
      <p:sp>
        <p:nvSpPr>
          <p:cNvPr id="122890" name="Line 17"/>
          <p:cNvSpPr>
            <a:spLocks noChangeShapeType="1"/>
          </p:cNvSpPr>
          <p:nvPr/>
        </p:nvSpPr>
        <p:spPr bwMode="auto">
          <a:xfrm flipH="1">
            <a:off x="3132138" y="2420938"/>
            <a:ext cx="1152525" cy="576262"/>
          </a:xfrm>
          <a:prstGeom prst="line">
            <a:avLst/>
          </a:prstGeom>
          <a:noFill/>
          <a:ln w="9525">
            <a:solidFill>
              <a:schemeClr val="tx1"/>
            </a:solidFill>
            <a:round/>
          </a:ln>
        </p:spPr>
        <p:txBody>
          <a:bodyPr/>
          <a:lstStyle/>
          <a:p>
            <a:endParaRPr lang="zh-CN" altLang="en-US"/>
          </a:p>
        </p:txBody>
      </p:sp>
      <p:sp>
        <p:nvSpPr>
          <p:cNvPr id="122891" name="Line 18"/>
          <p:cNvSpPr>
            <a:spLocks noChangeShapeType="1"/>
          </p:cNvSpPr>
          <p:nvPr/>
        </p:nvSpPr>
        <p:spPr bwMode="auto">
          <a:xfrm>
            <a:off x="4284663" y="2420938"/>
            <a:ext cx="1079500" cy="647700"/>
          </a:xfrm>
          <a:prstGeom prst="line">
            <a:avLst/>
          </a:prstGeom>
          <a:noFill/>
          <a:ln w="9525">
            <a:solidFill>
              <a:schemeClr val="tx1"/>
            </a:solidFill>
            <a:round/>
          </a:ln>
        </p:spPr>
        <p:txBody>
          <a:bodyPr/>
          <a:lstStyle/>
          <a:p>
            <a:endParaRPr lang="zh-CN" altLang="en-US"/>
          </a:p>
        </p:txBody>
      </p:sp>
      <p:sp>
        <p:nvSpPr>
          <p:cNvPr id="122892" name="Line 19"/>
          <p:cNvSpPr>
            <a:spLocks noChangeShapeType="1"/>
          </p:cNvSpPr>
          <p:nvPr/>
        </p:nvSpPr>
        <p:spPr bwMode="auto">
          <a:xfrm>
            <a:off x="4284663" y="2420938"/>
            <a:ext cx="3024187" cy="647700"/>
          </a:xfrm>
          <a:prstGeom prst="line">
            <a:avLst/>
          </a:prstGeom>
          <a:noFill/>
          <a:ln w="9525">
            <a:solidFill>
              <a:schemeClr val="tx1"/>
            </a:solidFill>
            <a:round/>
          </a:ln>
        </p:spPr>
        <p:txBody>
          <a:bodyPr/>
          <a:lstStyle/>
          <a:p>
            <a:endParaRPr lang="zh-CN" altLang="en-US"/>
          </a:p>
        </p:txBody>
      </p:sp>
      <p:sp>
        <p:nvSpPr>
          <p:cNvPr id="122893" name="Line 20"/>
          <p:cNvSpPr>
            <a:spLocks noChangeShapeType="1"/>
          </p:cNvSpPr>
          <p:nvPr/>
        </p:nvSpPr>
        <p:spPr bwMode="auto">
          <a:xfrm>
            <a:off x="1042988" y="3860800"/>
            <a:ext cx="3241675" cy="1008063"/>
          </a:xfrm>
          <a:prstGeom prst="line">
            <a:avLst/>
          </a:prstGeom>
          <a:noFill/>
          <a:ln w="9525">
            <a:solidFill>
              <a:schemeClr val="tx1"/>
            </a:solidFill>
            <a:round/>
          </a:ln>
        </p:spPr>
        <p:txBody>
          <a:bodyPr/>
          <a:lstStyle/>
          <a:p>
            <a:endParaRPr lang="zh-CN" altLang="en-US"/>
          </a:p>
        </p:txBody>
      </p:sp>
      <p:sp>
        <p:nvSpPr>
          <p:cNvPr id="122894" name="Line 21"/>
          <p:cNvSpPr>
            <a:spLocks noChangeShapeType="1"/>
          </p:cNvSpPr>
          <p:nvPr/>
        </p:nvSpPr>
        <p:spPr bwMode="auto">
          <a:xfrm>
            <a:off x="2987675" y="3933825"/>
            <a:ext cx="1225550" cy="935038"/>
          </a:xfrm>
          <a:prstGeom prst="line">
            <a:avLst/>
          </a:prstGeom>
          <a:noFill/>
          <a:ln w="9525">
            <a:solidFill>
              <a:schemeClr val="tx1"/>
            </a:solidFill>
            <a:round/>
          </a:ln>
        </p:spPr>
        <p:txBody>
          <a:bodyPr/>
          <a:lstStyle/>
          <a:p>
            <a:endParaRPr lang="zh-CN" altLang="en-US"/>
          </a:p>
        </p:txBody>
      </p:sp>
      <p:sp>
        <p:nvSpPr>
          <p:cNvPr id="122895" name="Line 22"/>
          <p:cNvSpPr>
            <a:spLocks noChangeShapeType="1"/>
          </p:cNvSpPr>
          <p:nvPr/>
        </p:nvSpPr>
        <p:spPr bwMode="auto">
          <a:xfrm flipV="1">
            <a:off x="4211638" y="4005263"/>
            <a:ext cx="1081087" cy="863600"/>
          </a:xfrm>
          <a:prstGeom prst="line">
            <a:avLst/>
          </a:prstGeom>
          <a:noFill/>
          <a:ln w="9525">
            <a:solidFill>
              <a:schemeClr val="tx1"/>
            </a:solidFill>
            <a:round/>
          </a:ln>
        </p:spPr>
        <p:txBody>
          <a:bodyPr/>
          <a:lstStyle/>
          <a:p>
            <a:endParaRPr lang="zh-CN" altLang="en-US"/>
          </a:p>
        </p:txBody>
      </p:sp>
      <p:sp>
        <p:nvSpPr>
          <p:cNvPr id="122896" name="Line 23"/>
          <p:cNvSpPr>
            <a:spLocks noChangeShapeType="1"/>
          </p:cNvSpPr>
          <p:nvPr/>
        </p:nvSpPr>
        <p:spPr bwMode="auto">
          <a:xfrm flipV="1">
            <a:off x="4211638" y="4005263"/>
            <a:ext cx="3240087" cy="863600"/>
          </a:xfrm>
          <a:prstGeom prst="line">
            <a:avLst/>
          </a:prstGeom>
          <a:noFill/>
          <a:ln w="9525">
            <a:solidFill>
              <a:schemeClr val="tx1"/>
            </a:solidFill>
            <a:round/>
          </a:ln>
        </p:spPr>
        <p:txBody>
          <a:bodyPr/>
          <a:lstStyle/>
          <a:p>
            <a:endParaRPr lang="zh-CN" altLang="en-US"/>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32" fill="hold" grpId="0" nodeType="afterEffect">
                                  <p:stCondLst>
                                    <p:cond delay="0"/>
                                  </p:stCondLst>
                                  <p:childTnLst>
                                    <p:set>
                                      <p:cBhvr>
                                        <p:cTn id="6" dur="1" fill="hold">
                                          <p:stCondLst>
                                            <p:cond delay="0"/>
                                          </p:stCondLst>
                                        </p:cTn>
                                        <p:tgtEl>
                                          <p:spTgt spid="764934"/>
                                        </p:tgtEl>
                                        <p:attrNameLst>
                                          <p:attrName>style.visibility</p:attrName>
                                        </p:attrNameLst>
                                      </p:cBhvr>
                                      <p:to>
                                        <p:strVal val="visible"/>
                                      </p:to>
                                    </p:set>
                                    <p:animEffect transition="in" filter="box(out)">
                                      <p:cBhvr>
                                        <p:cTn id="7" dur="1000"/>
                                        <p:tgtEl>
                                          <p:spTgt spid="764934"/>
                                        </p:tgtEl>
                                      </p:cBhvr>
                                    </p:animEffect>
                                  </p:childTnLst>
                                  <p:subTnLst>
                                    <p:audio>
                                      <p:cMediaNode>
                                        <p:cTn display="0" masterRel="sameClick">
                                          <p:stCondLst>
                                            <p:cond evt="begin" delay="0">
                                              <p:tn val="5"/>
                                            </p:cond>
                                          </p:stCondLst>
                                          <p:endCondLst>
                                            <p:cond evt="onStopAudio" delay="0">
                                              <p:tgtEl>
                                                <p:sldTgt/>
                                              </p:tgtEl>
                                            </p:cond>
                                          </p:endCondLst>
                                        </p:cTn>
                                        <p:tgtEl>
                                          <p:sndTgt r:embed="rId2" name="chimes.wav"/>
                                        </p:tgtEl>
                                      </p:cMediaNode>
                                    </p:audio>
                                  </p:subTnLst>
                                </p:cTn>
                              </p:par>
                            </p:childTnLst>
                          </p:cTn>
                        </p:par>
                        <p:par>
                          <p:cTn id="8" fill="hold">
                            <p:stCondLst>
                              <p:cond delay="1000"/>
                            </p:stCondLst>
                            <p:childTnLst>
                              <p:par>
                                <p:cTn id="9" presetID="4" presetClass="entr" presetSubtype="32" fill="hold" grpId="0" nodeType="afterEffect">
                                  <p:stCondLst>
                                    <p:cond delay="0"/>
                                  </p:stCondLst>
                                  <p:childTnLst>
                                    <p:set>
                                      <p:cBhvr>
                                        <p:cTn id="10" dur="1" fill="hold">
                                          <p:stCondLst>
                                            <p:cond delay="0"/>
                                          </p:stCondLst>
                                        </p:cTn>
                                        <p:tgtEl>
                                          <p:spTgt spid="764938"/>
                                        </p:tgtEl>
                                        <p:attrNameLst>
                                          <p:attrName>style.visibility</p:attrName>
                                        </p:attrNameLst>
                                      </p:cBhvr>
                                      <p:to>
                                        <p:strVal val="visible"/>
                                      </p:to>
                                    </p:set>
                                    <p:animEffect transition="in" filter="box(out)">
                                      <p:cBhvr>
                                        <p:cTn id="11" dur="1000"/>
                                        <p:tgtEl>
                                          <p:spTgt spid="764938"/>
                                        </p:tgtEl>
                                      </p:cBhvr>
                                    </p:animEffect>
                                  </p:childTnLst>
                                  <p:subTnLst>
                                    <p:audio>
                                      <p:cMediaNode>
                                        <p:cTn display="0" masterRel="sameClick">
                                          <p:stCondLst>
                                            <p:cond evt="begin" delay="0">
                                              <p:tn val="9"/>
                                            </p:cond>
                                          </p:stCondLst>
                                          <p:endCondLst>
                                            <p:cond evt="onStopAudio" delay="0">
                                              <p:tgtEl>
                                                <p:sldTgt/>
                                              </p:tgtEl>
                                            </p:cond>
                                          </p:endCondLst>
                                        </p:cTn>
                                        <p:tgtEl>
                                          <p:sndTgt r:embed="rId2" name="chimes.wav"/>
                                        </p:tgtEl>
                                      </p:cMediaNode>
                                    </p:audio>
                                  </p:subTnLst>
                                </p:cTn>
                              </p:par>
                            </p:childTnLst>
                          </p:cTn>
                        </p:par>
                        <p:par>
                          <p:cTn id="12" fill="hold">
                            <p:stCondLst>
                              <p:cond delay="2000"/>
                            </p:stCondLst>
                            <p:childTnLst>
                              <p:par>
                                <p:cTn id="13" presetID="4" presetClass="entr" presetSubtype="32" fill="hold" grpId="0" nodeType="afterEffect">
                                  <p:stCondLst>
                                    <p:cond delay="0"/>
                                  </p:stCondLst>
                                  <p:childTnLst>
                                    <p:set>
                                      <p:cBhvr>
                                        <p:cTn id="14" dur="1" fill="hold">
                                          <p:stCondLst>
                                            <p:cond delay="0"/>
                                          </p:stCondLst>
                                        </p:cTn>
                                        <p:tgtEl>
                                          <p:spTgt spid="764939"/>
                                        </p:tgtEl>
                                        <p:attrNameLst>
                                          <p:attrName>style.visibility</p:attrName>
                                        </p:attrNameLst>
                                      </p:cBhvr>
                                      <p:to>
                                        <p:strVal val="visible"/>
                                      </p:to>
                                    </p:set>
                                    <p:animEffect transition="in" filter="box(out)">
                                      <p:cBhvr>
                                        <p:cTn id="15" dur="1000"/>
                                        <p:tgtEl>
                                          <p:spTgt spid="764939"/>
                                        </p:tgtEl>
                                      </p:cBhvr>
                                    </p:animEffect>
                                  </p:childTnLst>
                                  <p:subTnLst>
                                    <p:audio>
                                      <p:cMediaNode>
                                        <p:cTn display="0" masterRel="sameClick">
                                          <p:stCondLst>
                                            <p:cond evt="begin" delay="0">
                                              <p:tn val="13"/>
                                            </p:cond>
                                          </p:stCondLst>
                                          <p:endCondLst>
                                            <p:cond evt="onStopAudio" delay="0">
                                              <p:tgtEl>
                                                <p:sldTgt/>
                                              </p:tgtEl>
                                            </p:cond>
                                          </p:endCondLst>
                                        </p:cTn>
                                        <p:tgtEl>
                                          <p:sndTgt r:embed="rId2" name="chimes.wav"/>
                                        </p:tgtEl>
                                      </p:cMediaNode>
                                    </p:audio>
                                  </p:subTnLst>
                                </p:cTn>
                              </p:par>
                            </p:childTnLst>
                          </p:cTn>
                        </p:par>
                        <p:par>
                          <p:cTn id="16" fill="hold">
                            <p:stCondLst>
                              <p:cond delay="3000"/>
                            </p:stCondLst>
                            <p:childTnLst>
                              <p:par>
                                <p:cTn id="17" presetID="4" presetClass="entr" presetSubtype="32" fill="hold" grpId="0" nodeType="afterEffect">
                                  <p:stCondLst>
                                    <p:cond delay="0"/>
                                  </p:stCondLst>
                                  <p:childTnLst>
                                    <p:set>
                                      <p:cBhvr>
                                        <p:cTn id="18" dur="1" fill="hold">
                                          <p:stCondLst>
                                            <p:cond delay="0"/>
                                          </p:stCondLst>
                                        </p:cTn>
                                        <p:tgtEl>
                                          <p:spTgt spid="764940"/>
                                        </p:tgtEl>
                                        <p:attrNameLst>
                                          <p:attrName>style.visibility</p:attrName>
                                        </p:attrNameLst>
                                      </p:cBhvr>
                                      <p:to>
                                        <p:strVal val="visible"/>
                                      </p:to>
                                    </p:set>
                                    <p:animEffect transition="in" filter="box(out)">
                                      <p:cBhvr>
                                        <p:cTn id="19" dur="1000"/>
                                        <p:tgtEl>
                                          <p:spTgt spid="764940"/>
                                        </p:tgtEl>
                                      </p:cBhvr>
                                    </p:animEffect>
                                  </p:childTnLst>
                                  <p:subTnLst>
                                    <p:audio>
                                      <p:cMediaNode>
                                        <p:cTn display="0" masterRel="sameClick">
                                          <p:stCondLst>
                                            <p:cond evt="begin" delay="0">
                                              <p:tn val="17"/>
                                            </p:cond>
                                          </p:stCondLst>
                                          <p:endCondLst>
                                            <p:cond evt="onStopAudio" delay="0">
                                              <p:tgtEl>
                                                <p:sldTgt/>
                                              </p:tgtEl>
                                            </p:cond>
                                          </p:endCondLst>
                                        </p:cTn>
                                        <p:tgtEl>
                                          <p:sndTgt r:embed="rId2" name="chimes.wav"/>
                                        </p:tgtEl>
                                      </p:cMediaNode>
                                    </p:audio>
                                  </p:subTnLst>
                                </p:cTn>
                              </p:par>
                            </p:childTnLst>
                          </p:cTn>
                        </p:par>
                        <p:par>
                          <p:cTn id="20" fill="hold">
                            <p:stCondLst>
                              <p:cond delay="4000"/>
                            </p:stCondLst>
                            <p:childTnLst>
                              <p:par>
                                <p:cTn id="21" presetID="4" presetClass="entr" presetSubtype="32" fill="hold" grpId="0" nodeType="afterEffect">
                                  <p:stCondLst>
                                    <p:cond delay="0"/>
                                  </p:stCondLst>
                                  <p:childTnLst>
                                    <p:set>
                                      <p:cBhvr>
                                        <p:cTn id="22" dur="1" fill="hold">
                                          <p:stCondLst>
                                            <p:cond delay="0"/>
                                          </p:stCondLst>
                                        </p:cTn>
                                        <p:tgtEl>
                                          <p:spTgt spid="764941"/>
                                        </p:tgtEl>
                                        <p:attrNameLst>
                                          <p:attrName>style.visibility</p:attrName>
                                        </p:attrNameLst>
                                      </p:cBhvr>
                                      <p:to>
                                        <p:strVal val="visible"/>
                                      </p:to>
                                    </p:set>
                                    <p:animEffect transition="in" filter="box(out)">
                                      <p:cBhvr>
                                        <p:cTn id="23" dur="1000"/>
                                        <p:tgtEl>
                                          <p:spTgt spid="764941"/>
                                        </p:tgtEl>
                                      </p:cBhvr>
                                    </p:animEffect>
                                  </p:childTnLst>
                                  <p:subTnLst>
                                    <p:audio>
                                      <p:cMediaNode>
                                        <p:cTn display="0" masterRel="sameClick">
                                          <p:stCondLst>
                                            <p:cond evt="begin" delay="0">
                                              <p:tn val="21"/>
                                            </p:cond>
                                          </p:stCondLst>
                                          <p:endCondLst>
                                            <p:cond evt="onStopAudio" delay="0">
                                              <p:tgtEl>
                                                <p:sldTgt/>
                                              </p:tgtEl>
                                            </p:cond>
                                          </p:endCondLst>
                                        </p:cTn>
                                        <p:tgtEl>
                                          <p:sndTgt r:embed="rId2" name="chimes.wav"/>
                                        </p:tgtEl>
                                      </p:cMediaNode>
                                    </p:audio>
                                  </p:subTnLst>
                                </p:cTn>
                              </p:par>
                            </p:childTnLst>
                          </p:cTn>
                        </p:par>
                        <p:par>
                          <p:cTn id="24" fill="hold">
                            <p:stCondLst>
                              <p:cond delay="5000"/>
                            </p:stCondLst>
                            <p:childTnLst>
                              <p:par>
                                <p:cTn id="25" presetID="4" presetClass="entr" presetSubtype="32" fill="hold" grpId="0" nodeType="afterEffect">
                                  <p:stCondLst>
                                    <p:cond delay="0"/>
                                  </p:stCondLst>
                                  <p:childTnLst>
                                    <p:set>
                                      <p:cBhvr>
                                        <p:cTn id="26" dur="1" fill="hold">
                                          <p:stCondLst>
                                            <p:cond delay="0"/>
                                          </p:stCondLst>
                                        </p:cTn>
                                        <p:tgtEl>
                                          <p:spTgt spid="764942"/>
                                        </p:tgtEl>
                                        <p:attrNameLst>
                                          <p:attrName>style.visibility</p:attrName>
                                        </p:attrNameLst>
                                      </p:cBhvr>
                                      <p:to>
                                        <p:strVal val="visible"/>
                                      </p:to>
                                    </p:set>
                                    <p:animEffect transition="in" filter="box(out)">
                                      <p:cBhvr>
                                        <p:cTn id="27" dur="1000"/>
                                        <p:tgtEl>
                                          <p:spTgt spid="764942"/>
                                        </p:tgtEl>
                                      </p:cBhvr>
                                    </p:animEffect>
                                  </p:childTnLst>
                                  <p:subTnLst>
                                    <p:audio>
                                      <p:cMediaNode>
                                        <p:cTn display="0" masterRel="sameClick">
                                          <p:stCondLst>
                                            <p:cond evt="begin" delay="0">
                                              <p:tn val="25"/>
                                            </p:cond>
                                          </p:stCondLst>
                                          <p:endCondLst>
                                            <p:cond evt="onStopAudio" delay="0">
                                              <p:tgtEl>
                                                <p:sldTgt/>
                                              </p:tgtEl>
                                            </p:cond>
                                          </p:endCondLst>
                                        </p:cTn>
                                        <p:tgtEl>
                                          <p:sndTgt r:embed="rId2" name="chimes.wav"/>
                                        </p:tgtEl>
                                      </p:cMediaNode>
                                    </p:audio>
                                  </p:subTnLst>
                                </p:cTn>
                              </p:par>
                            </p:childTnLst>
                          </p:cTn>
                        </p:par>
                        <p:par>
                          <p:cTn id="28" fill="hold">
                            <p:stCondLst>
                              <p:cond delay="6000"/>
                            </p:stCondLst>
                            <p:childTnLst>
                              <p:par>
                                <p:cTn id="29" presetID="4" presetClass="entr" presetSubtype="32" fill="hold" grpId="0" nodeType="afterEffect">
                                  <p:stCondLst>
                                    <p:cond delay="0"/>
                                  </p:stCondLst>
                                  <p:childTnLst>
                                    <p:set>
                                      <p:cBhvr>
                                        <p:cTn id="30" dur="1" fill="hold">
                                          <p:stCondLst>
                                            <p:cond delay="0"/>
                                          </p:stCondLst>
                                        </p:cTn>
                                        <p:tgtEl>
                                          <p:spTgt spid="764943"/>
                                        </p:tgtEl>
                                        <p:attrNameLst>
                                          <p:attrName>style.visibility</p:attrName>
                                        </p:attrNameLst>
                                      </p:cBhvr>
                                      <p:to>
                                        <p:strVal val="visible"/>
                                      </p:to>
                                    </p:set>
                                    <p:animEffect transition="in" filter="box(out)">
                                      <p:cBhvr>
                                        <p:cTn id="31" dur="1000"/>
                                        <p:tgtEl>
                                          <p:spTgt spid="764943"/>
                                        </p:tgtEl>
                                      </p:cBhvr>
                                    </p:animEffect>
                                  </p:childTnLst>
                                  <p:subTnLst>
                                    <p:audio>
                                      <p:cMediaNode>
                                        <p:cTn display="0" masterRel="sameClick">
                                          <p:stCondLst>
                                            <p:cond evt="begin" delay="0">
                                              <p:tn val="29"/>
                                            </p:cond>
                                          </p:stCondLst>
                                          <p:endCondLst>
                                            <p:cond evt="onStopAudio" delay="0">
                                              <p:tgtEl>
                                                <p:sldTgt/>
                                              </p:tgtEl>
                                            </p:cond>
                                          </p:endCondLst>
                                        </p:cTn>
                                        <p:tgtEl>
                                          <p:sndTgt r:embed="rId2" name="chime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4934" grpId="0" animBg="1"/>
      <p:bldP spid="764938" grpId="0" animBg="1"/>
      <p:bldP spid="764939" grpId="0" animBg="1"/>
      <p:bldP spid="764940" grpId="0" animBg="1"/>
      <p:bldP spid="764941" grpId="0" animBg="1"/>
      <p:bldP spid="764942" grpId="0" animBg="1"/>
      <p:bldP spid="764943"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
          <p:cNvSpPr>
            <a:spLocks noGrp="1" noChangeArrowheads="1"/>
          </p:cNvSpPr>
          <p:nvPr>
            <p:ph idx="1"/>
          </p:nvPr>
        </p:nvSpPr>
        <p:spPr>
          <a:xfrm>
            <a:off x="179388" y="188913"/>
            <a:ext cx="8280400" cy="5400675"/>
          </a:xfrm>
        </p:spPr>
        <p:txBody>
          <a:bodyPr/>
          <a:lstStyle/>
          <a:p>
            <a:pPr marL="457200" indent="-457200" eaLnBrk="1" hangingPunct="1">
              <a:lnSpc>
                <a:spcPct val="90000"/>
              </a:lnSpc>
              <a:buFontTx/>
              <a:buNone/>
              <a:tabLst>
                <a:tab pos="2159000" algn="l"/>
              </a:tabLst>
            </a:pPr>
            <a:r>
              <a:rPr lang="en-US" altLang="zh-CN" sz="3600" dirty="0" smtClean="0">
                <a:latin typeface="楷体_GB2312" pitchFamily="49" charset="-122"/>
                <a:ea typeface="楷体_GB2312" pitchFamily="49" charset="-122"/>
              </a:rPr>
              <a:t> </a:t>
            </a:r>
          </a:p>
          <a:p>
            <a:pPr marL="457200" indent="-457200" eaLnBrk="1" hangingPunct="1">
              <a:lnSpc>
                <a:spcPct val="90000"/>
              </a:lnSpc>
              <a:buFontTx/>
              <a:buNone/>
              <a:tabLst>
                <a:tab pos="2159000" algn="l"/>
              </a:tabLst>
            </a:pPr>
            <a:r>
              <a:rPr lang="en-US" altLang="zh-CN" sz="2800" b="1" dirty="0" smtClean="0">
                <a:latin typeface="宋体" panose="02010600030101010101" pitchFamily="2" charset="-122"/>
              </a:rPr>
              <a:t>1.3.2 </a:t>
            </a:r>
            <a:r>
              <a:rPr lang="zh-CN" altLang="en-US" sz="2800" b="1" dirty="0" smtClean="0">
                <a:latin typeface="宋体" panose="02010600030101010101" pitchFamily="2" charset="-122"/>
              </a:rPr>
              <a:t>文章的基本写作 </a:t>
            </a:r>
          </a:p>
          <a:p>
            <a:pPr marL="457200" indent="-457200" eaLnBrk="1" hangingPunct="1">
              <a:lnSpc>
                <a:spcPct val="90000"/>
              </a:lnSpc>
              <a:buFontTx/>
              <a:buNone/>
              <a:tabLst>
                <a:tab pos="2159000" algn="l"/>
              </a:tabLst>
            </a:pPr>
            <a:r>
              <a:rPr lang="zh-CN" altLang="en-US" sz="2800" b="1" dirty="0" smtClean="0">
                <a:latin typeface="Times New Roman" panose="02020603050405020304" pitchFamily="18" charset="0"/>
              </a:rPr>
              <a:t>    （ </a:t>
            </a:r>
            <a:r>
              <a:rPr lang="en-US" altLang="zh-CN" sz="2800" b="1" dirty="0" smtClean="0">
                <a:latin typeface="Times New Roman" panose="02020603050405020304" pitchFamily="18" charset="0"/>
              </a:rPr>
              <a:t>Basic Skills of Essay Writing </a:t>
            </a:r>
            <a:r>
              <a:rPr lang="zh-CN" altLang="en-US" sz="2800" b="1" dirty="0" smtClean="0">
                <a:latin typeface="Times New Roman" panose="02020603050405020304" pitchFamily="18" charset="0"/>
              </a:rPr>
              <a:t>）</a:t>
            </a:r>
          </a:p>
          <a:p>
            <a:pPr marL="457200" indent="-457200" eaLnBrk="1" hangingPunct="1">
              <a:lnSpc>
                <a:spcPct val="90000"/>
              </a:lnSpc>
              <a:buFontTx/>
              <a:buNone/>
              <a:tabLst>
                <a:tab pos="2159000" algn="l"/>
              </a:tabLst>
            </a:pPr>
            <a:r>
              <a:rPr lang="zh-CN" altLang="en-US" b="1" dirty="0" smtClean="0">
                <a:latin typeface="楷体_GB2312" pitchFamily="49" charset="-122"/>
                <a:ea typeface="楷体_GB2312" pitchFamily="49" charset="-122"/>
              </a:rPr>
              <a:t>  </a:t>
            </a:r>
          </a:p>
          <a:p>
            <a:pPr marL="457200" indent="-457200" eaLnBrk="1" hangingPunct="1">
              <a:lnSpc>
                <a:spcPct val="90000"/>
              </a:lnSpc>
              <a:buFontTx/>
              <a:buNone/>
              <a:tabLst>
                <a:tab pos="2159000" algn="l"/>
              </a:tabLst>
            </a:pPr>
            <a:r>
              <a:rPr lang="en-US" altLang="zh-CN" b="1" dirty="0" smtClean="0">
                <a:latin typeface="楷体_GB2312" pitchFamily="49" charset="-122"/>
                <a:ea typeface="楷体_GB2312" pitchFamily="49" charset="-122"/>
              </a:rPr>
              <a:t>1.</a:t>
            </a:r>
            <a:r>
              <a:rPr lang="zh-CN" altLang="en-US" sz="2800" b="1" dirty="0" smtClean="0">
                <a:latin typeface="宋体" panose="02010600030101010101" pitchFamily="2" charset="-122"/>
              </a:rPr>
              <a:t>开头段</a:t>
            </a:r>
            <a:r>
              <a:rPr lang="en-US" altLang="zh-CN" sz="2800" b="1" dirty="0" smtClean="0">
                <a:latin typeface="Times New Roman" panose="02020603050405020304" pitchFamily="18" charset="0"/>
                <a:ea typeface="楷体_GB2312" pitchFamily="49" charset="-122"/>
              </a:rPr>
              <a:t>(Opening paragraph)</a:t>
            </a:r>
            <a:r>
              <a:rPr lang="en-US" altLang="zh-CN" b="1" dirty="0" smtClean="0">
                <a:latin typeface="楷体_GB2312" pitchFamily="49" charset="-122"/>
                <a:ea typeface="楷体_GB2312" pitchFamily="49" charset="-122"/>
              </a:rPr>
              <a:t> </a:t>
            </a:r>
          </a:p>
          <a:p>
            <a:pPr marL="457200" indent="-457200" eaLnBrk="1" hangingPunct="1">
              <a:lnSpc>
                <a:spcPct val="90000"/>
              </a:lnSpc>
              <a:buFontTx/>
              <a:buNone/>
              <a:tabLst>
                <a:tab pos="2159000" algn="l"/>
              </a:tabLst>
            </a:pPr>
            <a:r>
              <a:rPr lang="en-US" altLang="zh-CN" sz="2400" b="1" dirty="0" smtClean="0"/>
              <a:t>	     </a:t>
            </a:r>
            <a:r>
              <a:rPr lang="zh-CN" altLang="en-US" sz="2400" b="1" dirty="0" smtClean="0">
                <a:ea typeface="楷体_GB2312" pitchFamily="49" charset="-122"/>
              </a:rPr>
              <a:t>开头段的功能</a:t>
            </a:r>
            <a:endParaRPr lang="en-US" altLang="zh-CN" sz="2400" b="1" dirty="0" smtClean="0">
              <a:ea typeface="楷体_GB2312" pitchFamily="49" charset="-122"/>
            </a:endParaRPr>
          </a:p>
          <a:p>
            <a:pPr marL="457200" indent="-457200" eaLnBrk="1" hangingPunct="1">
              <a:lnSpc>
                <a:spcPct val="90000"/>
              </a:lnSpc>
              <a:buFontTx/>
              <a:buNone/>
              <a:tabLst>
                <a:tab pos="2159000" algn="l"/>
              </a:tabLst>
            </a:pPr>
            <a:r>
              <a:rPr lang="en-US" altLang="zh-CN" sz="2400" b="1" dirty="0" smtClean="0">
                <a:ea typeface="楷体_GB2312" pitchFamily="49" charset="-122"/>
              </a:rPr>
              <a:t>1.</a:t>
            </a:r>
            <a:r>
              <a:rPr lang="zh-CN" altLang="en-US" sz="2400" b="1" smtClean="0">
                <a:ea typeface="楷体_GB2312" pitchFamily="49" charset="-122"/>
              </a:rPr>
              <a:t>引题</a:t>
            </a:r>
            <a:endParaRPr lang="en-US" altLang="zh-CN" sz="2400" b="1" dirty="0" smtClean="0">
              <a:ea typeface="楷体_GB2312" pitchFamily="49" charset="-122"/>
            </a:endParaRPr>
          </a:p>
          <a:p>
            <a:pPr marL="457200" indent="-457200" eaLnBrk="1" hangingPunct="1">
              <a:lnSpc>
                <a:spcPct val="90000"/>
              </a:lnSpc>
              <a:buFontTx/>
              <a:buNone/>
              <a:tabLst>
                <a:tab pos="2159000" algn="l"/>
              </a:tabLst>
            </a:pPr>
            <a:r>
              <a:rPr lang="en-US" altLang="zh-CN" sz="2400" b="1" dirty="0" smtClean="0">
                <a:ea typeface="楷体_GB2312" pitchFamily="49" charset="-122"/>
              </a:rPr>
              <a:t>2.</a:t>
            </a:r>
            <a:r>
              <a:rPr lang="zh-CN" altLang="en-US" sz="2400" b="1" dirty="0">
                <a:ea typeface="楷体_GB2312" pitchFamily="49" charset="-122"/>
              </a:rPr>
              <a:t>确定目标</a:t>
            </a:r>
            <a:r>
              <a:rPr lang="zh-CN" altLang="en-US" sz="2400" b="1" dirty="0" smtClean="0">
                <a:ea typeface="楷体_GB2312" pitchFamily="49" charset="-122"/>
              </a:rPr>
              <a:t>读者群</a:t>
            </a:r>
            <a:r>
              <a:rPr lang="zh-CN" altLang="en-US" sz="2400" b="1" dirty="0">
                <a:ea typeface="楷体_GB2312" pitchFamily="49" charset="-122"/>
              </a:rPr>
              <a:t>和</a:t>
            </a:r>
            <a:r>
              <a:rPr lang="zh-CN" altLang="en-US" sz="2400" b="1" dirty="0" smtClean="0">
                <a:ea typeface="楷体_GB2312" pitchFamily="49" charset="-122"/>
              </a:rPr>
              <a:t>写作立场角度</a:t>
            </a:r>
            <a:endParaRPr lang="en-US" altLang="zh-CN" sz="2400" b="1" dirty="0" smtClean="0">
              <a:ea typeface="楷体_GB2312" pitchFamily="49" charset="-122"/>
            </a:endParaRPr>
          </a:p>
          <a:p>
            <a:pPr marL="457200" indent="-457200" eaLnBrk="1" hangingPunct="1">
              <a:lnSpc>
                <a:spcPct val="90000"/>
              </a:lnSpc>
              <a:buFontTx/>
              <a:buNone/>
              <a:tabLst>
                <a:tab pos="2159000" algn="l"/>
              </a:tabLst>
            </a:pPr>
            <a:r>
              <a:rPr lang="en-US" altLang="zh-CN" sz="2400" b="1" dirty="0" smtClean="0">
                <a:latin typeface="楷体_GB2312" pitchFamily="49" charset="-122"/>
                <a:ea typeface="楷体_GB2312" pitchFamily="49" charset="-122"/>
              </a:rPr>
              <a:t>3.</a:t>
            </a:r>
            <a:r>
              <a:rPr lang="zh-CN" altLang="en-US" sz="2400" b="1" dirty="0" smtClean="0">
                <a:latin typeface="楷体_GB2312" pitchFamily="49" charset="-122"/>
                <a:ea typeface="楷体_GB2312" pitchFamily="49" charset="-122"/>
              </a:rPr>
              <a:t>界定题目范围</a:t>
            </a:r>
            <a:endParaRPr lang="en-US" altLang="zh-CN" sz="2400" b="1" dirty="0" smtClean="0">
              <a:latin typeface="楷体_GB2312" pitchFamily="49" charset="-122"/>
              <a:ea typeface="楷体_GB2312" pitchFamily="49" charset="-122"/>
            </a:endParaRPr>
          </a:p>
          <a:p>
            <a:pPr marL="457200" indent="-457200" eaLnBrk="1" hangingPunct="1">
              <a:lnSpc>
                <a:spcPct val="90000"/>
              </a:lnSpc>
              <a:buFontTx/>
              <a:buNone/>
              <a:tabLst>
                <a:tab pos="2159000" algn="l"/>
              </a:tabLst>
            </a:pPr>
            <a:r>
              <a:rPr lang="en-US" altLang="zh-CN" sz="2400" b="1" dirty="0" smtClean="0">
                <a:latin typeface="楷体_GB2312" pitchFamily="49" charset="-122"/>
                <a:ea typeface="楷体_GB2312" pitchFamily="49" charset="-122"/>
              </a:rPr>
              <a:t>4.</a:t>
            </a:r>
            <a:r>
              <a:rPr lang="zh-CN" altLang="en-US" sz="2400" b="1" dirty="0" smtClean="0">
                <a:latin typeface="楷体_GB2312" pitchFamily="49" charset="-122"/>
                <a:ea typeface="楷体_GB2312" pitchFamily="49" charset="-122"/>
              </a:rPr>
              <a:t>告诉读者本文主旨，并写出文章主题句</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t>
            </a:r>
            <a:endParaRPr lang="zh-CN" altLang="en-US" dirty="0"/>
          </a:p>
        </p:txBody>
      </p:sp>
      <p:sp>
        <p:nvSpPr>
          <p:cNvPr id="3" name="内容占位符 2"/>
          <p:cNvSpPr>
            <a:spLocks noGrp="1"/>
          </p:cNvSpPr>
          <p:nvPr>
            <p:ph idx="1"/>
          </p:nvPr>
        </p:nvSpPr>
        <p:spPr>
          <a:xfrm>
            <a:off x="611560" y="476672"/>
            <a:ext cx="8280920" cy="6381328"/>
          </a:xfrm>
        </p:spPr>
        <p:txBody>
          <a:bodyPr/>
          <a:lstStyle/>
          <a:p>
            <a:r>
              <a:rPr lang="en-US" altLang="zh-CN" sz="2400" dirty="0" smtClean="0"/>
              <a:t>(1)</a:t>
            </a:r>
            <a:r>
              <a:rPr lang="zh-CN" altLang="en-US" sz="2400" dirty="0" smtClean="0"/>
              <a:t>开头的写法 </a:t>
            </a:r>
            <a:br>
              <a:rPr lang="zh-CN" altLang="en-US" sz="2400" dirty="0" smtClean="0"/>
            </a:br>
            <a:r>
              <a:rPr lang="zh-CN" altLang="en-US" sz="2400" dirty="0" smtClean="0"/>
              <a:t>　　①主题句法，既开门见山，直接点出主题或亮出自己的观点。如： </a:t>
            </a:r>
            <a:br>
              <a:rPr lang="zh-CN" altLang="en-US" sz="2400" dirty="0" smtClean="0"/>
            </a:br>
            <a:r>
              <a:rPr lang="zh-CN" altLang="en-US" sz="2400" dirty="0" smtClean="0"/>
              <a:t>　　</a:t>
            </a:r>
            <a:r>
              <a:rPr lang="en-US" altLang="zh-CN" sz="2400" dirty="0" smtClean="0"/>
              <a:t>As the pace of life continues to increase, we are losing the art of relaxation. Once you are in the habit of rushing through life, being on the go from morning till night, it is hard to slow down. But relaxation is essential for a healthy mind and body. </a:t>
            </a:r>
            <a:br>
              <a:rPr lang="en-US" altLang="zh-CN" sz="2400" dirty="0" smtClean="0"/>
            </a:br>
            <a:r>
              <a:rPr lang="zh-CN" altLang="en-US" sz="2400" dirty="0" smtClean="0"/>
              <a:t>　　②问题法：用问题来引出文章内容。 </a:t>
            </a:r>
            <a:br>
              <a:rPr lang="zh-CN" altLang="en-US" sz="2400" dirty="0" smtClean="0"/>
            </a:br>
            <a:r>
              <a:rPr lang="zh-CN" altLang="en-US" sz="2400" dirty="0" smtClean="0"/>
              <a:t>　　③数据法：引用一句证实的数据来提出问题。 </a:t>
            </a:r>
            <a:br>
              <a:rPr lang="zh-CN" altLang="en-US" sz="2400" dirty="0" smtClean="0"/>
            </a:br>
            <a:r>
              <a:rPr lang="zh-CN" altLang="en-US" sz="2400" dirty="0" smtClean="0"/>
              <a:t>　　④引语法：引用名言或常见的习语、谚语等作文为文章的开头。 </a:t>
            </a:r>
            <a:br>
              <a:rPr lang="zh-CN" altLang="en-US" sz="2400" dirty="0" smtClean="0"/>
            </a:br>
            <a:r>
              <a:rPr lang="zh-CN" altLang="en-US" sz="2400" dirty="0" smtClean="0"/>
              <a:t>　　⑤对立法：先引出人们对某一问题的不同看法，然后提出自已的看法。</a:t>
            </a:r>
            <a:endParaRPr lang="en-US" altLang="zh-CN" sz="2400" dirty="0" smtClean="0"/>
          </a:p>
          <a:p>
            <a:r>
              <a:rPr lang="en-US" altLang="zh-CN" sz="2400"/>
              <a:t>          ⑥</a:t>
            </a:r>
            <a:r>
              <a:rPr lang="zh-CN" altLang="en-US" sz="2400" smtClean="0"/>
              <a:t>社会</a:t>
            </a:r>
            <a:r>
              <a:rPr lang="zh-CN" altLang="en-US" sz="2400" dirty="0" smtClean="0"/>
              <a:t>热点新闻 </a:t>
            </a:r>
            <a:endParaRPr lang="zh-CN" altLang="en-US" sz="2400" dirty="0"/>
          </a:p>
        </p:txBody>
      </p:sp>
    </p:spTree>
  </p:cSld>
  <p:clrMapOvr>
    <a:masterClrMapping/>
  </p:clrMapOvr>
  <p:transition>
    <p:fade/>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3"/>
          <p:cNvSpPr>
            <a:spLocks noGrp="1" noChangeArrowheads="1"/>
          </p:cNvSpPr>
          <p:nvPr>
            <p:ph idx="1"/>
          </p:nvPr>
        </p:nvSpPr>
        <p:spPr>
          <a:xfrm>
            <a:off x="611188" y="765175"/>
            <a:ext cx="7770812" cy="4895850"/>
          </a:xfrm>
        </p:spPr>
        <p:txBody>
          <a:bodyPr/>
          <a:lstStyle/>
          <a:p>
            <a:pPr eaLnBrk="1" hangingPunct="1">
              <a:lnSpc>
                <a:spcPct val="90000"/>
              </a:lnSpc>
              <a:buFontTx/>
              <a:buNone/>
            </a:pPr>
            <a:r>
              <a:rPr lang="en-US" altLang="zh-CN" sz="2800" b="1" smtClean="0">
                <a:latin typeface="宋体" panose="02010600030101010101" pitchFamily="2" charset="-122"/>
              </a:rPr>
              <a:t>2.</a:t>
            </a:r>
            <a:r>
              <a:rPr lang="zh-CN" altLang="en-US" sz="2800" b="1" smtClean="0">
                <a:latin typeface="宋体" panose="02010600030101010101" pitchFamily="2" charset="-122"/>
              </a:rPr>
              <a:t>结尾段</a:t>
            </a:r>
            <a:r>
              <a:rPr lang="en-US" altLang="zh-CN" sz="2800" b="1" smtClean="0">
                <a:latin typeface="Times New Roman" panose="02020603050405020304" pitchFamily="18" charset="0"/>
                <a:ea typeface="楷体_GB2312" pitchFamily="49" charset="-122"/>
              </a:rPr>
              <a:t>(Concluding Paragraph)</a:t>
            </a:r>
          </a:p>
          <a:p>
            <a:pPr algn="ctr" eaLnBrk="1" hangingPunct="1">
              <a:lnSpc>
                <a:spcPct val="90000"/>
              </a:lnSpc>
              <a:buFontTx/>
              <a:buNone/>
            </a:pPr>
            <a:r>
              <a:rPr lang="en-US" altLang="zh-CN" sz="2400" b="1" smtClean="0"/>
              <a:t>      </a:t>
            </a:r>
          </a:p>
          <a:p>
            <a:pPr eaLnBrk="1" hangingPunct="1">
              <a:lnSpc>
                <a:spcPct val="90000"/>
              </a:lnSpc>
              <a:buFontTx/>
              <a:buNone/>
            </a:pPr>
            <a:r>
              <a:rPr lang="en-US" altLang="zh-CN" sz="2400" b="1" smtClean="0"/>
              <a:t>       </a:t>
            </a:r>
            <a:r>
              <a:rPr lang="zh-CN" altLang="en-US" sz="2400" b="1" smtClean="0">
                <a:latin typeface="楷体_GB2312" pitchFamily="49" charset="-122"/>
                <a:ea typeface="楷体_GB2312" pitchFamily="49" charset="-122"/>
              </a:rPr>
              <a:t>做任何事情都讲究善始善终，写文章也是一样，既要有一个好的开头，也要有一个好的结尾。好的开头能从一开始便引起读者对文章的兴趣、吸引住读者的注意力。好的结尾能使读者对文章的内容留下深刻印象。文章的结尾与文章的开头一样写法很多，但常见的结尾段写法有以下几种。</a:t>
            </a:r>
          </a:p>
          <a:p>
            <a:pPr eaLnBrk="1" hangingPunct="1">
              <a:lnSpc>
                <a:spcPct val="90000"/>
              </a:lnSpc>
              <a:buFontTx/>
              <a:buNone/>
            </a:pPr>
            <a:endParaRPr lang="zh-CN" altLang="en-US" sz="2400" b="1" smtClean="0">
              <a:latin typeface="楷体_GB2312" pitchFamily="49" charset="-122"/>
              <a:ea typeface="楷体_GB2312" pitchFamily="49" charset="-122"/>
            </a:endParaRPr>
          </a:p>
          <a:p>
            <a:pPr eaLnBrk="1" hangingPunct="1">
              <a:lnSpc>
                <a:spcPct val="90000"/>
              </a:lnSpc>
              <a:buFontTx/>
              <a:buNone/>
            </a:pPr>
            <a:r>
              <a:rPr lang="zh-CN" altLang="en-US" sz="2400" b="1" smtClean="0">
                <a:latin typeface="楷体_GB2312" pitchFamily="49" charset="-122"/>
                <a:ea typeface="楷体_GB2312" pitchFamily="49" charset="-122"/>
              </a:rPr>
              <a:t>（</a:t>
            </a:r>
            <a:r>
              <a:rPr lang="en-US" altLang="zh-CN" sz="2400" b="1" smtClean="0">
                <a:latin typeface="楷体_GB2312" pitchFamily="49" charset="-122"/>
                <a:ea typeface="楷体_GB2312" pitchFamily="49" charset="-122"/>
              </a:rPr>
              <a:t>1</a:t>
            </a:r>
            <a:r>
              <a:rPr lang="zh-CN" altLang="en-US" sz="2400" b="1" smtClean="0">
                <a:latin typeface="楷体_GB2312" pitchFamily="49" charset="-122"/>
                <a:ea typeface="楷体_GB2312" pitchFamily="49" charset="-122"/>
              </a:rPr>
              <a:t>）总结全篇：总结、概括全文的内容，提出带有结论</a:t>
            </a:r>
          </a:p>
          <a:p>
            <a:pPr eaLnBrk="1" hangingPunct="1">
              <a:lnSpc>
                <a:spcPct val="90000"/>
              </a:lnSpc>
              <a:buFontTx/>
              <a:buNone/>
            </a:pPr>
            <a:r>
              <a:rPr lang="zh-CN" altLang="en-US" sz="2400" b="1" smtClean="0">
                <a:latin typeface="楷体_GB2312" pitchFamily="49" charset="-122"/>
                <a:ea typeface="楷体_GB2312" pitchFamily="49" charset="-122"/>
              </a:rPr>
              <a:t>   性的意见，进一步肯定文章的中心思想或作者观点。  </a:t>
            </a:r>
          </a:p>
        </p:txBody>
      </p:sp>
      <p:sp>
        <p:nvSpPr>
          <p:cNvPr id="4"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922114"/>
          </a:xfrm>
        </p:spPr>
        <p:txBody>
          <a:bodyPr/>
          <a:lstStyle/>
          <a:p>
            <a:r>
              <a:rPr lang="zh-CN" altLang="en-US" dirty="0" smtClean="0"/>
              <a:t>篇章中的过渡句</a:t>
            </a:r>
            <a:endParaRPr lang="zh-CN" altLang="en-US" dirty="0"/>
          </a:p>
        </p:txBody>
      </p:sp>
      <p:sp>
        <p:nvSpPr>
          <p:cNvPr id="3" name="内容占位符 2"/>
          <p:cNvSpPr>
            <a:spLocks noGrp="1"/>
          </p:cNvSpPr>
          <p:nvPr>
            <p:ph idx="1"/>
          </p:nvPr>
        </p:nvSpPr>
        <p:spPr>
          <a:xfrm>
            <a:off x="683568" y="1052736"/>
            <a:ext cx="8280920" cy="5544616"/>
          </a:xfrm>
        </p:spPr>
        <p:txBody>
          <a:bodyPr/>
          <a:lstStyle/>
          <a:p>
            <a:r>
              <a:rPr lang="zh-CN" altLang="en-US" sz="2800" dirty="0" smtClean="0"/>
              <a:t>用于过渡的句式</a:t>
            </a:r>
            <a:br>
              <a:rPr lang="zh-CN" altLang="en-US" sz="2800" dirty="0" smtClean="0"/>
            </a:br>
            <a:r>
              <a:rPr lang="zh-CN" altLang="en-US" sz="2800" dirty="0" smtClean="0"/>
              <a:t>　　</a:t>
            </a:r>
            <a:r>
              <a:rPr lang="en-US" altLang="zh-CN" sz="2800" dirty="0" smtClean="0"/>
              <a:t>1. Although lots of people follow the fashion/trend, I still set my heart on…</a:t>
            </a:r>
            <a:br>
              <a:rPr lang="en-US" altLang="zh-CN" sz="2800" dirty="0" smtClean="0"/>
            </a:br>
            <a:r>
              <a:rPr lang="zh-CN" altLang="en-US" sz="2800" dirty="0" smtClean="0"/>
              <a:t>　　例句：</a:t>
            </a:r>
            <a:r>
              <a:rPr lang="en-US" altLang="zh-CN" sz="2800" dirty="0" smtClean="0"/>
              <a:t>Although lots of people follow the fashion, I still set my heart on its negative effect on our society.</a:t>
            </a:r>
            <a:br>
              <a:rPr lang="en-US" altLang="zh-CN" sz="2800" dirty="0" smtClean="0"/>
            </a:br>
            <a:r>
              <a:rPr lang="zh-CN" altLang="en-US" sz="2800" dirty="0" smtClean="0"/>
              <a:t>　　</a:t>
            </a:r>
            <a:r>
              <a:rPr lang="en-US" altLang="zh-CN" sz="2800" dirty="0" smtClean="0"/>
              <a:t>2. For one thing… For another…As a third benefit/disadvantage…</a:t>
            </a:r>
            <a:br>
              <a:rPr lang="en-US" altLang="zh-CN" sz="2800" dirty="0" smtClean="0"/>
            </a:br>
            <a:r>
              <a:rPr lang="zh-CN" altLang="en-US" sz="2800" dirty="0" smtClean="0"/>
              <a:t>　　</a:t>
            </a:r>
            <a:endParaRPr lang="zh-CN" altLang="en-US" sz="2800" dirty="0"/>
          </a:p>
        </p:txBody>
      </p:sp>
    </p:spTree>
  </p:cSld>
  <p:clrMapOvr>
    <a:masterClrMapping/>
  </p:clrMapOvr>
  <p:transition>
    <p:fade/>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418058"/>
          </a:xfrm>
        </p:spPr>
        <p:txBody>
          <a:bodyPr>
            <a:normAutofit fontScale="90000"/>
          </a:bodyPr>
          <a:lstStyle/>
          <a:p>
            <a:r>
              <a:rPr lang="en-US" altLang="zh-CN" dirty="0" smtClean="0"/>
              <a:t> </a:t>
            </a:r>
            <a:endParaRPr lang="zh-CN" altLang="en-US" dirty="0"/>
          </a:p>
        </p:txBody>
      </p:sp>
      <p:sp>
        <p:nvSpPr>
          <p:cNvPr id="3" name="内容占位符 2"/>
          <p:cNvSpPr>
            <a:spLocks noGrp="1"/>
          </p:cNvSpPr>
          <p:nvPr>
            <p:ph idx="1"/>
          </p:nvPr>
        </p:nvSpPr>
        <p:spPr>
          <a:xfrm>
            <a:off x="467544" y="548680"/>
            <a:ext cx="8424936" cy="5832648"/>
          </a:xfrm>
        </p:spPr>
        <p:txBody>
          <a:bodyPr/>
          <a:lstStyle/>
          <a:p>
            <a:r>
              <a:rPr lang="zh-CN" altLang="en-US" dirty="0" smtClean="0"/>
              <a:t>例句：</a:t>
            </a:r>
            <a:r>
              <a:rPr lang="en-US" altLang="zh-CN" dirty="0" smtClean="0"/>
              <a:t>For one thing, some excellent students can take full advantage of the holiday to awaken their personal interests such as painting, sight seeing and so on. For another, it can provide more chances for some poor students to help make two ends meet and to get prepared for the future by taking part-time jobs. As a third benefit, for those who are far from good at a certain subject, there is a golden opportunity of catching up with other.</a:t>
            </a:r>
            <a:br>
              <a:rPr lang="en-US" altLang="zh-CN" dirty="0" smtClean="0"/>
            </a:br>
            <a:r>
              <a:rPr lang="zh-CN" altLang="en-US" dirty="0" smtClean="0"/>
              <a:t>　　</a:t>
            </a:r>
          </a:p>
          <a:p>
            <a:endParaRPr lang="zh-CN" altLang="en-US" dirty="0"/>
          </a:p>
        </p:txBody>
      </p:sp>
    </p:spTree>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t>
            </a:r>
            <a:endParaRPr lang="zh-CN" altLang="en-US" dirty="0"/>
          </a:p>
        </p:txBody>
      </p:sp>
      <p:sp>
        <p:nvSpPr>
          <p:cNvPr id="3" name="内容占位符 2"/>
          <p:cNvSpPr>
            <a:spLocks noGrp="1"/>
          </p:cNvSpPr>
          <p:nvPr>
            <p:ph idx="1"/>
          </p:nvPr>
        </p:nvSpPr>
        <p:spPr>
          <a:xfrm>
            <a:off x="467544" y="404664"/>
            <a:ext cx="8208912" cy="5688632"/>
          </a:xfrm>
        </p:spPr>
        <p:txBody>
          <a:bodyPr/>
          <a:lstStyle/>
          <a:p>
            <a:r>
              <a:rPr lang="en-US" altLang="zh-CN" dirty="0" smtClean="0"/>
              <a:t>3.It is no easy/simple task/job to furnish/identify/find every reason/cause for </a:t>
            </a:r>
            <a:r>
              <a:rPr lang="en-US" altLang="zh-CN" dirty="0" err="1" smtClean="0"/>
              <a:t>sth</a:t>
            </a:r>
            <a:r>
              <a:rPr lang="en-US" altLang="zh-CN" dirty="0" smtClean="0"/>
              <a:t>., but/while, on the whole, two/some factors shout louder/ weigh heavier than others/stand out from others.</a:t>
            </a:r>
            <a:br>
              <a:rPr lang="en-US" altLang="zh-CN" dirty="0" smtClean="0"/>
            </a:br>
            <a:r>
              <a:rPr lang="zh-CN" altLang="en-US" dirty="0" smtClean="0"/>
              <a:t>　　例句：</a:t>
            </a:r>
            <a:r>
              <a:rPr lang="en-US" altLang="zh-CN" dirty="0" smtClean="0"/>
              <a:t>It is no easy job to find every reason for the increase in the number of teenagers who run away from their homes, but, on the whole, two factors shout louder than others. First of all, …. Second, …</a:t>
            </a:r>
            <a:br>
              <a:rPr lang="en-US" altLang="zh-CN" dirty="0" smtClean="0"/>
            </a:br>
            <a:r>
              <a:rPr lang="zh-CN" altLang="en-US" dirty="0" smtClean="0"/>
              <a:t>　　</a:t>
            </a:r>
            <a:endParaRPr lang="zh-CN" altLang="en-US" dirty="0"/>
          </a:p>
        </p:txBody>
      </p:sp>
    </p:spTree>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t>
            </a:r>
            <a:endParaRPr lang="zh-CN" altLang="en-US" dirty="0"/>
          </a:p>
        </p:txBody>
      </p:sp>
      <p:sp>
        <p:nvSpPr>
          <p:cNvPr id="3" name="内容占位符 2"/>
          <p:cNvSpPr>
            <a:spLocks noGrp="1"/>
          </p:cNvSpPr>
          <p:nvPr>
            <p:ph idx="1"/>
          </p:nvPr>
        </p:nvSpPr>
        <p:spPr>
          <a:xfrm>
            <a:off x="539552" y="764704"/>
            <a:ext cx="8147248" cy="5361459"/>
          </a:xfrm>
        </p:spPr>
        <p:txBody>
          <a:bodyPr/>
          <a:lstStyle/>
          <a:p>
            <a:r>
              <a:rPr lang="en-US" altLang="zh-CN" dirty="0" smtClean="0"/>
              <a:t>4.In contrast with the drawbacks/demerits/flaws of </a:t>
            </a:r>
            <a:r>
              <a:rPr lang="en-US" altLang="zh-CN" dirty="0" err="1" smtClean="0"/>
              <a:t>sth</a:t>
            </a:r>
            <a:r>
              <a:rPr lang="en-US" altLang="zh-CN" dirty="0" smtClean="0"/>
              <a:t>., </a:t>
            </a:r>
            <a:r>
              <a:rPr lang="en-US" altLang="zh-CN" dirty="0" err="1" smtClean="0"/>
              <a:t>sth</a:t>
            </a:r>
            <a:r>
              <a:rPr lang="en-US" altLang="zh-CN" dirty="0" smtClean="0"/>
              <a:t>. else can serve as a better step/move/advance in the right direction/toward the solution for the problem of…</a:t>
            </a:r>
            <a:br>
              <a:rPr lang="en-US" altLang="zh-CN" dirty="0" smtClean="0"/>
            </a:br>
            <a:r>
              <a:rPr lang="zh-CN" altLang="en-US" dirty="0" smtClean="0"/>
              <a:t>　　例句：</a:t>
            </a:r>
            <a:r>
              <a:rPr lang="en-US" altLang="zh-CN" dirty="0" smtClean="0"/>
              <a:t>In contrast with the drawbacks caused by nuclear power, the solar power can serve as a better move toward the solution for the problem of energy crisis.</a:t>
            </a:r>
            <a:br>
              <a:rPr lang="en-US" altLang="zh-CN" dirty="0" smtClean="0"/>
            </a:br>
            <a:r>
              <a:rPr lang="zh-CN" altLang="en-US" dirty="0" smtClean="0"/>
              <a:t>　　</a:t>
            </a:r>
          </a:p>
          <a:p>
            <a:endParaRPr lang="zh-CN" altLang="en-US" dirty="0"/>
          </a:p>
        </p:txBody>
      </p:sp>
    </p:spTree>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490066"/>
          </a:xfrm>
        </p:spPr>
        <p:txBody>
          <a:bodyPr>
            <a:normAutofit fontScale="90000"/>
          </a:bodyPr>
          <a:lstStyle/>
          <a:p>
            <a:r>
              <a:rPr lang="en-US" altLang="zh-CN" dirty="0" smtClean="0"/>
              <a:t> </a:t>
            </a:r>
            <a:endParaRPr lang="zh-CN" altLang="en-US" dirty="0"/>
          </a:p>
        </p:txBody>
      </p:sp>
      <p:sp>
        <p:nvSpPr>
          <p:cNvPr id="3" name="内容占位符 2"/>
          <p:cNvSpPr>
            <a:spLocks noGrp="1"/>
          </p:cNvSpPr>
          <p:nvPr>
            <p:ph idx="1"/>
          </p:nvPr>
        </p:nvSpPr>
        <p:spPr>
          <a:xfrm>
            <a:off x="467544" y="332656"/>
            <a:ext cx="8424936" cy="6264696"/>
          </a:xfrm>
        </p:spPr>
        <p:txBody>
          <a:bodyPr/>
          <a:lstStyle/>
          <a:p>
            <a:r>
              <a:rPr lang="en-US" altLang="zh-CN" dirty="0" smtClean="0"/>
              <a:t>5.It is true/obvious that </a:t>
            </a:r>
            <a:r>
              <a:rPr lang="en-US" altLang="zh-CN" dirty="0" err="1" smtClean="0"/>
              <a:t>sth</a:t>
            </a:r>
            <a:r>
              <a:rPr lang="en-US" altLang="zh-CN" dirty="0" smtClean="0"/>
              <a:t> can’t compete/be compared with </a:t>
            </a:r>
            <a:r>
              <a:rPr lang="en-US" altLang="zh-CN" dirty="0" err="1" smtClean="0"/>
              <a:t>sth</a:t>
            </a:r>
            <a:r>
              <a:rPr lang="en-US" altLang="zh-CN" dirty="0" smtClean="0"/>
              <a:t> else in…, but </a:t>
            </a:r>
            <a:r>
              <a:rPr lang="en-US" altLang="zh-CN" dirty="0" err="1" smtClean="0"/>
              <a:t>sth</a:t>
            </a:r>
            <a:r>
              <a:rPr lang="en-US" altLang="zh-CN" dirty="0" smtClean="0"/>
              <a:t> still enjoys/secures/possesses distinct/substantial advantage over </a:t>
            </a:r>
            <a:r>
              <a:rPr lang="en-US" altLang="zh-CN" dirty="0" err="1" smtClean="0"/>
              <a:t>sth</a:t>
            </a:r>
            <a:r>
              <a:rPr lang="en-US" altLang="zh-CN" dirty="0" smtClean="0"/>
              <a:t> else.</a:t>
            </a:r>
            <a:br>
              <a:rPr lang="en-US" altLang="zh-CN" dirty="0" smtClean="0"/>
            </a:br>
            <a:r>
              <a:rPr lang="zh-CN" altLang="en-US" dirty="0" smtClean="0"/>
              <a:t>　　例句：</a:t>
            </a:r>
            <a:r>
              <a:rPr lang="en-US" altLang="zh-CN" dirty="0" smtClean="0"/>
              <a:t>It is obvious that radio cannot compete with television in </a:t>
            </a:r>
            <a:r>
              <a:rPr lang="en-US" altLang="zh-CN" dirty="0" err="1" smtClean="0"/>
              <a:t>visuality</a:t>
            </a:r>
            <a:r>
              <a:rPr lang="en-US" altLang="zh-CN" dirty="0" smtClean="0"/>
              <a:t>, but it still possesses substantial advantages over television. (One of these is…Another…Still another…)</a:t>
            </a:r>
            <a:br>
              <a:rPr lang="en-US" altLang="zh-CN" dirty="0" smtClean="0"/>
            </a:br>
            <a:r>
              <a:rPr lang="zh-CN" altLang="en-US" dirty="0" smtClean="0"/>
              <a:t>　　</a:t>
            </a:r>
            <a:r>
              <a:rPr lang="en-US" altLang="zh-CN" dirty="0" smtClean="0"/>
              <a:t>6.But if…, it is easy/not difficult/hard to see/find/discover that…</a:t>
            </a:r>
            <a:br>
              <a:rPr lang="en-US" altLang="zh-CN" dirty="0" smtClean="0"/>
            </a:br>
            <a:r>
              <a:rPr lang="zh-CN" altLang="en-US" dirty="0" smtClean="0"/>
              <a:t>　　</a:t>
            </a:r>
            <a:r>
              <a:rPr lang="en-US" altLang="zh-CN" dirty="0" smtClean="0"/>
              <a:t/>
            </a:r>
            <a:br>
              <a:rPr lang="en-US" altLang="zh-CN" dirty="0" smtClean="0"/>
            </a:br>
            <a:endParaRPr lang="zh-CN" altLang="en-US" dirty="0"/>
          </a:p>
        </p:txBody>
      </p:sp>
    </p:spTree>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19256" cy="274042"/>
          </a:xfrm>
        </p:spPr>
        <p:txBody>
          <a:bodyPr>
            <a:normAutofit fontScale="90000"/>
          </a:bodyPr>
          <a:lstStyle/>
          <a:p>
            <a:r>
              <a:rPr lang="en-US" altLang="zh-CN" dirty="0" smtClean="0"/>
              <a:t> </a:t>
            </a:r>
            <a:endParaRPr lang="zh-CN" altLang="en-US" dirty="0"/>
          </a:p>
        </p:txBody>
      </p:sp>
      <p:sp>
        <p:nvSpPr>
          <p:cNvPr id="3" name="内容占位符 2"/>
          <p:cNvSpPr>
            <a:spLocks noGrp="1"/>
          </p:cNvSpPr>
          <p:nvPr>
            <p:ph idx="1"/>
          </p:nvPr>
        </p:nvSpPr>
        <p:spPr>
          <a:xfrm>
            <a:off x="467544" y="332656"/>
            <a:ext cx="8219256" cy="5793507"/>
          </a:xfrm>
        </p:spPr>
        <p:txBody>
          <a:bodyPr/>
          <a:lstStyle/>
          <a:p>
            <a:r>
              <a:rPr lang="zh-CN" altLang="en-US" dirty="0" smtClean="0"/>
              <a:t>例句：</a:t>
            </a:r>
            <a:r>
              <a:rPr lang="en-US" altLang="zh-CN" dirty="0" smtClean="0"/>
              <a:t>But if they adjust their frame of mind a little in the other direction, it is not hard for them to find that life is just as promising as before.</a:t>
            </a:r>
            <a:br>
              <a:rPr lang="en-US" altLang="zh-CN" dirty="0" smtClean="0"/>
            </a:br>
            <a:r>
              <a:rPr lang="zh-CN" altLang="en-US" dirty="0" smtClean="0"/>
              <a:t>　　</a:t>
            </a:r>
            <a:r>
              <a:rPr lang="en-US" altLang="zh-CN" dirty="0" smtClean="0"/>
              <a:t>7.Superficially/On the surface/At first glance/In appearance, the issue in question seems…. But in fact/in substance/on close examination, …</a:t>
            </a:r>
            <a:br>
              <a:rPr lang="en-US" altLang="zh-CN" dirty="0" smtClean="0"/>
            </a:br>
            <a:r>
              <a:rPr lang="zh-CN" altLang="en-US" dirty="0" smtClean="0"/>
              <a:t>　　例句：</a:t>
            </a:r>
            <a:r>
              <a:rPr lang="en-US" altLang="zh-CN" dirty="0" smtClean="0"/>
              <a:t>At first glance, the western-type democracy seems superior to any other types. But on close examination, it does not entitle every citizen of the same nation to the equal freedom to act.</a:t>
            </a:r>
            <a:br>
              <a:rPr lang="en-US" altLang="zh-CN" dirty="0" smtClean="0"/>
            </a:br>
            <a:r>
              <a:rPr lang="zh-CN" altLang="en-US" dirty="0" smtClean="0"/>
              <a:t>　　</a:t>
            </a:r>
            <a:endParaRPr lang="zh-CN" altLang="en-US" dirty="0"/>
          </a:p>
        </p:txBody>
      </p:sp>
    </p:spTree>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t>
            </a:r>
            <a:endParaRPr lang="zh-CN" altLang="en-US" dirty="0"/>
          </a:p>
        </p:txBody>
      </p:sp>
      <p:sp>
        <p:nvSpPr>
          <p:cNvPr id="3" name="内容占位符 2"/>
          <p:cNvSpPr>
            <a:spLocks noGrp="1"/>
          </p:cNvSpPr>
          <p:nvPr>
            <p:ph idx="1"/>
          </p:nvPr>
        </p:nvSpPr>
        <p:spPr>
          <a:xfrm>
            <a:off x="395536" y="332656"/>
            <a:ext cx="8229600" cy="4525963"/>
          </a:xfrm>
        </p:spPr>
        <p:txBody>
          <a:bodyPr/>
          <a:lstStyle/>
          <a:p>
            <a:r>
              <a:rPr lang="en-US" altLang="zh-CN" dirty="0" smtClean="0"/>
              <a:t>8.Those in favor of the issue in question argue/contend/hold/maintain/claim that…. But what they fail to consider/analyze/see/find out is that…</a:t>
            </a:r>
            <a:br>
              <a:rPr lang="en-US" altLang="zh-CN" dirty="0" smtClean="0"/>
            </a:br>
            <a:r>
              <a:rPr lang="zh-CN" altLang="en-US" dirty="0" smtClean="0"/>
              <a:t>　　例句：</a:t>
            </a:r>
            <a:r>
              <a:rPr lang="en-US" altLang="zh-CN" dirty="0" smtClean="0"/>
              <a:t>Those in favor of euthanasia(</a:t>
            </a:r>
            <a:r>
              <a:rPr lang="zh-CN" altLang="en-US" dirty="0" smtClean="0"/>
              <a:t>安乐死</a:t>
            </a:r>
            <a:r>
              <a:rPr lang="en-US" altLang="zh-CN" dirty="0" smtClean="0"/>
              <a:t>) contend that its practice can benefit both the patient and his family. But what they fail to consider is that euthanasia may</a:t>
            </a:r>
            <a:br>
              <a:rPr lang="en-US" altLang="zh-CN" dirty="0" smtClean="0"/>
            </a:br>
            <a:r>
              <a:rPr lang="zh-CN" altLang="en-US" dirty="0" smtClean="0"/>
              <a:t>　　</a:t>
            </a:r>
            <a:r>
              <a:rPr lang="en-US" altLang="zh-CN" dirty="0" smtClean="0"/>
              <a:t>be taken advantage of for some evil or hidden purposes.</a:t>
            </a:r>
            <a:br>
              <a:rPr lang="en-US" altLang="zh-CN" dirty="0" smtClean="0"/>
            </a:br>
            <a:r>
              <a:rPr lang="zh-CN" altLang="en-US" dirty="0" smtClean="0"/>
              <a:t>　　</a:t>
            </a:r>
            <a:endParaRPr lang="zh-CN" altLang="en-US" dirty="0"/>
          </a:p>
        </p:txBody>
      </p:sp>
    </p:spTree>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 </a:t>
            </a:r>
            <a:endParaRPr lang="zh-CN" altLang="en-US" dirty="0"/>
          </a:p>
        </p:txBody>
      </p:sp>
      <p:sp>
        <p:nvSpPr>
          <p:cNvPr id="3" name="内容占位符 2"/>
          <p:cNvSpPr>
            <a:spLocks noGrp="1"/>
          </p:cNvSpPr>
          <p:nvPr>
            <p:ph idx="1"/>
          </p:nvPr>
        </p:nvSpPr>
        <p:spPr>
          <a:xfrm>
            <a:off x="395536" y="332656"/>
            <a:ext cx="8424936" cy="5976664"/>
          </a:xfrm>
        </p:spPr>
        <p:txBody>
          <a:bodyPr/>
          <a:lstStyle/>
          <a:p>
            <a:r>
              <a:rPr lang="en-US" altLang="zh-CN" dirty="0" smtClean="0"/>
              <a:t>9.My our look on/choice of/participation in/devotion to…stems from/derives from/results from some/several chief factors.</a:t>
            </a:r>
            <a:br>
              <a:rPr lang="en-US" altLang="zh-CN" dirty="0" smtClean="0"/>
            </a:br>
            <a:r>
              <a:rPr lang="zh-CN" altLang="en-US" dirty="0" smtClean="0"/>
              <a:t>　　例句：</a:t>
            </a:r>
            <a:r>
              <a:rPr lang="en-US" altLang="zh-CN" dirty="0" smtClean="0"/>
              <a:t>My choice of the career stems from several chief factors. First… Second…</a:t>
            </a:r>
            <a:br>
              <a:rPr lang="en-US" altLang="zh-CN" dirty="0" smtClean="0"/>
            </a:br>
            <a:r>
              <a:rPr lang="zh-CN" altLang="en-US" dirty="0" smtClean="0"/>
              <a:t>　　</a:t>
            </a:r>
            <a:r>
              <a:rPr lang="en-US" altLang="zh-CN" dirty="0" smtClean="0"/>
              <a:t>10.A variety of/Quite a few factors have led me to do…</a:t>
            </a:r>
            <a:br>
              <a:rPr lang="en-US" altLang="zh-CN" dirty="0" smtClean="0"/>
            </a:br>
            <a:r>
              <a:rPr lang="zh-CN" altLang="en-US" dirty="0" smtClean="0"/>
              <a:t>　　例句：</a:t>
            </a:r>
            <a:r>
              <a:rPr lang="en-US" altLang="zh-CN" dirty="0" smtClean="0"/>
              <a:t>Quite a few factors have led me to form the habit of reading</a:t>
            </a:r>
            <a:br>
              <a:rPr lang="en-US" altLang="zh-CN" dirty="0" smtClean="0"/>
            </a:br>
            <a:endParaRPr lang="zh-CN" altLang="en-US" dirty="0" smtClean="0"/>
          </a:p>
          <a:p>
            <a:endParaRPr lang="zh-CN" altLang="en-US" dirty="0"/>
          </a:p>
        </p:txBody>
      </p:sp>
    </p:spTree>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pPr algn="l" eaLnBrk="1" hangingPunct="1"/>
            <a:r>
              <a:rPr lang="en-US" altLang="zh-CN" sz="3200" b="1" smtClean="0">
                <a:latin typeface="宋体" panose="02010600030101010101" pitchFamily="2" charset="-122"/>
              </a:rPr>
              <a:t>3.</a:t>
            </a:r>
            <a:r>
              <a:rPr lang="zh-CN" altLang="en-US" sz="3200" b="1" smtClean="0">
                <a:latin typeface="宋体" panose="02010600030101010101" pitchFamily="2" charset="-122"/>
              </a:rPr>
              <a:t>列提纲</a:t>
            </a:r>
            <a:r>
              <a:rPr lang="zh-CN" altLang="en-US" sz="3200" b="1" smtClean="0">
                <a:latin typeface="Times New Roman" panose="02020603050405020304" pitchFamily="18" charset="0"/>
                <a:ea typeface="楷体_GB2312" pitchFamily="49" charset="-122"/>
              </a:rPr>
              <a:t>（</a:t>
            </a:r>
            <a:r>
              <a:rPr lang="en-US" altLang="zh-CN" sz="3200" b="1" smtClean="0">
                <a:latin typeface="Times New Roman" panose="02020603050405020304" pitchFamily="18" charset="0"/>
                <a:ea typeface="楷体_GB2312" pitchFamily="49" charset="-122"/>
              </a:rPr>
              <a:t>Making an Outline</a:t>
            </a:r>
            <a:r>
              <a:rPr lang="zh-CN" altLang="en-US" sz="3200" b="1" smtClean="0">
                <a:latin typeface="Times New Roman" panose="02020603050405020304" pitchFamily="18" charset="0"/>
                <a:ea typeface="楷体_GB2312" pitchFamily="49" charset="-122"/>
              </a:rPr>
              <a:t>）</a:t>
            </a:r>
          </a:p>
        </p:txBody>
      </p:sp>
      <p:sp>
        <p:nvSpPr>
          <p:cNvPr id="141315" name="Rectangle 3"/>
          <p:cNvSpPr>
            <a:spLocks noGrp="1" noChangeArrowheads="1"/>
          </p:cNvSpPr>
          <p:nvPr>
            <p:ph idx="1"/>
          </p:nvPr>
        </p:nvSpPr>
        <p:spPr/>
        <p:txBody>
          <a:bodyPr/>
          <a:lstStyle/>
          <a:p>
            <a:pPr eaLnBrk="1" hangingPunct="1">
              <a:buFontTx/>
              <a:buNone/>
            </a:pPr>
            <a:r>
              <a:rPr lang="en-US" altLang="zh-CN" smtClean="0"/>
              <a:t>		</a:t>
            </a:r>
          </a:p>
          <a:p>
            <a:pPr eaLnBrk="1" hangingPunct="1">
              <a:buFontTx/>
              <a:buNone/>
            </a:pPr>
            <a:r>
              <a:rPr lang="en-US" altLang="zh-CN" smtClean="0"/>
              <a:t>		</a:t>
            </a:r>
            <a:r>
              <a:rPr lang="zh-CN" altLang="en-US" sz="2800" b="1" smtClean="0">
                <a:ea typeface="楷体_GB2312" pitchFamily="49" charset="-122"/>
              </a:rPr>
              <a:t>在着手写作文前，先要学会列提纲</a:t>
            </a:r>
            <a:r>
              <a:rPr lang="en-US" altLang="zh-CN" sz="2800" b="1" smtClean="0">
                <a:latin typeface="Times New Roman" panose="02020603050405020304" pitchFamily="18" charset="0"/>
                <a:ea typeface="楷体_GB2312" pitchFamily="49" charset="-122"/>
              </a:rPr>
              <a:t>(Outline)</a:t>
            </a:r>
            <a:r>
              <a:rPr lang="zh-CN" altLang="en-US" sz="2800" b="1" smtClean="0">
                <a:ea typeface="楷体_GB2312" pitchFamily="49" charset="-122"/>
              </a:rPr>
              <a:t>。提纲相当于文章的骨架。一篇文章通常有若干个段落组成，每个段落包含哪些内容，段落之间有什么联系，都体现在提纲里面。</a:t>
            </a:r>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Tree>
  </p:cSld>
  <p:clrMapOvr>
    <a:masterClrMapping/>
  </p:clrMapOvr>
  <p:transition advTm="10000"/>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8546" name="Rectangle 2"/>
          <p:cNvSpPr>
            <a:spLocks noGrp="1" noChangeArrowheads="1"/>
          </p:cNvSpPr>
          <p:nvPr>
            <p:ph idx="1"/>
          </p:nvPr>
        </p:nvSpPr>
        <p:spPr>
          <a:xfrm>
            <a:off x="755650" y="188913"/>
            <a:ext cx="8610600" cy="5715000"/>
          </a:xfrm>
        </p:spPr>
        <p:txBody>
          <a:bodyPr rtlCol="0">
            <a:normAutofit fontScale="92500" lnSpcReduction="20000"/>
          </a:bodyPr>
          <a:lstStyle/>
          <a:p>
            <a:pPr marL="812800" indent="-812800" algn="ctr" eaLnBrk="1" fontAlgn="auto" hangingPunct="1">
              <a:lnSpc>
                <a:spcPct val="90000"/>
              </a:lnSpc>
              <a:spcAft>
                <a:spcPts val="0"/>
              </a:spcAft>
              <a:buFontTx/>
              <a:buNone/>
              <a:defRPr/>
            </a:pPr>
            <a:r>
              <a:rPr lang="en-US" altLang="zh-CN" sz="2800" b="1">
                <a:latin typeface="Times New Roman" panose="02020603050405020304" pitchFamily="18" charset="0"/>
              </a:rPr>
              <a:t>Outline</a:t>
            </a:r>
            <a:r>
              <a:rPr lang="zh-CN" altLang="en-US" sz="2800" b="1">
                <a:latin typeface="Times New Roman" panose="02020603050405020304" pitchFamily="18" charset="0"/>
              </a:rPr>
              <a:t>：</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I. enjoy different places</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A. enjoying beautiful scenery (4)</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B. Visiting famous cities and scenic spots (6)</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II. know people and their customs</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A. Meeting people with different interests (2)</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B. Seeing strange and different things  (1)</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C. Getting some ideas about the lifestyle and customs</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of people in other areas (8)</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D. Tasting different foods and local flavors (7)</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E. Understanding how people live (5)</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III. Benefit us both mentally and physically</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A. Gaining knowledge of geography and history (9)</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B. Keeping us fit and healthy (3)</a:t>
            </a:r>
          </a:p>
          <a:p>
            <a:pPr marL="812800" indent="-812800" eaLnBrk="1" fontAlgn="auto" hangingPunct="1">
              <a:lnSpc>
                <a:spcPct val="90000"/>
              </a:lnSpc>
              <a:spcAft>
                <a:spcPts val="0"/>
              </a:spcAft>
              <a:buFontTx/>
              <a:buNone/>
              <a:defRPr/>
            </a:pPr>
            <a:r>
              <a:rPr lang="en-US" altLang="zh-CN" sz="2400" b="1">
                <a:latin typeface="Times New Roman" panose="02020603050405020304" pitchFamily="18" charset="0"/>
              </a:rPr>
              <a:t>	C. Making one less narrow-minded  (10)</a:t>
            </a:r>
          </a:p>
          <a:p>
            <a:pPr marL="812800" indent="-812800" eaLnBrk="1" fontAlgn="auto" hangingPunct="1">
              <a:lnSpc>
                <a:spcPct val="90000"/>
              </a:lnSpc>
              <a:spcAft>
                <a:spcPts val="0"/>
              </a:spcAft>
              <a:buFontTx/>
              <a:buNone/>
              <a:defRPr/>
            </a:pPr>
            <a:endParaRPr lang="en-US" altLang="zh-CN" sz="2400" b="1">
              <a:latin typeface="Times New Roman" panose="02020603050405020304" pitchFamily="18" charset="0"/>
            </a:endParaRPr>
          </a:p>
          <a:p>
            <a:pPr marL="812800" indent="-812800" eaLnBrk="1" fontAlgn="auto" hangingPunct="1">
              <a:lnSpc>
                <a:spcPct val="90000"/>
              </a:lnSpc>
              <a:spcAft>
                <a:spcPts val="0"/>
              </a:spcAft>
              <a:buFontTx/>
              <a:buNone/>
              <a:defRPr/>
            </a:pPr>
            <a:endParaRPr lang="en-US" altLang="zh-CN" sz="2400" b="1">
              <a:latin typeface="Times New Roman" panose="02020603050405020304" pitchFamily="18" charset="0"/>
            </a:endParaRPr>
          </a:p>
          <a:p>
            <a:pPr marL="812800" indent="-812800" eaLnBrk="1" fontAlgn="auto" hangingPunct="1">
              <a:lnSpc>
                <a:spcPct val="90000"/>
              </a:lnSpc>
              <a:spcAft>
                <a:spcPts val="0"/>
              </a:spcAft>
              <a:buFont typeface="Wingdings 2" panose="05020102010507070707"/>
              <a:buChar char=""/>
              <a:defRPr/>
            </a:pPr>
            <a:endParaRPr lang="en-US" altLang="zh-CN" sz="2800"/>
          </a:p>
        </p:txBody>
      </p:sp>
      <p:sp>
        <p:nvSpPr>
          <p:cNvPr id="5" name="页脚占位符 4"/>
          <p:cNvSpPr>
            <a:spLocks noGrp="1"/>
          </p:cNvSpPr>
          <p:nvPr>
            <p:ph type="ftr" sz="quarter" idx="11"/>
          </p:nvPr>
        </p:nvSpPr>
        <p:spPr/>
        <p:txBody>
          <a:bodyPr/>
          <a:lstStyle/>
          <a:p>
            <a:pPr>
              <a:defRPr/>
            </a:pPr>
            <a:r>
              <a:rPr lang="zh-CN" altLang="zh-CN"/>
              <a:t>《英语应用文写作》多媒体</a:t>
            </a:r>
            <a:r>
              <a:rPr lang="zh-CN" altLang="en-US"/>
              <a:t>教学</a:t>
            </a:r>
            <a:r>
              <a:rPr lang="zh-CN" altLang="zh-CN"/>
              <a:t>课件</a:t>
            </a:r>
            <a:endParaRPr lang="zh-CN" altLang="en-US"/>
          </a:p>
        </p:txBody>
      </p:sp>
      <p:sp>
        <p:nvSpPr>
          <p:cNvPr id="145411" name="AutoShape 3"/>
          <p:cNvSpPr>
            <a:spLocks noChangeArrowheads="1"/>
          </p:cNvSpPr>
          <p:nvPr/>
        </p:nvSpPr>
        <p:spPr bwMode="auto">
          <a:xfrm>
            <a:off x="250825" y="188913"/>
            <a:ext cx="1584325" cy="504825"/>
          </a:xfrm>
          <a:prstGeom prst="flowChartAlternateProcess">
            <a:avLst/>
          </a:prstGeom>
          <a:solidFill>
            <a:srgbClr val="009999"/>
          </a:solidFill>
          <a:ln w="9525">
            <a:noFill/>
            <a:miter lim="800000"/>
          </a:ln>
          <a:effectLst>
            <a:prstShdw prst="shdw17" dist="17961" dir="2700000">
              <a:srgbClr val="005C5C"/>
            </a:prstShdw>
          </a:effectLst>
        </p:spPr>
        <p:txBody>
          <a:bodyPr wrap="none" anchor="ctr"/>
          <a:lstStyle/>
          <a:p>
            <a:pPr algn="ctr"/>
            <a:r>
              <a:rPr lang="en-US" altLang="zh-CN" b="1">
                <a:solidFill>
                  <a:schemeClr val="bg1"/>
                </a:solidFill>
                <a:latin typeface="Times New Roman" panose="02020603050405020304" pitchFamily="18" charset="0"/>
              </a:rPr>
              <a:t>Example</a:t>
            </a:r>
          </a:p>
        </p:txBody>
      </p:sp>
    </p:spTree>
  </p:cSld>
  <p:clrMapOvr>
    <a:masterClrMapping/>
  </p:clrMapOvr>
  <p:transition advTm="1000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48546">
                                            <p:txEl>
                                              <p:pRg st="2" end="2"/>
                                            </p:txEl>
                                          </p:spTgt>
                                        </p:tgtEl>
                                        <p:attrNameLst>
                                          <p:attrName>style.visibility</p:attrName>
                                        </p:attrNameLst>
                                      </p:cBhvr>
                                      <p:to>
                                        <p:strVal val="visible"/>
                                      </p:to>
                                    </p:set>
                                    <p:animEffect transition="in" filter="blinds(horizontal)">
                                      <p:cBhvr>
                                        <p:cTn id="7" dur="500"/>
                                        <p:tgtEl>
                                          <p:spTgt spid="748546">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48546">
                                            <p:txEl>
                                              <p:pRg st="3" end="3"/>
                                            </p:txEl>
                                          </p:spTgt>
                                        </p:tgtEl>
                                        <p:attrNameLst>
                                          <p:attrName>style.visibility</p:attrName>
                                        </p:attrNameLst>
                                      </p:cBhvr>
                                      <p:to>
                                        <p:strVal val="visible"/>
                                      </p:to>
                                    </p:set>
                                    <p:animEffect transition="in" filter="blinds(horizontal)">
                                      <p:cBhvr>
                                        <p:cTn id="10" dur="500"/>
                                        <p:tgtEl>
                                          <p:spTgt spid="748546">
                                            <p:txEl>
                                              <p:pRg st="3" end="3"/>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48546">
                                            <p:txEl>
                                              <p:pRg st="5" end="5"/>
                                            </p:txEl>
                                          </p:spTgt>
                                        </p:tgtEl>
                                        <p:attrNameLst>
                                          <p:attrName>style.visibility</p:attrName>
                                        </p:attrNameLst>
                                      </p:cBhvr>
                                      <p:to>
                                        <p:strVal val="visible"/>
                                      </p:to>
                                    </p:set>
                                    <p:animEffect transition="in" filter="blinds(horizontal)">
                                      <p:cBhvr>
                                        <p:cTn id="15" dur="500"/>
                                        <p:tgtEl>
                                          <p:spTgt spid="748546">
                                            <p:txEl>
                                              <p:pRg st="5" end="5"/>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748546">
                                            <p:txEl>
                                              <p:pRg st="6" end="6"/>
                                            </p:txEl>
                                          </p:spTgt>
                                        </p:tgtEl>
                                        <p:attrNameLst>
                                          <p:attrName>style.visibility</p:attrName>
                                        </p:attrNameLst>
                                      </p:cBhvr>
                                      <p:to>
                                        <p:strVal val="visible"/>
                                      </p:to>
                                    </p:set>
                                    <p:animEffect transition="in" filter="blinds(horizontal)">
                                      <p:cBhvr>
                                        <p:cTn id="18" dur="500"/>
                                        <p:tgtEl>
                                          <p:spTgt spid="748546">
                                            <p:txEl>
                                              <p:pRg st="6" end="6"/>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748546">
                                            <p:txEl>
                                              <p:pRg st="7" end="7"/>
                                            </p:txEl>
                                          </p:spTgt>
                                        </p:tgtEl>
                                        <p:attrNameLst>
                                          <p:attrName>style.visibility</p:attrName>
                                        </p:attrNameLst>
                                      </p:cBhvr>
                                      <p:to>
                                        <p:strVal val="visible"/>
                                      </p:to>
                                    </p:set>
                                    <p:animEffect transition="in" filter="blinds(horizontal)">
                                      <p:cBhvr>
                                        <p:cTn id="21" dur="500"/>
                                        <p:tgtEl>
                                          <p:spTgt spid="748546">
                                            <p:txEl>
                                              <p:pRg st="7" end="7"/>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748546">
                                            <p:txEl>
                                              <p:pRg st="8" end="8"/>
                                            </p:txEl>
                                          </p:spTgt>
                                        </p:tgtEl>
                                        <p:attrNameLst>
                                          <p:attrName>style.visibility</p:attrName>
                                        </p:attrNameLst>
                                      </p:cBhvr>
                                      <p:to>
                                        <p:strVal val="visible"/>
                                      </p:to>
                                    </p:set>
                                    <p:animEffect transition="in" filter="blinds(horizontal)">
                                      <p:cBhvr>
                                        <p:cTn id="24" dur="500"/>
                                        <p:tgtEl>
                                          <p:spTgt spid="748546">
                                            <p:txEl>
                                              <p:pRg st="8" end="8"/>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748546">
                                            <p:txEl>
                                              <p:pRg st="9" end="9"/>
                                            </p:txEl>
                                          </p:spTgt>
                                        </p:tgtEl>
                                        <p:attrNameLst>
                                          <p:attrName>style.visibility</p:attrName>
                                        </p:attrNameLst>
                                      </p:cBhvr>
                                      <p:to>
                                        <p:strVal val="visible"/>
                                      </p:to>
                                    </p:set>
                                    <p:animEffect transition="in" filter="blinds(horizontal)">
                                      <p:cBhvr>
                                        <p:cTn id="27" dur="500"/>
                                        <p:tgtEl>
                                          <p:spTgt spid="748546">
                                            <p:txEl>
                                              <p:pRg st="9" end="9"/>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748546">
                                            <p:txEl>
                                              <p:pRg st="10" end="10"/>
                                            </p:txEl>
                                          </p:spTgt>
                                        </p:tgtEl>
                                        <p:attrNameLst>
                                          <p:attrName>style.visibility</p:attrName>
                                        </p:attrNameLst>
                                      </p:cBhvr>
                                      <p:to>
                                        <p:strVal val="visible"/>
                                      </p:to>
                                    </p:set>
                                    <p:animEffect transition="in" filter="blinds(horizontal)">
                                      <p:cBhvr>
                                        <p:cTn id="30" dur="500"/>
                                        <p:tgtEl>
                                          <p:spTgt spid="748546">
                                            <p:txEl>
                                              <p:pRg st="10" end="1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748546">
                                            <p:txEl>
                                              <p:pRg st="12" end="12"/>
                                            </p:txEl>
                                          </p:spTgt>
                                        </p:tgtEl>
                                        <p:attrNameLst>
                                          <p:attrName>style.visibility</p:attrName>
                                        </p:attrNameLst>
                                      </p:cBhvr>
                                      <p:to>
                                        <p:strVal val="visible"/>
                                      </p:to>
                                    </p:set>
                                    <p:animEffect transition="in" filter="blinds(horizontal)">
                                      <p:cBhvr>
                                        <p:cTn id="35" dur="500"/>
                                        <p:tgtEl>
                                          <p:spTgt spid="748546">
                                            <p:txEl>
                                              <p:pRg st="12" end="12"/>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748546">
                                            <p:txEl>
                                              <p:pRg st="13" end="13"/>
                                            </p:txEl>
                                          </p:spTgt>
                                        </p:tgtEl>
                                        <p:attrNameLst>
                                          <p:attrName>style.visibility</p:attrName>
                                        </p:attrNameLst>
                                      </p:cBhvr>
                                      <p:to>
                                        <p:strVal val="visible"/>
                                      </p:to>
                                    </p:set>
                                    <p:animEffect transition="in" filter="blinds(horizontal)">
                                      <p:cBhvr>
                                        <p:cTn id="38" dur="500"/>
                                        <p:tgtEl>
                                          <p:spTgt spid="748546">
                                            <p:txEl>
                                              <p:pRg st="13" end="13"/>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748546">
                                            <p:txEl>
                                              <p:pRg st="14" end="14"/>
                                            </p:txEl>
                                          </p:spTgt>
                                        </p:tgtEl>
                                        <p:attrNameLst>
                                          <p:attrName>style.visibility</p:attrName>
                                        </p:attrNameLst>
                                      </p:cBhvr>
                                      <p:to>
                                        <p:strVal val="visible"/>
                                      </p:to>
                                    </p:set>
                                    <p:animEffect transition="in" filter="blinds(horizontal)">
                                      <p:cBhvr>
                                        <p:cTn id="41" dur="500"/>
                                        <p:tgtEl>
                                          <p:spTgt spid="748546">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Exercise</a:t>
            </a:r>
            <a:endParaRPr lang="zh-CN" altLang="en-US" dirty="0"/>
          </a:p>
        </p:txBody>
      </p:sp>
      <p:sp>
        <p:nvSpPr>
          <p:cNvPr id="3" name="内容占位符 2"/>
          <p:cNvSpPr>
            <a:spLocks noGrp="1"/>
          </p:cNvSpPr>
          <p:nvPr>
            <p:ph idx="1"/>
          </p:nvPr>
        </p:nvSpPr>
        <p:spPr/>
        <p:txBody>
          <a:bodyPr>
            <a:normAutofit/>
          </a:bodyPr>
          <a:lstStyle/>
          <a:p>
            <a:r>
              <a:rPr lang="en-US" altLang="zh-CN" sz="2000" dirty="0"/>
              <a:t>Some people think that it is necessary to save money for the life after retirement</a:t>
            </a:r>
            <a:r>
              <a:rPr lang="en-US" altLang="zh-CN" sz="2000" dirty="0" smtClean="0"/>
              <a:t>. To </a:t>
            </a:r>
            <a:r>
              <a:rPr lang="en-US" altLang="zh-CN" sz="2000" dirty="0"/>
              <a:t>what extent do you agree or disagree</a:t>
            </a:r>
            <a:r>
              <a:rPr lang="zh-CN" altLang="en-US" sz="2000" dirty="0"/>
              <a:t>？</a:t>
            </a:r>
          </a:p>
        </p:txBody>
      </p:sp>
    </p:spTree>
    <p:extLst>
      <p:ext uri="{BB962C8B-B14F-4D97-AF65-F5344CB8AC3E}">
        <p14:creationId xmlns:p14="http://schemas.microsoft.com/office/powerpoint/2010/main" val="1272270315"/>
      </p:ext>
    </p:extLst>
  </p:cSld>
  <p:clrMapOvr>
    <a:masterClrMapping/>
  </p:clrMapOvr>
  <p:transition>
    <p:fade/>
  </p:transition>
</p:sld>
</file>

<file path=ppt/theme/theme1.xml><?xml version="1.0" encoding="utf-8"?>
<a:theme xmlns:a="http://schemas.openxmlformats.org/drawingml/2006/main" name="通用_蓝">
  <a:themeElements>
    <a:clrScheme name="通用_蓝 13">
      <a:dk1>
        <a:srgbClr val="000000"/>
      </a:dk1>
      <a:lt1>
        <a:srgbClr val="FFFFFF"/>
      </a:lt1>
      <a:dk2>
        <a:srgbClr val="FFFFFF"/>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通用_蓝">
      <a:majorFont>
        <a:latin typeface="Arial"/>
        <a:ea typeface="隶书"/>
        <a:cs typeface=""/>
      </a:majorFont>
      <a:minorFont>
        <a:latin typeface="Arial"/>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通用_蓝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通用_蓝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通用_蓝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通用_蓝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通用_蓝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通用_蓝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通用_蓝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通用_蓝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通用_蓝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通用_蓝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通用_蓝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通用_蓝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通用_蓝 13">
        <a:dk1>
          <a:srgbClr val="000000"/>
        </a:dk1>
        <a:lt1>
          <a:srgbClr val="FFFFFF"/>
        </a:lt1>
        <a:dk2>
          <a:srgbClr val="FFFFFF"/>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通用_蓝">
  <a:themeElements>
    <a:clrScheme name="1_通用_蓝 13">
      <a:dk1>
        <a:srgbClr val="000000"/>
      </a:dk1>
      <a:lt1>
        <a:srgbClr val="FFFFFF"/>
      </a:lt1>
      <a:dk2>
        <a:srgbClr val="FFFFFF"/>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通用_蓝">
      <a:majorFont>
        <a:latin typeface="Arial"/>
        <a:ea typeface="隶书"/>
        <a:cs typeface=""/>
      </a:majorFont>
      <a:minorFont>
        <a:latin typeface="Arial"/>
        <a:ea typeface="华文新魏"/>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通用_蓝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通用_蓝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通用_蓝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通用_蓝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通用_蓝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通用_蓝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通用_蓝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通用_蓝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通用_蓝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通用_蓝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通用_蓝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通用_蓝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通用_蓝 13">
        <a:dk1>
          <a:srgbClr val="000000"/>
        </a:dk1>
        <a:lt1>
          <a:srgbClr val="FFFFFF"/>
        </a:lt1>
        <a:dk2>
          <a:srgbClr val="FFFFFF"/>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平面">
  <a:themeElements>
    <a:clrScheme name="平面">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平面">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平面">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蓝白</Template>
  <TotalTime>607</TotalTime>
  <Words>4859</Words>
  <Application>Microsoft Office PowerPoint</Application>
  <PresentationFormat>全屏显示(4:3)</PresentationFormat>
  <Paragraphs>496</Paragraphs>
  <Slides>81</Slides>
  <Notes>1</Notes>
  <HiddenSlides>0</HiddenSlides>
  <MMClips>0</MMClips>
  <ScaleCrop>false</ScaleCrop>
  <HeadingPairs>
    <vt:vector size="6" baseType="variant">
      <vt:variant>
        <vt:lpstr>已用的字体</vt:lpstr>
      </vt:variant>
      <vt:variant>
        <vt:i4>14</vt:i4>
      </vt:variant>
      <vt:variant>
        <vt:lpstr>主题</vt:lpstr>
      </vt:variant>
      <vt:variant>
        <vt:i4>3</vt:i4>
      </vt:variant>
      <vt:variant>
        <vt:lpstr>幻灯片标题</vt:lpstr>
      </vt:variant>
      <vt:variant>
        <vt:i4>81</vt:i4>
      </vt:variant>
    </vt:vector>
  </HeadingPairs>
  <TitlesOfParts>
    <vt:vector size="98" baseType="lpstr">
      <vt:lpstr>方正姚体</vt:lpstr>
      <vt:lpstr>华文楷体</vt:lpstr>
      <vt:lpstr>华文新魏</vt:lpstr>
      <vt:lpstr>楷体_GB2312</vt:lpstr>
      <vt:lpstr>隶书</vt:lpstr>
      <vt:lpstr>宋体</vt:lpstr>
      <vt:lpstr>Arial</vt:lpstr>
      <vt:lpstr>Calibri</vt:lpstr>
      <vt:lpstr>Cambria</vt:lpstr>
      <vt:lpstr>Courier New</vt:lpstr>
      <vt:lpstr>Times New Roman</vt:lpstr>
      <vt:lpstr>Trebuchet MS</vt:lpstr>
      <vt:lpstr>Wingdings 2</vt:lpstr>
      <vt:lpstr>Wingdings 3</vt:lpstr>
      <vt:lpstr>通用_蓝</vt:lpstr>
      <vt:lpstr>1_通用_蓝</vt:lpstr>
      <vt:lpstr>平面</vt:lpstr>
      <vt:lpstr>英语应用文写作</vt:lpstr>
      <vt:lpstr> </vt:lpstr>
      <vt:lpstr> </vt:lpstr>
      <vt:lpstr>第一讲 写作基础知识 (Basic Writing Skills)</vt:lpstr>
      <vt:lpstr>What could be filled in the blanks?</vt:lpstr>
      <vt:lpstr> </vt:lpstr>
      <vt:lpstr> </vt:lpstr>
      <vt:lpstr> </vt:lpstr>
      <vt:lpstr>What elements could be predictive （表语）?</vt:lpstr>
      <vt:lpstr> </vt:lpstr>
      <vt:lpstr> </vt:lpstr>
      <vt:lpstr> </vt:lpstr>
      <vt:lpstr>Exercise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同步练习</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（3）用词多样化</vt:lpstr>
      <vt:lpstr>PS 英语写作过渡性词语大全 </vt:lpstr>
      <vt:lpstr>PowerPoint 演示文稿</vt:lpstr>
      <vt:lpstr>PowerPoint 演示文稿</vt:lpstr>
      <vt:lpstr>支持句与主题句关系</vt:lpstr>
      <vt:lpstr> </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主题句与支持句之间的过渡词 </vt:lpstr>
      <vt:lpstr> </vt:lpstr>
      <vt:lpstr>PowerPoint 演示文稿</vt:lpstr>
      <vt:lpstr>PowerPoint 演示文稿</vt:lpstr>
      <vt:lpstr>PowerPoint 演示文稿</vt:lpstr>
      <vt:lpstr>PowerPoint 演示文稿</vt:lpstr>
      <vt:lpstr>PowerPoint 演示文稿</vt:lpstr>
      <vt:lpstr> </vt:lpstr>
      <vt:lpstr>PowerPoint 演示文稿</vt:lpstr>
      <vt:lpstr>篇章中的过渡句</vt:lpstr>
      <vt:lpstr> </vt:lpstr>
      <vt:lpstr> </vt:lpstr>
      <vt:lpstr> </vt:lpstr>
      <vt:lpstr> </vt:lpstr>
      <vt:lpstr> </vt:lpstr>
      <vt:lpstr> </vt:lpstr>
      <vt:lpstr> </vt:lpstr>
      <vt:lpstr>3.列提纲（Making an Outline）</vt:lpstr>
      <vt:lpstr>PowerPoint 演示文稿</vt:lpstr>
      <vt:lpstr>Exercise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英语应用文写作</dc:title>
  <dc:creator>dzy</dc:creator>
  <cp:lastModifiedBy>admin</cp:lastModifiedBy>
  <cp:revision>101</cp:revision>
  <dcterms:created xsi:type="dcterms:W3CDTF">2015-09-06T05:50:00Z</dcterms:created>
  <dcterms:modified xsi:type="dcterms:W3CDTF">2022-08-08T18:49:13Z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9DD2B47CAF8F46A58583CF19BAF09F01</vt:lpwstr>
  </property>
  <property fmtid="{D5CDD505-2E9C-101B-9397-08002B2CF9AE}" pid="3" name="KSOProductBuildVer">
    <vt:lpwstr>2052-11.1.0.10356</vt:lpwstr>
  </property>
</Properties>
</file>