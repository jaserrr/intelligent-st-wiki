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1112" r:id="rId2"/>
    <p:sldId id="1113" r:id="rId3"/>
    <p:sldId id="1114" r:id="rId4"/>
    <p:sldId id="1115" r:id="rId5"/>
    <p:sldId id="887" r:id="rId6"/>
    <p:sldId id="888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95" d="100"/>
          <a:sy n="95" d="100"/>
        </p:scale>
        <p:origin x="1435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ED5C5-849B-4EB6-A30F-6B8053798786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4D5AC-5D07-4888-9033-3D334F217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033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据不完全统计，现有的颜色命名已经有</a:t>
            </a:r>
            <a:r>
              <a:rPr lang="en-US" altLang="zh-CN" dirty="0"/>
              <a:t>1300</a:t>
            </a:r>
            <a:r>
              <a:rPr lang="zh-CN" altLang="en-US" dirty="0"/>
              <a:t>多种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即神经元和颜色名字是“多对多”关系。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很有很多比如</a:t>
            </a:r>
            <a:r>
              <a:rPr lang="en-US" altLang="zh-CN" dirty="0"/>
              <a:t>``</a:t>
            </a:r>
            <a:r>
              <a:rPr lang="zh-CN" altLang="en-US" dirty="0"/>
              <a:t>红色</a:t>
            </a:r>
            <a:r>
              <a:rPr lang="en-US" altLang="zh-CN" dirty="0"/>
              <a:t>''</a:t>
            </a:r>
            <a:r>
              <a:rPr lang="zh-CN" altLang="en-US" dirty="0"/>
              <a:t>、</a:t>
            </a:r>
            <a:r>
              <a:rPr lang="en-US" altLang="zh-CN" dirty="0"/>
              <a:t>``</a:t>
            </a:r>
            <a:r>
              <a:rPr lang="zh-CN" altLang="en-US" dirty="0"/>
              <a:t>白色</a:t>
            </a:r>
            <a:r>
              <a:rPr lang="en-US" altLang="zh-CN" dirty="0"/>
              <a:t>''</a:t>
            </a:r>
            <a:r>
              <a:rPr lang="zh-CN" altLang="en-US" dirty="0"/>
              <a:t>、</a:t>
            </a:r>
            <a:r>
              <a:rPr lang="en-US" altLang="zh-CN" dirty="0"/>
              <a:t>``</a:t>
            </a:r>
            <a:r>
              <a:rPr lang="zh-CN" altLang="en-US" dirty="0"/>
              <a:t>黑色</a:t>
            </a:r>
            <a:r>
              <a:rPr lang="en-US" altLang="zh-CN" dirty="0"/>
              <a:t>''</a:t>
            </a:r>
            <a:r>
              <a:rPr lang="zh-CN" altLang="en-US" dirty="0"/>
              <a:t>、</a:t>
            </a:r>
            <a:r>
              <a:rPr lang="en-US" altLang="zh-CN" dirty="0"/>
              <a:t>``</a:t>
            </a:r>
            <a:r>
              <a:rPr lang="zh-CN" altLang="en-US" dirty="0"/>
              <a:t>绿色</a:t>
            </a:r>
            <a:r>
              <a:rPr lang="en-US" altLang="zh-CN" dirty="0"/>
              <a:t>''</a:t>
            </a:r>
            <a:r>
              <a:rPr lang="zh-CN" altLang="en-US" dirty="0"/>
              <a:t>，还有以地区或物品命名的，比如“中国红”、“普鲁士蓝”、“咖啡色”、“奶油色”等等。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4C119E0-CEE4-4FF8-83B2-DC856A2C17C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867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/>
          <p:nvPr/>
        </p:nvSpPr>
        <p:spPr>
          <a:xfrm>
            <a:off x="749300" y="2438402"/>
            <a:ext cx="7315200" cy="1956197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eaLnBrk="1" hangingPunct="1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5" name="Rectangle 11"/>
          <p:cNvSpPr/>
          <p:nvPr/>
        </p:nvSpPr>
        <p:spPr>
          <a:xfrm>
            <a:off x="228600" y="673895"/>
            <a:ext cx="5410200" cy="719623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eaLnBrk="1" hangingPunct="1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6" name="Rectangle 14"/>
          <p:cNvSpPr/>
          <p:nvPr/>
        </p:nvSpPr>
        <p:spPr>
          <a:xfrm>
            <a:off x="749300" y="2438402"/>
            <a:ext cx="228600" cy="1956197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eaLnBrk="1" hangingPunct="1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7" name="Rectangle 15"/>
          <p:cNvSpPr/>
          <p:nvPr/>
        </p:nvSpPr>
        <p:spPr>
          <a:xfrm>
            <a:off x="269854" y="665099"/>
            <a:ext cx="140865" cy="73123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eaLnBrk="1" hangingPunct="1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063625" y="2676526"/>
            <a:ext cx="6858000" cy="1514475"/>
          </a:xfrm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22254" y="726666"/>
            <a:ext cx="5140347" cy="568735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2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/>
          </p:nvPr>
        </p:nvSpPr>
        <p:spPr>
          <a:xfrm>
            <a:off x="2209801" y="4800600"/>
            <a:ext cx="5053013" cy="16002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774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/>
          <p:nvPr/>
        </p:nvSpPr>
        <p:spPr>
          <a:xfrm>
            <a:off x="749300" y="2438402"/>
            <a:ext cx="7315200" cy="1956197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eaLnBrk="1" hangingPunct="1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6" name="Rectangle 14"/>
          <p:cNvSpPr/>
          <p:nvPr/>
        </p:nvSpPr>
        <p:spPr>
          <a:xfrm>
            <a:off x="749300" y="2438402"/>
            <a:ext cx="228600" cy="1956197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eaLnBrk="1" hangingPunct="1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063625" y="2676526"/>
            <a:ext cx="6858000" cy="1514475"/>
          </a:xfrm>
        </p:spPr>
        <p:txBody>
          <a:bodyPr anchor="ctr"/>
          <a:lstStyle>
            <a:lvl1pPr algn="ctr"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532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 sz="1600"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037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282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5769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Tex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724400" cy="49377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34000" y="1219200"/>
            <a:ext cx="0" cy="4937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67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739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657600" y="3048002"/>
            <a:ext cx="2286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华文楷体" panose="02010600040101010101" pitchFamily="2" charset="-122"/>
                <a:ea typeface="华文楷体" panose="02010600040101010101" pitchFamily="2" charset="-122"/>
              </a:rPr>
              <a:t>谢  谢</a:t>
            </a:r>
            <a:endParaRPr lang="en-US" altLang="zh-CN" sz="3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155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52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6"/>
          <p:cNvCxnSpPr/>
          <p:nvPr userDrawn="1"/>
        </p:nvCxnSpPr>
        <p:spPr>
          <a:xfrm rot="5400000" flipH="1" flipV="1">
            <a:off x="0" y="1143000"/>
            <a:ext cx="158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7"/>
          <p:cNvCxnSpPr/>
          <p:nvPr userDrawn="1"/>
        </p:nvCxnSpPr>
        <p:spPr>
          <a:xfrm>
            <a:off x="457200" y="6248400"/>
            <a:ext cx="82296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8"/>
          <p:cNvCxnSpPr/>
          <p:nvPr userDrawn="1"/>
        </p:nvCxnSpPr>
        <p:spPr>
          <a:xfrm>
            <a:off x="457200" y="1143000"/>
            <a:ext cx="82296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>
            <a:lvl1pPr>
              <a:defRPr sz="4000" b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844E894-8770-4AD3-8E28-2B9217F35471}" type="datetimeFigureOut">
              <a:rPr lang="en-US" altLang="zh-CN"/>
              <a:pPr>
                <a:defRPr/>
              </a:pPr>
              <a:t>12/20/2025</a:t>
            </a:fld>
            <a:endParaRPr lang="en-GB" altLang="zh-CN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810CA-226C-4D12-BEE1-0B23AFEBC346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402665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32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Straight Connector 27"/>
          <p:cNvSpPr>
            <a:spLocks noChangeShapeType="1"/>
          </p:cNvSpPr>
          <p:nvPr userDrawn="1"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sz="1400">
              <a:latin typeface="+mn-ea"/>
              <a:ea typeface="+mn-ea"/>
            </a:endParaRPr>
          </a:p>
        </p:txBody>
      </p:sp>
      <p:sp>
        <p:nvSpPr>
          <p:cNvPr id="16" name="Footer Placeholder 2"/>
          <p:cNvSpPr txBox="1">
            <a:spLocks/>
          </p:cNvSpPr>
          <p:nvPr userDrawn="1"/>
        </p:nvSpPr>
        <p:spPr>
          <a:xfrm>
            <a:off x="3048000" y="6362436"/>
            <a:ext cx="2971800" cy="365125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2"/>
                </a:solidFill>
                <a:latin typeface="Cambria" panose="020405030504060302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zh-CN" altLang="en-US" sz="1400" dirty="0">
                <a:latin typeface="+mn-ea"/>
                <a:ea typeface="+mn-ea"/>
              </a:rPr>
              <a:t>神经网络与深度学习</a:t>
            </a:r>
            <a:endParaRPr lang="zh-CN" altLang="zh-CN" sz="1400" dirty="0">
              <a:latin typeface="+mn-ea"/>
              <a:ea typeface="+mn-ea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457200" y="6362436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+mn-ea"/>
                <a:ea typeface="+mn-ea"/>
              </a:rPr>
              <a:t>邱锡鹏，复旦大学</a:t>
            </a:r>
            <a:endParaRPr lang="zh-CN" altLang="en-US" sz="1400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8229600" y="6362436"/>
            <a:ext cx="3754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fld id="{7A0AC270-0923-4589-A51D-6091E7C5371F}" type="slidenum">
              <a:rPr lang="zh-CN" altLang="en-US" sz="1400" kern="1200" smtClean="0">
                <a:solidFill>
                  <a:schemeClr val="tx2"/>
                </a:solidFill>
                <a:latin typeface="+mn-ea"/>
                <a:ea typeface="+mn-ea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US" altLang="zh-CN" sz="1400" kern="1200" dirty="0">
              <a:solidFill>
                <a:schemeClr val="tx2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22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Calibri" panose="020F0502020204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Calibri" panose="020F0502020204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Calibri" panose="020F0502020204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Calibri" panose="020F0502020204030204" pitchFamily="34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alibri" panose="020F0502020204030204" pitchFamily="34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alibri" panose="020F0502020204030204" pitchFamily="34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alibri" panose="020F0502020204030204" pitchFamily="34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marL="204788" indent="-204788" algn="l" rtl="0" eaLnBrk="0" fontAlgn="base" hangingPunct="0">
        <a:spcBef>
          <a:spcPts val="45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lang="en-US" altLang="zh-CN" sz="3200" kern="1200" dirty="0" smtClean="0">
          <a:solidFill>
            <a:schemeClr val="tx2"/>
          </a:solidFill>
          <a:latin typeface="+mn-ea"/>
          <a:ea typeface="+mn-ea"/>
          <a:cs typeface="Arial" panose="020B0604020202020204" pitchFamily="34" charset="0"/>
        </a:defRPr>
      </a:lvl1pPr>
      <a:lvl2pPr marL="410766" indent="-204788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2800" kern="1200">
          <a:solidFill>
            <a:schemeClr val="tx2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616744" indent="-171450" algn="l" rtl="0" eaLnBrk="0" fontAlgn="base" hangingPunct="0">
        <a:spcBef>
          <a:spcPts val="375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28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822722" indent="-171450" algn="l" rtl="0" eaLnBrk="0" fontAlgn="base" hangingPunct="0">
        <a:spcBef>
          <a:spcPts val="300"/>
        </a:spcBef>
        <a:spcAft>
          <a:spcPct val="0"/>
        </a:spcAft>
        <a:buClr>
          <a:srgbClr val="CF5716"/>
        </a:buClr>
        <a:buSzPct val="70000"/>
        <a:buFont typeface="Wingdings" panose="05000000000000000000" pitchFamily="2" charset="2"/>
        <a:buChar char=""/>
        <a:defRPr sz="20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1028700" indent="-171450" algn="l" rtl="0" eaLnBrk="0" fontAlgn="base" hangingPunct="0">
        <a:spcBef>
          <a:spcPts val="225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8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1234440" indent="-137160" algn="l" rtl="0" eaLnBrk="1" latinLnBrk="0" hangingPunct="1">
        <a:spcBef>
          <a:spcPts val="225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137160" algn="l" rtl="0" eaLnBrk="1" latinLnBrk="0" hangingPunct="1">
        <a:spcBef>
          <a:spcPts val="225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37160" algn="l" rtl="0" eaLnBrk="1" latinLnBrk="0" hangingPunct="1">
        <a:spcBef>
          <a:spcPts val="225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37160" algn="l" rtl="0" eaLnBrk="1" latinLnBrk="0" hangingPunct="1">
        <a:spcBef>
          <a:spcPts val="225"/>
        </a:spcBef>
        <a:buClr>
          <a:srgbClr val="9FB8CD"/>
        </a:buClr>
        <a:buSzPct val="75000"/>
        <a:buFont typeface="Wingdings 3"/>
        <a:buChar char=""/>
        <a:defRPr kumimoji="0" lang="en-US" sz="9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cs231n.stanford.edu/" TargetMode="External"/><Relationship Id="rId2" Type="http://schemas.openxmlformats.org/officeDocument/2006/relationships/hyperlink" Target="http://cs224d.stanford.edu/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未来研究方向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任意结构网络</a:t>
            </a:r>
          </a:p>
          <a:p>
            <a:r>
              <a:rPr lang="zh-CN" altLang="en-US" dirty="0"/>
              <a:t>非监督学习（如何评价？）</a:t>
            </a:r>
          </a:p>
          <a:p>
            <a:r>
              <a:rPr lang="zh-CN" altLang="en-US" dirty="0"/>
              <a:t>长期依赖问题</a:t>
            </a:r>
          </a:p>
          <a:p>
            <a:r>
              <a:rPr lang="zh-CN" altLang="en-US" dirty="0"/>
              <a:t>自然语言理解和推理</a:t>
            </a:r>
          </a:p>
          <a:p>
            <a:r>
              <a:rPr lang="zh-CN" altLang="en-US" dirty="0"/>
              <a:t>优化</a:t>
            </a:r>
          </a:p>
          <a:p>
            <a:r>
              <a:rPr lang="zh-CN" altLang="en-US" dirty="0"/>
              <a:t>分布式训练、专用硬件</a:t>
            </a:r>
          </a:p>
          <a:p>
            <a:r>
              <a:rPr lang="zh-CN" altLang="en-US" dirty="0"/>
              <a:t>生物学</a:t>
            </a:r>
          </a:p>
          <a:p>
            <a:r>
              <a:rPr lang="zh-CN" altLang="en-US" dirty="0"/>
              <a:t>深度增强学习</a:t>
            </a:r>
          </a:p>
        </p:txBody>
      </p:sp>
      <p:sp>
        <p:nvSpPr>
          <p:cNvPr id="4" name="矩形 3"/>
          <p:cNvSpPr/>
          <p:nvPr/>
        </p:nvSpPr>
        <p:spPr>
          <a:xfrm>
            <a:off x="3200400" y="5616376"/>
            <a:ext cx="5486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4A75"/>
                </a:solidFill>
                <a:effectLst/>
                <a:uLnTx/>
                <a:uFillTx/>
                <a:latin typeface="Arial" panose="020B0604020202020204" pitchFamily="34" charset="0"/>
                <a:ea typeface="华文楷体"/>
                <a:cs typeface="Arial" panose="020B0604020202020204" pitchFamily="34" charset="0"/>
              </a:rPr>
              <a:t>参考：Geoff Hinton, Yoshua Bengio, Yann LeCun, NIPS 2015 Deep	Learning Tutorial</a:t>
            </a:r>
          </a:p>
        </p:txBody>
      </p:sp>
    </p:spTree>
    <p:extLst>
      <p:ext uri="{BB962C8B-B14F-4D97-AF65-F5344CB8AC3E}">
        <p14:creationId xmlns:p14="http://schemas.microsoft.com/office/powerpoint/2010/main" val="3204621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推荐课程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CS224d: Deep Learning for Natural Language Processing</a:t>
            </a:r>
          </a:p>
          <a:p>
            <a:pPr lvl="1"/>
            <a:r>
              <a:rPr lang="en-US" altLang="zh-CN" dirty="0">
                <a:hlinkClick r:id="rId2"/>
              </a:rPr>
              <a:t>http://cs224d.stanford.edu/</a:t>
            </a:r>
            <a:endParaRPr lang="en-US" altLang="zh-CN" dirty="0"/>
          </a:p>
          <a:p>
            <a:pPr lvl="1"/>
            <a:r>
              <a:rPr lang="zh-CN" altLang="en-US" dirty="0"/>
              <a:t>斯坦福大学 </a:t>
            </a:r>
            <a:r>
              <a:rPr lang="en-US" altLang="zh-CN" dirty="0"/>
              <a:t>Richard </a:t>
            </a:r>
            <a:r>
              <a:rPr lang="en-US" altLang="zh-CN" dirty="0" err="1"/>
              <a:t>Socher</a:t>
            </a:r>
            <a:endParaRPr lang="en-US" altLang="zh-CN" dirty="0"/>
          </a:p>
          <a:p>
            <a:pPr lvl="1"/>
            <a:r>
              <a:rPr lang="zh-CN" altLang="en-US" dirty="0"/>
              <a:t>主要讲解自然语言处理领域的各种深度学习模型</a:t>
            </a:r>
            <a:endParaRPr lang="en-US" altLang="zh-CN" dirty="0"/>
          </a:p>
          <a:p>
            <a:r>
              <a:rPr lang="en-US" altLang="zh-CN" dirty="0"/>
              <a:t>CS231n:Convolutional Neural Networks for Visual Recognition</a:t>
            </a:r>
          </a:p>
          <a:p>
            <a:pPr lvl="1"/>
            <a:r>
              <a:rPr lang="en-US" altLang="zh-CN" dirty="0">
                <a:hlinkClick r:id="rId3"/>
              </a:rPr>
              <a:t>http://cs231n.stanford.edu/</a:t>
            </a:r>
            <a:endParaRPr lang="en-US" altLang="zh-CN" dirty="0"/>
          </a:p>
          <a:p>
            <a:pPr lvl="1"/>
            <a:r>
              <a:rPr lang="zh-CN" altLang="en-US" dirty="0"/>
              <a:t>斯坦福大学 </a:t>
            </a:r>
            <a:r>
              <a:rPr lang="en-US" altLang="zh-CN" dirty="0" err="1"/>
              <a:t>Fei-Fei</a:t>
            </a:r>
            <a:r>
              <a:rPr lang="en-US" altLang="zh-CN" dirty="0"/>
              <a:t> Li Andrej </a:t>
            </a:r>
            <a:r>
              <a:rPr lang="en-US" altLang="zh-CN" dirty="0" err="1"/>
              <a:t>Karpathy</a:t>
            </a:r>
            <a:endParaRPr lang="en-US" altLang="zh-CN" dirty="0"/>
          </a:p>
          <a:p>
            <a:pPr lvl="1"/>
            <a:r>
              <a:rPr lang="zh-CN" altLang="en-US" dirty="0"/>
              <a:t>主要讲解</a:t>
            </a:r>
            <a:r>
              <a:rPr lang="en-US" altLang="zh-CN" dirty="0"/>
              <a:t>CNN</a:t>
            </a:r>
            <a:r>
              <a:rPr lang="zh-CN" altLang="en-US" dirty="0"/>
              <a:t>、</a:t>
            </a:r>
            <a:r>
              <a:rPr lang="en-US" altLang="zh-CN" dirty="0"/>
              <a:t>RNN</a:t>
            </a:r>
            <a:r>
              <a:rPr lang="zh-CN" altLang="en-US" dirty="0"/>
              <a:t>在图像领域的应用</a:t>
            </a:r>
          </a:p>
        </p:txBody>
      </p:sp>
    </p:spTree>
    <p:extLst>
      <p:ext uri="{BB962C8B-B14F-4D97-AF65-F5344CB8AC3E}">
        <p14:creationId xmlns:p14="http://schemas.microsoft.com/office/powerpoint/2010/main" val="3908829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推荐配置（</a:t>
            </a:r>
            <a:r>
              <a:rPr lang="en-US" altLang="zh-CN" dirty="0"/>
              <a:t>4</a:t>
            </a:r>
            <a:r>
              <a:rPr lang="zh-CN" altLang="en-US" dirty="0"/>
              <a:t>卡）</a:t>
            </a:r>
          </a:p>
        </p:txBody>
      </p:sp>
      <p:graphicFrame>
        <p:nvGraphicFramePr>
          <p:cNvPr id="9" name="内容占位符 8"/>
          <p:cNvGraphicFramePr>
            <a:graphicFrameLocks noGrp="1"/>
          </p:cNvGraphicFramePr>
          <p:nvPr>
            <p:ph sz="quarter" idx="1"/>
          </p:nvPr>
        </p:nvGraphicFramePr>
        <p:xfrm>
          <a:off x="228600" y="2057404"/>
          <a:ext cx="8763000" cy="412813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1804390177"/>
                    </a:ext>
                  </a:extLst>
                </a:gridCol>
                <a:gridCol w="4807886">
                  <a:extLst>
                    <a:ext uri="{9D8B030D-6E8A-4147-A177-3AD203B41FA5}">
                      <a16:colId xmlns:a16="http://schemas.microsoft.com/office/drawing/2014/main" val="599502209"/>
                    </a:ext>
                  </a:extLst>
                </a:gridCol>
                <a:gridCol w="724589">
                  <a:extLst>
                    <a:ext uri="{9D8B030D-6E8A-4147-A177-3AD203B41FA5}">
                      <a16:colId xmlns:a16="http://schemas.microsoft.com/office/drawing/2014/main" val="1119916478"/>
                    </a:ext>
                  </a:extLst>
                </a:gridCol>
                <a:gridCol w="747232">
                  <a:extLst>
                    <a:ext uri="{9D8B030D-6E8A-4147-A177-3AD203B41FA5}">
                      <a16:colId xmlns:a16="http://schemas.microsoft.com/office/drawing/2014/main" val="2234515948"/>
                    </a:ext>
                  </a:extLst>
                </a:gridCol>
                <a:gridCol w="883093">
                  <a:extLst>
                    <a:ext uri="{9D8B030D-6E8A-4147-A177-3AD203B41FA5}">
                      <a16:colId xmlns:a16="http://schemas.microsoft.com/office/drawing/2014/main" val="4643357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品名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规格配置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数量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单价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总价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363784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机箱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Carbide Series® Air 540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800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800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63457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CPU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英特尔 酷睿</a:t>
                      </a:r>
                      <a:r>
                        <a:rPr lang="en-US" sz="2400" u="none" strike="noStrike" dirty="0">
                          <a:effectLst/>
                        </a:rPr>
                        <a:t>i7 5960X </a:t>
                      </a:r>
                      <a:r>
                        <a:rPr lang="zh-CN" altLang="en-US" sz="2400" u="none" strike="noStrike" dirty="0">
                          <a:effectLst/>
                        </a:rPr>
                        <a:t>八核</a:t>
                      </a:r>
                      <a:r>
                        <a:rPr lang="en-US" sz="2400" u="none" strike="noStrike" dirty="0">
                          <a:effectLst/>
                        </a:rPr>
                        <a:t>X99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7609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7609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71045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主板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Asus X99-E WS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4400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</a:rPr>
                        <a:t>4400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73252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内存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16GB DDR4ECC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8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1499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11992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471589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硬盘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</a:rPr>
                        <a:t>3</a:t>
                      </a:r>
                      <a:r>
                        <a:rPr lang="en-US" sz="2400" u="none" strike="noStrike" dirty="0">
                          <a:effectLst/>
                        </a:rPr>
                        <a:t>TB 7200</a:t>
                      </a:r>
                      <a:r>
                        <a:rPr lang="zh-CN" altLang="en-US" sz="2400" u="none" strike="noStrike" dirty="0">
                          <a:effectLst/>
                        </a:rPr>
                        <a:t>转</a:t>
                      </a:r>
                      <a:r>
                        <a:rPr lang="en-US" altLang="zh-CN" sz="2400" u="none" strike="noStrike" dirty="0">
                          <a:effectLst/>
                        </a:rPr>
                        <a:t>64</a:t>
                      </a:r>
                      <a:r>
                        <a:rPr lang="en-US" sz="2400" u="none" strike="noStrike" dirty="0">
                          <a:effectLst/>
                        </a:rPr>
                        <a:t>M SATA3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2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620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1240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90207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电源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海盗船（</a:t>
                      </a:r>
                      <a:r>
                        <a:rPr lang="en-US" sz="2400" u="none" strike="noStrike" dirty="0">
                          <a:effectLst/>
                        </a:rPr>
                        <a:t>CORSAIR） AX1500i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3500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3500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93568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GPU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</a:rPr>
                        <a:t>1080</a:t>
                      </a:r>
                      <a:r>
                        <a:rPr lang="en-US" sz="2400" u="none" strike="noStrike" dirty="0">
                          <a:effectLst/>
                        </a:rPr>
                        <a:t>Ti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4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6000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24000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1063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固态硬盘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512GB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</a:rPr>
                        <a:t>1000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</a:rPr>
                        <a:t>1000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344506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风扇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九州风神 </a:t>
                      </a:r>
                      <a:r>
                        <a:rPr lang="en-US" sz="2400" u="none" strike="noStrike" dirty="0">
                          <a:effectLst/>
                        </a:rPr>
                        <a:t>captain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1299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1299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160348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</a:rPr>
                        <a:t>55840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30939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788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推荐配置（</a:t>
            </a:r>
            <a:r>
              <a:rPr lang="en-US" altLang="zh-CN" dirty="0"/>
              <a:t>8</a:t>
            </a:r>
            <a:r>
              <a:rPr lang="zh-CN" altLang="en-US" dirty="0"/>
              <a:t>卡）</a:t>
            </a:r>
          </a:p>
        </p:txBody>
      </p:sp>
      <p:graphicFrame>
        <p:nvGraphicFramePr>
          <p:cNvPr id="11" name="内容占位符 10"/>
          <p:cNvGraphicFramePr>
            <a:graphicFrameLocks noGrp="1"/>
          </p:cNvGraphicFramePr>
          <p:nvPr>
            <p:ph sz="quarter" idx="1"/>
          </p:nvPr>
        </p:nvGraphicFramePr>
        <p:xfrm>
          <a:off x="457200" y="1828800"/>
          <a:ext cx="8001000" cy="4419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6922916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18612314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13982862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61423969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05609505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品名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型号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数量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单价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合计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63018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服务器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超微</a:t>
                      </a:r>
                      <a:r>
                        <a:rPr lang="en-US" altLang="zh-CN" sz="2400" u="none" strike="noStrike">
                          <a:effectLst/>
                        </a:rPr>
                        <a:t>4028</a:t>
                      </a:r>
                      <a:r>
                        <a:rPr lang="zh-CN" altLang="en-US" sz="2400" u="none" strike="noStrike">
                          <a:effectLst/>
                        </a:rPr>
                        <a:t>准系统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</a:rPr>
                        <a:t>1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32000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32000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392775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CPU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至强 </a:t>
                      </a:r>
                      <a:r>
                        <a:rPr lang="en-US" sz="2400" u="none" strike="noStrike" dirty="0">
                          <a:effectLst/>
                        </a:rPr>
                        <a:t>E5 2640 V4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</a:rPr>
                        <a:t>2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5100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10200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129214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>
                          <a:effectLst/>
                        </a:rPr>
                        <a:t>内存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</a:rPr>
                        <a:t>64</a:t>
                      </a:r>
                      <a:r>
                        <a:rPr lang="en-US" sz="2400" u="none" strike="noStrike" dirty="0">
                          <a:effectLst/>
                        </a:rPr>
                        <a:t>G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</a:rPr>
                        <a:t>4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</a:rPr>
                        <a:t>3700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14800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59258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u="none" strike="noStrike" dirty="0">
                          <a:effectLst/>
                        </a:rPr>
                        <a:t>固态硬盘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512G SATA3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</a:rPr>
                        <a:t>1000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1000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53926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硬盘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 </a:t>
                      </a:r>
                      <a:r>
                        <a:rPr lang="en-US" altLang="zh-CN" sz="2400" u="none" strike="noStrike" dirty="0">
                          <a:effectLst/>
                        </a:rPr>
                        <a:t>3</a:t>
                      </a:r>
                      <a:r>
                        <a:rPr lang="en-US" sz="2400" u="none" strike="noStrike" dirty="0">
                          <a:effectLst/>
                        </a:rPr>
                        <a:t>TB SATA3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2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</a:rPr>
                        <a:t>620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1240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12743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GPU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</a:rPr>
                        <a:t>1080</a:t>
                      </a:r>
                      <a:r>
                        <a:rPr lang="en-US" sz="2400" u="none" strike="noStrike" dirty="0">
                          <a:effectLst/>
                        </a:rPr>
                        <a:t>Ti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8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</a:rPr>
                        <a:t>6000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</a:rPr>
                        <a:t>48000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1236185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合计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</a:rPr>
                        <a:t>107240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00060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8799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语言表示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如何在计算机中表示语言的语义？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2688634" y="3464004"/>
            <a:ext cx="204383" cy="387191"/>
          </a:xfrm>
          <a:prstGeom prst="roundRect">
            <a:avLst/>
          </a:prstGeom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4A75"/>
              </a:solidFill>
              <a:effectLst/>
              <a:uLnTx/>
              <a:uFillTx/>
              <a:latin typeface="Arial" panose="020B0604020202020204" pitchFamily="34" charset="0"/>
              <a:ea typeface="华文楷体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76400" y="3200400"/>
            <a:ext cx="1828800" cy="101566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华文楷体"/>
                <a:cs typeface="+mn-cs"/>
              </a:rPr>
              <a:t>知识库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华文楷体"/>
                <a:cs typeface="+mn-cs"/>
              </a:rPr>
              <a:t>规则</a:t>
            </a:r>
          </a:p>
        </p:txBody>
      </p:sp>
      <p:sp>
        <p:nvSpPr>
          <p:cNvPr id="8" name="矩形 7"/>
          <p:cNvSpPr/>
          <p:nvPr/>
        </p:nvSpPr>
        <p:spPr>
          <a:xfrm>
            <a:off x="4876800" y="3431231"/>
            <a:ext cx="2571750" cy="55399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华文楷体"/>
                <a:cs typeface="+mn-cs"/>
              </a:rPr>
              <a:t>分布式表示</a:t>
            </a:r>
          </a:p>
        </p:txBody>
      </p:sp>
      <p:sp>
        <p:nvSpPr>
          <p:cNvPr id="10" name="右箭头 9"/>
          <p:cNvSpPr/>
          <p:nvPr/>
        </p:nvSpPr>
        <p:spPr>
          <a:xfrm>
            <a:off x="3905251" y="3396407"/>
            <a:ext cx="742949" cy="733663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4A75"/>
              </a:solidFill>
              <a:effectLst/>
              <a:uLnTx/>
              <a:uFillTx/>
              <a:latin typeface="Helvetica"/>
              <a:ea typeface="华文楷体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682197" y="4578652"/>
            <a:ext cx="4004603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A4A75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压缩、低维、稠密向量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2A4A75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A4A75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A4A75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O(N)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A4A75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个参数表示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A4A75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 O(2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2A4A75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k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A4A75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A4A75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区间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2A4A75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2A4A75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k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A4A75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为非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2A4A75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A4A75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参数，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2A4A75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k&lt;N</a:t>
            </a:r>
          </a:p>
        </p:txBody>
      </p:sp>
    </p:spTree>
    <p:extLst>
      <p:ext uri="{BB962C8B-B14F-4D97-AF65-F5344CB8AC3E}">
        <p14:creationId xmlns:p14="http://schemas.microsoft.com/office/powerpoint/2010/main" val="420574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10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一个生活中的例子：颜色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52400" y="1904570"/>
          <a:ext cx="5410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085">
                  <a:extLst>
                    <a:ext uri="{9D8B030D-6E8A-4147-A177-3AD203B41FA5}">
                      <a16:colId xmlns:a16="http://schemas.microsoft.com/office/drawing/2014/main" val="2608911729"/>
                    </a:ext>
                  </a:extLst>
                </a:gridCol>
                <a:gridCol w="3465115">
                  <a:extLst>
                    <a:ext uri="{9D8B030D-6E8A-4147-A177-3AD203B41FA5}">
                      <a16:colId xmlns:a16="http://schemas.microsoft.com/office/drawing/2014/main" val="3817116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/>
                        <a:t>命名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RGB</a:t>
                      </a:r>
                      <a:r>
                        <a:rPr lang="zh-CN" altLang="en-US" sz="3600" dirty="0"/>
                        <a:t>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48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/>
                        <a:t>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[1,0,0]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13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/>
                        <a:t>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[0,1,0]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441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600" dirty="0"/>
                        <a:t>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[0,0,1]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839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/>
                        <a:t>中国红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[0.67, 0.22, 0.12]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255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/>
                        <a:t>咖啡色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dirty="0"/>
                        <a:t>[0.64, 0.16,0.16]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627544"/>
                  </a:ext>
                </a:extLst>
              </a:tr>
            </a:tbl>
          </a:graphicData>
        </a:graphic>
      </p:graphicFrame>
      <p:pic>
        <p:nvPicPr>
          <p:cNvPr id="1026" name="Picture 2" descr="“rgb”的图片搜索结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74578" y="2052917"/>
            <a:ext cx="3355975" cy="290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0634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qxp">
      <a:dk1>
        <a:srgbClr val="2A4A75"/>
      </a:dk1>
      <a:lt1>
        <a:sysClr val="window" lastClr="FFFFFF"/>
      </a:lt1>
      <a:dk2>
        <a:srgbClr val="2A4A75"/>
      </a:dk2>
      <a:lt2>
        <a:srgbClr val="DEF5FA"/>
      </a:lt2>
      <a:accent1>
        <a:srgbClr val="1C314E"/>
      </a:accent1>
      <a:accent2>
        <a:srgbClr val="EB641B"/>
      </a:accent2>
      <a:accent3>
        <a:srgbClr val="DA1F28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qxp">
      <a:majorFont>
        <a:latin typeface="Helvetica"/>
        <a:ea typeface="微软雅黑"/>
        <a:cs typeface=""/>
      </a:majorFont>
      <a:minorFont>
        <a:latin typeface="Helvetica"/>
        <a:ea typeface="华文楷体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/>
      <a:bodyPr wrap="none">
        <a:spAutoFit/>
      </a:bodyPr>
      <a:lstStyle>
        <a:defPPr>
          <a:defRPr sz="2400" dirty="0"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386</Words>
  <Application>Microsoft Office PowerPoint</Application>
  <PresentationFormat>全屏显示(4:3)</PresentationFormat>
  <Paragraphs>137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等线</vt:lpstr>
      <vt:lpstr>华文楷体</vt:lpstr>
      <vt:lpstr>华文细黑</vt:lpstr>
      <vt:lpstr>宋体</vt:lpstr>
      <vt:lpstr>微软雅黑</vt:lpstr>
      <vt:lpstr>微软雅黑 Light</vt:lpstr>
      <vt:lpstr>Arial</vt:lpstr>
      <vt:lpstr>Calibri</vt:lpstr>
      <vt:lpstr>Cambria</vt:lpstr>
      <vt:lpstr>Helvetica</vt:lpstr>
      <vt:lpstr>Wingdings</vt:lpstr>
      <vt:lpstr>Wingdings 3</vt:lpstr>
      <vt:lpstr>Origin</vt:lpstr>
      <vt:lpstr>未来研究方向</vt:lpstr>
      <vt:lpstr>推荐课程</vt:lpstr>
      <vt:lpstr>推荐配置（4卡）</vt:lpstr>
      <vt:lpstr>推荐配置（8卡）</vt:lpstr>
      <vt:lpstr>语言表示</vt:lpstr>
      <vt:lpstr>一个生活中的例子：颜色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Qiu Xipeng</dc:creator>
  <cp:lastModifiedBy>Shiro Arisu</cp:lastModifiedBy>
  <cp:revision>2</cp:revision>
  <dcterms:created xsi:type="dcterms:W3CDTF">2019-04-12T04:15:30Z</dcterms:created>
  <dcterms:modified xsi:type="dcterms:W3CDTF">2025-12-20T13:35:15Z</dcterms:modified>
</cp:coreProperties>
</file>