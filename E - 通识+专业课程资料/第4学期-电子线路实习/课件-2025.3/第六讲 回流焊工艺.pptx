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sldIdLst>
    <p:sldId id="256" r:id="rId2"/>
    <p:sldId id="257" r:id="rId3"/>
    <p:sldId id="258" r:id="rId4"/>
    <p:sldId id="262" r:id="rId5"/>
    <p:sldId id="261" r:id="rId6"/>
    <p:sldId id="270" r:id="rId7"/>
    <p:sldId id="272" r:id="rId8"/>
    <p:sldId id="269" r:id="rId9"/>
    <p:sldId id="260" r:id="rId10"/>
    <p:sldId id="259" r:id="rId11"/>
    <p:sldId id="267" r:id="rId12"/>
    <p:sldId id="268" r:id="rId13"/>
    <p:sldId id="263" r:id="rId14"/>
    <p:sldId id="264" r:id="rId15"/>
    <p:sldId id="271" r:id="rId16"/>
    <p:sldId id="265" r:id="rId17"/>
    <p:sldId id="266"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9938AB9-AE76-44B4-8355-AE66DB0EFCC0}">
          <p14:sldIdLst>
            <p14:sldId id="256"/>
            <p14:sldId id="257"/>
            <p14:sldId id="258"/>
            <p14:sldId id="262"/>
            <p14:sldId id="261"/>
            <p14:sldId id="270"/>
            <p14:sldId id="272"/>
            <p14:sldId id="269"/>
            <p14:sldId id="260"/>
            <p14:sldId id="259"/>
            <p14:sldId id="267"/>
            <p14:sldId id="268"/>
            <p14:sldId id="263"/>
            <p14:sldId id="264"/>
            <p14:sldId id="271"/>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60" y="5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8AC9B4-6A26-0F4F-0CF4-0C006ACB1FA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38FF677-ABE2-E8D4-36F3-D17BEE7ABE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10D1D71-393E-6282-1A0B-B0C5E7DCB41B}"/>
              </a:ext>
            </a:extLst>
          </p:cNvPr>
          <p:cNvSpPr>
            <a:spLocks noGrp="1"/>
          </p:cNvSpPr>
          <p:nvPr>
            <p:ph type="dt" sz="half" idx="10"/>
          </p:nvPr>
        </p:nvSpPr>
        <p:spPr/>
        <p:txBody>
          <a:bodyPr/>
          <a:lstStyle/>
          <a:p>
            <a:fld id="{CDBC8DFE-8EC3-4E3D-B6F2-1C05EE14442E}"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id="{DDB834B2-D34F-D47B-7A49-271870C4BBC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F190D9-8F64-CB7B-7BCE-43DE4E5178E4}"/>
              </a:ext>
            </a:extLst>
          </p:cNvPr>
          <p:cNvSpPr>
            <a:spLocks noGrp="1"/>
          </p:cNvSpPr>
          <p:nvPr>
            <p:ph type="sldNum" sz="quarter" idx="12"/>
          </p:nvPr>
        </p:nvSpPr>
        <p:spPr/>
        <p:txBody>
          <a:bodyPr/>
          <a:lstStyle/>
          <a:p>
            <a:fld id="{7C1AFB4A-AE55-44E1-BBA4-1C0727D54F12}" type="slidenum">
              <a:rPr lang="zh-CN" altLang="en-US" smtClean="0"/>
              <a:t>‹#›</a:t>
            </a:fld>
            <a:endParaRPr lang="zh-CN" altLang="en-US"/>
          </a:p>
        </p:txBody>
      </p:sp>
    </p:spTree>
    <p:extLst>
      <p:ext uri="{BB962C8B-B14F-4D97-AF65-F5344CB8AC3E}">
        <p14:creationId xmlns:p14="http://schemas.microsoft.com/office/powerpoint/2010/main" val="2677775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4AAA60-60A7-CBBF-5B31-9F6655D7080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7E24F4-5D70-BEED-F795-0B83678C99D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1618642-88BA-F1E9-E4AC-AFF05DA5A351}"/>
              </a:ext>
            </a:extLst>
          </p:cNvPr>
          <p:cNvSpPr>
            <a:spLocks noGrp="1"/>
          </p:cNvSpPr>
          <p:nvPr>
            <p:ph type="dt" sz="half" idx="10"/>
          </p:nvPr>
        </p:nvSpPr>
        <p:spPr/>
        <p:txBody>
          <a:bodyPr/>
          <a:lstStyle/>
          <a:p>
            <a:fld id="{CDBC8DFE-8EC3-4E3D-B6F2-1C05EE14442E}"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id="{AAE8AD6C-A5BF-9DE6-4445-5B69A64E3F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A4178FE-33C1-20E7-1AB3-B57C721A3F22}"/>
              </a:ext>
            </a:extLst>
          </p:cNvPr>
          <p:cNvSpPr>
            <a:spLocks noGrp="1"/>
          </p:cNvSpPr>
          <p:nvPr>
            <p:ph type="sldNum" sz="quarter" idx="12"/>
          </p:nvPr>
        </p:nvSpPr>
        <p:spPr/>
        <p:txBody>
          <a:bodyPr/>
          <a:lstStyle/>
          <a:p>
            <a:fld id="{7C1AFB4A-AE55-44E1-BBA4-1C0727D54F12}" type="slidenum">
              <a:rPr lang="zh-CN" altLang="en-US" smtClean="0"/>
              <a:t>‹#›</a:t>
            </a:fld>
            <a:endParaRPr lang="zh-CN" altLang="en-US"/>
          </a:p>
        </p:txBody>
      </p:sp>
    </p:spTree>
    <p:extLst>
      <p:ext uri="{BB962C8B-B14F-4D97-AF65-F5344CB8AC3E}">
        <p14:creationId xmlns:p14="http://schemas.microsoft.com/office/powerpoint/2010/main" val="3151639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E14B34-A1D0-9233-101F-9893D4B5503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31AADD4-7536-B78F-0C45-49B726643A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6F89544-9F54-E910-E301-0E15B6B1A47E}"/>
              </a:ext>
            </a:extLst>
          </p:cNvPr>
          <p:cNvSpPr>
            <a:spLocks noGrp="1"/>
          </p:cNvSpPr>
          <p:nvPr>
            <p:ph type="dt" sz="half" idx="10"/>
          </p:nvPr>
        </p:nvSpPr>
        <p:spPr/>
        <p:txBody>
          <a:bodyPr/>
          <a:lstStyle/>
          <a:p>
            <a:fld id="{CDBC8DFE-8EC3-4E3D-B6F2-1C05EE14442E}"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id="{4C620C53-E8A0-FE5F-F710-1FC0FF6FD1F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DF012FA-D291-A985-104E-7A5CD29815F2}"/>
              </a:ext>
            </a:extLst>
          </p:cNvPr>
          <p:cNvSpPr>
            <a:spLocks noGrp="1"/>
          </p:cNvSpPr>
          <p:nvPr>
            <p:ph type="sldNum" sz="quarter" idx="12"/>
          </p:nvPr>
        </p:nvSpPr>
        <p:spPr/>
        <p:txBody>
          <a:bodyPr/>
          <a:lstStyle/>
          <a:p>
            <a:fld id="{7C1AFB4A-AE55-44E1-BBA4-1C0727D54F12}" type="slidenum">
              <a:rPr lang="zh-CN" altLang="en-US" smtClean="0"/>
              <a:t>‹#›</a:t>
            </a:fld>
            <a:endParaRPr lang="zh-CN" altLang="en-US"/>
          </a:p>
        </p:txBody>
      </p:sp>
    </p:spTree>
    <p:extLst>
      <p:ext uri="{BB962C8B-B14F-4D97-AF65-F5344CB8AC3E}">
        <p14:creationId xmlns:p14="http://schemas.microsoft.com/office/powerpoint/2010/main" val="2117653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502B2E-9D41-05EE-6F2C-F381B5EFA54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9437924-35F1-8C31-96E4-221EAB01121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09A3BB0-18B6-BA38-81B1-2CAE614E50A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90EEB4A-5012-6A9E-1326-074A52D38216}"/>
              </a:ext>
            </a:extLst>
          </p:cNvPr>
          <p:cNvSpPr>
            <a:spLocks noGrp="1"/>
          </p:cNvSpPr>
          <p:nvPr>
            <p:ph type="dt" sz="half" idx="10"/>
          </p:nvPr>
        </p:nvSpPr>
        <p:spPr/>
        <p:txBody>
          <a:bodyPr/>
          <a:lstStyle/>
          <a:p>
            <a:fld id="{CDBC8DFE-8EC3-4E3D-B6F2-1C05EE14442E}" type="datetimeFigureOut">
              <a:rPr lang="zh-CN" altLang="en-US" smtClean="0"/>
              <a:t>2022/11/7</a:t>
            </a:fld>
            <a:endParaRPr lang="zh-CN" altLang="en-US"/>
          </a:p>
        </p:txBody>
      </p:sp>
      <p:sp>
        <p:nvSpPr>
          <p:cNvPr id="6" name="页脚占位符 5">
            <a:extLst>
              <a:ext uri="{FF2B5EF4-FFF2-40B4-BE49-F238E27FC236}">
                <a16:creationId xmlns:a16="http://schemas.microsoft.com/office/drawing/2014/main" id="{29FA07BC-282C-A272-3D36-03EB816A796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5C39E7A-2042-7FC2-A053-3DC0764F7C9D}"/>
              </a:ext>
            </a:extLst>
          </p:cNvPr>
          <p:cNvSpPr>
            <a:spLocks noGrp="1"/>
          </p:cNvSpPr>
          <p:nvPr>
            <p:ph type="sldNum" sz="quarter" idx="12"/>
          </p:nvPr>
        </p:nvSpPr>
        <p:spPr/>
        <p:txBody>
          <a:bodyPr/>
          <a:lstStyle/>
          <a:p>
            <a:fld id="{7C1AFB4A-AE55-44E1-BBA4-1C0727D54F12}" type="slidenum">
              <a:rPr lang="zh-CN" altLang="en-US" smtClean="0"/>
              <a:t>‹#›</a:t>
            </a:fld>
            <a:endParaRPr lang="zh-CN" altLang="en-US"/>
          </a:p>
        </p:txBody>
      </p:sp>
    </p:spTree>
    <p:extLst>
      <p:ext uri="{BB962C8B-B14F-4D97-AF65-F5344CB8AC3E}">
        <p14:creationId xmlns:p14="http://schemas.microsoft.com/office/powerpoint/2010/main" val="1033085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BDFE-0BE5-A37D-66A2-E604BBB6D26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789E677-F646-4598-B6F8-A62F969D4D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0DB3555-6287-DCDB-F9A7-93B9F670D01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0DDBCEB-F6A4-DB1D-98DC-10D98AA79C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5266572-7495-733F-7B9E-E23250A86B0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6B504F5-2FAB-F713-728A-B7AD25F19628}"/>
              </a:ext>
            </a:extLst>
          </p:cNvPr>
          <p:cNvSpPr>
            <a:spLocks noGrp="1"/>
          </p:cNvSpPr>
          <p:nvPr>
            <p:ph type="dt" sz="half" idx="10"/>
          </p:nvPr>
        </p:nvSpPr>
        <p:spPr/>
        <p:txBody>
          <a:bodyPr/>
          <a:lstStyle/>
          <a:p>
            <a:fld id="{CDBC8DFE-8EC3-4E3D-B6F2-1C05EE14442E}" type="datetimeFigureOut">
              <a:rPr lang="zh-CN" altLang="en-US" smtClean="0"/>
              <a:t>2022/11/7</a:t>
            </a:fld>
            <a:endParaRPr lang="zh-CN" altLang="en-US"/>
          </a:p>
        </p:txBody>
      </p:sp>
      <p:sp>
        <p:nvSpPr>
          <p:cNvPr id="8" name="页脚占位符 7">
            <a:extLst>
              <a:ext uri="{FF2B5EF4-FFF2-40B4-BE49-F238E27FC236}">
                <a16:creationId xmlns:a16="http://schemas.microsoft.com/office/drawing/2014/main" id="{DC0083E9-6226-6457-1433-3DD893098F3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3167635-C29F-B3EE-5EE2-42B3B0255916}"/>
              </a:ext>
            </a:extLst>
          </p:cNvPr>
          <p:cNvSpPr>
            <a:spLocks noGrp="1"/>
          </p:cNvSpPr>
          <p:nvPr>
            <p:ph type="sldNum" sz="quarter" idx="12"/>
          </p:nvPr>
        </p:nvSpPr>
        <p:spPr/>
        <p:txBody>
          <a:bodyPr/>
          <a:lstStyle/>
          <a:p>
            <a:fld id="{7C1AFB4A-AE55-44E1-BBA4-1C0727D54F12}" type="slidenum">
              <a:rPr lang="zh-CN" altLang="en-US" smtClean="0"/>
              <a:t>‹#›</a:t>
            </a:fld>
            <a:endParaRPr lang="zh-CN" altLang="en-US"/>
          </a:p>
        </p:txBody>
      </p:sp>
    </p:spTree>
    <p:extLst>
      <p:ext uri="{BB962C8B-B14F-4D97-AF65-F5344CB8AC3E}">
        <p14:creationId xmlns:p14="http://schemas.microsoft.com/office/powerpoint/2010/main" val="2030732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EE2B27-D295-9781-EAAB-ECC62C8B0EE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D67C7BC-35C1-07A5-2B6B-F44704124510}"/>
              </a:ext>
            </a:extLst>
          </p:cNvPr>
          <p:cNvSpPr>
            <a:spLocks noGrp="1"/>
          </p:cNvSpPr>
          <p:nvPr>
            <p:ph type="dt" sz="half" idx="10"/>
          </p:nvPr>
        </p:nvSpPr>
        <p:spPr/>
        <p:txBody>
          <a:bodyPr/>
          <a:lstStyle/>
          <a:p>
            <a:fld id="{CDBC8DFE-8EC3-4E3D-B6F2-1C05EE14442E}" type="datetimeFigureOut">
              <a:rPr lang="zh-CN" altLang="en-US" smtClean="0"/>
              <a:t>2022/11/7</a:t>
            </a:fld>
            <a:endParaRPr lang="zh-CN" altLang="en-US"/>
          </a:p>
        </p:txBody>
      </p:sp>
      <p:sp>
        <p:nvSpPr>
          <p:cNvPr id="4" name="页脚占位符 3">
            <a:extLst>
              <a:ext uri="{FF2B5EF4-FFF2-40B4-BE49-F238E27FC236}">
                <a16:creationId xmlns:a16="http://schemas.microsoft.com/office/drawing/2014/main" id="{D38D18AF-CCB7-3E8A-E110-EB15EFAF86B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1C9E0F2-7087-F0EE-0902-DD59B86740CD}"/>
              </a:ext>
            </a:extLst>
          </p:cNvPr>
          <p:cNvSpPr>
            <a:spLocks noGrp="1"/>
          </p:cNvSpPr>
          <p:nvPr>
            <p:ph type="sldNum" sz="quarter" idx="12"/>
          </p:nvPr>
        </p:nvSpPr>
        <p:spPr/>
        <p:txBody>
          <a:bodyPr/>
          <a:lstStyle/>
          <a:p>
            <a:fld id="{7C1AFB4A-AE55-44E1-BBA4-1C0727D54F12}" type="slidenum">
              <a:rPr lang="zh-CN" altLang="en-US" smtClean="0"/>
              <a:t>‹#›</a:t>
            </a:fld>
            <a:endParaRPr lang="zh-CN" altLang="en-US"/>
          </a:p>
        </p:txBody>
      </p:sp>
    </p:spTree>
    <p:extLst>
      <p:ext uri="{BB962C8B-B14F-4D97-AF65-F5344CB8AC3E}">
        <p14:creationId xmlns:p14="http://schemas.microsoft.com/office/powerpoint/2010/main" val="2509909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004C976-E9AF-6F5B-B7DC-46E577C082FC}"/>
              </a:ext>
            </a:extLst>
          </p:cNvPr>
          <p:cNvSpPr>
            <a:spLocks noGrp="1"/>
          </p:cNvSpPr>
          <p:nvPr>
            <p:ph type="dt" sz="half" idx="10"/>
          </p:nvPr>
        </p:nvSpPr>
        <p:spPr/>
        <p:txBody>
          <a:bodyPr/>
          <a:lstStyle/>
          <a:p>
            <a:fld id="{CDBC8DFE-8EC3-4E3D-B6F2-1C05EE14442E}" type="datetimeFigureOut">
              <a:rPr lang="zh-CN" altLang="en-US" smtClean="0"/>
              <a:t>2022/11/7</a:t>
            </a:fld>
            <a:endParaRPr lang="zh-CN" altLang="en-US"/>
          </a:p>
        </p:txBody>
      </p:sp>
      <p:sp>
        <p:nvSpPr>
          <p:cNvPr id="3" name="页脚占位符 2">
            <a:extLst>
              <a:ext uri="{FF2B5EF4-FFF2-40B4-BE49-F238E27FC236}">
                <a16:creationId xmlns:a16="http://schemas.microsoft.com/office/drawing/2014/main" id="{3C3C3211-DD63-DC97-94AE-41924953CDC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F03DD8D-8DBF-5946-B6E2-78CA6CDD1C20}"/>
              </a:ext>
            </a:extLst>
          </p:cNvPr>
          <p:cNvSpPr>
            <a:spLocks noGrp="1"/>
          </p:cNvSpPr>
          <p:nvPr>
            <p:ph type="sldNum" sz="quarter" idx="12"/>
          </p:nvPr>
        </p:nvSpPr>
        <p:spPr/>
        <p:txBody>
          <a:bodyPr/>
          <a:lstStyle/>
          <a:p>
            <a:fld id="{7C1AFB4A-AE55-44E1-BBA4-1C0727D54F12}" type="slidenum">
              <a:rPr lang="zh-CN" altLang="en-US" smtClean="0"/>
              <a:t>‹#›</a:t>
            </a:fld>
            <a:endParaRPr lang="zh-CN" altLang="en-US"/>
          </a:p>
        </p:txBody>
      </p:sp>
    </p:spTree>
    <p:extLst>
      <p:ext uri="{BB962C8B-B14F-4D97-AF65-F5344CB8AC3E}">
        <p14:creationId xmlns:p14="http://schemas.microsoft.com/office/powerpoint/2010/main" val="341670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B6878-D209-2F01-DCDE-586E0DD01C6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32C38D-C4A8-7B32-C6E8-23013AA81C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10558FA-3CB2-5829-530B-AD02287C50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B2020AA-CB3D-5BA0-35DD-7E59672B3274}"/>
              </a:ext>
            </a:extLst>
          </p:cNvPr>
          <p:cNvSpPr>
            <a:spLocks noGrp="1"/>
          </p:cNvSpPr>
          <p:nvPr>
            <p:ph type="dt" sz="half" idx="10"/>
          </p:nvPr>
        </p:nvSpPr>
        <p:spPr/>
        <p:txBody>
          <a:bodyPr/>
          <a:lstStyle/>
          <a:p>
            <a:fld id="{CDBC8DFE-8EC3-4E3D-B6F2-1C05EE14442E}" type="datetimeFigureOut">
              <a:rPr lang="zh-CN" altLang="en-US" smtClean="0"/>
              <a:t>2022/11/7</a:t>
            </a:fld>
            <a:endParaRPr lang="zh-CN" altLang="en-US"/>
          </a:p>
        </p:txBody>
      </p:sp>
      <p:sp>
        <p:nvSpPr>
          <p:cNvPr id="6" name="页脚占位符 5">
            <a:extLst>
              <a:ext uri="{FF2B5EF4-FFF2-40B4-BE49-F238E27FC236}">
                <a16:creationId xmlns:a16="http://schemas.microsoft.com/office/drawing/2014/main" id="{07BA6B43-A6E6-B62C-3E1F-C77023668AF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F2BD8F9-A26B-D9B1-028D-19B070BE164F}"/>
              </a:ext>
            </a:extLst>
          </p:cNvPr>
          <p:cNvSpPr>
            <a:spLocks noGrp="1"/>
          </p:cNvSpPr>
          <p:nvPr>
            <p:ph type="sldNum" sz="quarter" idx="12"/>
          </p:nvPr>
        </p:nvSpPr>
        <p:spPr/>
        <p:txBody>
          <a:bodyPr/>
          <a:lstStyle/>
          <a:p>
            <a:fld id="{7C1AFB4A-AE55-44E1-BBA4-1C0727D54F12}" type="slidenum">
              <a:rPr lang="zh-CN" altLang="en-US" smtClean="0"/>
              <a:t>‹#›</a:t>
            </a:fld>
            <a:endParaRPr lang="zh-CN" altLang="en-US"/>
          </a:p>
        </p:txBody>
      </p:sp>
    </p:spTree>
    <p:extLst>
      <p:ext uri="{BB962C8B-B14F-4D97-AF65-F5344CB8AC3E}">
        <p14:creationId xmlns:p14="http://schemas.microsoft.com/office/powerpoint/2010/main" val="3323406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500BB-51D6-7874-AC3C-C49BFA0EFA7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344A051-29B1-84AE-C930-55C6841CB9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AE731AE-683B-3C70-1079-32C5DD578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2FA4C73-5213-4F3B-E3F6-14A55039816C}"/>
              </a:ext>
            </a:extLst>
          </p:cNvPr>
          <p:cNvSpPr>
            <a:spLocks noGrp="1"/>
          </p:cNvSpPr>
          <p:nvPr>
            <p:ph type="dt" sz="half" idx="10"/>
          </p:nvPr>
        </p:nvSpPr>
        <p:spPr/>
        <p:txBody>
          <a:bodyPr/>
          <a:lstStyle/>
          <a:p>
            <a:fld id="{CDBC8DFE-8EC3-4E3D-B6F2-1C05EE14442E}" type="datetimeFigureOut">
              <a:rPr lang="zh-CN" altLang="en-US" smtClean="0"/>
              <a:t>2022/11/7</a:t>
            </a:fld>
            <a:endParaRPr lang="zh-CN" altLang="en-US"/>
          </a:p>
        </p:txBody>
      </p:sp>
      <p:sp>
        <p:nvSpPr>
          <p:cNvPr id="6" name="页脚占位符 5">
            <a:extLst>
              <a:ext uri="{FF2B5EF4-FFF2-40B4-BE49-F238E27FC236}">
                <a16:creationId xmlns:a16="http://schemas.microsoft.com/office/drawing/2014/main" id="{4AFBFE88-3579-C946-1FCE-5E7EBAFC702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82FCF2-41E2-5CE7-6C4B-D1AFBF28E069}"/>
              </a:ext>
            </a:extLst>
          </p:cNvPr>
          <p:cNvSpPr>
            <a:spLocks noGrp="1"/>
          </p:cNvSpPr>
          <p:nvPr>
            <p:ph type="sldNum" sz="quarter" idx="12"/>
          </p:nvPr>
        </p:nvSpPr>
        <p:spPr/>
        <p:txBody>
          <a:bodyPr/>
          <a:lstStyle/>
          <a:p>
            <a:fld id="{7C1AFB4A-AE55-44E1-BBA4-1C0727D54F12}" type="slidenum">
              <a:rPr lang="zh-CN" altLang="en-US" smtClean="0"/>
              <a:t>‹#›</a:t>
            </a:fld>
            <a:endParaRPr lang="zh-CN" altLang="en-US"/>
          </a:p>
        </p:txBody>
      </p:sp>
    </p:spTree>
    <p:extLst>
      <p:ext uri="{BB962C8B-B14F-4D97-AF65-F5344CB8AC3E}">
        <p14:creationId xmlns:p14="http://schemas.microsoft.com/office/powerpoint/2010/main" val="3843144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667223-BD96-B1BD-C74F-FBC7EB3E0F4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7415D80-EAEA-3AF4-B7EF-A5D6F1737D6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E87A31-17F7-9DF1-6D80-0FE5EC159D22}"/>
              </a:ext>
            </a:extLst>
          </p:cNvPr>
          <p:cNvSpPr>
            <a:spLocks noGrp="1"/>
          </p:cNvSpPr>
          <p:nvPr>
            <p:ph type="dt" sz="half" idx="10"/>
          </p:nvPr>
        </p:nvSpPr>
        <p:spPr/>
        <p:txBody>
          <a:bodyPr/>
          <a:lstStyle/>
          <a:p>
            <a:fld id="{CDBC8DFE-8EC3-4E3D-B6F2-1C05EE14442E}"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id="{1D02FCE7-5FE4-37D7-29D6-7D039D3FCA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E772BC1-12FF-D2FF-109C-DE99A7723709}"/>
              </a:ext>
            </a:extLst>
          </p:cNvPr>
          <p:cNvSpPr>
            <a:spLocks noGrp="1"/>
          </p:cNvSpPr>
          <p:nvPr>
            <p:ph type="sldNum" sz="quarter" idx="12"/>
          </p:nvPr>
        </p:nvSpPr>
        <p:spPr/>
        <p:txBody>
          <a:bodyPr/>
          <a:lstStyle/>
          <a:p>
            <a:fld id="{7C1AFB4A-AE55-44E1-BBA4-1C0727D54F12}" type="slidenum">
              <a:rPr lang="zh-CN" altLang="en-US" smtClean="0"/>
              <a:t>‹#›</a:t>
            </a:fld>
            <a:endParaRPr lang="zh-CN" altLang="en-US"/>
          </a:p>
        </p:txBody>
      </p:sp>
    </p:spTree>
    <p:extLst>
      <p:ext uri="{BB962C8B-B14F-4D97-AF65-F5344CB8AC3E}">
        <p14:creationId xmlns:p14="http://schemas.microsoft.com/office/powerpoint/2010/main" val="80472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B9FC0DA-3FAF-FCDD-8C08-E5E1B4D4F30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A6173BB-2706-A655-0412-68CBDD7FF22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E420384-2F4D-8F45-41FD-162F2E0A9A93}"/>
              </a:ext>
            </a:extLst>
          </p:cNvPr>
          <p:cNvSpPr>
            <a:spLocks noGrp="1"/>
          </p:cNvSpPr>
          <p:nvPr>
            <p:ph type="dt" sz="half" idx="10"/>
          </p:nvPr>
        </p:nvSpPr>
        <p:spPr/>
        <p:txBody>
          <a:bodyPr/>
          <a:lstStyle/>
          <a:p>
            <a:fld id="{CDBC8DFE-8EC3-4E3D-B6F2-1C05EE14442E}"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id="{C7313195-4E06-9962-5924-0A4E371899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D8AC4E2-C282-DDF3-46F8-2AA2E5AAE4A9}"/>
              </a:ext>
            </a:extLst>
          </p:cNvPr>
          <p:cNvSpPr>
            <a:spLocks noGrp="1"/>
          </p:cNvSpPr>
          <p:nvPr>
            <p:ph type="sldNum" sz="quarter" idx="12"/>
          </p:nvPr>
        </p:nvSpPr>
        <p:spPr/>
        <p:txBody>
          <a:bodyPr/>
          <a:lstStyle/>
          <a:p>
            <a:fld id="{7C1AFB4A-AE55-44E1-BBA4-1C0727D54F12}" type="slidenum">
              <a:rPr lang="zh-CN" altLang="en-US" smtClean="0"/>
              <a:t>‹#›</a:t>
            </a:fld>
            <a:endParaRPr lang="zh-CN" altLang="en-US"/>
          </a:p>
        </p:txBody>
      </p:sp>
    </p:spTree>
    <p:extLst>
      <p:ext uri="{BB962C8B-B14F-4D97-AF65-F5344CB8AC3E}">
        <p14:creationId xmlns:p14="http://schemas.microsoft.com/office/powerpoint/2010/main" val="618275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971A481-764A-8959-63E1-5CBB383ED8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EC73B93-BCC3-B75F-B8C9-F97180F16D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CC25285-1FA1-2F40-4D05-47F43F870F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BC8DFE-8EC3-4E3D-B6F2-1C05EE14442E}"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id="{1E6C5DDD-5542-8277-334A-824657CD7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A45F9FA-CAF0-A87D-2ECE-208DFFE4F6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1AFB4A-AE55-44E1-BBA4-1C0727D54F12}" type="slidenum">
              <a:rPr lang="zh-CN" altLang="en-US" smtClean="0"/>
              <a:t>‹#›</a:t>
            </a:fld>
            <a:endParaRPr lang="zh-CN" altLang="en-US"/>
          </a:p>
        </p:txBody>
      </p:sp>
    </p:spTree>
    <p:extLst>
      <p:ext uri="{BB962C8B-B14F-4D97-AF65-F5344CB8AC3E}">
        <p14:creationId xmlns:p14="http://schemas.microsoft.com/office/powerpoint/2010/main" val="1956441428"/>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baike.baidu.com/item/%E6%8E%A5%E8%A7%A6%E5%9E%AB/5475195" TargetMode="External"/><Relationship Id="rId2" Type="http://schemas.openxmlformats.org/officeDocument/2006/relationships/hyperlink" Target="https://baike.baidu.com/item/%E7%84%8A%E8%86%8F/7414662" TargetMode="External"/><Relationship Id="rId1" Type="http://schemas.openxmlformats.org/officeDocument/2006/relationships/slideLayout" Target="../slideLayouts/slideLayout2.xml"/><Relationship Id="rId4" Type="http://schemas.openxmlformats.org/officeDocument/2006/relationships/hyperlink" Target="https://baike.baidu.com/item/%E7%84%8A%E6%96%99/5510699"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baike.baidu.com/item/AOI" TargetMode="External"/><Relationship Id="rId2" Type="http://schemas.openxmlformats.org/officeDocument/2006/relationships/hyperlink" Target="https://baike.baidu.com/item/%E5%9B%9E%E6%B5%81%E7%84%8A"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hyperlink" Target="https://baike.baidu.com/item/555%E8%AE%A1%E6%97%B6%E5%99%A8/9881965"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A85CB-5293-32A9-18C8-4D932E35FCFD}"/>
              </a:ext>
            </a:extLst>
          </p:cNvPr>
          <p:cNvSpPr>
            <a:spLocks noGrp="1"/>
          </p:cNvSpPr>
          <p:nvPr>
            <p:ph type="ctrTitle"/>
          </p:nvPr>
        </p:nvSpPr>
        <p:spPr/>
        <p:txBody>
          <a:bodyPr/>
          <a:lstStyle/>
          <a:p>
            <a:r>
              <a:rPr lang="zh-CN" altLang="en-US" dirty="0"/>
              <a:t>回流焊工艺</a:t>
            </a:r>
          </a:p>
        </p:txBody>
      </p:sp>
      <p:sp>
        <p:nvSpPr>
          <p:cNvPr id="3" name="副标题 2">
            <a:extLst>
              <a:ext uri="{FF2B5EF4-FFF2-40B4-BE49-F238E27FC236}">
                <a16:creationId xmlns:a16="http://schemas.microsoft.com/office/drawing/2014/main" id="{5456C15B-3F33-2FFA-C30A-4755EE654354}"/>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4120596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22CFC6-8E72-A682-472C-30D5B21E050A}"/>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CF489354-ECC6-401D-1E16-4635B2948573}"/>
              </a:ext>
            </a:extLst>
          </p:cNvPr>
          <p:cNvSpPr>
            <a:spLocks noGrp="1"/>
          </p:cNvSpPr>
          <p:nvPr>
            <p:ph idx="1"/>
          </p:nvPr>
        </p:nvSpPr>
        <p:spPr/>
        <p:txBody>
          <a:bodyPr>
            <a:normAutofit/>
          </a:bodyPr>
          <a:lstStyle/>
          <a:p>
            <a:r>
              <a:rPr lang="zh-CN" altLang="en-US" dirty="0"/>
              <a:t>一、回流焊定义</a:t>
            </a:r>
            <a:endParaRPr lang="en-US" altLang="zh-CN" dirty="0"/>
          </a:p>
          <a:p>
            <a:r>
              <a:rPr lang="zh-CN" altLang="en-US" dirty="0"/>
              <a:t>二、回流焊原理</a:t>
            </a:r>
            <a:endParaRPr lang="en-US" altLang="zh-CN" dirty="0"/>
          </a:p>
          <a:p>
            <a:r>
              <a:rPr lang="zh-CN" altLang="en-US" dirty="0"/>
              <a:t>三、回流焊工艺特点</a:t>
            </a:r>
            <a:endParaRPr lang="en-US" altLang="zh-CN" dirty="0"/>
          </a:p>
          <a:p>
            <a:r>
              <a:rPr lang="zh-CN" altLang="en-US" dirty="0"/>
              <a:t>五、实验内容</a:t>
            </a:r>
            <a:r>
              <a:rPr lang="en-US" altLang="zh-CN" dirty="0"/>
              <a:t>-</a:t>
            </a:r>
            <a:r>
              <a:rPr lang="zh-CN" altLang="en-US" dirty="0"/>
              <a:t>焊接操作及要求</a:t>
            </a:r>
            <a:endParaRPr lang="en-US" altLang="zh-CN" dirty="0"/>
          </a:p>
          <a:p>
            <a:r>
              <a:rPr lang="zh-CN" altLang="en-US" dirty="0"/>
              <a:t>六、上电测试和检修</a:t>
            </a:r>
          </a:p>
        </p:txBody>
      </p:sp>
    </p:spTree>
    <p:extLst>
      <p:ext uri="{BB962C8B-B14F-4D97-AF65-F5344CB8AC3E}">
        <p14:creationId xmlns:p14="http://schemas.microsoft.com/office/powerpoint/2010/main" val="1887799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952494-D1EC-7E25-C033-DB2FA0CFE827}"/>
              </a:ext>
            </a:extLst>
          </p:cNvPr>
          <p:cNvSpPr>
            <a:spLocks noGrp="1"/>
          </p:cNvSpPr>
          <p:nvPr>
            <p:ph type="title"/>
          </p:nvPr>
        </p:nvSpPr>
        <p:spPr/>
        <p:txBody>
          <a:bodyPr>
            <a:normAutofit/>
          </a:bodyPr>
          <a:lstStyle/>
          <a:p>
            <a:r>
              <a:rPr lang="zh-CN" altLang="en-US" sz="4800" b="1" dirty="0">
                <a:latin typeface="华文中宋" panose="02010600040101010101" pitchFamily="2" charset="-122"/>
                <a:ea typeface="华文中宋" panose="02010600040101010101" pitchFamily="2" charset="-122"/>
              </a:rPr>
              <a:t>一、回流焊定义</a:t>
            </a:r>
          </a:p>
        </p:txBody>
      </p:sp>
      <p:sp>
        <p:nvSpPr>
          <p:cNvPr id="3" name="内容占位符 2">
            <a:extLst>
              <a:ext uri="{FF2B5EF4-FFF2-40B4-BE49-F238E27FC236}">
                <a16:creationId xmlns:a16="http://schemas.microsoft.com/office/drawing/2014/main" id="{53817EE4-F9F8-265D-FB37-6B4F52235423}"/>
              </a:ext>
            </a:extLst>
          </p:cNvPr>
          <p:cNvSpPr>
            <a:spLocks noGrp="1"/>
          </p:cNvSpPr>
          <p:nvPr>
            <p:ph idx="1"/>
          </p:nvPr>
        </p:nvSpPr>
        <p:spPr/>
        <p:txBody>
          <a:bodyPr>
            <a:normAutofit lnSpcReduction="10000"/>
          </a:bodyPr>
          <a:lstStyle/>
          <a:p>
            <a:r>
              <a:rPr lang="zh-CN" altLang="en-US" sz="3600" b="1" dirty="0">
                <a:latin typeface="华文中宋" panose="02010600040101010101" pitchFamily="2" charset="-122"/>
                <a:ea typeface="华文中宋" panose="02010600040101010101" pitchFamily="2" charset="-122"/>
              </a:rPr>
              <a:t>回流焊，也成为</a:t>
            </a:r>
            <a:r>
              <a:rPr lang="en-US" altLang="zh-CN" sz="3600" b="1" dirty="0">
                <a:latin typeface="华文中宋" panose="02010600040101010101" pitchFamily="2" charset="-122"/>
                <a:ea typeface="华文中宋" panose="02010600040101010101" pitchFamily="2" charset="-122"/>
              </a:rPr>
              <a:t>Reflow</a:t>
            </a:r>
            <a:r>
              <a:rPr lang="zh-CN" altLang="en-US" sz="3600" b="1" dirty="0">
                <a:latin typeface="华文中宋" panose="02010600040101010101" pitchFamily="2" charset="-122"/>
                <a:ea typeface="华文中宋" panose="02010600040101010101" pitchFamily="2" charset="-122"/>
              </a:rPr>
              <a:t>，是通过重新熔化预先分配到印制板焊盘上的膏状软钎焊料，实现表面组装元器件焊端或引脚与印制板焊盘之间机械与电气链接的软钎焊。</a:t>
            </a:r>
            <a:endParaRPr lang="en-US" altLang="zh-CN" sz="3600" b="1" dirty="0">
              <a:latin typeface="华文中宋" panose="02010600040101010101" pitchFamily="2" charset="-122"/>
              <a:ea typeface="华文中宋" panose="02010600040101010101" pitchFamily="2" charset="-122"/>
            </a:endParaRPr>
          </a:p>
          <a:p>
            <a:endParaRPr lang="en-US" altLang="zh-CN" sz="3600" b="1" dirty="0">
              <a:latin typeface="华文中宋" panose="02010600040101010101" pitchFamily="2" charset="-122"/>
              <a:ea typeface="华文中宋" panose="02010600040101010101" pitchFamily="2" charset="-122"/>
            </a:endParaRPr>
          </a:p>
          <a:p>
            <a:pPr>
              <a:lnSpc>
                <a:spcPct val="100000"/>
              </a:lnSpc>
            </a:pPr>
            <a:r>
              <a:rPr lang="zh-CN" altLang="en-US" b="1" i="0" dirty="0">
                <a:solidFill>
                  <a:srgbClr val="333333"/>
                </a:solidFill>
                <a:effectLst/>
                <a:latin typeface="Helvetica Neue"/>
              </a:rPr>
              <a:t>回流焊接是指利用</a:t>
            </a:r>
            <a:r>
              <a:rPr lang="zh-CN" altLang="en-US" b="1" i="0" u="none" strike="noStrike" dirty="0">
                <a:solidFill>
                  <a:srgbClr val="136EC2"/>
                </a:solidFill>
                <a:effectLst/>
                <a:latin typeface="Helvetica Neue"/>
                <a:hlinkClick r:id="rId2"/>
              </a:rPr>
              <a:t>焊膏</a:t>
            </a:r>
            <a:r>
              <a:rPr lang="zh-CN" altLang="en-US" b="1" i="0" dirty="0">
                <a:solidFill>
                  <a:srgbClr val="333333"/>
                </a:solidFill>
                <a:effectLst/>
                <a:latin typeface="Helvetica Neue"/>
              </a:rPr>
              <a:t>（由焊料和助焊剂混合而成的混合物）将一或多个电子元件连接到</a:t>
            </a:r>
            <a:r>
              <a:rPr lang="zh-CN" altLang="en-US" b="1" i="0" u="none" strike="noStrike" dirty="0">
                <a:solidFill>
                  <a:srgbClr val="136EC2"/>
                </a:solidFill>
                <a:effectLst/>
                <a:latin typeface="Helvetica Neue"/>
                <a:hlinkClick r:id="rId3"/>
              </a:rPr>
              <a:t>接触垫</a:t>
            </a:r>
            <a:r>
              <a:rPr lang="zh-CN" altLang="en-US" b="1" i="0" dirty="0">
                <a:solidFill>
                  <a:srgbClr val="333333"/>
                </a:solidFill>
                <a:effectLst/>
                <a:latin typeface="Helvetica Neue"/>
              </a:rPr>
              <a:t>上之后，透过控制加温来熔化</a:t>
            </a:r>
            <a:r>
              <a:rPr lang="zh-CN" altLang="en-US" b="1" i="0" u="none" strike="noStrike" dirty="0">
                <a:solidFill>
                  <a:srgbClr val="136EC2"/>
                </a:solidFill>
                <a:effectLst/>
                <a:latin typeface="Helvetica Neue"/>
                <a:hlinkClick r:id="rId4"/>
              </a:rPr>
              <a:t>焊料</a:t>
            </a:r>
            <a:r>
              <a:rPr lang="zh-CN" altLang="en-US" b="1" i="0" dirty="0">
                <a:solidFill>
                  <a:srgbClr val="333333"/>
                </a:solidFill>
                <a:effectLst/>
                <a:latin typeface="Helvetica Neue"/>
              </a:rPr>
              <a:t>以达到永久接合，可以用回焊炉、红外加热灯或热风枪等不同加温方式来进行焊接。</a:t>
            </a:r>
            <a:endParaRPr lang="zh-CN" altLang="en-US" b="1"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815069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782E45-1910-1BDD-6836-72E0DE610FE1}"/>
              </a:ext>
            </a:extLst>
          </p:cNvPr>
          <p:cNvSpPr>
            <a:spLocks noGrp="1"/>
          </p:cNvSpPr>
          <p:nvPr>
            <p:ph type="title"/>
          </p:nvPr>
        </p:nvSpPr>
        <p:spPr>
          <a:xfrm>
            <a:off x="287758" y="116821"/>
            <a:ext cx="9603275" cy="1049235"/>
          </a:xfrm>
        </p:spPr>
        <p:txBody>
          <a:bodyPr/>
          <a:lstStyle/>
          <a:p>
            <a:r>
              <a:rPr lang="zh-CN" altLang="en-US" dirty="0"/>
              <a:t>二、回流焊原理</a:t>
            </a:r>
          </a:p>
        </p:txBody>
      </p:sp>
      <p:pic>
        <p:nvPicPr>
          <p:cNvPr id="5" name="图片 4">
            <a:extLst>
              <a:ext uri="{FF2B5EF4-FFF2-40B4-BE49-F238E27FC236}">
                <a16:creationId xmlns:a16="http://schemas.microsoft.com/office/drawing/2014/main" id="{C03E8170-01C7-AA2D-B34F-3FA4138D4A05}"/>
              </a:ext>
            </a:extLst>
          </p:cNvPr>
          <p:cNvPicPr>
            <a:picLocks noChangeAspect="1"/>
          </p:cNvPicPr>
          <p:nvPr/>
        </p:nvPicPr>
        <p:blipFill>
          <a:blip r:embed="rId2"/>
          <a:stretch>
            <a:fillRect/>
          </a:stretch>
        </p:blipFill>
        <p:spPr>
          <a:xfrm>
            <a:off x="146727" y="1107405"/>
            <a:ext cx="5964173" cy="2349732"/>
          </a:xfrm>
          <a:prstGeom prst="rect">
            <a:avLst/>
          </a:prstGeom>
        </p:spPr>
      </p:pic>
      <p:pic>
        <p:nvPicPr>
          <p:cNvPr id="7" name="图片 6">
            <a:extLst>
              <a:ext uri="{FF2B5EF4-FFF2-40B4-BE49-F238E27FC236}">
                <a16:creationId xmlns:a16="http://schemas.microsoft.com/office/drawing/2014/main" id="{8D0D9E63-D824-5920-F0EA-DEFCAE6D0315}"/>
              </a:ext>
            </a:extLst>
          </p:cNvPr>
          <p:cNvPicPr>
            <a:picLocks noChangeAspect="1"/>
          </p:cNvPicPr>
          <p:nvPr/>
        </p:nvPicPr>
        <p:blipFill>
          <a:blip r:embed="rId3"/>
          <a:stretch>
            <a:fillRect/>
          </a:stretch>
        </p:blipFill>
        <p:spPr>
          <a:xfrm>
            <a:off x="28768" y="3457137"/>
            <a:ext cx="6052334" cy="2561447"/>
          </a:xfrm>
          <a:prstGeom prst="rect">
            <a:avLst/>
          </a:prstGeom>
        </p:spPr>
      </p:pic>
      <p:sp>
        <p:nvSpPr>
          <p:cNvPr id="8" name="椭圆 7">
            <a:extLst>
              <a:ext uri="{FF2B5EF4-FFF2-40B4-BE49-F238E27FC236}">
                <a16:creationId xmlns:a16="http://schemas.microsoft.com/office/drawing/2014/main" id="{CF92FB41-6C4A-9343-0002-233025A89C46}"/>
              </a:ext>
            </a:extLst>
          </p:cNvPr>
          <p:cNvSpPr/>
          <p:nvPr/>
        </p:nvSpPr>
        <p:spPr>
          <a:xfrm>
            <a:off x="1451578" y="2023532"/>
            <a:ext cx="546555" cy="29633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B155A096-FBC9-67D4-42FF-92C7D2A44C54}"/>
              </a:ext>
            </a:extLst>
          </p:cNvPr>
          <p:cNvSpPr/>
          <p:nvPr/>
        </p:nvSpPr>
        <p:spPr>
          <a:xfrm>
            <a:off x="274055" y="4594407"/>
            <a:ext cx="1107942" cy="16764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6997300-61EE-8CAB-8A02-8B3A5C3634F9}"/>
              </a:ext>
            </a:extLst>
          </p:cNvPr>
          <p:cNvSpPr txBox="1"/>
          <p:nvPr/>
        </p:nvSpPr>
        <p:spPr>
          <a:xfrm>
            <a:off x="6123190" y="1209998"/>
            <a:ext cx="4995333" cy="1200329"/>
          </a:xfrm>
          <a:prstGeom prst="rect">
            <a:avLst/>
          </a:prstGeom>
          <a:noFill/>
        </p:spPr>
        <p:txBody>
          <a:bodyPr wrap="square" rtlCol="0">
            <a:spAutoFit/>
          </a:bodyPr>
          <a:lstStyle/>
          <a:p>
            <a:r>
              <a:rPr lang="en-US" altLang="zh-CN" dirty="0"/>
              <a:t>A</a:t>
            </a:r>
            <a:r>
              <a:rPr lang="zh-CN" altLang="en-US" dirty="0"/>
              <a:t>：当</a:t>
            </a:r>
            <a:r>
              <a:rPr lang="en-US" altLang="zh-CN" dirty="0"/>
              <a:t>PCB</a:t>
            </a:r>
            <a:r>
              <a:rPr lang="zh-CN" altLang="en-US" dirty="0"/>
              <a:t>进入升温区，（干燥区）时，焊膏中的溶剂、气体蒸发掉，同时，焊膏中的助焊剂湿润焊盘、元器件端头和引脚，焊膏软化、塌落、覆盖了焊盘，将焊盘、元器件引脚与氧气隔离；</a:t>
            </a:r>
          </a:p>
        </p:txBody>
      </p:sp>
      <p:sp>
        <p:nvSpPr>
          <p:cNvPr id="11" name="文本框 10">
            <a:extLst>
              <a:ext uri="{FF2B5EF4-FFF2-40B4-BE49-F238E27FC236}">
                <a16:creationId xmlns:a16="http://schemas.microsoft.com/office/drawing/2014/main" id="{0CF3A852-8FDD-B6FA-EC8D-62A1FAE9038C}"/>
              </a:ext>
            </a:extLst>
          </p:cNvPr>
          <p:cNvSpPr txBox="1"/>
          <p:nvPr/>
        </p:nvSpPr>
        <p:spPr>
          <a:xfrm>
            <a:off x="6220556" y="2573809"/>
            <a:ext cx="4800600" cy="923330"/>
          </a:xfrm>
          <a:prstGeom prst="rect">
            <a:avLst/>
          </a:prstGeom>
          <a:noFill/>
        </p:spPr>
        <p:txBody>
          <a:bodyPr wrap="square" rtlCol="0">
            <a:spAutoFit/>
          </a:bodyPr>
          <a:lstStyle/>
          <a:p>
            <a:r>
              <a:rPr lang="en-US" altLang="zh-CN" dirty="0"/>
              <a:t>B</a:t>
            </a:r>
            <a:r>
              <a:rPr lang="zh-CN" altLang="en-US" dirty="0"/>
              <a:t>：</a:t>
            </a:r>
            <a:r>
              <a:rPr lang="en-US" altLang="zh-CN" dirty="0"/>
              <a:t>PCB</a:t>
            </a:r>
            <a:r>
              <a:rPr lang="zh-CN" altLang="en-US" dirty="0"/>
              <a:t>进入保温区时，使</a:t>
            </a:r>
            <a:r>
              <a:rPr lang="en-US" altLang="zh-CN" dirty="0"/>
              <a:t>PCB</a:t>
            </a:r>
            <a:r>
              <a:rPr lang="zh-CN" altLang="en-US" dirty="0"/>
              <a:t>和元器件得到充分的预热，以防</a:t>
            </a:r>
            <a:r>
              <a:rPr lang="en-US" altLang="zh-CN" dirty="0"/>
              <a:t>PCB</a:t>
            </a:r>
            <a:r>
              <a:rPr lang="zh-CN" altLang="en-US" dirty="0"/>
              <a:t>突然进入焊接高温区而损坏</a:t>
            </a:r>
            <a:r>
              <a:rPr lang="en-US" altLang="zh-CN" dirty="0"/>
              <a:t>PCB</a:t>
            </a:r>
            <a:r>
              <a:rPr lang="zh-CN" altLang="en-US" dirty="0"/>
              <a:t>和元器件</a:t>
            </a:r>
          </a:p>
        </p:txBody>
      </p:sp>
      <p:sp>
        <p:nvSpPr>
          <p:cNvPr id="12" name="文本框 11">
            <a:extLst>
              <a:ext uri="{FF2B5EF4-FFF2-40B4-BE49-F238E27FC236}">
                <a16:creationId xmlns:a16="http://schemas.microsoft.com/office/drawing/2014/main" id="{5D40BC72-F5FC-58BD-D182-54CA78188A20}"/>
              </a:ext>
            </a:extLst>
          </p:cNvPr>
          <p:cNvSpPr txBox="1"/>
          <p:nvPr/>
        </p:nvSpPr>
        <p:spPr>
          <a:xfrm>
            <a:off x="6156974" y="3660621"/>
            <a:ext cx="5207000" cy="1200329"/>
          </a:xfrm>
          <a:prstGeom prst="rect">
            <a:avLst/>
          </a:prstGeom>
          <a:noFill/>
        </p:spPr>
        <p:txBody>
          <a:bodyPr wrap="square" rtlCol="0">
            <a:spAutoFit/>
          </a:bodyPr>
          <a:lstStyle/>
          <a:p>
            <a:r>
              <a:rPr lang="en-US" altLang="zh-CN" dirty="0"/>
              <a:t>C</a:t>
            </a:r>
            <a:r>
              <a:rPr lang="zh-CN" altLang="en-US" dirty="0"/>
              <a:t>：当</a:t>
            </a:r>
            <a:r>
              <a:rPr lang="en-US" altLang="zh-CN" dirty="0"/>
              <a:t>PCB</a:t>
            </a:r>
            <a:r>
              <a:rPr lang="zh-CN" altLang="en-US" dirty="0"/>
              <a:t>进入焊接区时，温度迅速上升使焊膏达到熔化状态，液态焊锡对</a:t>
            </a:r>
            <a:r>
              <a:rPr lang="en-US" altLang="zh-CN" dirty="0"/>
              <a:t>PCB</a:t>
            </a:r>
            <a:r>
              <a:rPr lang="zh-CN" altLang="en-US" dirty="0"/>
              <a:t>的焊盘、元器件端头和引脚湿润、扩散、漫流或回流混合形成焊锡接点。</a:t>
            </a:r>
          </a:p>
        </p:txBody>
      </p:sp>
      <p:sp>
        <p:nvSpPr>
          <p:cNvPr id="13" name="文本框 12">
            <a:extLst>
              <a:ext uri="{FF2B5EF4-FFF2-40B4-BE49-F238E27FC236}">
                <a16:creationId xmlns:a16="http://schemas.microsoft.com/office/drawing/2014/main" id="{EF06C296-22B0-75BC-C635-3F826294A19A}"/>
              </a:ext>
            </a:extLst>
          </p:cNvPr>
          <p:cNvSpPr txBox="1"/>
          <p:nvPr/>
        </p:nvSpPr>
        <p:spPr>
          <a:xfrm>
            <a:off x="6502400" y="5147733"/>
            <a:ext cx="3860800" cy="646331"/>
          </a:xfrm>
          <a:prstGeom prst="rect">
            <a:avLst/>
          </a:prstGeom>
          <a:noFill/>
        </p:spPr>
        <p:txBody>
          <a:bodyPr wrap="square" rtlCol="0">
            <a:spAutoFit/>
          </a:bodyPr>
          <a:lstStyle/>
          <a:p>
            <a:r>
              <a:rPr lang="en-US" altLang="zh-CN" dirty="0"/>
              <a:t>D</a:t>
            </a:r>
            <a:r>
              <a:rPr lang="zh-CN" altLang="en-US" dirty="0"/>
              <a:t>：</a:t>
            </a:r>
            <a:r>
              <a:rPr lang="en-US" altLang="zh-CN" dirty="0"/>
              <a:t>PCB</a:t>
            </a:r>
            <a:r>
              <a:rPr lang="zh-CN" altLang="en-US" dirty="0"/>
              <a:t>进入冷却区，使焊点凝固此时完成了回流焊。</a:t>
            </a:r>
          </a:p>
        </p:txBody>
      </p:sp>
      <p:sp>
        <p:nvSpPr>
          <p:cNvPr id="14" name="椭圆 13">
            <a:extLst>
              <a:ext uri="{FF2B5EF4-FFF2-40B4-BE49-F238E27FC236}">
                <a16:creationId xmlns:a16="http://schemas.microsoft.com/office/drawing/2014/main" id="{8E21E344-1FA3-4CED-B008-61C7DBDC3465}"/>
              </a:ext>
            </a:extLst>
          </p:cNvPr>
          <p:cNvSpPr/>
          <p:nvPr/>
        </p:nvSpPr>
        <p:spPr>
          <a:xfrm>
            <a:off x="2175933" y="2023533"/>
            <a:ext cx="907923" cy="36850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C53F6371-9030-E7D9-977F-48FD69C7DD40}"/>
              </a:ext>
            </a:extLst>
          </p:cNvPr>
          <p:cNvSpPr/>
          <p:nvPr/>
        </p:nvSpPr>
        <p:spPr>
          <a:xfrm>
            <a:off x="1341966" y="4314612"/>
            <a:ext cx="2028222" cy="95052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F780C140-59C7-22CD-83F6-FF99B966E693}"/>
              </a:ext>
            </a:extLst>
          </p:cNvPr>
          <p:cNvSpPr/>
          <p:nvPr/>
        </p:nvSpPr>
        <p:spPr>
          <a:xfrm>
            <a:off x="3146689" y="1955075"/>
            <a:ext cx="1049211" cy="43696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272CFD44-5521-DFC7-1E72-A5C7A2F51C59}"/>
              </a:ext>
            </a:extLst>
          </p:cNvPr>
          <p:cNvSpPr/>
          <p:nvPr/>
        </p:nvSpPr>
        <p:spPr>
          <a:xfrm>
            <a:off x="3404696" y="3714447"/>
            <a:ext cx="1861571" cy="95052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FF77C7A7-6358-26E8-AB8D-2F730B36E648}"/>
              </a:ext>
            </a:extLst>
          </p:cNvPr>
          <p:cNvSpPr/>
          <p:nvPr/>
        </p:nvSpPr>
        <p:spPr>
          <a:xfrm>
            <a:off x="4232412" y="1675954"/>
            <a:ext cx="1617134" cy="96918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E4C5A678-16FE-8682-29F5-17858AB012E4}"/>
              </a:ext>
            </a:extLst>
          </p:cNvPr>
          <p:cNvSpPr/>
          <p:nvPr/>
        </p:nvSpPr>
        <p:spPr>
          <a:xfrm>
            <a:off x="5300775" y="4314613"/>
            <a:ext cx="786759" cy="95052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3929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1000"/>
                                        <p:tgtEl>
                                          <p:spTgt spid="14"/>
                                        </p:tgtEl>
                                      </p:cBhvr>
                                    </p:animEffect>
                                    <p:anim calcmode="lin" valueType="num">
                                      <p:cBhvr>
                                        <p:cTn id="36" dur="1000" fill="hold"/>
                                        <p:tgtEl>
                                          <p:spTgt spid="14"/>
                                        </p:tgtEl>
                                        <p:attrNameLst>
                                          <p:attrName>ppt_x</p:attrName>
                                        </p:attrNameLst>
                                      </p:cBhvr>
                                      <p:tavLst>
                                        <p:tav tm="0">
                                          <p:val>
                                            <p:strVal val="#ppt_x"/>
                                          </p:val>
                                        </p:tav>
                                        <p:tav tm="100000">
                                          <p:val>
                                            <p:strVal val="#ppt_x"/>
                                          </p:val>
                                        </p:tav>
                                      </p:tavLst>
                                    </p:anim>
                                    <p:anim calcmode="lin" valueType="num">
                                      <p:cBhvr>
                                        <p:cTn id="37" dur="1000" fill="hold"/>
                                        <p:tgtEl>
                                          <p:spTgt spid="14"/>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1000"/>
                                        <p:tgtEl>
                                          <p:spTgt spid="15"/>
                                        </p:tgtEl>
                                      </p:cBhvr>
                                    </p:animEffect>
                                    <p:anim calcmode="lin" valueType="num">
                                      <p:cBhvr>
                                        <p:cTn id="41" dur="1000" fill="hold"/>
                                        <p:tgtEl>
                                          <p:spTgt spid="15"/>
                                        </p:tgtEl>
                                        <p:attrNameLst>
                                          <p:attrName>ppt_x</p:attrName>
                                        </p:attrNameLst>
                                      </p:cBhvr>
                                      <p:tavLst>
                                        <p:tav tm="0">
                                          <p:val>
                                            <p:strVal val="#ppt_x"/>
                                          </p:val>
                                        </p:tav>
                                        <p:tav tm="100000">
                                          <p:val>
                                            <p:strVal val="#ppt_x"/>
                                          </p:val>
                                        </p:tav>
                                      </p:tavLst>
                                    </p:anim>
                                    <p:anim calcmode="lin" valueType="num">
                                      <p:cBhvr>
                                        <p:cTn id="42" dur="1000" fill="hold"/>
                                        <p:tgtEl>
                                          <p:spTgt spid="15"/>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1000"/>
                                        <p:tgtEl>
                                          <p:spTgt spid="11"/>
                                        </p:tgtEl>
                                      </p:cBhvr>
                                    </p:animEffect>
                                    <p:anim calcmode="lin" valueType="num">
                                      <p:cBhvr>
                                        <p:cTn id="46" dur="1000" fill="hold"/>
                                        <p:tgtEl>
                                          <p:spTgt spid="11"/>
                                        </p:tgtEl>
                                        <p:attrNameLst>
                                          <p:attrName>ppt_x</p:attrName>
                                        </p:attrNameLst>
                                      </p:cBhvr>
                                      <p:tavLst>
                                        <p:tav tm="0">
                                          <p:val>
                                            <p:strVal val="#ppt_x"/>
                                          </p:val>
                                        </p:tav>
                                        <p:tav tm="100000">
                                          <p:val>
                                            <p:strVal val="#ppt_x"/>
                                          </p:val>
                                        </p:tav>
                                      </p:tavLst>
                                    </p:anim>
                                    <p:anim calcmode="lin" valueType="num">
                                      <p:cBhvr>
                                        <p:cTn id="4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1000"/>
                                        <p:tgtEl>
                                          <p:spTgt spid="16"/>
                                        </p:tgtEl>
                                      </p:cBhvr>
                                    </p:animEffect>
                                    <p:anim calcmode="lin" valueType="num">
                                      <p:cBhvr>
                                        <p:cTn id="53" dur="1000" fill="hold"/>
                                        <p:tgtEl>
                                          <p:spTgt spid="16"/>
                                        </p:tgtEl>
                                        <p:attrNameLst>
                                          <p:attrName>ppt_x</p:attrName>
                                        </p:attrNameLst>
                                      </p:cBhvr>
                                      <p:tavLst>
                                        <p:tav tm="0">
                                          <p:val>
                                            <p:strVal val="#ppt_x"/>
                                          </p:val>
                                        </p:tav>
                                        <p:tav tm="100000">
                                          <p:val>
                                            <p:strVal val="#ppt_x"/>
                                          </p:val>
                                        </p:tav>
                                      </p:tavLst>
                                    </p:anim>
                                    <p:anim calcmode="lin" valueType="num">
                                      <p:cBhvr>
                                        <p:cTn id="54" dur="1000" fill="hold"/>
                                        <p:tgtEl>
                                          <p:spTgt spid="16"/>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1000"/>
                                        <p:tgtEl>
                                          <p:spTgt spid="17"/>
                                        </p:tgtEl>
                                      </p:cBhvr>
                                    </p:animEffect>
                                    <p:anim calcmode="lin" valueType="num">
                                      <p:cBhvr>
                                        <p:cTn id="58" dur="1000" fill="hold"/>
                                        <p:tgtEl>
                                          <p:spTgt spid="17"/>
                                        </p:tgtEl>
                                        <p:attrNameLst>
                                          <p:attrName>ppt_x</p:attrName>
                                        </p:attrNameLst>
                                      </p:cBhvr>
                                      <p:tavLst>
                                        <p:tav tm="0">
                                          <p:val>
                                            <p:strVal val="#ppt_x"/>
                                          </p:val>
                                        </p:tav>
                                        <p:tav tm="100000">
                                          <p:val>
                                            <p:strVal val="#ppt_x"/>
                                          </p:val>
                                        </p:tav>
                                      </p:tavLst>
                                    </p:anim>
                                    <p:anim calcmode="lin" valueType="num">
                                      <p:cBhvr>
                                        <p:cTn id="59" dur="1000" fill="hold"/>
                                        <p:tgtEl>
                                          <p:spTgt spid="1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1000"/>
                                        <p:tgtEl>
                                          <p:spTgt spid="12"/>
                                        </p:tgtEl>
                                      </p:cBhvr>
                                    </p:animEffect>
                                    <p:anim calcmode="lin" valueType="num">
                                      <p:cBhvr>
                                        <p:cTn id="63" dur="1000" fill="hold"/>
                                        <p:tgtEl>
                                          <p:spTgt spid="12"/>
                                        </p:tgtEl>
                                        <p:attrNameLst>
                                          <p:attrName>ppt_x</p:attrName>
                                        </p:attrNameLst>
                                      </p:cBhvr>
                                      <p:tavLst>
                                        <p:tav tm="0">
                                          <p:val>
                                            <p:strVal val="#ppt_x"/>
                                          </p:val>
                                        </p:tav>
                                        <p:tav tm="100000">
                                          <p:val>
                                            <p:strVal val="#ppt_x"/>
                                          </p:val>
                                        </p:tav>
                                      </p:tavLst>
                                    </p:anim>
                                    <p:anim calcmode="lin" valueType="num">
                                      <p:cBhvr>
                                        <p:cTn id="6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1000"/>
                                        <p:tgtEl>
                                          <p:spTgt spid="18"/>
                                        </p:tgtEl>
                                      </p:cBhvr>
                                    </p:animEffect>
                                    <p:anim calcmode="lin" valueType="num">
                                      <p:cBhvr>
                                        <p:cTn id="70" dur="1000" fill="hold"/>
                                        <p:tgtEl>
                                          <p:spTgt spid="18"/>
                                        </p:tgtEl>
                                        <p:attrNameLst>
                                          <p:attrName>ppt_x</p:attrName>
                                        </p:attrNameLst>
                                      </p:cBhvr>
                                      <p:tavLst>
                                        <p:tav tm="0">
                                          <p:val>
                                            <p:strVal val="#ppt_x"/>
                                          </p:val>
                                        </p:tav>
                                        <p:tav tm="100000">
                                          <p:val>
                                            <p:strVal val="#ppt_x"/>
                                          </p:val>
                                        </p:tav>
                                      </p:tavLst>
                                    </p:anim>
                                    <p:anim calcmode="lin" valueType="num">
                                      <p:cBhvr>
                                        <p:cTn id="71" dur="1000" fill="hold"/>
                                        <p:tgtEl>
                                          <p:spTgt spid="18"/>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1000"/>
                                        <p:tgtEl>
                                          <p:spTgt spid="19"/>
                                        </p:tgtEl>
                                      </p:cBhvr>
                                    </p:animEffect>
                                    <p:anim calcmode="lin" valueType="num">
                                      <p:cBhvr>
                                        <p:cTn id="75" dur="1000" fill="hold"/>
                                        <p:tgtEl>
                                          <p:spTgt spid="19"/>
                                        </p:tgtEl>
                                        <p:attrNameLst>
                                          <p:attrName>ppt_x</p:attrName>
                                        </p:attrNameLst>
                                      </p:cBhvr>
                                      <p:tavLst>
                                        <p:tav tm="0">
                                          <p:val>
                                            <p:strVal val="#ppt_x"/>
                                          </p:val>
                                        </p:tav>
                                        <p:tav tm="100000">
                                          <p:val>
                                            <p:strVal val="#ppt_x"/>
                                          </p:val>
                                        </p:tav>
                                      </p:tavLst>
                                    </p:anim>
                                    <p:anim calcmode="lin" valueType="num">
                                      <p:cBhvr>
                                        <p:cTn id="76" dur="1000" fill="hold"/>
                                        <p:tgtEl>
                                          <p:spTgt spid="19"/>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1000"/>
                                        <p:tgtEl>
                                          <p:spTgt spid="13"/>
                                        </p:tgtEl>
                                      </p:cBhvr>
                                    </p:animEffect>
                                    <p:anim calcmode="lin" valueType="num">
                                      <p:cBhvr>
                                        <p:cTn id="80" dur="1000" fill="hold"/>
                                        <p:tgtEl>
                                          <p:spTgt spid="13"/>
                                        </p:tgtEl>
                                        <p:attrNameLst>
                                          <p:attrName>ppt_x</p:attrName>
                                        </p:attrNameLst>
                                      </p:cBhvr>
                                      <p:tavLst>
                                        <p:tav tm="0">
                                          <p:val>
                                            <p:strVal val="#ppt_x"/>
                                          </p:val>
                                        </p:tav>
                                        <p:tav tm="100000">
                                          <p:val>
                                            <p:strVal val="#ppt_x"/>
                                          </p:val>
                                        </p:tav>
                                      </p:tavLst>
                                    </p:anim>
                                    <p:anim calcmode="lin" valueType="num">
                                      <p:cBhvr>
                                        <p:cTn id="8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P spid="9" grpId="0" animBg="1"/>
      <p:bldP spid="10" grpId="0"/>
      <p:bldP spid="11" grpId="0"/>
      <p:bldP spid="12" grpId="0"/>
      <p:bldP spid="13" grpId="0"/>
      <p:bldP spid="14" grpId="0" animBg="1"/>
      <p:bldP spid="15" grpId="0" animBg="1"/>
      <p:bldP spid="16" grpId="0" animBg="1"/>
      <p:bldP spid="17"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3D931D-79E6-5229-7E92-40B5732AABF0}"/>
              </a:ext>
            </a:extLst>
          </p:cNvPr>
          <p:cNvSpPr>
            <a:spLocks noGrp="1"/>
          </p:cNvSpPr>
          <p:nvPr>
            <p:ph type="title"/>
          </p:nvPr>
        </p:nvSpPr>
        <p:spPr/>
        <p:txBody>
          <a:bodyPr/>
          <a:lstStyle/>
          <a:p>
            <a:r>
              <a:rPr lang="zh-CN" altLang="en-US" dirty="0"/>
              <a:t>三、回流焊工艺特点（与波峰焊技术相比）</a:t>
            </a:r>
          </a:p>
        </p:txBody>
      </p:sp>
      <p:sp>
        <p:nvSpPr>
          <p:cNvPr id="3" name="内容占位符 2">
            <a:extLst>
              <a:ext uri="{FF2B5EF4-FFF2-40B4-BE49-F238E27FC236}">
                <a16:creationId xmlns:a16="http://schemas.microsoft.com/office/drawing/2014/main" id="{73583513-61E4-CC2D-57E8-4B57ED1F609B}"/>
              </a:ext>
            </a:extLst>
          </p:cNvPr>
          <p:cNvSpPr>
            <a:spLocks noGrp="1"/>
          </p:cNvSpPr>
          <p:nvPr>
            <p:ph idx="1"/>
          </p:nvPr>
        </p:nvSpPr>
        <p:spPr/>
        <p:txBody>
          <a:bodyPr/>
          <a:lstStyle/>
          <a:p>
            <a:r>
              <a:rPr lang="en-US" altLang="zh-CN" dirty="0"/>
              <a:t>1</a:t>
            </a:r>
            <a:r>
              <a:rPr lang="zh-CN" altLang="en-US" dirty="0"/>
              <a:t>）不向波峰焊那样，要把元器件直接浸渍在熔融的焊料中，所以元器件收到的热冲击较小。但由于回流焊加热方式不同，有时会施加给器件较大的热应力。</a:t>
            </a:r>
            <a:endParaRPr lang="en-US" altLang="zh-CN" dirty="0"/>
          </a:p>
          <a:p>
            <a:endParaRPr lang="en-US" altLang="zh-CN" dirty="0"/>
          </a:p>
          <a:p>
            <a:r>
              <a:rPr lang="en-US" altLang="zh-CN" dirty="0"/>
              <a:t>2</a:t>
            </a:r>
            <a:r>
              <a:rPr lang="zh-CN" altLang="en-US" dirty="0"/>
              <a:t>）只需要在焊盘上施加焊料，并且能够控制焊料的施加量，避免了虚焊、桥接等焊接缺陷的产生，因此焊接质量好，可靠性高。</a:t>
            </a:r>
          </a:p>
        </p:txBody>
      </p:sp>
    </p:spTree>
    <p:extLst>
      <p:ext uri="{BB962C8B-B14F-4D97-AF65-F5344CB8AC3E}">
        <p14:creationId xmlns:p14="http://schemas.microsoft.com/office/powerpoint/2010/main" val="529559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C037F525-38F9-8491-6F41-2ACC84BAC527}"/>
              </a:ext>
            </a:extLst>
          </p:cNvPr>
          <p:cNvSpPr>
            <a:spLocks noGrp="1"/>
          </p:cNvSpPr>
          <p:nvPr>
            <p:ph type="title"/>
          </p:nvPr>
        </p:nvSpPr>
        <p:spPr>
          <a:xfrm>
            <a:off x="692426" y="0"/>
            <a:ext cx="10515600" cy="1325563"/>
          </a:xfrm>
        </p:spPr>
        <p:txBody>
          <a:bodyPr/>
          <a:lstStyle/>
          <a:p>
            <a:r>
              <a:rPr lang="zh-CN" altLang="en-US" dirty="0"/>
              <a:t>基本工艺</a:t>
            </a:r>
          </a:p>
        </p:txBody>
      </p:sp>
      <p:sp>
        <p:nvSpPr>
          <p:cNvPr id="7" name="内容占位符 2">
            <a:extLst>
              <a:ext uri="{FF2B5EF4-FFF2-40B4-BE49-F238E27FC236}">
                <a16:creationId xmlns:a16="http://schemas.microsoft.com/office/drawing/2014/main" id="{9F22E37A-6CE4-C59C-262F-68C11219F5D4}"/>
              </a:ext>
            </a:extLst>
          </p:cNvPr>
          <p:cNvSpPr>
            <a:spLocks noGrp="1"/>
          </p:cNvSpPr>
          <p:nvPr>
            <p:ph idx="1"/>
          </p:nvPr>
        </p:nvSpPr>
        <p:spPr>
          <a:xfrm>
            <a:off x="372902" y="1132830"/>
            <a:ext cx="10515600" cy="6076352"/>
          </a:xfrm>
        </p:spPr>
        <p:txBody>
          <a:bodyPr>
            <a:normAutofit fontScale="40000" lnSpcReduction="20000"/>
          </a:bodyPr>
          <a:lstStyle/>
          <a:p>
            <a:pPr>
              <a:lnSpc>
                <a:spcPct val="120000"/>
              </a:lnSpc>
              <a:spcBef>
                <a:spcPts val="0"/>
              </a:spcBef>
            </a:pPr>
            <a:r>
              <a:rPr lang="zh-CN" altLang="en-US" sz="4500" b="1" i="0" dirty="0">
                <a:solidFill>
                  <a:srgbClr val="333333"/>
                </a:solidFill>
                <a:effectLst/>
                <a:latin typeface="Helvetica Neue"/>
              </a:rPr>
              <a:t>锡膏印刷</a:t>
            </a:r>
            <a:r>
              <a:rPr lang="en-US" altLang="zh-CN" sz="4500" b="1" i="0" dirty="0">
                <a:solidFill>
                  <a:srgbClr val="333333"/>
                </a:solidFill>
                <a:effectLst/>
                <a:latin typeface="Helvetica Neue"/>
              </a:rPr>
              <a:t>--&gt; </a:t>
            </a:r>
            <a:r>
              <a:rPr lang="zh-CN" altLang="en-US" sz="4500" b="1" i="0" dirty="0">
                <a:solidFill>
                  <a:srgbClr val="333333"/>
                </a:solidFill>
                <a:effectLst/>
                <a:latin typeface="Helvetica Neue"/>
              </a:rPr>
              <a:t>零件贴装</a:t>
            </a:r>
            <a:r>
              <a:rPr lang="en-US" altLang="zh-CN" sz="4500" b="1" i="0" dirty="0">
                <a:solidFill>
                  <a:srgbClr val="333333"/>
                </a:solidFill>
                <a:effectLst/>
                <a:latin typeface="Helvetica Neue"/>
              </a:rPr>
              <a:t>--&gt;</a:t>
            </a:r>
            <a:r>
              <a:rPr lang="zh-CN" altLang="en-US" sz="4500" b="1" i="0" u="none" strike="noStrike" dirty="0">
                <a:solidFill>
                  <a:srgbClr val="136EC2"/>
                </a:solidFill>
                <a:effectLst/>
                <a:latin typeface="Helvetica Neue"/>
                <a:hlinkClick r:id="rId2"/>
              </a:rPr>
              <a:t>回流焊</a:t>
            </a:r>
            <a:r>
              <a:rPr lang="zh-CN" altLang="en-US" sz="4500" b="1" i="0" dirty="0">
                <a:solidFill>
                  <a:srgbClr val="333333"/>
                </a:solidFill>
                <a:effectLst/>
                <a:latin typeface="Helvetica Neue"/>
              </a:rPr>
              <a:t>接</a:t>
            </a:r>
            <a:r>
              <a:rPr lang="en-US" altLang="zh-CN" sz="4500" b="1" i="0" dirty="0">
                <a:solidFill>
                  <a:srgbClr val="333333"/>
                </a:solidFill>
                <a:effectLst/>
                <a:latin typeface="Helvetica Neue"/>
              </a:rPr>
              <a:t>--&gt;</a:t>
            </a:r>
            <a:r>
              <a:rPr lang="en-US" altLang="zh-CN" sz="4500" b="1" i="0" u="none" strike="noStrike" dirty="0">
                <a:solidFill>
                  <a:srgbClr val="136EC2"/>
                </a:solidFill>
                <a:effectLst/>
                <a:latin typeface="Helvetica Neue"/>
                <a:hlinkClick r:id="rId3"/>
              </a:rPr>
              <a:t>AOI</a:t>
            </a:r>
            <a:r>
              <a:rPr lang="zh-CN" altLang="en-US" sz="4500" b="1" i="0" dirty="0">
                <a:solidFill>
                  <a:srgbClr val="333333"/>
                </a:solidFill>
                <a:effectLst/>
                <a:latin typeface="Helvetica Neue"/>
              </a:rPr>
              <a:t>光学检测</a:t>
            </a:r>
            <a:r>
              <a:rPr lang="en-US" altLang="zh-CN" sz="4500" b="1" i="0" dirty="0">
                <a:solidFill>
                  <a:srgbClr val="333333"/>
                </a:solidFill>
                <a:effectLst/>
                <a:latin typeface="Helvetica Neue"/>
              </a:rPr>
              <a:t>--&gt; </a:t>
            </a:r>
            <a:r>
              <a:rPr lang="zh-CN" altLang="en-US" sz="4500" b="1" i="0" dirty="0">
                <a:solidFill>
                  <a:srgbClr val="333333"/>
                </a:solidFill>
                <a:effectLst/>
                <a:latin typeface="Helvetica Neue"/>
              </a:rPr>
              <a:t>维修</a:t>
            </a:r>
            <a:r>
              <a:rPr lang="en-US" altLang="zh-CN" sz="4500" b="1" i="0" dirty="0">
                <a:solidFill>
                  <a:srgbClr val="333333"/>
                </a:solidFill>
                <a:effectLst/>
                <a:latin typeface="Helvetica Neue"/>
              </a:rPr>
              <a:t>--&gt; </a:t>
            </a:r>
            <a:r>
              <a:rPr lang="zh-CN" altLang="en-US" sz="4500" b="1" i="0" dirty="0">
                <a:solidFill>
                  <a:srgbClr val="333333"/>
                </a:solidFill>
                <a:effectLst/>
                <a:latin typeface="Helvetica Neue"/>
              </a:rPr>
              <a:t>分板</a:t>
            </a:r>
            <a:r>
              <a:rPr lang="en-US" altLang="zh-CN" sz="4500" b="1" dirty="0">
                <a:solidFill>
                  <a:srgbClr val="333333"/>
                </a:solidFill>
                <a:latin typeface="Helvetica Neue"/>
              </a:rPr>
              <a:t>--</a:t>
            </a:r>
            <a:r>
              <a:rPr lang="zh-CN" altLang="en-US" sz="4500" b="1" i="0" dirty="0">
                <a:solidFill>
                  <a:srgbClr val="121212"/>
                </a:solidFill>
                <a:effectLst/>
                <a:latin typeface="-apple-system"/>
              </a:rPr>
              <a:t>磨板</a:t>
            </a:r>
            <a:r>
              <a:rPr lang="en-US" altLang="zh-CN" sz="4500" b="1" i="0" dirty="0">
                <a:solidFill>
                  <a:srgbClr val="121212"/>
                </a:solidFill>
                <a:effectLst/>
                <a:latin typeface="-apple-system"/>
              </a:rPr>
              <a:t>--</a:t>
            </a:r>
            <a:r>
              <a:rPr lang="zh-CN" altLang="en-US" sz="4500" b="1" i="0" dirty="0">
                <a:solidFill>
                  <a:srgbClr val="121212"/>
                </a:solidFill>
                <a:effectLst/>
                <a:latin typeface="-apple-system"/>
              </a:rPr>
              <a:t>洗板</a:t>
            </a:r>
            <a:endParaRPr lang="en-US" altLang="zh-CN" sz="4500" b="1" i="0" dirty="0">
              <a:solidFill>
                <a:srgbClr val="333333"/>
              </a:solidFill>
              <a:effectLst/>
              <a:latin typeface="Helvetica Neue"/>
            </a:endParaRPr>
          </a:p>
          <a:p>
            <a:pPr algn="l">
              <a:lnSpc>
                <a:spcPct val="120000"/>
              </a:lnSpc>
              <a:spcBef>
                <a:spcPts val="0"/>
              </a:spcBef>
              <a:buFont typeface="Wingdings" panose="05000000000000000000" pitchFamily="2" charset="2"/>
              <a:buChar char="Ø"/>
            </a:pPr>
            <a:endParaRPr lang="en-US" altLang="zh-CN" sz="4500" b="1" dirty="0">
              <a:solidFill>
                <a:srgbClr val="333333"/>
              </a:solidFill>
              <a:latin typeface="Helvetica Neue"/>
            </a:endParaRPr>
          </a:p>
          <a:p>
            <a:pPr algn="l">
              <a:lnSpc>
                <a:spcPct val="120000"/>
              </a:lnSpc>
              <a:spcBef>
                <a:spcPts val="0"/>
              </a:spcBef>
              <a:buFont typeface="Wingdings" panose="05000000000000000000" pitchFamily="2" charset="2"/>
              <a:buChar char="Ø"/>
            </a:pPr>
            <a:r>
              <a:rPr lang="en-US" altLang="zh-CN" sz="4500" b="1" i="0" dirty="0">
                <a:solidFill>
                  <a:srgbClr val="121212"/>
                </a:solidFill>
                <a:effectLst/>
                <a:latin typeface="-apple-system"/>
              </a:rPr>
              <a:t>1.</a:t>
            </a:r>
            <a:r>
              <a:rPr lang="zh-CN" altLang="en-US" sz="4500" b="1" i="0" dirty="0">
                <a:solidFill>
                  <a:srgbClr val="121212"/>
                </a:solidFill>
                <a:effectLst/>
                <a:latin typeface="-apple-system"/>
              </a:rPr>
              <a:t>锡膏印刷：其作用是将无锡膏漏印到</a:t>
            </a:r>
            <a:r>
              <a:rPr lang="en-US" altLang="zh-CN" sz="4500" b="1" i="0" dirty="0">
                <a:solidFill>
                  <a:srgbClr val="121212"/>
                </a:solidFill>
                <a:effectLst/>
                <a:latin typeface="-apple-system"/>
              </a:rPr>
              <a:t>PCB</a:t>
            </a:r>
            <a:r>
              <a:rPr lang="zh-CN" altLang="en-US" sz="4500" b="1" i="0" dirty="0">
                <a:solidFill>
                  <a:srgbClr val="121212"/>
                </a:solidFill>
                <a:effectLst/>
                <a:latin typeface="-apple-system"/>
              </a:rPr>
              <a:t>的焊盘上，为元器件的焊接做准备。所用设备为丝印机，位于</a:t>
            </a:r>
            <a:r>
              <a:rPr lang="en-US" altLang="zh-CN" sz="4500" b="1" i="0" dirty="0">
                <a:solidFill>
                  <a:srgbClr val="121212"/>
                </a:solidFill>
                <a:effectLst/>
                <a:latin typeface="-apple-system"/>
              </a:rPr>
              <a:t>SMT</a:t>
            </a:r>
            <a:r>
              <a:rPr lang="zh-CN" altLang="en-US" sz="4500" b="1" i="0" dirty="0">
                <a:solidFill>
                  <a:srgbClr val="121212"/>
                </a:solidFill>
                <a:effectLst/>
                <a:latin typeface="-apple-system"/>
              </a:rPr>
              <a:t>生产线的最前端。</a:t>
            </a:r>
          </a:p>
          <a:p>
            <a:pPr algn="l">
              <a:lnSpc>
                <a:spcPct val="120000"/>
              </a:lnSpc>
              <a:spcBef>
                <a:spcPts val="0"/>
              </a:spcBef>
              <a:buFont typeface="Wingdings" panose="05000000000000000000" pitchFamily="2" charset="2"/>
              <a:buChar char="Ø"/>
            </a:pPr>
            <a:r>
              <a:rPr lang="en-US" altLang="zh-CN" sz="4500" b="1" i="0" dirty="0">
                <a:solidFill>
                  <a:srgbClr val="121212"/>
                </a:solidFill>
                <a:effectLst/>
                <a:latin typeface="-apple-system"/>
              </a:rPr>
              <a:t>2.</a:t>
            </a:r>
            <a:r>
              <a:rPr lang="zh-CN" altLang="en-US" sz="4500" b="1" i="0" dirty="0">
                <a:solidFill>
                  <a:srgbClr val="121212"/>
                </a:solidFill>
                <a:effectLst/>
                <a:latin typeface="-apple-system"/>
              </a:rPr>
              <a:t>零件贴装：其作用是将表面组装元器件准确安装到</a:t>
            </a:r>
            <a:r>
              <a:rPr lang="en-US" altLang="zh-CN" sz="4500" b="1" i="0" dirty="0">
                <a:solidFill>
                  <a:srgbClr val="121212"/>
                </a:solidFill>
                <a:effectLst/>
                <a:latin typeface="-apple-system"/>
              </a:rPr>
              <a:t>PCB</a:t>
            </a:r>
            <a:r>
              <a:rPr lang="zh-CN" altLang="en-US" sz="4500" b="1" i="0" dirty="0">
                <a:solidFill>
                  <a:srgbClr val="121212"/>
                </a:solidFill>
                <a:effectLst/>
                <a:latin typeface="-apple-system"/>
              </a:rPr>
              <a:t>的固定位置上。所用设备为贴片机，位于</a:t>
            </a:r>
            <a:r>
              <a:rPr lang="en-US" altLang="zh-CN" sz="4500" b="1" i="0" dirty="0">
                <a:solidFill>
                  <a:srgbClr val="121212"/>
                </a:solidFill>
                <a:effectLst/>
                <a:latin typeface="-apple-system"/>
              </a:rPr>
              <a:t>SMT</a:t>
            </a:r>
            <a:r>
              <a:rPr lang="zh-CN" altLang="en-US" sz="4500" b="1" i="0" dirty="0">
                <a:solidFill>
                  <a:srgbClr val="121212"/>
                </a:solidFill>
                <a:effectLst/>
                <a:latin typeface="-apple-system"/>
              </a:rPr>
              <a:t>生产线中丝印机的后面。</a:t>
            </a:r>
          </a:p>
          <a:p>
            <a:pPr algn="l">
              <a:lnSpc>
                <a:spcPct val="120000"/>
              </a:lnSpc>
              <a:spcBef>
                <a:spcPts val="0"/>
              </a:spcBef>
              <a:buFont typeface="Wingdings" panose="05000000000000000000" pitchFamily="2" charset="2"/>
              <a:buChar char="Ø"/>
            </a:pPr>
            <a:r>
              <a:rPr lang="en-US" altLang="zh-CN" sz="4500" b="1" i="0" dirty="0">
                <a:solidFill>
                  <a:srgbClr val="121212"/>
                </a:solidFill>
                <a:effectLst/>
                <a:latin typeface="-apple-system"/>
              </a:rPr>
              <a:t>3.</a:t>
            </a:r>
            <a:r>
              <a:rPr lang="zh-CN" altLang="en-US" sz="4500" b="1" i="0" dirty="0">
                <a:solidFill>
                  <a:srgbClr val="121212"/>
                </a:solidFill>
                <a:effectLst/>
                <a:latin typeface="-apple-system"/>
              </a:rPr>
              <a:t>过炉固化：其作用是将贴片胶融化，从而使表面组装元器件与</a:t>
            </a:r>
            <a:r>
              <a:rPr lang="en-US" altLang="zh-CN" sz="4500" b="1" i="0" dirty="0">
                <a:solidFill>
                  <a:srgbClr val="121212"/>
                </a:solidFill>
                <a:effectLst/>
                <a:latin typeface="-apple-system"/>
              </a:rPr>
              <a:t>PCB</a:t>
            </a:r>
            <a:r>
              <a:rPr lang="zh-CN" altLang="en-US" sz="4500" b="1" i="0" dirty="0">
                <a:solidFill>
                  <a:srgbClr val="121212"/>
                </a:solidFill>
                <a:effectLst/>
                <a:latin typeface="-apple-system"/>
              </a:rPr>
              <a:t>板牢固粘接在一起。所用设备为固化炉，位于</a:t>
            </a:r>
            <a:r>
              <a:rPr lang="en-US" altLang="zh-CN" sz="4500" b="1" i="0" dirty="0">
                <a:solidFill>
                  <a:srgbClr val="121212"/>
                </a:solidFill>
                <a:effectLst/>
                <a:latin typeface="-apple-system"/>
              </a:rPr>
              <a:t>SMT</a:t>
            </a:r>
            <a:r>
              <a:rPr lang="zh-CN" altLang="en-US" sz="4500" b="1" i="0" dirty="0">
                <a:solidFill>
                  <a:srgbClr val="121212"/>
                </a:solidFill>
                <a:effectLst/>
                <a:latin typeface="-apple-system"/>
              </a:rPr>
              <a:t>生产线中贴片机的后面。</a:t>
            </a:r>
          </a:p>
          <a:p>
            <a:pPr algn="l">
              <a:lnSpc>
                <a:spcPct val="120000"/>
              </a:lnSpc>
              <a:spcBef>
                <a:spcPts val="0"/>
              </a:spcBef>
              <a:buFont typeface="Wingdings" panose="05000000000000000000" pitchFamily="2" charset="2"/>
              <a:buChar char="Ø"/>
            </a:pPr>
            <a:r>
              <a:rPr lang="en-US" altLang="zh-CN" sz="4500" b="1" i="0" dirty="0">
                <a:solidFill>
                  <a:srgbClr val="121212"/>
                </a:solidFill>
                <a:effectLst/>
                <a:latin typeface="-apple-system"/>
              </a:rPr>
              <a:t>4.</a:t>
            </a:r>
            <a:r>
              <a:rPr lang="zh-CN" altLang="en-US" sz="4500" b="1" i="0" dirty="0">
                <a:solidFill>
                  <a:srgbClr val="121212"/>
                </a:solidFill>
                <a:effectLst/>
                <a:latin typeface="-apple-system"/>
              </a:rPr>
              <a:t>回流焊接：其作用是将焊膏融化，使表面组装元器件与</a:t>
            </a:r>
            <a:r>
              <a:rPr lang="en-US" altLang="zh-CN" sz="4500" b="1" i="0" dirty="0">
                <a:solidFill>
                  <a:srgbClr val="121212"/>
                </a:solidFill>
                <a:effectLst/>
                <a:latin typeface="-apple-system"/>
              </a:rPr>
              <a:t>PCB</a:t>
            </a:r>
            <a:r>
              <a:rPr lang="zh-CN" altLang="en-US" sz="4500" b="1" i="0" dirty="0">
                <a:solidFill>
                  <a:srgbClr val="121212"/>
                </a:solidFill>
                <a:effectLst/>
                <a:latin typeface="-apple-system"/>
              </a:rPr>
              <a:t>板牢固粘接在一起。所用设备为回流焊炉，位于</a:t>
            </a:r>
            <a:r>
              <a:rPr lang="en-US" altLang="zh-CN" sz="4500" b="1" i="0" dirty="0">
                <a:solidFill>
                  <a:srgbClr val="121212"/>
                </a:solidFill>
                <a:effectLst/>
                <a:latin typeface="-apple-system"/>
              </a:rPr>
              <a:t>SMT</a:t>
            </a:r>
            <a:r>
              <a:rPr lang="zh-CN" altLang="en-US" sz="4500" b="1" i="0" dirty="0">
                <a:solidFill>
                  <a:srgbClr val="121212"/>
                </a:solidFill>
                <a:effectLst/>
                <a:latin typeface="-apple-system"/>
              </a:rPr>
              <a:t>生产线中贴片机的后面。</a:t>
            </a:r>
          </a:p>
          <a:p>
            <a:pPr algn="l">
              <a:lnSpc>
                <a:spcPct val="120000"/>
              </a:lnSpc>
              <a:spcBef>
                <a:spcPts val="0"/>
              </a:spcBef>
              <a:buFont typeface="Wingdings" panose="05000000000000000000" pitchFamily="2" charset="2"/>
              <a:buChar char="Ø"/>
            </a:pPr>
            <a:r>
              <a:rPr lang="en-US" altLang="zh-CN" sz="4500" b="1" i="0" dirty="0">
                <a:solidFill>
                  <a:srgbClr val="121212"/>
                </a:solidFill>
                <a:effectLst/>
                <a:latin typeface="-apple-system"/>
              </a:rPr>
              <a:t>5.AOI</a:t>
            </a:r>
            <a:r>
              <a:rPr lang="zh-CN" altLang="en-US" sz="4500" b="1" i="0" dirty="0">
                <a:solidFill>
                  <a:srgbClr val="121212"/>
                </a:solidFill>
                <a:effectLst/>
                <a:latin typeface="-apple-system"/>
              </a:rPr>
              <a:t>光学检测：其作用是对组装好的</a:t>
            </a:r>
            <a:r>
              <a:rPr lang="en-US" altLang="zh-CN" sz="4500" b="1" i="0" dirty="0">
                <a:solidFill>
                  <a:srgbClr val="121212"/>
                </a:solidFill>
                <a:effectLst/>
                <a:latin typeface="-apple-system"/>
              </a:rPr>
              <a:t>PCB</a:t>
            </a:r>
            <a:r>
              <a:rPr lang="zh-CN" altLang="en-US" sz="4500" b="1" i="0" dirty="0">
                <a:solidFill>
                  <a:srgbClr val="121212"/>
                </a:solidFill>
                <a:effectLst/>
                <a:latin typeface="-apple-system"/>
              </a:rPr>
              <a:t>板进行焊接质量和装配质量的检测。所用设备为自动光学检测（</a:t>
            </a:r>
            <a:r>
              <a:rPr lang="en-US" altLang="zh-CN" sz="4500" b="1" i="0" dirty="0">
                <a:solidFill>
                  <a:srgbClr val="121212"/>
                </a:solidFill>
                <a:effectLst/>
                <a:latin typeface="-apple-system"/>
              </a:rPr>
              <a:t>AOI</a:t>
            </a:r>
            <a:r>
              <a:rPr lang="zh-CN" altLang="en-US" sz="4500" b="1" i="0" dirty="0">
                <a:solidFill>
                  <a:srgbClr val="121212"/>
                </a:solidFill>
                <a:effectLst/>
                <a:latin typeface="-apple-system"/>
              </a:rPr>
              <a:t>），订单量通常在上万以上，订单量小的就通过人工检测。位置根据检测的需要，可以配置在生产线合适的地方。有些在回流焊接前，有的在回流焊接后。</a:t>
            </a:r>
          </a:p>
          <a:p>
            <a:pPr algn="l">
              <a:lnSpc>
                <a:spcPct val="120000"/>
              </a:lnSpc>
              <a:spcBef>
                <a:spcPts val="0"/>
              </a:spcBef>
              <a:buFont typeface="Wingdings" panose="05000000000000000000" pitchFamily="2" charset="2"/>
              <a:buChar char="Ø"/>
            </a:pPr>
            <a:r>
              <a:rPr lang="en-US" altLang="zh-CN" sz="4500" b="1" i="0" dirty="0">
                <a:solidFill>
                  <a:srgbClr val="121212"/>
                </a:solidFill>
                <a:effectLst/>
                <a:latin typeface="-apple-system"/>
              </a:rPr>
              <a:t>6.</a:t>
            </a:r>
            <a:r>
              <a:rPr lang="zh-CN" altLang="en-US" sz="4500" b="1" i="0" dirty="0">
                <a:solidFill>
                  <a:srgbClr val="121212"/>
                </a:solidFill>
                <a:effectLst/>
                <a:latin typeface="-apple-system"/>
              </a:rPr>
              <a:t>维修：其作用是对检测出现故障的</a:t>
            </a:r>
            <a:r>
              <a:rPr lang="en-US" altLang="zh-CN" sz="4500" b="1" i="0" dirty="0">
                <a:solidFill>
                  <a:srgbClr val="121212"/>
                </a:solidFill>
                <a:effectLst/>
                <a:latin typeface="-apple-system"/>
              </a:rPr>
              <a:t>PCB</a:t>
            </a:r>
            <a:r>
              <a:rPr lang="zh-CN" altLang="en-US" sz="4500" b="1" i="0" dirty="0">
                <a:solidFill>
                  <a:srgbClr val="121212"/>
                </a:solidFill>
                <a:effectLst/>
                <a:latin typeface="-apple-system"/>
              </a:rPr>
              <a:t>板进行返修。所用工具为烙铁、返修工作站等。配置在</a:t>
            </a:r>
            <a:r>
              <a:rPr lang="en-US" altLang="zh-CN" sz="4500" b="1" i="0" dirty="0">
                <a:solidFill>
                  <a:srgbClr val="121212"/>
                </a:solidFill>
                <a:effectLst/>
                <a:latin typeface="-apple-system"/>
              </a:rPr>
              <a:t>AOI</a:t>
            </a:r>
            <a:r>
              <a:rPr lang="zh-CN" altLang="en-US" sz="4500" b="1" i="0" dirty="0">
                <a:solidFill>
                  <a:srgbClr val="121212"/>
                </a:solidFill>
                <a:effectLst/>
                <a:latin typeface="-apple-system"/>
              </a:rPr>
              <a:t>光学检测后。</a:t>
            </a:r>
          </a:p>
          <a:p>
            <a:pPr algn="l">
              <a:lnSpc>
                <a:spcPct val="120000"/>
              </a:lnSpc>
              <a:spcBef>
                <a:spcPts val="0"/>
              </a:spcBef>
              <a:buFont typeface="Wingdings" panose="05000000000000000000" pitchFamily="2" charset="2"/>
              <a:buChar char="Ø"/>
            </a:pPr>
            <a:r>
              <a:rPr lang="en-US" altLang="zh-CN" sz="4500" b="1" i="0" dirty="0">
                <a:solidFill>
                  <a:srgbClr val="121212"/>
                </a:solidFill>
                <a:effectLst/>
                <a:latin typeface="-apple-system"/>
              </a:rPr>
              <a:t>7.</a:t>
            </a:r>
            <a:r>
              <a:rPr lang="zh-CN" altLang="en-US" sz="4500" b="1" i="0" dirty="0">
                <a:solidFill>
                  <a:srgbClr val="121212"/>
                </a:solidFill>
                <a:effectLst/>
                <a:latin typeface="-apple-system"/>
              </a:rPr>
              <a:t>分板：其作用是对多连板</a:t>
            </a:r>
            <a:r>
              <a:rPr lang="en-US" altLang="zh-CN" sz="4500" b="1" i="0" dirty="0">
                <a:solidFill>
                  <a:srgbClr val="121212"/>
                </a:solidFill>
                <a:effectLst/>
                <a:latin typeface="-apple-system"/>
              </a:rPr>
              <a:t>PCBA</a:t>
            </a:r>
            <a:r>
              <a:rPr lang="zh-CN" altLang="en-US" sz="4500" b="1" i="0" dirty="0">
                <a:solidFill>
                  <a:srgbClr val="121212"/>
                </a:solidFill>
                <a:effectLst/>
                <a:latin typeface="-apple-system"/>
              </a:rPr>
              <a:t>进行切分，使之分开形成单独个体，一般采用</a:t>
            </a:r>
            <a:r>
              <a:rPr lang="en-US" altLang="zh-CN" sz="4500" b="1" i="0" dirty="0">
                <a:solidFill>
                  <a:srgbClr val="121212"/>
                </a:solidFill>
                <a:effectLst/>
                <a:latin typeface="-apple-system"/>
              </a:rPr>
              <a:t>V-cut</a:t>
            </a:r>
            <a:r>
              <a:rPr lang="zh-CN" altLang="en-US" sz="4500" b="1" i="0" dirty="0">
                <a:solidFill>
                  <a:srgbClr val="121212"/>
                </a:solidFill>
                <a:effectLst/>
                <a:latin typeface="-apple-system"/>
              </a:rPr>
              <a:t>与机器切割方式。</a:t>
            </a:r>
          </a:p>
          <a:p>
            <a:pPr algn="l">
              <a:lnSpc>
                <a:spcPct val="120000"/>
              </a:lnSpc>
              <a:spcBef>
                <a:spcPts val="0"/>
              </a:spcBef>
              <a:buFont typeface="Wingdings" panose="05000000000000000000" pitchFamily="2" charset="2"/>
              <a:buChar char="Ø"/>
            </a:pPr>
            <a:r>
              <a:rPr lang="en-US" altLang="zh-CN" sz="4500" b="1" i="0" dirty="0">
                <a:solidFill>
                  <a:srgbClr val="121212"/>
                </a:solidFill>
                <a:effectLst/>
                <a:latin typeface="-apple-system"/>
              </a:rPr>
              <a:t>8.</a:t>
            </a:r>
            <a:r>
              <a:rPr lang="zh-CN" altLang="en-US" sz="4500" b="1" i="0" dirty="0">
                <a:solidFill>
                  <a:srgbClr val="121212"/>
                </a:solidFill>
                <a:effectLst/>
                <a:latin typeface="-apple-system"/>
              </a:rPr>
              <a:t>磨板：其作用是对有毛刺的部位进行磨砂，使其变得光滑平整。</a:t>
            </a:r>
          </a:p>
          <a:p>
            <a:pPr algn="l">
              <a:lnSpc>
                <a:spcPct val="120000"/>
              </a:lnSpc>
              <a:spcBef>
                <a:spcPts val="0"/>
              </a:spcBef>
              <a:buFont typeface="Wingdings" panose="05000000000000000000" pitchFamily="2" charset="2"/>
              <a:buChar char="Ø"/>
            </a:pPr>
            <a:r>
              <a:rPr lang="en-US" altLang="zh-CN" sz="4500" b="1" i="0" dirty="0">
                <a:solidFill>
                  <a:srgbClr val="121212"/>
                </a:solidFill>
                <a:effectLst/>
                <a:latin typeface="-apple-system"/>
              </a:rPr>
              <a:t>9.</a:t>
            </a:r>
            <a:r>
              <a:rPr lang="zh-CN" altLang="en-US" sz="4500" b="1" i="0" dirty="0">
                <a:solidFill>
                  <a:srgbClr val="121212"/>
                </a:solidFill>
                <a:effectLst/>
                <a:latin typeface="-apple-system"/>
              </a:rPr>
              <a:t>洗板：其作用是将组装好的</a:t>
            </a:r>
            <a:r>
              <a:rPr lang="en-US" altLang="zh-CN" sz="4500" b="1" i="0" dirty="0">
                <a:solidFill>
                  <a:srgbClr val="121212"/>
                </a:solidFill>
                <a:effectLst/>
                <a:latin typeface="-apple-system"/>
              </a:rPr>
              <a:t>PCB</a:t>
            </a:r>
            <a:r>
              <a:rPr lang="zh-CN" altLang="en-US" sz="4500" b="1" i="0" dirty="0">
                <a:solidFill>
                  <a:srgbClr val="121212"/>
                </a:solidFill>
                <a:effectLst/>
                <a:latin typeface="-apple-system"/>
              </a:rPr>
              <a:t>板上面的对人体有害的焊接残留物如助焊剂等除去。分人工清洗和清洗机清洗，位置可以不固定，可以在线，也可不在线。</a:t>
            </a:r>
          </a:p>
          <a:p>
            <a:endParaRPr lang="en-US" altLang="zh-CN" b="1" dirty="0">
              <a:solidFill>
                <a:srgbClr val="333333"/>
              </a:solidFill>
              <a:latin typeface="Helvetica Neue"/>
            </a:endParaRPr>
          </a:p>
        </p:txBody>
      </p:sp>
    </p:spTree>
    <p:extLst>
      <p:ext uri="{BB962C8B-B14F-4D97-AF65-F5344CB8AC3E}">
        <p14:creationId xmlns:p14="http://schemas.microsoft.com/office/powerpoint/2010/main" val="1719334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A8FBFF-AA56-544E-4174-81366E4CB7D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A39A9AE-580F-DC53-8EB4-F976DDFDA149}"/>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21933028-AFDA-3A64-EB78-373DC09C89D9}"/>
              </a:ext>
            </a:extLst>
          </p:cNvPr>
          <p:cNvPicPr>
            <a:picLocks noChangeAspect="1"/>
          </p:cNvPicPr>
          <p:nvPr/>
        </p:nvPicPr>
        <p:blipFill>
          <a:blip r:embed="rId2"/>
          <a:stretch>
            <a:fillRect/>
          </a:stretch>
        </p:blipFill>
        <p:spPr>
          <a:xfrm>
            <a:off x="535992" y="182598"/>
            <a:ext cx="10510415" cy="6492803"/>
          </a:xfrm>
          <a:prstGeom prst="rect">
            <a:avLst/>
          </a:prstGeom>
        </p:spPr>
      </p:pic>
    </p:spTree>
    <p:extLst>
      <p:ext uri="{BB962C8B-B14F-4D97-AF65-F5344CB8AC3E}">
        <p14:creationId xmlns:p14="http://schemas.microsoft.com/office/powerpoint/2010/main" val="2474077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86ADC0-5B6B-C33D-C3F8-E4B34D3F316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E90FE3E-AAFD-C967-A18C-B23E70F0B8EC}"/>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D3DCF014-4191-D689-CA06-15A0B1910D57}"/>
              </a:ext>
            </a:extLst>
          </p:cNvPr>
          <p:cNvPicPr>
            <a:picLocks noChangeAspect="1"/>
          </p:cNvPicPr>
          <p:nvPr/>
        </p:nvPicPr>
        <p:blipFill>
          <a:blip r:embed="rId2"/>
          <a:stretch>
            <a:fillRect/>
          </a:stretch>
        </p:blipFill>
        <p:spPr>
          <a:xfrm>
            <a:off x="767757" y="240879"/>
            <a:ext cx="10226996" cy="6176963"/>
          </a:xfrm>
          <a:prstGeom prst="rect">
            <a:avLst/>
          </a:prstGeom>
        </p:spPr>
      </p:pic>
    </p:spTree>
    <p:extLst>
      <p:ext uri="{BB962C8B-B14F-4D97-AF65-F5344CB8AC3E}">
        <p14:creationId xmlns:p14="http://schemas.microsoft.com/office/powerpoint/2010/main" val="1091320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426A8C-A53D-5F64-8088-43976DA0680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8FEF87D-AB98-BCF8-4814-4E54CF1D3D28}"/>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B3B172E1-24FB-1C58-D94C-F79C54599F68}"/>
              </a:ext>
            </a:extLst>
          </p:cNvPr>
          <p:cNvPicPr>
            <a:picLocks noChangeAspect="1"/>
          </p:cNvPicPr>
          <p:nvPr/>
        </p:nvPicPr>
        <p:blipFill>
          <a:blip r:embed="rId2"/>
          <a:stretch>
            <a:fillRect/>
          </a:stretch>
        </p:blipFill>
        <p:spPr>
          <a:xfrm>
            <a:off x="838200" y="157306"/>
            <a:ext cx="9406959" cy="6399817"/>
          </a:xfrm>
          <a:prstGeom prst="rect">
            <a:avLst/>
          </a:prstGeom>
        </p:spPr>
      </p:pic>
    </p:spTree>
    <p:extLst>
      <p:ext uri="{BB962C8B-B14F-4D97-AF65-F5344CB8AC3E}">
        <p14:creationId xmlns:p14="http://schemas.microsoft.com/office/powerpoint/2010/main" val="3931822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D0B7D2-FF84-E3CA-6C16-F2DAE7E8921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FCA3574-D72E-801A-BD19-877710444595}"/>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9B9C0233-893C-5D71-E066-803791098F0B}"/>
              </a:ext>
            </a:extLst>
          </p:cNvPr>
          <p:cNvPicPr>
            <a:picLocks noChangeAspect="1"/>
          </p:cNvPicPr>
          <p:nvPr/>
        </p:nvPicPr>
        <p:blipFill>
          <a:blip r:embed="rId2"/>
          <a:stretch>
            <a:fillRect/>
          </a:stretch>
        </p:blipFill>
        <p:spPr>
          <a:xfrm>
            <a:off x="1124941" y="365125"/>
            <a:ext cx="7724621" cy="5843979"/>
          </a:xfrm>
          <a:prstGeom prst="rect">
            <a:avLst/>
          </a:prstGeom>
        </p:spPr>
      </p:pic>
    </p:spTree>
    <p:extLst>
      <p:ext uri="{BB962C8B-B14F-4D97-AF65-F5344CB8AC3E}">
        <p14:creationId xmlns:p14="http://schemas.microsoft.com/office/powerpoint/2010/main" val="353857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F79984-A0BA-6836-48F8-BE9260A75E3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72A867C-F7ED-C734-D156-ED41478A3040}"/>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F651F3C7-4805-2130-5B4C-5EF6E362178D}"/>
              </a:ext>
            </a:extLst>
          </p:cNvPr>
          <p:cNvPicPr>
            <a:picLocks noChangeAspect="1"/>
          </p:cNvPicPr>
          <p:nvPr/>
        </p:nvPicPr>
        <p:blipFill>
          <a:blip r:embed="rId2"/>
          <a:stretch>
            <a:fillRect/>
          </a:stretch>
        </p:blipFill>
        <p:spPr>
          <a:xfrm>
            <a:off x="720437" y="284623"/>
            <a:ext cx="9310253" cy="5892340"/>
          </a:xfrm>
          <a:prstGeom prst="rect">
            <a:avLst/>
          </a:prstGeom>
        </p:spPr>
      </p:pic>
    </p:spTree>
    <p:extLst>
      <p:ext uri="{BB962C8B-B14F-4D97-AF65-F5344CB8AC3E}">
        <p14:creationId xmlns:p14="http://schemas.microsoft.com/office/powerpoint/2010/main" val="1218226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4AF909B-10A5-678F-9ACF-D95A264BC8C7}"/>
              </a:ext>
            </a:extLst>
          </p:cNvPr>
          <p:cNvPicPr>
            <a:picLocks noChangeAspect="1"/>
          </p:cNvPicPr>
          <p:nvPr/>
        </p:nvPicPr>
        <p:blipFill>
          <a:blip r:embed="rId2"/>
          <a:stretch>
            <a:fillRect/>
          </a:stretch>
        </p:blipFill>
        <p:spPr>
          <a:xfrm>
            <a:off x="5876095" y="547253"/>
            <a:ext cx="4122823" cy="4246419"/>
          </a:xfrm>
          <a:prstGeom prst="rect">
            <a:avLst/>
          </a:prstGeom>
        </p:spPr>
      </p:pic>
      <p:pic>
        <p:nvPicPr>
          <p:cNvPr id="5" name="图片 4">
            <a:extLst>
              <a:ext uri="{FF2B5EF4-FFF2-40B4-BE49-F238E27FC236}">
                <a16:creationId xmlns:a16="http://schemas.microsoft.com/office/drawing/2014/main" id="{22FE56A7-91A9-A00F-5764-34A06D6A8F74}"/>
              </a:ext>
            </a:extLst>
          </p:cNvPr>
          <p:cNvPicPr>
            <a:picLocks noChangeAspect="1"/>
          </p:cNvPicPr>
          <p:nvPr/>
        </p:nvPicPr>
        <p:blipFill>
          <a:blip r:embed="rId3"/>
          <a:stretch>
            <a:fillRect/>
          </a:stretch>
        </p:blipFill>
        <p:spPr>
          <a:xfrm>
            <a:off x="597517" y="436417"/>
            <a:ext cx="4470894" cy="4107873"/>
          </a:xfrm>
          <a:prstGeom prst="rect">
            <a:avLst/>
          </a:prstGeom>
        </p:spPr>
      </p:pic>
    </p:spTree>
    <p:extLst>
      <p:ext uri="{BB962C8B-B14F-4D97-AF65-F5344CB8AC3E}">
        <p14:creationId xmlns:p14="http://schemas.microsoft.com/office/powerpoint/2010/main" val="1797022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FD278FDB-EB86-A010-B42F-A5A47561A192}"/>
              </a:ext>
            </a:extLst>
          </p:cNvPr>
          <p:cNvSpPr>
            <a:spLocks noGrp="1"/>
          </p:cNvSpPr>
          <p:nvPr>
            <p:ph type="subTitle" idx="4294967295"/>
          </p:nvPr>
        </p:nvSpPr>
        <p:spPr>
          <a:xfrm>
            <a:off x="911947" y="958707"/>
            <a:ext cx="11079162" cy="5693884"/>
          </a:xfrm>
        </p:spPr>
        <p:txBody>
          <a:bodyPr numCol="2">
            <a:normAutofit/>
          </a:bodyPr>
          <a:lstStyle/>
          <a:p>
            <a:pPr algn="l">
              <a:lnSpc>
                <a:spcPct val="150000"/>
              </a:lnSpc>
            </a:pPr>
            <a:r>
              <a:rPr lang="zh-CN" altLang="en-US" sz="2400" b="1" dirty="0">
                <a:solidFill>
                  <a:srgbClr val="FF0000"/>
                </a:solidFill>
                <a:latin typeface="Times New Roman" panose="02020603050405020304" pitchFamily="18" charset="0"/>
                <a:cs typeface="Times New Roman" panose="02020603050405020304" pitchFamily="18" charset="0"/>
              </a:rPr>
              <a:t>第一次课</a:t>
            </a:r>
            <a:endParaRPr lang="en-US" altLang="zh-CN" sz="2400" b="1" dirty="0">
              <a:solidFill>
                <a:srgbClr val="FF0000"/>
              </a:solidFill>
              <a:latin typeface="Times New Roman" panose="02020603050405020304" pitchFamily="18" charset="0"/>
              <a:cs typeface="Times New Roman" panose="02020603050405020304" pitchFamily="18" charset="0"/>
            </a:endParaRPr>
          </a:p>
          <a:p>
            <a:pPr algn="l">
              <a:lnSpc>
                <a:spcPct val="150000"/>
              </a:lnSpc>
            </a:pP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、发放材料包</a:t>
            </a:r>
            <a:endParaRPr lang="en-US" altLang="zh-CN" sz="2400" b="1" dirty="0">
              <a:latin typeface="Times New Roman" panose="02020603050405020304" pitchFamily="18" charset="0"/>
              <a:cs typeface="Times New Roman" panose="02020603050405020304" pitchFamily="18" charset="0"/>
            </a:endParaRPr>
          </a:p>
          <a:p>
            <a:pPr algn="l">
              <a:lnSpc>
                <a:spcPct val="150000"/>
              </a:lnSpc>
            </a:pP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、发放</a:t>
            </a:r>
            <a:r>
              <a:rPr lang="en-US" altLang="zh-CN" sz="2400" b="1" dirty="0">
                <a:latin typeface="Times New Roman" panose="02020603050405020304" pitchFamily="18" charset="0"/>
                <a:cs typeface="Times New Roman" panose="02020603050405020304" pitchFamily="18" charset="0"/>
              </a:rPr>
              <a:t>PCB</a:t>
            </a:r>
          </a:p>
          <a:p>
            <a:pPr algn="l">
              <a:lnSpc>
                <a:spcPct val="150000"/>
              </a:lnSpc>
            </a:pPr>
            <a:r>
              <a:rPr lang="en-US" altLang="zh-CN" sz="2400" b="1" dirty="0">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、原理讲解</a:t>
            </a:r>
            <a:endParaRPr lang="en-US" altLang="zh-CN" sz="2400" b="1" dirty="0">
              <a:latin typeface="Times New Roman" panose="02020603050405020304" pitchFamily="18" charset="0"/>
              <a:cs typeface="Times New Roman" panose="02020603050405020304" pitchFamily="18" charset="0"/>
            </a:endParaRPr>
          </a:p>
          <a:p>
            <a:pPr algn="l">
              <a:lnSpc>
                <a:spcPct val="150000"/>
              </a:lnSpc>
            </a:pPr>
            <a:r>
              <a:rPr lang="en-US" altLang="zh-CN" sz="2400" b="1" dirty="0">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cs typeface="Times New Roman" panose="02020603050405020304" pitchFamily="18" charset="0"/>
              </a:rPr>
              <a:t>、注意点</a:t>
            </a:r>
            <a:endParaRPr lang="en-US" altLang="zh-CN" sz="2400" b="1" dirty="0">
              <a:latin typeface="Times New Roman" panose="02020603050405020304" pitchFamily="18" charset="0"/>
              <a:cs typeface="Times New Roman" panose="02020603050405020304" pitchFamily="18" charset="0"/>
            </a:endParaRPr>
          </a:p>
          <a:p>
            <a:pPr lvl="1" algn="l">
              <a:lnSpc>
                <a:spcPct val="150000"/>
              </a:lnSpc>
            </a:pP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PCB</a:t>
            </a:r>
            <a:r>
              <a:rPr lang="zh-CN" altLang="en-US" b="1" dirty="0">
                <a:latin typeface="Times New Roman" panose="02020603050405020304" pitchFamily="18" charset="0"/>
                <a:cs typeface="Times New Roman" panose="02020603050405020304" pitchFamily="18" charset="0"/>
              </a:rPr>
              <a:t>板背面写名字</a:t>
            </a:r>
            <a:endParaRPr lang="en-US" altLang="zh-CN" b="1" dirty="0">
              <a:latin typeface="Times New Roman" panose="02020603050405020304" pitchFamily="18" charset="0"/>
              <a:cs typeface="Times New Roman" panose="02020603050405020304" pitchFamily="18" charset="0"/>
            </a:endParaRPr>
          </a:p>
          <a:p>
            <a:pPr lvl="1" algn="l">
              <a:lnSpc>
                <a:spcPct val="150000"/>
              </a:lnSpc>
            </a:pP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）丝印印刷后锡膏不能碰</a:t>
            </a:r>
            <a:endParaRPr lang="en-US" altLang="zh-CN" b="1" dirty="0">
              <a:latin typeface="Times New Roman" panose="02020603050405020304" pitchFamily="18" charset="0"/>
              <a:cs typeface="Times New Roman" panose="02020603050405020304" pitchFamily="18" charset="0"/>
            </a:endParaRPr>
          </a:p>
          <a:p>
            <a:pPr lvl="1" algn="l">
              <a:lnSpc>
                <a:spcPct val="150000"/>
              </a:lnSpc>
            </a:pPr>
            <a:r>
              <a:rPr lang="en-US" altLang="zh-CN" b="1" dirty="0">
                <a:latin typeface="Times New Roman" panose="02020603050405020304" pitchFamily="18" charset="0"/>
                <a:cs typeface="Times New Roman" panose="02020603050405020304" pitchFamily="18" charset="0"/>
              </a:rPr>
              <a:t>3</a:t>
            </a:r>
            <a:r>
              <a:rPr lang="zh-CN" altLang="en-US" b="1" dirty="0">
                <a:latin typeface="Times New Roman" panose="02020603050405020304" pitchFamily="18" charset="0"/>
                <a:cs typeface="Times New Roman" panose="02020603050405020304" pitchFamily="18" charset="0"/>
              </a:rPr>
              <a:t>）元器件严格按照</a:t>
            </a:r>
            <a:r>
              <a:rPr lang="en-US" altLang="zh-CN" b="1" dirty="0">
                <a:latin typeface="Times New Roman" panose="02020603050405020304" pitchFamily="18" charset="0"/>
                <a:cs typeface="Times New Roman" panose="02020603050405020304" pitchFamily="18" charset="0"/>
              </a:rPr>
              <a:t>BOM</a:t>
            </a:r>
            <a:r>
              <a:rPr lang="zh-CN" altLang="en-US" b="1" dirty="0">
                <a:latin typeface="Times New Roman" panose="02020603050405020304" pitchFamily="18" charset="0"/>
                <a:cs typeface="Times New Roman" panose="02020603050405020304" pitchFamily="18" charset="0"/>
              </a:rPr>
              <a:t>摆放</a:t>
            </a:r>
            <a:endParaRPr lang="en-US" altLang="zh-CN" b="1" dirty="0">
              <a:latin typeface="Times New Roman" panose="02020603050405020304" pitchFamily="18" charset="0"/>
              <a:cs typeface="Times New Roman" panose="02020603050405020304" pitchFamily="18" charset="0"/>
            </a:endParaRPr>
          </a:p>
          <a:p>
            <a:pPr algn="l">
              <a:lnSpc>
                <a:spcPct val="150000"/>
              </a:lnSpc>
            </a:pPr>
            <a:r>
              <a:rPr lang="en-US" altLang="zh-CN" sz="2400" b="1" dirty="0">
                <a:latin typeface="Times New Roman" panose="02020603050405020304" pitchFamily="18" charset="0"/>
                <a:cs typeface="Times New Roman" panose="02020603050405020304" pitchFamily="18" charset="0"/>
              </a:rPr>
              <a:t>5</a:t>
            </a:r>
            <a:r>
              <a:rPr lang="zh-CN" altLang="en-US" sz="2400" b="1" dirty="0">
                <a:latin typeface="Times New Roman" panose="02020603050405020304" pitchFamily="18" charset="0"/>
                <a:cs typeface="Times New Roman" panose="02020603050405020304" pitchFamily="18" charset="0"/>
              </a:rPr>
              <a:t>、锡膏印刷（注意检查名字）</a:t>
            </a:r>
            <a:endParaRPr lang="en-US" altLang="zh-CN" sz="2400" b="1" dirty="0">
              <a:latin typeface="Times New Roman" panose="02020603050405020304" pitchFamily="18" charset="0"/>
              <a:cs typeface="Times New Roman" panose="02020603050405020304" pitchFamily="18" charset="0"/>
            </a:endParaRPr>
          </a:p>
          <a:p>
            <a:pPr algn="l">
              <a:lnSpc>
                <a:spcPct val="150000"/>
              </a:lnSpc>
            </a:pPr>
            <a:r>
              <a:rPr lang="en-US" altLang="zh-CN" sz="2400" b="1" dirty="0">
                <a:latin typeface="Times New Roman" panose="02020603050405020304" pitchFamily="18" charset="0"/>
                <a:cs typeface="Times New Roman" panose="02020603050405020304" pitchFamily="18" charset="0"/>
              </a:rPr>
              <a:t>6</a:t>
            </a:r>
            <a:r>
              <a:rPr lang="zh-CN" altLang="en-US" sz="2400" b="1" dirty="0">
                <a:latin typeface="Times New Roman" panose="02020603050405020304" pitchFamily="18" charset="0"/>
                <a:cs typeface="Times New Roman" panose="02020603050405020304" pitchFamily="18" charset="0"/>
              </a:rPr>
              <a:t>、器件摆放（学生）</a:t>
            </a:r>
            <a:endParaRPr lang="en-US" altLang="zh-CN" sz="2400" b="1" dirty="0">
              <a:latin typeface="Times New Roman" panose="02020603050405020304" pitchFamily="18" charset="0"/>
              <a:cs typeface="Times New Roman" panose="02020603050405020304" pitchFamily="18" charset="0"/>
            </a:endParaRPr>
          </a:p>
          <a:p>
            <a:pPr algn="l">
              <a:lnSpc>
                <a:spcPct val="150000"/>
              </a:lnSpc>
            </a:pPr>
            <a:r>
              <a:rPr lang="en-US" altLang="zh-CN" sz="2400" b="1" dirty="0">
                <a:latin typeface="Times New Roman" panose="02020603050405020304" pitchFamily="18" charset="0"/>
                <a:cs typeface="Times New Roman" panose="02020603050405020304" pitchFamily="18" charset="0"/>
              </a:rPr>
              <a:t>7</a:t>
            </a:r>
            <a:r>
              <a:rPr lang="zh-CN" altLang="en-US" sz="2400" b="1" dirty="0">
                <a:latin typeface="Times New Roman" panose="02020603050405020304" pitchFamily="18" charset="0"/>
                <a:cs typeface="Times New Roman" panose="02020603050405020304" pitchFamily="18" charset="0"/>
              </a:rPr>
              <a:t>、回流焊（</a:t>
            </a:r>
            <a:r>
              <a:rPr lang="en-US" altLang="zh-CN" sz="2400" b="1" dirty="0">
                <a:latin typeface="Times New Roman" panose="02020603050405020304" pitchFamily="18" charset="0"/>
                <a:cs typeface="Times New Roman" panose="02020603050405020304" pitchFamily="18" charset="0"/>
              </a:rPr>
              <a:t>306</a:t>
            </a:r>
            <a:r>
              <a:rPr lang="zh-CN" altLang="en-US" sz="2400" b="1" dirty="0">
                <a:latin typeface="Times New Roman" panose="02020603050405020304" pitchFamily="18" charset="0"/>
                <a:cs typeface="Times New Roman" panose="02020603050405020304" pitchFamily="18" charset="0"/>
              </a:rPr>
              <a:t>教室）</a:t>
            </a:r>
            <a:r>
              <a:rPr lang="en-US" altLang="zh-CN" sz="2400" b="1" dirty="0">
                <a:solidFill>
                  <a:srgbClr val="FF0000"/>
                </a:solidFill>
                <a:latin typeface="Times New Roman" panose="02020603050405020304" pitchFamily="18" charset="0"/>
                <a:cs typeface="Times New Roman" panose="02020603050405020304" pitchFamily="18" charset="0"/>
              </a:rPr>
              <a:t>(</a:t>
            </a:r>
            <a:r>
              <a:rPr lang="zh-CN" altLang="en-US" sz="2400" b="1" dirty="0">
                <a:solidFill>
                  <a:srgbClr val="FF0000"/>
                </a:solidFill>
                <a:latin typeface="Times New Roman" panose="02020603050405020304" pitchFamily="18" charset="0"/>
                <a:cs typeface="Times New Roman" panose="02020603050405020304" pitchFamily="18" charset="0"/>
              </a:rPr>
              <a:t>一节课</a:t>
            </a:r>
            <a:r>
              <a:rPr lang="en-US" altLang="zh-CN" sz="2400" b="1" dirty="0">
                <a:solidFill>
                  <a:srgbClr val="FF0000"/>
                </a:solidFill>
                <a:latin typeface="Times New Roman" panose="02020603050405020304" pitchFamily="18" charset="0"/>
                <a:cs typeface="Times New Roman" panose="02020603050405020304" pitchFamily="18" charset="0"/>
              </a:rPr>
              <a:t>)</a:t>
            </a:r>
          </a:p>
          <a:p>
            <a:pPr algn="l">
              <a:lnSpc>
                <a:spcPct val="150000"/>
              </a:lnSpc>
            </a:pPr>
            <a:r>
              <a:rPr lang="zh-CN" altLang="en-US" sz="2400" b="1" dirty="0">
                <a:solidFill>
                  <a:srgbClr val="FF0000"/>
                </a:solidFill>
                <a:latin typeface="Times New Roman" panose="02020603050405020304" pitchFamily="18" charset="0"/>
                <a:cs typeface="Times New Roman" panose="02020603050405020304" pitchFamily="18" charset="0"/>
              </a:rPr>
              <a:t>第二节课内容</a:t>
            </a:r>
            <a:endParaRPr lang="en-US" altLang="zh-CN" sz="2400" b="1" dirty="0">
              <a:solidFill>
                <a:srgbClr val="FF0000"/>
              </a:solidFill>
              <a:latin typeface="Times New Roman" panose="02020603050405020304" pitchFamily="18" charset="0"/>
              <a:cs typeface="Times New Roman" panose="02020603050405020304" pitchFamily="18" charset="0"/>
            </a:endParaRPr>
          </a:p>
          <a:p>
            <a:pPr algn="l">
              <a:lnSpc>
                <a:spcPct val="150000"/>
              </a:lnSpc>
            </a:pPr>
            <a:r>
              <a:rPr lang="en-US" altLang="zh-CN" sz="2400" b="1" dirty="0">
                <a:latin typeface="Times New Roman" panose="02020603050405020304" pitchFamily="18" charset="0"/>
                <a:cs typeface="Times New Roman" panose="02020603050405020304" pitchFamily="18" charset="0"/>
              </a:rPr>
              <a:t>8</a:t>
            </a:r>
            <a:r>
              <a:rPr lang="zh-CN" altLang="en-US" sz="2400" b="1" dirty="0">
                <a:latin typeface="Times New Roman" panose="02020603050405020304" pitchFamily="18" charset="0"/>
                <a:cs typeface="Times New Roman" panose="02020603050405020304" pitchFamily="18" charset="0"/>
              </a:rPr>
              <a:t>、功能测试及其验收，检查</a:t>
            </a:r>
            <a:r>
              <a:rPr lang="en-US" altLang="zh-CN" sz="2400" b="1" dirty="0">
                <a:latin typeface="Times New Roman" panose="02020603050405020304" pitchFamily="18" charset="0"/>
                <a:cs typeface="Times New Roman" panose="02020603050405020304" pitchFamily="18" charset="0"/>
              </a:rPr>
              <a:t>LED</a:t>
            </a:r>
            <a:r>
              <a:rPr lang="zh-CN" altLang="en-US" sz="2400" b="1" dirty="0">
                <a:latin typeface="Times New Roman" panose="02020603050405020304" pitchFamily="18" charset="0"/>
                <a:cs typeface="Times New Roman" panose="02020603050405020304" pitchFamily="18" charset="0"/>
              </a:rPr>
              <a:t>闪烁（各自教室）</a:t>
            </a:r>
            <a:endParaRPr lang="en-US" altLang="zh-CN" sz="2400" b="1" dirty="0">
              <a:latin typeface="Times New Roman" panose="02020603050405020304" pitchFamily="18" charset="0"/>
              <a:cs typeface="Times New Roman" panose="02020603050405020304" pitchFamily="18" charset="0"/>
            </a:endParaRPr>
          </a:p>
          <a:p>
            <a:pPr algn="l">
              <a:lnSpc>
                <a:spcPct val="150000"/>
              </a:lnSpc>
            </a:pPr>
            <a:r>
              <a:rPr lang="en-US" altLang="zh-CN" sz="2400" b="1" dirty="0">
                <a:latin typeface="Times New Roman" panose="02020603050405020304" pitchFamily="18" charset="0"/>
                <a:cs typeface="Times New Roman" panose="02020603050405020304" pitchFamily="18" charset="0"/>
              </a:rPr>
              <a:t>9</a:t>
            </a:r>
            <a:r>
              <a:rPr lang="zh-CN" altLang="en-US" sz="2400" b="1" dirty="0">
                <a:latin typeface="Times New Roman" panose="02020603050405020304" pitchFamily="18" charset="0"/>
                <a:cs typeface="Times New Roman" panose="02020603050405020304" pitchFamily="18" charset="0"/>
              </a:rPr>
              <a:t>、更换电阻，改变</a:t>
            </a:r>
            <a:r>
              <a:rPr lang="en-US" altLang="zh-CN" sz="2400" b="1" dirty="0">
                <a:latin typeface="Times New Roman" panose="02020603050405020304" pitchFamily="18" charset="0"/>
                <a:cs typeface="Times New Roman" panose="02020603050405020304" pitchFamily="18" charset="0"/>
              </a:rPr>
              <a:t>LED</a:t>
            </a:r>
            <a:r>
              <a:rPr lang="zh-CN" altLang="en-US" sz="2400" b="1" dirty="0">
                <a:latin typeface="Times New Roman" panose="02020603050405020304" pitchFamily="18" charset="0"/>
                <a:cs typeface="Times New Roman" panose="02020603050405020304" pitchFamily="18" charset="0"/>
              </a:rPr>
              <a:t>闪烁频率（根据时间定是否需要）</a:t>
            </a:r>
            <a:endParaRPr lang="en-US" altLang="zh-CN" sz="2400" b="1"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12F511E4-905A-24C7-7D35-E45FB0ACAB27}"/>
              </a:ext>
            </a:extLst>
          </p:cNvPr>
          <p:cNvSpPr txBox="1"/>
          <p:nvPr/>
        </p:nvSpPr>
        <p:spPr>
          <a:xfrm>
            <a:off x="734291" y="327291"/>
            <a:ext cx="1620957" cy="523220"/>
          </a:xfrm>
          <a:prstGeom prst="rect">
            <a:avLst/>
          </a:prstGeom>
          <a:noFill/>
        </p:spPr>
        <p:txBody>
          <a:bodyPr wrap="none" rtlCol="0">
            <a:spAutoFit/>
          </a:bodyPr>
          <a:lstStyle/>
          <a:p>
            <a:r>
              <a:rPr lang="zh-CN" altLang="en-US" sz="2800" b="1" dirty="0"/>
              <a:t>实验要求</a:t>
            </a:r>
          </a:p>
        </p:txBody>
      </p:sp>
    </p:spTree>
    <p:extLst>
      <p:ext uri="{BB962C8B-B14F-4D97-AF65-F5344CB8AC3E}">
        <p14:creationId xmlns:p14="http://schemas.microsoft.com/office/powerpoint/2010/main" val="3392478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C04BFAA-DDFB-FED9-2599-BA21E98C2F90}"/>
              </a:ext>
            </a:extLst>
          </p:cNvPr>
          <p:cNvSpPr txBox="1"/>
          <p:nvPr/>
        </p:nvSpPr>
        <p:spPr>
          <a:xfrm>
            <a:off x="543297" y="2013119"/>
            <a:ext cx="739238" cy="1938992"/>
          </a:xfrm>
          <a:prstGeom prst="rect">
            <a:avLst/>
          </a:prstGeom>
          <a:noFill/>
        </p:spPr>
        <p:txBody>
          <a:bodyPr wrap="square" rtlCol="0">
            <a:spAutoFit/>
          </a:bodyPr>
          <a:lstStyle/>
          <a:p>
            <a:r>
              <a:rPr lang="zh-CN" altLang="en-US" sz="2400" dirty="0"/>
              <a:t>实验原理图</a:t>
            </a:r>
          </a:p>
        </p:txBody>
      </p:sp>
      <p:pic>
        <p:nvPicPr>
          <p:cNvPr id="6" name="图片 5">
            <a:extLst>
              <a:ext uri="{FF2B5EF4-FFF2-40B4-BE49-F238E27FC236}">
                <a16:creationId xmlns:a16="http://schemas.microsoft.com/office/drawing/2014/main" id="{ADCE1560-00BC-FBA0-93CE-38F87A5194E6}"/>
              </a:ext>
            </a:extLst>
          </p:cNvPr>
          <p:cNvPicPr>
            <a:picLocks noChangeAspect="1"/>
          </p:cNvPicPr>
          <p:nvPr/>
        </p:nvPicPr>
        <p:blipFill rotWithShape="1">
          <a:blip r:embed="rId2"/>
          <a:srcRect l="-397" r="397" b="5701"/>
          <a:stretch/>
        </p:blipFill>
        <p:spPr>
          <a:xfrm>
            <a:off x="1587335" y="97734"/>
            <a:ext cx="6877950" cy="6662531"/>
          </a:xfrm>
          <a:prstGeom prst="rect">
            <a:avLst/>
          </a:prstGeom>
        </p:spPr>
      </p:pic>
    </p:spTree>
    <p:extLst>
      <p:ext uri="{BB962C8B-B14F-4D97-AF65-F5344CB8AC3E}">
        <p14:creationId xmlns:p14="http://schemas.microsoft.com/office/powerpoint/2010/main" val="1071990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40C20C7-71B2-D87A-A761-6BF9618E5CAE}"/>
              </a:ext>
            </a:extLst>
          </p:cNvPr>
          <p:cNvSpPr>
            <a:spLocks noGrp="1"/>
          </p:cNvSpPr>
          <p:nvPr>
            <p:ph idx="1"/>
          </p:nvPr>
        </p:nvSpPr>
        <p:spPr>
          <a:xfrm>
            <a:off x="5428401" y="39757"/>
            <a:ext cx="6922625" cy="6574529"/>
          </a:xfrm>
        </p:spPr>
        <p:txBody>
          <a:bodyPr>
            <a:normAutofit fontScale="62500" lnSpcReduction="20000"/>
          </a:bodyPr>
          <a:lstStyle/>
          <a:p>
            <a:pPr algn="just">
              <a:lnSpc>
                <a:spcPct val="120000"/>
              </a:lnSpc>
            </a:pP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Pin 1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接地</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：地线</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或共同接地</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，通常被连接到电路共同接地</a:t>
            </a:r>
            <a:r>
              <a:rPr lang="zh-CN" altLang="en-US" b="1" i="0" baseline="30000" dirty="0">
                <a:solidFill>
                  <a:srgbClr val="3366CC"/>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p>
          <a:p>
            <a:pPr algn="just">
              <a:lnSpc>
                <a:spcPct val="120000"/>
              </a:lnSpc>
            </a:pP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Pin 2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触发点</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：这个脚位是触发</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NE555</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使其启动它的时间周期。触发信号上缘电压须大于</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2/3 VCC</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，下缘须低于</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1/3 VCC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p>
          <a:p>
            <a:pPr algn="just">
              <a:lnSpc>
                <a:spcPct val="120000"/>
              </a:lnSpc>
            </a:pP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Pin 3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输出</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：当时间周期开始</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555</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的输出脚位，移至比电源电压少</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1.7</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伏的高电位。周期的结束输出回到</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伏左右的低电位。于高电位时的最大输出电流大约</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200 mA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p>
          <a:p>
            <a:pPr algn="just">
              <a:lnSpc>
                <a:spcPct val="120000"/>
              </a:lnSpc>
            </a:pP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Pin 4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重置</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：一个低逻辑电位送至这个脚位时会重置定时器和使输出回到一个低电位。它通常被接到正电源或忽略不用</a:t>
            </a:r>
            <a:r>
              <a:rPr lang="zh-CN" altLang="en-US" b="1" i="0" baseline="30000" dirty="0">
                <a:solidFill>
                  <a:srgbClr val="3366CC"/>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pP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Pin 5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控制</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：这个接脚准许由外部电压改变触发和闸限电压。当计时器经营在稳定或振荡的运作方式下这输入能用来改变或调整输出频率</a:t>
            </a:r>
            <a:r>
              <a:rPr lang="zh-CN" altLang="en-US" b="1" i="0" u="none" strike="noStrike" dirty="0">
                <a:solidFill>
                  <a:srgbClr val="136EC2"/>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p>
          <a:p>
            <a:pPr algn="just">
              <a:lnSpc>
                <a:spcPct val="120000"/>
              </a:lnSpc>
            </a:pP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Pin 6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重置锁定</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Pin 6</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重置锁定并使输出呈低态。当这个接脚的电压从</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1/3 VCC</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电压以下移至</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2/3 VCC</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以上时启动这个动作</a:t>
            </a:r>
            <a:r>
              <a:rPr lang="zh-CN" altLang="en-US" b="1" i="0" baseline="30000" dirty="0">
                <a:solidFill>
                  <a:srgbClr val="3366CC"/>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p>
          <a:p>
            <a:pPr algn="just">
              <a:lnSpc>
                <a:spcPct val="120000"/>
              </a:lnSpc>
            </a:pP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Pin 7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放电</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：这个接脚和主要的输出接脚有相同的电流输出能力，当</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Pin3</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为低电平时，</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Pin7</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对地为低阻态（对地导通），当</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Pin3</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为高电平时，</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Pin7</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对于为高阻态</a:t>
            </a:r>
            <a:r>
              <a:rPr lang="zh-CN" altLang="en-US" b="1" i="0" baseline="30000" dirty="0">
                <a:solidFill>
                  <a:srgbClr val="3366CC"/>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pP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Pin 8 (V +) </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：这是</a:t>
            </a:r>
            <a:r>
              <a:rPr lang="en-US" altLang="zh-CN" b="1" i="0" u="none" strike="noStrike" dirty="0">
                <a:solidFill>
                  <a:srgbClr val="136EC2"/>
                </a:solidFill>
                <a:effectLst/>
                <a:latin typeface="Times New Roman" panose="02020603050405020304" pitchFamily="18" charset="0"/>
                <a:ea typeface="仿宋" panose="02010609060101010101" pitchFamily="49" charset="-122"/>
                <a:cs typeface="Times New Roman" panose="02020603050405020304" pitchFamily="18" charset="0"/>
                <a:hlinkClick r:id="rId2"/>
              </a:rPr>
              <a:t>555</a:t>
            </a:r>
            <a:r>
              <a:rPr lang="zh-CN" altLang="en-US" b="1" i="0" u="none" strike="noStrike" dirty="0">
                <a:solidFill>
                  <a:srgbClr val="136EC2"/>
                </a:solidFill>
                <a:effectLst/>
                <a:latin typeface="Times New Roman" panose="02020603050405020304" pitchFamily="18" charset="0"/>
                <a:ea typeface="仿宋" panose="02010609060101010101" pitchFamily="49" charset="-122"/>
                <a:cs typeface="Times New Roman" panose="02020603050405020304" pitchFamily="18" charset="0"/>
                <a:hlinkClick r:id="rId2"/>
              </a:rPr>
              <a:t>计时器</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IC</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的正电源电压端。供应电压的范围是</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+4.5</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伏特</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最小值</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至</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+16</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伏特</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最大值</a:t>
            </a:r>
            <a:r>
              <a:rPr lang="en-US" altLang="zh-CN" b="1" i="0" dirty="0">
                <a:solidFill>
                  <a:srgbClr val="333333"/>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b="1" i="0" baseline="30000" dirty="0">
                <a:solidFill>
                  <a:srgbClr val="3366CC"/>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altLang="en-US" b="1" dirty="0">
              <a:latin typeface="Times New Roman" panose="02020603050405020304" pitchFamily="18" charset="0"/>
              <a:ea typeface="仿宋" panose="02010609060101010101" pitchFamily="49" charset="-122"/>
              <a:cs typeface="Times New Roman" panose="02020603050405020304" pitchFamily="18" charset="0"/>
            </a:endParaRPr>
          </a:p>
        </p:txBody>
      </p:sp>
      <p:pic>
        <p:nvPicPr>
          <p:cNvPr id="7" name="Picture 2">
            <a:extLst>
              <a:ext uri="{FF2B5EF4-FFF2-40B4-BE49-F238E27FC236}">
                <a16:creationId xmlns:a16="http://schemas.microsoft.com/office/drawing/2014/main" id="{1135211D-668B-0BF2-66E8-1EAB4640A6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8296"/>
            <a:ext cx="5382514" cy="4289191"/>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C2375A28-5528-BF07-3F06-7423817B0DD7}"/>
              </a:ext>
            </a:extLst>
          </p:cNvPr>
          <p:cNvSpPr txBox="1"/>
          <p:nvPr/>
        </p:nvSpPr>
        <p:spPr>
          <a:xfrm>
            <a:off x="237131" y="5022648"/>
            <a:ext cx="4908252" cy="1200329"/>
          </a:xfrm>
          <a:prstGeom prst="rect">
            <a:avLst/>
          </a:prstGeom>
          <a:noFill/>
        </p:spPr>
        <p:txBody>
          <a:bodyPr wrap="square">
            <a:spAutoFit/>
          </a:bodyPr>
          <a:lstStyle/>
          <a:p>
            <a:r>
              <a:rPr lang="zh-CN" altLang="en-US" b="1" dirty="0">
                <a:latin typeface="Times New Roman" panose="02020603050405020304" pitchFamily="18" charset="0"/>
                <a:ea typeface="仿宋" panose="02010609060101010101" pitchFamily="49" charset="-122"/>
                <a:cs typeface="Times New Roman" panose="02020603050405020304" pitchFamily="18" charset="0"/>
              </a:rPr>
              <a:t>1脚电源负极端（GND）  2脚触发输入端（TR）     3脚输出端（OUT）          4脚总复位端(MR)   </a:t>
            </a:r>
            <a:endParaRPr lang="en-US" altLang="zh-CN" b="1" dirty="0">
              <a:latin typeface="Times New Roman" panose="02020603050405020304" pitchFamily="18" charset="0"/>
              <a:ea typeface="仿宋" panose="02010609060101010101" pitchFamily="49" charset="-122"/>
              <a:cs typeface="Times New Roman" panose="02020603050405020304" pitchFamily="18" charset="0"/>
            </a:endParaRPr>
          </a:p>
          <a:p>
            <a:r>
              <a:rPr lang="zh-CN" altLang="en-US" b="1" dirty="0">
                <a:latin typeface="Times New Roman" panose="02020603050405020304" pitchFamily="18" charset="0"/>
                <a:ea typeface="仿宋" panose="02010609060101010101" pitchFamily="49" charset="-122"/>
                <a:cs typeface="Times New Roman" panose="02020603050405020304" pitchFamily="18" charset="0"/>
              </a:rPr>
              <a:t>5脚控制端（UC）             6脚调值输入端（TH）     7脚放电端（DIC）            8脚电源正极（VCC）</a:t>
            </a:r>
          </a:p>
        </p:txBody>
      </p:sp>
    </p:spTree>
    <p:extLst>
      <p:ext uri="{BB962C8B-B14F-4D97-AF65-F5344CB8AC3E}">
        <p14:creationId xmlns:p14="http://schemas.microsoft.com/office/powerpoint/2010/main" val="1841076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C04BFAA-DDFB-FED9-2599-BA21E98C2F90}"/>
              </a:ext>
            </a:extLst>
          </p:cNvPr>
          <p:cNvSpPr txBox="1"/>
          <p:nvPr/>
        </p:nvSpPr>
        <p:spPr>
          <a:xfrm>
            <a:off x="97709" y="0"/>
            <a:ext cx="2015295" cy="584775"/>
          </a:xfrm>
          <a:prstGeom prst="rect">
            <a:avLst/>
          </a:prstGeom>
          <a:noFill/>
        </p:spPr>
        <p:txBody>
          <a:bodyPr wrap="none" rtlCol="0">
            <a:spAutoFit/>
          </a:bodyPr>
          <a:lstStyle/>
          <a:p>
            <a:r>
              <a:rPr lang="en-US" altLang="zh-CN" sz="3200" b="1" dirty="0"/>
              <a:t>BOM</a:t>
            </a:r>
            <a:r>
              <a:rPr lang="zh-CN" altLang="en-US" sz="3200" b="1" dirty="0"/>
              <a:t>清单</a:t>
            </a:r>
            <a:endParaRPr lang="en-US" altLang="zh-CN" sz="3200" b="1" dirty="0"/>
          </a:p>
        </p:txBody>
      </p:sp>
      <p:graphicFrame>
        <p:nvGraphicFramePr>
          <p:cNvPr id="3" name="表格 2">
            <a:extLst>
              <a:ext uri="{FF2B5EF4-FFF2-40B4-BE49-F238E27FC236}">
                <a16:creationId xmlns:a16="http://schemas.microsoft.com/office/drawing/2014/main" id="{6BE4028C-6A91-1578-2577-9FD7441019F0}"/>
              </a:ext>
            </a:extLst>
          </p:cNvPr>
          <p:cNvGraphicFramePr>
            <a:graphicFrameLocks noGrp="1"/>
          </p:cNvGraphicFramePr>
          <p:nvPr>
            <p:extLst>
              <p:ext uri="{D42A27DB-BD31-4B8C-83A1-F6EECF244321}">
                <p14:modId xmlns:p14="http://schemas.microsoft.com/office/powerpoint/2010/main" val="4270082150"/>
              </p:ext>
            </p:extLst>
          </p:nvPr>
        </p:nvGraphicFramePr>
        <p:xfrm>
          <a:off x="278297" y="584775"/>
          <a:ext cx="11913703" cy="6312489"/>
        </p:xfrm>
        <a:graphic>
          <a:graphicData uri="http://schemas.openxmlformats.org/drawingml/2006/table">
            <a:tbl>
              <a:tblPr>
                <a:tableStyleId>{5C22544A-7EE6-4342-B048-85BDC9FD1C3A}</a:tableStyleId>
              </a:tblPr>
              <a:tblGrid>
                <a:gridCol w="1458821">
                  <a:extLst>
                    <a:ext uri="{9D8B030D-6E8A-4147-A177-3AD203B41FA5}">
                      <a16:colId xmlns:a16="http://schemas.microsoft.com/office/drawing/2014/main" val="190339526"/>
                    </a:ext>
                  </a:extLst>
                </a:gridCol>
                <a:gridCol w="1946987">
                  <a:extLst>
                    <a:ext uri="{9D8B030D-6E8A-4147-A177-3AD203B41FA5}">
                      <a16:colId xmlns:a16="http://schemas.microsoft.com/office/drawing/2014/main" val="672467769"/>
                    </a:ext>
                  </a:extLst>
                </a:gridCol>
                <a:gridCol w="5488946">
                  <a:extLst>
                    <a:ext uri="{9D8B030D-6E8A-4147-A177-3AD203B41FA5}">
                      <a16:colId xmlns:a16="http://schemas.microsoft.com/office/drawing/2014/main" val="786743613"/>
                    </a:ext>
                  </a:extLst>
                </a:gridCol>
                <a:gridCol w="1985618">
                  <a:extLst>
                    <a:ext uri="{9D8B030D-6E8A-4147-A177-3AD203B41FA5}">
                      <a16:colId xmlns:a16="http://schemas.microsoft.com/office/drawing/2014/main" val="442914355"/>
                    </a:ext>
                  </a:extLst>
                </a:gridCol>
                <a:gridCol w="1033331">
                  <a:extLst>
                    <a:ext uri="{9D8B030D-6E8A-4147-A177-3AD203B41FA5}">
                      <a16:colId xmlns:a16="http://schemas.microsoft.com/office/drawing/2014/main" val="2628933542"/>
                    </a:ext>
                  </a:extLst>
                </a:gridCol>
              </a:tblGrid>
              <a:tr h="714033">
                <a:tc>
                  <a:txBody>
                    <a:bodyPr/>
                    <a:lstStyle/>
                    <a:p>
                      <a:pPr algn="l" fontAlgn="ctr"/>
                      <a:r>
                        <a:rPr lang="en-US" sz="2400" b="1" u="none" strike="noStrike">
                          <a:effectLst/>
                        </a:rPr>
                        <a:t>Comment</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Description</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Designator</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Footprint</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Quantity</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2333999910"/>
                  </a:ext>
                </a:extLst>
              </a:tr>
              <a:tr h="714033">
                <a:tc>
                  <a:txBody>
                    <a:bodyPr/>
                    <a:lstStyle/>
                    <a:p>
                      <a:pPr algn="l" fontAlgn="ctr"/>
                      <a:r>
                        <a:rPr lang="en-US" altLang="zh-CN" sz="2400" b="1" u="none" strike="noStrike">
                          <a:effectLst/>
                        </a:rPr>
                        <a:t>104</a:t>
                      </a:r>
                      <a:endParaRPr lang="en-US" altLang="zh-CN"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zh-CN" altLang="en-US" sz="2400" b="1" u="none" strike="noStrike">
                          <a:effectLst/>
                        </a:rPr>
                        <a:t>无极性贴片电容</a:t>
                      </a:r>
                      <a:endParaRPr lang="zh-CN" alt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C1, C2</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C 0603_L</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2400" b="1" u="none" strike="noStrike" dirty="0">
                          <a:effectLst/>
                        </a:rPr>
                        <a:t>2</a:t>
                      </a:r>
                      <a:endParaRPr lang="en-US" altLang="zh-CN"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36145297"/>
                  </a:ext>
                </a:extLst>
              </a:tr>
              <a:tr h="390479">
                <a:tc>
                  <a:txBody>
                    <a:bodyPr/>
                    <a:lstStyle/>
                    <a:p>
                      <a:pPr algn="l" fontAlgn="ctr"/>
                      <a:r>
                        <a:rPr lang="en-US" sz="2400" b="1" u="none" strike="noStrike">
                          <a:effectLst/>
                        </a:rPr>
                        <a:t>1N4007</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zh-CN" altLang="en-US" sz="2400" b="1" u="none" strike="noStrike" dirty="0">
                          <a:effectLst/>
                        </a:rPr>
                        <a:t>整流二极管</a:t>
                      </a:r>
                      <a:endParaRPr lang="zh-CN" altLang="en-US"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D1</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SMA</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2400" b="1" u="none" strike="noStrike">
                          <a:effectLst/>
                        </a:rPr>
                        <a:t>1</a:t>
                      </a:r>
                      <a:endParaRPr lang="en-US" altLang="zh-CN"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2455150181"/>
                  </a:ext>
                </a:extLst>
              </a:tr>
              <a:tr h="714033">
                <a:tc>
                  <a:txBody>
                    <a:bodyPr/>
                    <a:lstStyle/>
                    <a:p>
                      <a:pPr algn="l" fontAlgn="ctr"/>
                      <a:r>
                        <a:rPr lang="en-US" sz="2400" b="1" u="none" strike="noStrike">
                          <a:effectLst/>
                        </a:rPr>
                        <a:t>HDR-1X2</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2P</a:t>
                      </a:r>
                      <a:r>
                        <a:rPr lang="zh-CN" altLang="en-US" sz="2400" b="1" u="none" strike="noStrike">
                          <a:effectLst/>
                        </a:rPr>
                        <a:t>接插件</a:t>
                      </a:r>
                      <a:endParaRPr lang="zh-CN" alt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DC-IN1</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KF2EDGK5.08-LI-2P</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2400" b="1" u="none" strike="noStrike" dirty="0">
                          <a:effectLst/>
                        </a:rPr>
                        <a:t>0</a:t>
                      </a:r>
                      <a:endParaRPr lang="en-US" altLang="zh-CN"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2538124668"/>
                  </a:ext>
                </a:extLst>
              </a:tr>
              <a:tr h="364447">
                <a:tc>
                  <a:txBody>
                    <a:bodyPr/>
                    <a:lstStyle/>
                    <a:p>
                      <a:pPr algn="l" fontAlgn="ctr"/>
                      <a:r>
                        <a:rPr lang="zh-CN" altLang="en-US" sz="2400" b="1" u="none" strike="noStrike">
                          <a:effectLst/>
                        </a:rPr>
                        <a:t>红色</a:t>
                      </a:r>
                      <a:endParaRPr lang="zh-CN" alt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zh-CN" altLang="en-US" sz="2400" b="1" u="none" strike="noStrike">
                          <a:effectLst/>
                        </a:rPr>
                        <a:t>贴片</a:t>
                      </a:r>
                      <a:r>
                        <a:rPr lang="en-US" sz="2400" b="1" u="none" strike="noStrike">
                          <a:effectLst/>
                        </a:rPr>
                        <a:t>LED</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LED1</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LED 0805W</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2400" b="1" u="none" strike="noStrike" dirty="0">
                          <a:effectLst/>
                        </a:rPr>
                        <a:t>1</a:t>
                      </a:r>
                      <a:endParaRPr lang="en-US" altLang="zh-CN"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4069907864"/>
                  </a:ext>
                </a:extLst>
              </a:tr>
              <a:tr h="364447">
                <a:tc>
                  <a:txBody>
                    <a:bodyPr/>
                    <a:lstStyle/>
                    <a:p>
                      <a:pPr algn="l" fontAlgn="ctr"/>
                      <a:r>
                        <a:rPr lang="en-US" sz="2400" b="1" u="none" strike="noStrike">
                          <a:effectLst/>
                        </a:rPr>
                        <a:t>3.6k</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zh-CN" altLang="en-US" sz="2400" b="1" u="none" strike="noStrike">
                          <a:effectLst/>
                        </a:rPr>
                        <a:t>贴片电阻</a:t>
                      </a:r>
                      <a:endParaRPr lang="zh-CN" alt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dirty="0">
                          <a:effectLst/>
                        </a:rPr>
                        <a:t>R1</a:t>
                      </a:r>
                      <a:endParaRPr lang="en-US"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R 0603_L</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2400" b="1" u="none" strike="noStrike" dirty="0">
                          <a:effectLst/>
                        </a:rPr>
                        <a:t>1</a:t>
                      </a:r>
                      <a:endParaRPr lang="en-US" altLang="zh-CN"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543932996"/>
                  </a:ext>
                </a:extLst>
              </a:tr>
              <a:tr h="364447">
                <a:tc>
                  <a:txBody>
                    <a:bodyPr/>
                    <a:lstStyle/>
                    <a:p>
                      <a:pPr algn="l" fontAlgn="ctr"/>
                      <a:r>
                        <a:rPr lang="en-US" sz="2400" b="1" u="none" strike="noStrike">
                          <a:effectLst/>
                        </a:rPr>
                        <a:t>10M/4.7M</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zh-CN" altLang="en-US" sz="2400" b="1" u="none" strike="noStrike">
                          <a:effectLst/>
                        </a:rPr>
                        <a:t>贴片电阻</a:t>
                      </a:r>
                      <a:endParaRPr lang="zh-CN" alt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dirty="0">
                          <a:effectLst/>
                        </a:rPr>
                        <a:t>R2</a:t>
                      </a:r>
                      <a:endParaRPr lang="en-US"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R 0603_L</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2400" b="1" u="none" strike="noStrike" dirty="0">
                          <a:effectLst/>
                        </a:rPr>
                        <a:t>1</a:t>
                      </a:r>
                      <a:endParaRPr lang="en-US" altLang="zh-CN"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2745975352"/>
                  </a:ext>
                </a:extLst>
              </a:tr>
              <a:tr h="714033">
                <a:tc>
                  <a:txBody>
                    <a:bodyPr/>
                    <a:lstStyle/>
                    <a:p>
                      <a:pPr algn="l" fontAlgn="ctr"/>
                      <a:r>
                        <a:rPr lang="en-US" sz="2400" b="1" u="none" strike="noStrike">
                          <a:effectLst/>
                        </a:rPr>
                        <a:t>20R</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zh-CN" altLang="en-US" sz="2400" b="1" u="none" strike="noStrike">
                          <a:effectLst/>
                        </a:rPr>
                        <a:t>贴片电阻</a:t>
                      </a:r>
                      <a:endParaRPr lang="zh-CN" alt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pt-BR" sz="2400" b="1" u="none" strike="noStrike" dirty="0">
                          <a:effectLst/>
                        </a:rPr>
                        <a:t>R3, R4, R5, R6, R7, R8, R9, R10, R11, R12, R13, R14, R15</a:t>
                      </a:r>
                      <a:endParaRPr lang="pt-BR"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R 0603_L</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2400" b="1" u="none" strike="noStrike" dirty="0">
                          <a:effectLst/>
                        </a:rPr>
                        <a:t>13</a:t>
                      </a:r>
                      <a:endParaRPr lang="en-US" altLang="zh-CN"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924292619"/>
                  </a:ext>
                </a:extLst>
              </a:tr>
              <a:tr h="714033">
                <a:tc>
                  <a:txBody>
                    <a:bodyPr/>
                    <a:lstStyle/>
                    <a:p>
                      <a:pPr algn="l" fontAlgn="ctr"/>
                      <a:r>
                        <a:rPr lang="en-US" sz="2400" b="1" u="none" strike="noStrike">
                          <a:effectLst/>
                        </a:rPr>
                        <a:t>20R</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zh-CN" altLang="en-US" sz="2400" b="1" u="none" strike="noStrike">
                          <a:effectLst/>
                        </a:rPr>
                        <a:t>贴片电阻</a:t>
                      </a:r>
                      <a:endParaRPr lang="zh-CN" alt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pt-BR" sz="2400" b="1" u="none" strike="noStrike">
                          <a:effectLst/>
                        </a:rPr>
                        <a:t>R16, R17, R18, R19, R20, R21, R22, R23, R24, R25, R26</a:t>
                      </a:r>
                      <a:endParaRPr lang="pt-BR"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R 0805_L</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2400" b="1" u="none" strike="noStrike" dirty="0">
                          <a:effectLst/>
                        </a:rPr>
                        <a:t>11</a:t>
                      </a:r>
                      <a:endParaRPr lang="en-US" altLang="zh-CN"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928798563"/>
                  </a:ext>
                </a:extLst>
              </a:tr>
              <a:tr h="364447">
                <a:tc>
                  <a:txBody>
                    <a:bodyPr/>
                    <a:lstStyle/>
                    <a:p>
                      <a:pPr algn="l" fontAlgn="ctr"/>
                      <a:r>
                        <a:rPr lang="en-US" sz="2400" b="1" u="none" strike="noStrike">
                          <a:effectLst/>
                        </a:rPr>
                        <a:t>20R</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zh-CN" altLang="en-US" sz="2400" b="1" u="none" strike="noStrike">
                          <a:effectLst/>
                        </a:rPr>
                        <a:t>贴片电阻</a:t>
                      </a:r>
                      <a:endParaRPr lang="zh-CN" alt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pt-BR" sz="2400" b="1" u="none" strike="noStrike">
                          <a:effectLst/>
                        </a:rPr>
                        <a:t>R27, R28, R29, R30, R31, R32, R33</a:t>
                      </a:r>
                      <a:endParaRPr lang="pt-BR"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R 0603_M</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2400" b="1" u="none" strike="noStrike" dirty="0">
                          <a:effectLst/>
                        </a:rPr>
                        <a:t>7</a:t>
                      </a:r>
                      <a:endParaRPr lang="en-US" altLang="zh-CN"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611744250"/>
                  </a:ext>
                </a:extLst>
              </a:tr>
              <a:tr h="364447">
                <a:tc>
                  <a:txBody>
                    <a:bodyPr/>
                    <a:lstStyle/>
                    <a:p>
                      <a:pPr algn="l" fontAlgn="ctr"/>
                      <a:r>
                        <a:rPr lang="en-US" sz="2400" b="1" u="none" strike="noStrike">
                          <a:effectLst/>
                        </a:rPr>
                        <a:t>20R</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zh-CN" altLang="en-US" sz="2400" b="1" u="none" strike="noStrike">
                          <a:effectLst/>
                        </a:rPr>
                        <a:t>贴片电阻</a:t>
                      </a:r>
                      <a:endParaRPr lang="zh-CN" alt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pt-BR" sz="2400" b="1" u="none" strike="noStrike">
                          <a:effectLst/>
                        </a:rPr>
                        <a:t>R34, R35, R36, R37, R38</a:t>
                      </a:r>
                      <a:endParaRPr lang="pt-BR"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R 0805_M</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2400" b="1" u="none" strike="noStrike" dirty="0">
                          <a:effectLst/>
                        </a:rPr>
                        <a:t>5</a:t>
                      </a:r>
                      <a:endParaRPr lang="en-US" altLang="zh-CN"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399806477"/>
                  </a:ext>
                </a:extLst>
              </a:tr>
              <a:tr h="364447">
                <a:tc>
                  <a:txBody>
                    <a:bodyPr/>
                    <a:lstStyle/>
                    <a:p>
                      <a:pPr algn="l" fontAlgn="ctr"/>
                      <a:r>
                        <a:rPr lang="en-US" sz="2400" b="1" u="none" strike="noStrike" dirty="0">
                          <a:effectLst/>
                        </a:rPr>
                        <a:t>NE555</a:t>
                      </a:r>
                      <a:endParaRPr lang="en-US"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zh-CN" altLang="en-US" sz="2400" b="1" u="none" strike="noStrike">
                          <a:effectLst/>
                        </a:rPr>
                        <a:t>单路时基芯片</a:t>
                      </a:r>
                      <a:endParaRPr lang="zh-CN" alt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dirty="0">
                          <a:effectLst/>
                        </a:rPr>
                        <a:t>U1</a:t>
                      </a:r>
                      <a:endParaRPr lang="en-US"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fontAlgn="ctr"/>
                      <a:r>
                        <a:rPr lang="en-US" sz="2400" b="1" u="none" strike="noStrike">
                          <a:effectLst/>
                        </a:rPr>
                        <a:t>SOP8_N</a:t>
                      </a:r>
                      <a:endParaRPr lang="en-US" sz="24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2400" b="1" u="none" strike="noStrike" dirty="0">
                          <a:effectLst/>
                        </a:rPr>
                        <a:t>1</a:t>
                      </a:r>
                      <a:endParaRPr lang="en-US" altLang="zh-CN" sz="24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2135954819"/>
                  </a:ext>
                </a:extLst>
              </a:tr>
            </a:tbl>
          </a:graphicData>
        </a:graphic>
      </p:graphicFrame>
    </p:spTree>
    <p:extLst>
      <p:ext uri="{BB962C8B-B14F-4D97-AF65-F5344CB8AC3E}">
        <p14:creationId xmlns:p14="http://schemas.microsoft.com/office/powerpoint/2010/main" val="3079343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C04BFAA-DDFB-FED9-2599-BA21E98C2F90}"/>
              </a:ext>
            </a:extLst>
          </p:cNvPr>
          <p:cNvSpPr txBox="1"/>
          <p:nvPr/>
        </p:nvSpPr>
        <p:spPr>
          <a:xfrm>
            <a:off x="264743" y="262935"/>
            <a:ext cx="1510350" cy="461665"/>
          </a:xfrm>
          <a:prstGeom prst="rect">
            <a:avLst/>
          </a:prstGeom>
          <a:noFill/>
        </p:spPr>
        <p:txBody>
          <a:bodyPr wrap="none" rtlCol="0">
            <a:spAutoFit/>
          </a:bodyPr>
          <a:lstStyle/>
          <a:p>
            <a:r>
              <a:rPr lang="en-US" altLang="zh-CN" sz="2400" dirty="0"/>
              <a:t>PCB 3D</a:t>
            </a:r>
            <a:r>
              <a:rPr lang="zh-CN" altLang="en-US" sz="2400" dirty="0"/>
              <a:t>图</a:t>
            </a:r>
            <a:endParaRPr lang="en-US" altLang="zh-CN" sz="2400" dirty="0"/>
          </a:p>
        </p:txBody>
      </p:sp>
      <p:pic>
        <p:nvPicPr>
          <p:cNvPr id="7" name="图片 6">
            <a:extLst>
              <a:ext uri="{FF2B5EF4-FFF2-40B4-BE49-F238E27FC236}">
                <a16:creationId xmlns:a16="http://schemas.microsoft.com/office/drawing/2014/main" id="{62567B56-2BF6-091A-AC35-9BA979207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4913" y="632267"/>
            <a:ext cx="8904626" cy="5184365"/>
          </a:xfrm>
          <a:prstGeom prst="rect">
            <a:avLst/>
          </a:prstGeom>
        </p:spPr>
      </p:pic>
    </p:spTree>
    <p:extLst>
      <p:ext uri="{BB962C8B-B14F-4D97-AF65-F5344CB8AC3E}">
        <p14:creationId xmlns:p14="http://schemas.microsoft.com/office/powerpoint/2010/main" val="43745388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696</TotalTime>
  <Words>1461</Words>
  <Application>Microsoft Office PowerPoint</Application>
  <PresentationFormat>宽屏</PresentationFormat>
  <Paragraphs>120</Paragraphs>
  <Slides>17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-apple-system</vt:lpstr>
      <vt:lpstr>Helvetica Neue</vt:lpstr>
      <vt:lpstr>等线</vt:lpstr>
      <vt:lpstr>等线 Light</vt:lpstr>
      <vt:lpstr>华文中宋</vt:lpstr>
      <vt:lpstr>Arial</vt:lpstr>
      <vt:lpstr>Times New Roman</vt:lpstr>
      <vt:lpstr>Wingdings</vt:lpstr>
      <vt:lpstr>Office 主题​​</vt:lpstr>
      <vt:lpstr>回流焊工艺</vt:lpstr>
      <vt:lpstr>目录</vt:lpstr>
      <vt:lpstr>一、回流焊定义</vt:lpstr>
      <vt:lpstr>二、回流焊原理</vt:lpstr>
      <vt:lpstr>三、回流焊工艺特点（与波峰焊技术相比）</vt:lpstr>
      <vt:lpstr>基本工艺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回流焊工艺</dc:title>
  <dc:creator>赵 晓梅</dc:creator>
  <cp:lastModifiedBy>赵 晓梅</cp:lastModifiedBy>
  <cp:revision>11</cp:revision>
  <dcterms:created xsi:type="dcterms:W3CDTF">2022-10-28T02:29:38Z</dcterms:created>
  <dcterms:modified xsi:type="dcterms:W3CDTF">2022-11-07T00:55:01Z</dcterms:modified>
</cp:coreProperties>
</file>