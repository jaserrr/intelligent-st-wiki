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av" ContentType="audio/wav"/>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4" r:id="rId1"/>
  </p:sldMasterIdLst>
  <p:notesMasterIdLst>
    <p:notesMasterId r:id="rId88"/>
  </p:notesMasterIdLst>
  <p:handoutMasterIdLst>
    <p:handoutMasterId r:id="rId89"/>
  </p:handoutMasterIdLst>
  <p:sldIdLst>
    <p:sldId id="598" r:id="rId2"/>
    <p:sldId id="599" r:id="rId3"/>
    <p:sldId id="601" r:id="rId4"/>
    <p:sldId id="602" r:id="rId5"/>
    <p:sldId id="708" r:id="rId6"/>
    <p:sldId id="709" r:id="rId7"/>
    <p:sldId id="710" r:id="rId8"/>
    <p:sldId id="604" r:id="rId9"/>
    <p:sldId id="603" r:id="rId10"/>
    <p:sldId id="611" r:id="rId11"/>
    <p:sldId id="612" r:id="rId12"/>
    <p:sldId id="614" r:id="rId13"/>
    <p:sldId id="615" r:id="rId14"/>
    <p:sldId id="616" r:id="rId15"/>
    <p:sldId id="617" r:id="rId16"/>
    <p:sldId id="618" r:id="rId17"/>
    <p:sldId id="620" r:id="rId18"/>
    <p:sldId id="619" r:id="rId19"/>
    <p:sldId id="622" r:id="rId20"/>
    <p:sldId id="623" r:id="rId21"/>
    <p:sldId id="712" r:id="rId22"/>
    <p:sldId id="713" r:id="rId23"/>
    <p:sldId id="711" r:id="rId24"/>
    <p:sldId id="714" r:id="rId25"/>
    <p:sldId id="625" r:id="rId26"/>
    <p:sldId id="715" r:id="rId27"/>
    <p:sldId id="716" r:id="rId28"/>
    <p:sldId id="626" r:id="rId29"/>
    <p:sldId id="629" r:id="rId30"/>
    <p:sldId id="724" r:id="rId31"/>
    <p:sldId id="631" r:id="rId32"/>
    <p:sldId id="634" r:id="rId33"/>
    <p:sldId id="635" r:id="rId34"/>
    <p:sldId id="636" r:id="rId35"/>
    <p:sldId id="632" r:id="rId36"/>
    <p:sldId id="717" r:id="rId37"/>
    <p:sldId id="719" r:id="rId38"/>
    <p:sldId id="718" r:id="rId39"/>
    <p:sldId id="638" r:id="rId40"/>
    <p:sldId id="639" r:id="rId41"/>
    <p:sldId id="640" r:id="rId42"/>
    <p:sldId id="641" r:id="rId43"/>
    <p:sldId id="720" r:id="rId44"/>
    <p:sldId id="642" r:id="rId45"/>
    <p:sldId id="644" r:id="rId46"/>
    <p:sldId id="650" r:id="rId47"/>
    <p:sldId id="643" r:id="rId48"/>
    <p:sldId id="647" r:id="rId49"/>
    <p:sldId id="645" r:id="rId50"/>
    <p:sldId id="722" r:id="rId51"/>
    <p:sldId id="721" r:id="rId52"/>
    <p:sldId id="652" r:id="rId53"/>
    <p:sldId id="653" r:id="rId54"/>
    <p:sldId id="654" r:id="rId55"/>
    <p:sldId id="655" r:id="rId56"/>
    <p:sldId id="656" r:id="rId57"/>
    <p:sldId id="657" r:id="rId58"/>
    <p:sldId id="658" r:id="rId59"/>
    <p:sldId id="659" r:id="rId60"/>
    <p:sldId id="661" r:id="rId61"/>
    <p:sldId id="662" r:id="rId62"/>
    <p:sldId id="663" r:id="rId63"/>
    <p:sldId id="664" r:id="rId64"/>
    <p:sldId id="665" r:id="rId65"/>
    <p:sldId id="667" r:id="rId66"/>
    <p:sldId id="669" r:id="rId67"/>
    <p:sldId id="670" r:id="rId68"/>
    <p:sldId id="671" r:id="rId69"/>
    <p:sldId id="673" r:id="rId70"/>
    <p:sldId id="674" r:id="rId71"/>
    <p:sldId id="676" r:id="rId72"/>
    <p:sldId id="677" r:id="rId73"/>
    <p:sldId id="679" r:id="rId74"/>
    <p:sldId id="681" r:id="rId75"/>
    <p:sldId id="682" r:id="rId76"/>
    <p:sldId id="684" r:id="rId77"/>
    <p:sldId id="685" r:id="rId78"/>
    <p:sldId id="687" r:id="rId79"/>
    <p:sldId id="699" r:id="rId80"/>
    <p:sldId id="702" r:id="rId81"/>
    <p:sldId id="703" r:id="rId82"/>
    <p:sldId id="704" r:id="rId83"/>
    <p:sldId id="705" r:id="rId84"/>
    <p:sldId id="706" r:id="rId85"/>
    <p:sldId id="707" r:id="rId86"/>
    <p:sldId id="723" r:id="rId87"/>
  </p:sldIdLst>
  <p:sldSz cx="9144000" cy="6858000" type="screen4x3"/>
  <p:notesSz cx="5853113" cy="84407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31EF2"/>
    <a:srgbClr val="C5D3FF"/>
    <a:srgbClr val="E4D760"/>
    <a:srgbClr val="FF9900"/>
    <a:srgbClr val="FF3300"/>
    <a:srgbClr val="FFCC00"/>
    <a:srgbClr val="996600"/>
    <a:srgbClr val="CC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1263" autoAdjust="0"/>
    <p:restoredTop sz="95188" autoAdjust="0"/>
  </p:normalViewPr>
  <p:slideViewPr>
    <p:cSldViewPr>
      <p:cViewPr varScale="1">
        <p:scale>
          <a:sx n="154" d="100"/>
          <a:sy n="154" d="100"/>
        </p:scale>
        <p:origin x="774" y="-156"/>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handoutMaster" Target="handoutMasters/handoutMaster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notesMaster" Target="notesMasters/notesMaster1.xml"/><Relationship Id="rId9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heme" Target="theme/theme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3410" name="Rectangle 2"/>
          <p:cNvSpPr>
            <a:spLocks noGrp="1" noChangeArrowheads="1"/>
          </p:cNvSpPr>
          <p:nvPr>
            <p:ph type="hdr" sz="quarter"/>
          </p:nvPr>
        </p:nvSpPr>
        <p:spPr bwMode="auto">
          <a:xfrm>
            <a:off x="0" y="0"/>
            <a:ext cx="2535238" cy="422275"/>
          </a:xfrm>
          <a:prstGeom prst="rect">
            <a:avLst/>
          </a:prstGeom>
          <a:noFill/>
          <a:ln w="9525">
            <a:noFill/>
            <a:miter lim="800000"/>
            <a:headEnd/>
            <a:tailEnd/>
          </a:ln>
          <a:effectLst/>
        </p:spPr>
        <p:txBody>
          <a:bodyPr vert="horz" wrap="square" lIns="81663" tIns="40831" rIns="81663" bIns="40831" numCol="1" anchor="t" anchorCtr="0" compatLnSpc="1">
            <a:prstTxWarp prst="textNoShape">
              <a:avLst/>
            </a:prstTxWarp>
          </a:bodyPr>
          <a:lstStyle>
            <a:lvl1pPr defTabSz="815975">
              <a:spcBef>
                <a:spcPct val="50000"/>
              </a:spcBef>
              <a:defRPr sz="1100" smtClean="0">
                <a:latin typeface="Tahoma" pitchFamily="34" charset="0"/>
              </a:defRPr>
            </a:lvl1pPr>
          </a:lstStyle>
          <a:p>
            <a:pPr>
              <a:defRPr/>
            </a:pPr>
            <a:endParaRPr lang="zh-CN" altLang="en-US"/>
          </a:p>
        </p:txBody>
      </p:sp>
      <p:sp>
        <p:nvSpPr>
          <p:cNvPr id="273411" name="Rectangle 3"/>
          <p:cNvSpPr>
            <a:spLocks noGrp="1" noChangeArrowheads="1"/>
          </p:cNvSpPr>
          <p:nvPr>
            <p:ph type="dt" sz="quarter" idx="1"/>
          </p:nvPr>
        </p:nvSpPr>
        <p:spPr bwMode="auto">
          <a:xfrm>
            <a:off x="3317875" y="0"/>
            <a:ext cx="2535238" cy="422275"/>
          </a:xfrm>
          <a:prstGeom prst="rect">
            <a:avLst/>
          </a:prstGeom>
          <a:noFill/>
          <a:ln w="9525">
            <a:noFill/>
            <a:miter lim="800000"/>
            <a:headEnd/>
            <a:tailEnd/>
          </a:ln>
          <a:effectLst/>
        </p:spPr>
        <p:txBody>
          <a:bodyPr vert="horz" wrap="square" lIns="81663" tIns="40831" rIns="81663" bIns="40831" numCol="1" anchor="t" anchorCtr="0" compatLnSpc="1">
            <a:prstTxWarp prst="textNoShape">
              <a:avLst/>
            </a:prstTxWarp>
          </a:bodyPr>
          <a:lstStyle>
            <a:lvl1pPr algn="r" defTabSz="815975">
              <a:spcBef>
                <a:spcPct val="50000"/>
              </a:spcBef>
              <a:defRPr sz="1100" smtClean="0">
                <a:latin typeface="Tahoma" pitchFamily="34" charset="0"/>
              </a:defRPr>
            </a:lvl1pPr>
          </a:lstStyle>
          <a:p>
            <a:pPr>
              <a:defRPr/>
            </a:pPr>
            <a:endParaRPr lang="en-US" altLang="zh-CN"/>
          </a:p>
        </p:txBody>
      </p:sp>
      <p:sp>
        <p:nvSpPr>
          <p:cNvPr id="273412" name="Rectangle 4"/>
          <p:cNvSpPr>
            <a:spLocks noGrp="1" noChangeArrowheads="1"/>
          </p:cNvSpPr>
          <p:nvPr>
            <p:ph type="ftr" sz="quarter" idx="2"/>
          </p:nvPr>
        </p:nvSpPr>
        <p:spPr bwMode="auto">
          <a:xfrm>
            <a:off x="0" y="8018463"/>
            <a:ext cx="2535238" cy="422275"/>
          </a:xfrm>
          <a:prstGeom prst="rect">
            <a:avLst/>
          </a:prstGeom>
          <a:noFill/>
          <a:ln w="9525">
            <a:noFill/>
            <a:miter lim="800000"/>
            <a:headEnd/>
            <a:tailEnd/>
          </a:ln>
          <a:effectLst/>
        </p:spPr>
        <p:txBody>
          <a:bodyPr vert="horz" wrap="square" lIns="81663" tIns="40831" rIns="81663" bIns="40831" numCol="1" anchor="b" anchorCtr="0" compatLnSpc="1">
            <a:prstTxWarp prst="textNoShape">
              <a:avLst/>
            </a:prstTxWarp>
          </a:bodyPr>
          <a:lstStyle>
            <a:lvl1pPr defTabSz="815975">
              <a:spcBef>
                <a:spcPct val="50000"/>
              </a:spcBef>
              <a:defRPr sz="1100" smtClean="0">
                <a:latin typeface="Tahoma" pitchFamily="34" charset="0"/>
              </a:defRPr>
            </a:lvl1pPr>
          </a:lstStyle>
          <a:p>
            <a:pPr>
              <a:defRPr/>
            </a:pPr>
            <a:endParaRPr lang="en-US" altLang="zh-CN"/>
          </a:p>
        </p:txBody>
      </p:sp>
      <p:sp>
        <p:nvSpPr>
          <p:cNvPr id="273413" name="Rectangle 5"/>
          <p:cNvSpPr>
            <a:spLocks noGrp="1" noChangeArrowheads="1"/>
          </p:cNvSpPr>
          <p:nvPr>
            <p:ph type="sldNum" sz="quarter" idx="3"/>
          </p:nvPr>
        </p:nvSpPr>
        <p:spPr bwMode="auto">
          <a:xfrm>
            <a:off x="3317875" y="8018463"/>
            <a:ext cx="2535238" cy="422275"/>
          </a:xfrm>
          <a:prstGeom prst="rect">
            <a:avLst/>
          </a:prstGeom>
          <a:noFill/>
          <a:ln w="9525">
            <a:noFill/>
            <a:miter lim="800000"/>
            <a:headEnd/>
            <a:tailEnd/>
          </a:ln>
          <a:effectLst/>
        </p:spPr>
        <p:txBody>
          <a:bodyPr vert="horz" wrap="square" lIns="81663" tIns="40831" rIns="81663" bIns="40831" numCol="1" anchor="b" anchorCtr="0" compatLnSpc="1">
            <a:prstTxWarp prst="textNoShape">
              <a:avLst/>
            </a:prstTxWarp>
          </a:bodyPr>
          <a:lstStyle>
            <a:lvl1pPr algn="r" defTabSz="815975">
              <a:spcBef>
                <a:spcPct val="50000"/>
              </a:spcBef>
              <a:defRPr sz="1100" smtClean="0">
                <a:latin typeface="Tahoma" pitchFamily="34" charset="0"/>
              </a:defRPr>
            </a:lvl1pPr>
          </a:lstStyle>
          <a:p>
            <a:pPr>
              <a:defRPr/>
            </a:pPr>
            <a:fld id="{44250B3A-C558-46F8-9463-CC4353C1D93D}" type="slidenum">
              <a:rPr lang="zh-CN" altLang="en-US"/>
              <a:pPr>
                <a:defRPr/>
              </a:pPr>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3922" name="Rectangle 2"/>
          <p:cNvSpPr>
            <a:spLocks noGrp="1" noChangeArrowheads="1"/>
          </p:cNvSpPr>
          <p:nvPr>
            <p:ph type="hdr" sz="quarter"/>
          </p:nvPr>
        </p:nvSpPr>
        <p:spPr bwMode="auto">
          <a:xfrm>
            <a:off x="0" y="0"/>
            <a:ext cx="2536825" cy="4222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smtClean="0">
                <a:latin typeface="Arial" charset="0"/>
              </a:defRPr>
            </a:lvl1pPr>
          </a:lstStyle>
          <a:p>
            <a:pPr>
              <a:defRPr/>
            </a:pPr>
            <a:endParaRPr lang="zh-CN" altLang="en-US"/>
          </a:p>
        </p:txBody>
      </p:sp>
      <p:sp>
        <p:nvSpPr>
          <p:cNvPr id="593923" name="Rectangle 3"/>
          <p:cNvSpPr>
            <a:spLocks noGrp="1" noChangeArrowheads="1"/>
          </p:cNvSpPr>
          <p:nvPr>
            <p:ph type="dt" idx="1"/>
          </p:nvPr>
        </p:nvSpPr>
        <p:spPr bwMode="auto">
          <a:xfrm>
            <a:off x="3314700" y="0"/>
            <a:ext cx="2536825" cy="4222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smtClean="0">
                <a:latin typeface="Arial" charset="0"/>
              </a:defRPr>
            </a:lvl1pPr>
          </a:lstStyle>
          <a:p>
            <a:pPr>
              <a:defRPr/>
            </a:pPr>
            <a:endParaRPr lang="en-US" altLang="zh-CN"/>
          </a:p>
        </p:txBody>
      </p:sp>
      <p:sp>
        <p:nvSpPr>
          <p:cNvPr id="48132" name="Rectangle 4"/>
          <p:cNvSpPr>
            <a:spLocks noGrp="1" noRot="1" noChangeAspect="1" noChangeArrowheads="1" noTextEdit="1"/>
          </p:cNvSpPr>
          <p:nvPr>
            <p:ph type="sldImg" idx="2"/>
          </p:nvPr>
        </p:nvSpPr>
        <p:spPr bwMode="auto">
          <a:xfrm>
            <a:off x="817563" y="633413"/>
            <a:ext cx="4219575" cy="3165475"/>
          </a:xfrm>
          <a:prstGeom prst="rect">
            <a:avLst/>
          </a:prstGeom>
          <a:noFill/>
          <a:ln w="9525">
            <a:solidFill>
              <a:srgbClr val="000000"/>
            </a:solidFill>
            <a:miter lim="800000"/>
            <a:headEnd/>
            <a:tailEnd/>
          </a:ln>
        </p:spPr>
      </p:sp>
      <p:sp>
        <p:nvSpPr>
          <p:cNvPr id="593925" name="Rectangle 5"/>
          <p:cNvSpPr>
            <a:spLocks noGrp="1" noChangeArrowheads="1"/>
          </p:cNvSpPr>
          <p:nvPr>
            <p:ph type="body" sz="quarter" idx="3"/>
          </p:nvPr>
        </p:nvSpPr>
        <p:spPr bwMode="auto">
          <a:xfrm>
            <a:off x="585788" y="4010025"/>
            <a:ext cx="4681537" cy="37973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593926" name="Rectangle 6"/>
          <p:cNvSpPr>
            <a:spLocks noGrp="1" noChangeArrowheads="1"/>
          </p:cNvSpPr>
          <p:nvPr>
            <p:ph type="ftr" sz="quarter" idx="4"/>
          </p:nvPr>
        </p:nvSpPr>
        <p:spPr bwMode="auto">
          <a:xfrm>
            <a:off x="0" y="8016875"/>
            <a:ext cx="2536825" cy="42227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smtClean="0">
                <a:latin typeface="Arial" charset="0"/>
              </a:defRPr>
            </a:lvl1pPr>
          </a:lstStyle>
          <a:p>
            <a:pPr>
              <a:defRPr/>
            </a:pPr>
            <a:endParaRPr lang="en-US" altLang="zh-CN"/>
          </a:p>
        </p:txBody>
      </p:sp>
      <p:sp>
        <p:nvSpPr>
          <p:cNvPr id="593927" name="Rectangle 7"/>
          <p:cNvSpPr>
            <a:spLocks noGrp="1" noChangeArrowheads="1"/>
          </p:cNvSpPr>
          <p:nvPr>
            <p:ph type="sldNum" sz="quarter" idx="5"/>
          </p:nvPr>
        </p:nvSpPr>
        <p:spPr bwMode="auto">
          <a:xfrm>
            <a:off x="3314700" y="8016875"/>
            <a:ext cx="2536825" cy="42227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smtClean="0">
                <a:latin typeface="Arial" charset="0"/>
              </a:defRPr>
            </a:lvl1pPr>
          </a:lstStyle>
          <a:p>
            <a:pPr>
              <a:defRPr/>
            </a:pPr>
            <a:fld id="{1AB1BCA3-236B-4938-B3DE-B868BB9AA516}"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1AB1BCA3-236B-4938-B3DE-B868BB9AA516}" type="slidenum">
              <a:rPr lang="zh-CN" altLang="en-US" smtClean="0"/>
              <a:pPr>
                <a:defRPr/>
              </a:pPr>
              <a:t>1</a:t>
            </a:fld>
            <a:endParaRPr lang="en-US" altLang="zh-CN"/>
          </a:p>
        </p:txBody>
      </p:sp>
    </p:spTree>
    <p:extLst>
      <p:ext uri="{BB962C8B-B14F-4D97-AF65-F5344CB8AC3E}">
        <p14:creationId xmlns:p14="http://schemas.microsoft.com/office/powerpoint/2010/main" val="36303630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1AB1BCA3-236B-4938-B3DE-B868BB9AA516}" type="slidenum">
              <a:rPr lang="zh-CN" altLang="en-US" smtClean="0"/>
              <a:pPr>
                <a:defRPr/>
              </a:pPr>
              <a:t>20</a:t>
            </a:fld>
            <a:endParaRPr lang="en-US" altLang="zh-CN"/>
          </a:p>
        </p:txBody>
      </p:sp>
    </p:spTree>
    <p:extLst>
      <p:ext uri="{BB962C8B-B14F-4D97-AF65-F5344CB8AC3E}">
        <p14:creationId xmlns:p14="http://schemas.microsoft.com/office/powerpoint/2010/main" val="296198726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125459" y="959313"/>
            <a:ext cx="5760741" cy="2571891"/>
          </a:xfrm>
        </p:spPr>
        <p:txBody>
          <a:bodyPr bIns="0" anchor="b">
            <a:normAutofit/>
          </a:bodyPr>
          <a:lstStyle>
            <a:lvl1pPr algn="l">
              <a:defRPr sz="5400"/>
            </a:lvl1pPr>
          </a:lstStyle>
          <a:p>
            <a:r>
              <a:rPr lang="zh-CN" altLang="en-US"/>
              <a:t>单击此处编辑母版标题样式</a:t>
            </a:r>
            <a:endParaRPr lang="en-US" dirty="0"/>
          </a:p>
        </p:txBody>
      </p:sp>
      <p:sp>
        <p:nvSpPr>
          <p:cNvPr id="3" name="Subtitle 2"/>
          <p:cNvSpPr>
            <a:spLocks noGrp="1"/>
          </p:cNvSpPr>
          <p:nvPr>
            <p:ph type="subTitle" idx="1"/>
          </p:nvPr>
        </p:nvSpPr>
        <p:spPr>
          <a:xfrm>
            <a:off x="1125459" y="3531205"/>
            <a:ext cx="5760741" cy="977621"/>
          </a:xfrm>
        </p:spPr>
        <p:txBody>
          <a:bodyPr tIns="91440" bIns="91440">
            <a:normAutofit/>
          </a:bodyPr>
          <a:lstStyle>
            <a:lvl1pPr marL="0" indent="0" algn="l">
              <a:buNone/>
              <a:defRPr sz="1600" b="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pPr>
              <a:defRPr/>
            </a:pPr>
            <a:endParaRPr lang="en-US" altLang="zh-CN"/>
          </a:p>
        </p:txBody>
      </p:sp>
      <p:sp>
        <p:nvSpPr>
          <p:cNvPr id="5" name="Footer Placeholder 4"/>
          <p:cNvSpPr>
            <a:spLocks noGrp="1"/>
          </p:cNvSpPr>
          <p:nvPr>
            <p:ph type="ftr" sz="quarter" idx="11"/>
          </p:nvPr>
        </p:nvSpPr>
        <p:spPr>
          <a:xfrm>
            <a:off x="1125459" y="329308"/>
            <a:ext cx="3392144" cy="309201"/>
          </a:xfrm>
        </p:spPr>
        <p:txBody>
          <a:bodyPr/>
          <a:lstStyle/>
          <a:p>
            <a:pPr>
              <a:defRPr/>
            </a:pPr>
            <a:endParaRPr lang="en-US" altLang="zh-CN"/>
          </a:p>
        </p:txBody>
      </p:sp>
      <p:sp>
        <p:nvSpPr>
          <p:cNvPr id="6" name="Slide Number Placeholder 5"/>
          <p:cNvSpPr>
            <a:spLocks noGrp="1"/>
          </p:cNvSpPr>
          <p:nvPr>
            <p:ph type="sldNum" sz="quarter" idx="12"/>
          </p:nvPr>
        </p:nvSpPr>
        <p:spPr>
          <a:xfrm>
            <a:off x="6886200" y="131730"/>
            <a:ext cx="802005" cy="503578"/>
          </a:xfrm>
        </p:spPr>
        <p:txBody>
          <a:bodyPr/>
          <a:lstStyle/>
          <a:p>
            <a:pPr>
              <a:defRPr/>
            </a:pPr>
            <a:fld id="{47A4CA45-135E-4AE6-A55B-F30C83FDB90E}" type="slidenum">
              <a:rPr lang="zh-CN" altLang="en-US" smtClean="0"/>
              <a:pPr>
                <a:defRPr/>
              </a:pPr>
              <a:t>‹#›</a:t>
            </a:fld>
            <a:endParaRPr lang="en-US" altLang="zh-CN"/>
          </a:p>
        </p:txBody>
      </p:sp>
      <p:pic>
        <p:nvPicPr>
          <p:cNvPr id="16" name="Picture 15"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6" r="42454" b="36435"/>
          <a:stretch/>
        </p:blipFill>
        <p:spPr>
          <a:xfrm>
            <a:off x="1125460" y="643464"/>
            <a:ext cx="6574536" cy="155448"/>
          </a:xfrm>
          <a:prstGeom prst="rect">
            <a:avLst/>
          </a:prstGeom>
          <a:noFill/>
          <a:ln>
            <a:noFill/>
          </a:ln>
        </p:spPr>
      </p:pic>
    </p:spTree>
    <p:extLst>
      <p:ext uri="{BB962C8B-B14F-4D97-AF65-F5344CB8AC3E}">
        <p14:creationId xmlns:p14="http://schemas.microsoft.com/office/powerpoint/2010/main" val="10464698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ncho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pPr>
              <a:defRPr/>
            </a:pPr>
            <a:endParaRPr lang="en-US" altLang="zh-CN"/>
          </a:p>
        </p:txBody>
      </p:sp>
      <p:sp>
        <p:nvSpPr>
          <p:cNvPr id="5" name="Footer Placeholder 4"/>
          <p:cNvSpPr>
            <a:spLocks noGrp="1"/>
          </p:cNvSpPr>
          <p:nvPr>
            <p:ph type="ftr" sz="quarter" idx="11"/>
          </p:nvPr>
        </p:nvSpPr>
        <p:spPr/>
        <p:txBody>
          <a:bodyPr/>
          <a:lstStyle/>
          <a:p>
            <a:pPr>
              <a:defRPr/>
            </a:pPr>
            <a:endParaRPr lang="en-US" altLang="zh-CN"/>
          </a:p>
        </p:txBody>
      </p:sp>
      <p:sp>
        <p:nvSpPr>
          <p:cNvPr id="6" name="Slide Number Placeholder 5"/>
          <p:cNvSpPr>
            <a:spLocks noGrp="1"/>
          </p:cNvSpPr>
          <p:nvPr>
            <p:ph type="sldNum" sz="quarter" idx="12"/>
          </p:nvPr>
        </p:nvSpPr>
        <p:spPr/>
        <p:txBody>
          <a:bodyPr/>
          <a:lstStyle/>
          <a:p>
            <a:pPr>
              <a:defRPr/>
            </a:pPr>
            <a:fld id="{5FAFB815-62BA-464E-901C-79D108092E38}" type="slidenum">
              <a:rPr lang="zh-CN" altLang="en-US" smtClean="0"/>
              <a:pPr>
                <a:defRPr/>
              </a:pPr>
              <a:t>‹#›</a:t>
            </a:fld>
            <a:endParaRPr lang="en-US" altLang="zh-CN"/>
          </a:p>
        </p:txBody>
      </p:sp>
      <p:pic>
        <p:nvPicPr>
          <p:cNvPr id="15" name="Picture 14"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6" r="42454" b="36435"/>
          <a:stretch/>
        </p:blipFill>
        <p:spPr>
          <a:xfrm>
            <a:off x="1125460" y="643464"/>
            <a:ext cx="6574536" cy="155448"/>
          </a:xfrm>
          <a:prstGeom prst="rect">
            <a:avLst/>
          </a:prstGeom>
          <a:noFill/>
          <a:ln>
            <a:noFill/>
          </a:ln>
        </p:spPr>
      </p:pic>
    </p:spTree>
    <p:extLst>
      <p:ext uri="{BB962C8B-B14F-4D97-AF65-F5344CB8AC3E}">
        <p14:creationId xmlns:p14="http://schemas.microsoft.com/office/powerpoint/2010/main" val="4158961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1125459" y="1756130"/>
            <a:ext cx="5764142" cy="2050066"/>
          </a:xfrm>
        </p:spPr>
        <p:txBody>
          <a:bodyPr anchor="b">
            <a:normAutofit/>
          </a:bodyPr>
          <a:lstStyle>
            <a:lvl1pPr algn="l">
              <a:defRPr sz="3200"/>
            </a:lvl1pPr>
          </a:lstStyle>
          <a:p>
            <a:r>
              <a:rPr lang="zh-CN" altLang="en-US"/>
              <a:t>单击此处编辑母版标题样式</a:t>
            </a:r>
            <a:endParaRPr lang="en-US" dirty="0"/>
          </a:p>
        </p:txBody>
      </p:sp>
      <p:sp>
        <p:nvSpPr>
          <p:cNvPr id="3" name="Text Placeholder 2"/>
          <p:cNvSpPr>
            <a:spLocks noGrp="1"/>
          </p:cNvSpPr>
          <p:nvPr>
            <p:ph type="body" idx="1"/>
          </p:nvPr>
        </p:nvSpPr>
        <p:spPr>
          <a:xfrm>
            <a:off x="1125460" y="3806196"/>
            <a:ext cx="5764142" cy="1012929"/>
          </a:xfrm>
        </p:spPr>
        <p:txBody>
          <a:bodyPr tIns="91440">
            <a:normAutofit/>
          </a:bodyPr>
          <a:lstStyle>
            <a:lvl1pPr marL="0" indent="0" algn="l">
              <a:buNone/>
              <a:defRPr sz="20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pPr>
              <a:defRPr/>
            </a:pPr>
            <a:endParaRPr lang="en-US" altLang="zh-CN"/>
          </a:p>
        </p:txBody>
      </p:sp>
      <p:sp>
        <p:nvSpPr>
          <p:cNvPr id="5" name="Footer Placeholder 4"/>
          <p:cNvSpPr>
            <a:spLocks noGrp="1"/>
          </p:cNvSpPr>
          <p:nvPr>
            <p:ph type="ftr" sz="quarter" idx="11"/>
          </p:nvPr>
        </p:nvSpPr>
        <p:spPr/>
        <p:txBody>
          <a:bodyPr/>
          <a:lstStyle/>
          <a:p>
            <a:pPr>
              <a:defRPr/>
            </a:pPr>
            <a:endParaRPr lang="en-US" altLang="zh-CN"/>
          </a:p>
        </p:txBody>
      </p:sp>
      <p:sp>
        <p:nvSpPr>
          <p:cNvPr id="6" name="Slide Number Placeholder 5"/>
          <p:cNvSpPr>
            <a:spLocks noGrp="1"/>
          </p:cNvSpPr>
          <p:nvPr>
            <p:ph type="sldNum" sz="quarter" idx="12"/>
          </p:nvPr>
        </p:nvSpPr>
        <p:spPr/>
        <p:txBody>
          <a:bodyPr/>
          <a:lstStyle/>
          <a:p>
            <a:pPr>
              <a:defRPr/>
            </a:pPr>
            <a:fld id="{87774309-A2F6-4F07-8ACC-AEE5D3C8E8D6}" type="slidenum">
              <a:rPr lang="zh-CN" altLang="en-US" smtClean="0"/>
              <a:pPr>
                <a:defRPr/>
              </a:pPr>
              <a:t>‹#›</a:t>
            </a:fld>
            <a:endParaRPr lang="en-US" altLang="zh-CN"/>
          </a:p>
        </p:txBody>
      </p:sp>
      <p:pic>
        <p:nvPicPr>
          <p:cNvPr id="16" name="Picture 15"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6" r="42454" b="36435"/>
          <a:stretch/>
        </p:blipFill>
        <p:spPr>
          <a:xfrm>
            <a:off x="1125460" y="643464"/>
            <a:ext cx="6574536" cy="155448"/>
          </a:xfrm>
          <a:prstGeom prst="rect">
            <a:avLst/>
          </a:prstGeom>
          <a:noFill/>
          <a:ln>
            <a:noFill/>
          </a:ln>
        </p:spPr>
      </p:pic>
    </p:spTree>
    <p:extLst>
      <p:ext uri="{BB962C8B-B14F-4D97-AF65-F5344CB8AC3E}">
        <p14:creationId xmlns:p14="http://schemas.microsoft.com/office/powerpoint/2010/main" val="25912860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a:xfrm>
            <a:off x="1125459" y="959314"/>
            <a:ext cx="6564015" cy="1044117"/>
          </a:xfrm>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1125459" y="2172548"/>
            <a:ext cx="3125871" cy="327894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4563822" y="2172548"/>
            <a:ext cx="3125652" cy="3278947"/>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pPr>
              <a:defRPr/>
            </a:pPr>
            <a:endParaRPr lang="en-US" altLang="zh-CN"/>
          </a:p>
        </p:txBody>
      </p:sp>
      <p:sp>
        <p:nvSpPr>
          <p:cNvPr id="6" name="Footer Placeholder 5"/>
          <p:cNvSpPr>
            <a:spLocks noGrp="1"/>
          </p:cNvSpPr>
          <p:nvPr>
            <p:ph type="ftr" sz="quarter" idx="11"/>
          </p:nvPr>
        </p:nvSpPr>
        <p:spPr/>
        <p:txBody>
          <a:bodyPr/>
          <a:lstStyle/>
          <a:p>
            <a:pPr>
              <a:defRPr/>
            </a:pPr>
            <a:endParaRPr lang="en-US" altLang="zh-CN"/>
          </a:p>
        </p:txBody>
      </p:sp>
      <p:sp>
        <p:nvSpPr>
          <p:cNvPr id="7" name="Slide Number Placeholder 6"/>
          <p:cNvSpPr>
            <a:spLocks noGrp="1"/>
          </p:cNvSpPr>
          <p:nvPr>
            <p:ph type="sldNum" sz="quarter" idx="12"/>
          </p:nvPr>
        </p:nvSpPr>
        <p:spPr/>
        <p:txBody>
          <a:bodyPr/>
          <a:lstStyle/>
          <a:p>
            <a:pPr>
              <a:defRPr/>
            </a:pPr>
            <a:fld id="{DEA397D5-A2C6-49E4-907A-20A1AADCD190}" type="slidenum">
              <a:rPr lang="zh-CN" altLang="en-US" smtClean="0"/>
              <a:pPr>
                <a:defRPr/>
              </a:pPr>
              <a:t>‹#›</a:t>
            </a:fld>
            <a:endParaRPr lang="en-US" altLang="zh-CN"/>
          </a:p>
        </p:txBody>
      </p:sp>
      <p:pic>
        <p:nvPicPr>
          <p:cNvPr id="16" name="Picture 15"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6" r="42454" b="36435"/>
          <a:stretch/>
        </p:blipFill>
        <p:spPr>
          <a:xfrm>
            <a:off x="1125460" y="643464"/>
            <a:ext cx="6574536" cy="155448"/>
          </a:xfrm>
          <a:prstGeom prst="rect">
            <a:avLst/>
          </a:prstGeom>
          <a:noFill/>
          <a:ln>
            <a:noFill/>
          </a:ln>
        </p:spPr>
      </p:pic>
    </p:spTree>
    <p:extLst>
      <p:ext uri="{BB962C8B-B14F-4D97-AF65-F5344CB8AC3E}">
        <p14:creationId xmlns:p14="http://schemas.microsoft.com/office/powerpoint/2010/main" val="38295364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1128652" y="959903"/>
            <a:ext cx="6571344" cy="1044600"/>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1118131" y="2169094"/>
            <a:ext cx="3125766" cy="801943"/>
          </a:xfrm>
        </p:spPr>
        <p:txBody>
          <a:bodyPr anchor="b">
            <a:normAutofit/>
          </a:bodyPr>
          <a:lstStyle>
            <a:lvl1pPr marL="0" indent="0">
              <a:lnSpc>
                <a:spcPct val="100000"/>
              </a:lnSpc>
              <a:buNone/>
              <a:defRPr sz="2200" b="0" cap="none"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Content Placeholder 3"/>
          <p:cNvSpPr>
            <a:spLocks noGrp="1"/>
          </p:cNvSpPr>
          <p:nvPr>
            <p:ph sz="half" idx="2"/>
          </p:nvPr>
        </p:nvSpPr>
        <p:spPr>
          <a:xfrm>
            <a:off x="1118131" y="2973815"/>
            <a:ext cx="3125766" cy="249166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4563822" y="2172548"/>
            <a:ext cx="3125652" cy="802237"/>
          </a:xfrm>
        </p:spPr>
        <p:txBody>
          <a:bodyPr anchor="b">
            <a:normAutofit/>
          </a:bodyPr>
          <a:lstStyle>
            <a:lvl1pPr marL="0" indent="0">
              <a:lnSpc>
                <a:spcPct val="100000"/>
              </a:lnSpc>
              <a:buNone/>
              <a:defRPr sz="2200" b="0" cap="none"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Content Placeholder 5"/>
          <p:cNvSpPr>
            <a:spLocks noGrp="1"/>
          </p:cNvSpPr>
          <p:nvPr>
            <p:ph sz="quarter" idx="4"/>
          </p:nvPr>
        </p:nvSpPr>
        <p:spPr>
          <a:xfrm>
            <a:off x="4563822" y="2971035"/>
            <a:ext cx="3125652" cy="248498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pPr>
              <a:defRPr/>
            </a:pPr>
            <a:endParaRPr lang="en-US" altLang="zh-CN"/>
          </a:p>
        </p:txBody>
      </p:sp>
      <p:sp>
        <p:nvSpPr>
          <p:cNvPr id="8" name="Footer Placeholder 7"/>
          <p:cNvSpPr>
            <a:spLocks noGrp="1"/>
          </p:cNvSpPr>
          <p:nvPr>
            <p:ph type="ftr" sz="quarter" idx="11"/>
          </p:nvPr>
        </p:nvSpPr>
        <p:spPr/>
        <p:txBody>
          <a:bodyPr/>
          <a:lstStyle/>
          <a:p>
            <a:pPr>
              <a:defRPr/>
            </a:pPr>
            <a:endParaRPr lang="en-US" altLang="zh-CN"/>
          </a:p>
        </p:txBody>
      </p:sp>
      <p:sp>
        <p:nvSpPr>
          <p:cNvPr id="9" name="Slide Number Placeholder 8"/>
          <p:cNvSpPr>
            <a:spLocks noGrp="1"/>
          </p:cNvSpPr>
          <p:nvPr>
            <p:ph type="sldNum" sz="quarter" idx="12"/>
          </p:nvPr>
        </p:nvSpPr>
        <p:spPr/>
        <p:txBody>
          <a:bodyPr/>
          <a:lstStyle/>
          <a:p>
            <a:pPr>
              <a:defRPr/>
            </a:pPr>
            <a:fld id="{9D6AAB40-356D-433C-8B7E-B9A8DAAC85D6}" type="slidenum">
              <a:rPr lang="zh-CN" altLang="en-US" smtClean="0"/>
              <a:pPr>
                <a:defRPr/>
              </a:pPr>
              <a:t>‹#›</a:t>
            </a:fld>
            <a:endParaRPr lang="en-US" altLang="zh-CN"/>
          </a:p>
        </p:txBody>
      </p:sp>
      <p:pic>
        <p:nvPicPr>
          <p:cNvPr id="18" name="Picture 17"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6" r="42454" b="36435"/>
          <a:stretch/>
        </p:blipFill>
        <p:spPr>
          <a:xfrm>
            <a:off x="1125460" y="643464"/>
            <a:ext cx="6574536" cy="155448"/>
          </a:xfrm>
          <a:prstGeom prst="rect">
            <a:avLst/>
          </a:prstGeom>
          <a:noFill/>
          <a:ln>
            <a:noFill/>
          </a:ln>
        </p:spPr>
      </p:pic>
    </p:spTree>
    <p:extLst>
      <p:ext uri="{BB962C8B-B14F-4D97-AF65-F5344CB8AC3E}">
        <p14:creationId xmlns:p14="http://schemas.microsoft.com/office/powerpoint/2010/main" val="3466791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pPr>
              <a:defRPr/>
            </a:pPr>
            <a:endParaRPr lang="en-US" altLang="zh-CN"/>
          </a:p>
        </p:txBody>
      </p:sp>
      <p:sp>
        <p:nvSpPr>
          <p:cNvPr id="4" name="Footer Placeholder 3"/>
          <p:cNvSpPr>
            <a:spLocks noGrp="1"/>
          </p:cNvSpPr>
          <p:nvPr>
            <p:ph type="ftr" sz="quarter" idx="11"/>
          </p:nvPr>
        </p:nvSpPr>
        <p:spPr/>
        <p:txBody>
          <a:bodyPr/>
          <a:lstStyle/>
          <a:p>
            <a:pPr>
              <a:defRPr/>
            </a:pPr>
            <a:endParaRPr lang="en-US" altLang="zh-CN"/>
          </a:p>
        </p:txBody>
      </p:sp>
      <p:sp>
        <p:nvSpPr>
          <p:cNvPr id="5" name="Slide Number Placeholder 4"/>
          <p:cNvSpPr>
            <a:spLocks noGrp="1"/>
          </p:cNvSpPr>
          <p:nvPr>
            <p:ph type="sldNum" sz="quarter" idx="12"/>
          </p:nvPr>
        </p:nvSpPr>
        <p:spPr/>
        <p:txBody>
          <a:bodyPr/>
          <a:lstStyle/>
          <a:p>
            <a:pPr>
              <a:defRPr/>
            </a:pPr>
            <a:fld id="{31B4A72C-E0E1-44EB-8B04-848C245A1FBE}" type="slidenum">
              <a:rPr lang="zh-CN" altLang="en-US" smtClean="0"/>
              <a:pPr>
                <a:defRPr/>
              </a:pPr>
              <a:t>‹#›</a:t>
            </a:fld>
            <a:endParaRPr lang="en-US" altLang="zh-CN"/>
          </a:p>
        </p:txBody>
      </p:sp>
      <p:pic>
        <p:nvPicPr>
          <p:cNvPr id="14" name="Picture 13"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6" r="42454" b="36435"/>
          <a:stretch/>
        </p:blipFill>
        <p:spPr>
          <a:xfrm>
            <a:off x="1125460" y="643464"/>
            <a:ext cx="6574536" cy="155448"/>
          </a:xfrm>
          <a:prstGeom prst="rect">
            <a:avLst/>
          </a:prstGeom>
          <a:noFill/>
          <a:ln>
            <a:noFill/>
          </a:ln>
        </p:spPr>
      </p:pic>
    </p:spTree>
    <p:extLst>
      <p:ext uri="{BB962C8B-B14F-4D97-AF65-F5344CB8AC3E}">
        <p14:creationId xmlns:p14="http://schemas.microsoft.com/office/powerpoint/2010/main" val="20232263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ltLang="zh-CN"/>
          </a:p>
        </p:txBody>
      </p:sp>
      <p:sp>
        <p:nvSpPr>
          <p:cNvPr id="3" name="Footer Placeholder 2"/>
          <p:cNvSpPr>
            <a:spLocks noGrp="1"/>
          </p:cNvSpPr>
          <p:nvPr>
            <p:ph type="ftr" sz="quarter" idx="11"/>
          </p:nvPr>
        </p:nvSpPr>
        <p:spPr/>
        <p:txBody>
          <a:bodyPr/>
          <a:lstStyle/>
          <a:p>
            <a:pPr>
              <a:defRPr/>
            </a:pPr>
            <a:endParaRPr lang="en-US" altLang="zh-CN"/>
          </a:p>
        </p:txBody>
      </p:sp>
      <p:sp>
        <p:nvSpPr>
          <p:cNvPr id="4" name="Slide Number Placeholder 3"/>
          <p:cNvSpPr>
            <a:spLocks noGrp="1"/>
          </p:cNvSpPr>
          <p:nvPr>
            <p:ph type="sldNum" sz="quarter" idx="12"/>
          </p:nvPr>
        </p:nvSpPr>
        <p:spPr/>
        <p:txBody>
          <a:bodyPr/>
          <a:lstStyle/>
          <a:p>
            <a:pPr>
              <a:defRPr/>
            </a:pPr>
            <a:fld id="{63EBB06B-0CDA-4335-8F56-AA0F31B43A01}" type="slidenum">
              <a:rPr lang="zh-CN" altLang="en-US" smtClean="0"/>
              <a:pPr>
                <a:defRPr/>
              </a:pPr>
              <a:t>‹#›</a:t>
            </a:fld>
            <a:endParaRPr lang="en-US" altLang="zh-CN"/>
          </a:p>
        </p:txBody>
      </p:sp>
    </p:spTree>
    <p:extLst>
      <p:ext uri="{BB962C8B-B14F-4D97-AF65-F5344CB8AC3E}">
        <p14:creationId xmlns:p14="http://schemas.microsoft.com/office/powerpoint/2010/main" val="39713940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1124041" y="959313"/>
            <a:ext cx="2425950" cy="2242051"/>
          </a:xfrm>
        </p:spPr>
        <p:txBody>
          <a:bodyPr anchor="b">
            <a:normAutofit/>
          </a:bodyPr>
          <a:lstStyle>
            <a:lvl1pPr algn="l">
              <a:defRPr sz="2400"/>
            </a:lvl1pPr>
          </a:lstStyle>
          <a:p>
            <a:r>
              <a:rPr lang="zh-CN" altLang="en-US"/>
              <a:t>单击此处编辑母版标题样式</a:t>
            </a:r>
            <a:endParaRPr lang="en-US" dirty="0"/>
          </a:p>
        </p:txBody>
      </p:sp>
      <p:sp>
        <p:nvSpPr>
          <p:cNvPr id="3" name="Content Placeholder 2"/>
          <p:cNvSpPr>
            <a:spLocks noGrp="1"/>
          </p:cNvSpPr>
          <p:nvPr>
            <p:ph idx="1"/>
          </p:nvPr>
        </p:nvSpPr>
        <p:spPr>
          <a:xfrm>
            <a:off x="3859877" y="960890"/>
            <a:ext cx="3828178" cy="4496910"/>
          </a:xfrm>
        </p:spPr>
        <p:txBody>
          <a:bodyPr anchor="ct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1124041" y="3205492"/>
            <a:ext cx="2427369" cy="2248181"/>
          </a:xfrm>
        </p:spPr>
        <p:txBody>
          <a:bodyPr>
            <a:normAutofit/>
          </a:bodyPr>
          <a:lstStyle>
            <a:lvl1pPr marL="0" indent="0" algn="l">
              <a:buNone/>
              <a:defRPr sz="16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pPr>
              <a:defRPr/>
            </a:pPr>
            <a:endParaRPr lang="en-US" altLang="zh-CN"/>
          </a:p>
        </p:txBody>
      </p:sp>
      <p:sp>
        <p:nvSpPr>
          <p:cNvPr id="6" name="Footer Placeholder 5"/>
          <p:cNvSpPr>
            <a:spLocks noGrp="1"/>
          </p:cNvSpPr>
          <p:nvPr>
            <p:ph type="ftr" sz="quarter" idx="11"/>
          </p:nvPr>
        </p:nvSpPr>
        <p:spPr/>
        <p:txBody>
          <a:bodyPr/>
          <a:lstStyle/>
          <a:p>
            <a:pPr>
              <a:defRPr/>
            </a:pPr>
            <a:endParaRPr lang="en-US" altLang="zh-CN"/>
          </a:p>
        </p:txBody>
      </p:sp>
      <p:sp>
        <p:nvSpPr>
          <p:cNvPr id="7" name="Slide Number Placeholder 6"/>
          <p:cNvSpPr>
            <a:spLocks noGrp="1"/>
          </p:cNvSpPr>
          <p:nvPr>
            <p:ph type="sldNum" sz="quarter" idx="12"/>
          </p:nvPr>
        </p:nvSpPr>
        <p:spPr/>
        <p:txBody>
          <a:bodyPr/>
          <a:lstStyle/>
          <a:p>
            <a:pPr>
              <a:defRPr/>
            </a:pPr>
            <a:fld id="{BFD8530F-7A7B-4169-8533-8FFEFD83E910}" type="slidenum">
              <a:rPr lang="zh-CN" altLang="en-US" smtClean="0"/>
              <a:pPr>
                <a:defRPr/>
              </a:pPr>
              <a:t>‹#›</a:t>
            </a:fld>
            <a:endParaRPr lang="en-US" altLang="zh-CN"/>
          </a:p>
        </p:txBody>
      </p:sp>
      <p:pic>
        <p:nvPicPr>
          <p:cNvPr id="16" name="Picture 15"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6" r="42454" b="36435"/>
          <a:stretch/>
        </p:blipFill>
        <p:spPr>
          <a:xfrm>
            <a:off x="1125460" y="643464"/>
            <a:ext cx="6574536" cy="155448"/>
          </a:xfrm>
          <a:prstGeom prst="rect">
            <a:avLst/>
          </a:prstGeom>
          <a:noFill/>
          <a:ln>
            <a:noFill/>
          </a:ln>
        </p:spPr>
      </p:pic>
    </p:spTree>
    <p:extLst>
      <p:ext uri="{BB962C8B-B14F-4D97-AF65-F5344CB8AC3E}">
        <p14:creationId xmlns:p14="http://schemas.microsoft.com/office/powerpoint/2010/main" val="1261389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grpSp>
        <p:nvGrpSpPr>
          <p:cNvPr id="8" name="Group 7"/>
          <p:cNvGrpSpPr/>
          <p:nvPr/>
        </p:nvGrpSpPr>
        <p:grpSpPr>
          <a:xfrm>
            <a:off x="4996501" y="482171"/>
            <a:ext cx="3511387" cy="5149101"/>
            <a:chOff x="4996501" y="482171"/>
            <a:chExt cx="3511387" cy="5149101"/>
          </a:xfrm>
        </p:grpSpPr>
        <p:sp>
          <p:nvSpPr>
            <p:cNvPr id="14" name="Rectangle 13"/>
            <p:cNvSpPr/>
            <p:nvPr/>
          </p:nvSpPr>
          <p:spPr>
            <a:xfrm>
              <a:off x="4996501" y="482171"/>
              <a:ext cx="3511387" cy="5149101"/>
            </a:xfrm>
            <a:prstGeom prst="rect">
              <a:avLst/>
            </a:prstGeom>
            <a:gradFill>
              <a:gsLst>
                <a:gs pos="0">
                  <a:schemeClr val="tx1">
                    <a:lumMod val="85000"/>
                    <a:lumOff val="15000"/>
                  </a:schemeClr>
                </a:gs>
                <a:gs pos="100000">
                  <a:schemeClr val="tx1">
                    <a:lumMod val="95000"/>
                    <a:lumOff val="5000"/>
                  </a:schemeClr>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14300" prst="artDeco"/>
            </a:sp3d>
          </p:spPr>
          <p:style>
            <a:lnRef idx="1">
              <a:schemeClr val="accent1"/>
            </a:lnRef>
            <a:fillRef idx="3">
              <a:schemeClr val="accent1"/>
            </a:fillRef>
            <a:effectRef idx="2">
              <a:schemeClr val="accent1"/>
            </a:effectRef>
            <a:fontRef idx="minor">
              <a:schemeClr val="lt1"/>
            </a:fontRef>
          </p:style>
        </p:sp>
        <p:sp>
          <p:nvSpPr>
            <p:cNvPr id="15" name="Rectangle 14"/>
            <p:cNvSpPr/>
            <p:nvPr/>
          </p:nvSpPr>
          <p:spPr>
            <a:xfrm>
              <a:off x="5312152" y="812506"/>
              <a:ext cx="2883013" cy="4479361"/>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132077" y="1129512"/>
            <a:ext cx="3386166" cy="1918487"/>
          </a:xfrm>
        </p:spPr>
        <p:txBody>
          <a:bodyPr anchor="b">
            <a:normAutofit/>
          </a:bodyPr>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640128" y="1122543"/>
            <a:ext cx="2234998" cy="3866327"/>
          </a:xfrm>
          <a:solidFill>
            <a:schemeClr val="bg1">
              <a:lumMod val="85000"/>
            </a:schemeClr>
          </a:solidFill>
          <a:ln w="9525" cap="sq">
            <a:noFill/>
            <a:miter lim="800000"/>
          </a:ln>
          <a:effectLst/>
        </p:spPr>
        <p:txBody>
          <a:bodyPr anchor="t"/>
          <a:lstStyle>
            <a:lvl1pPr marL="0" indent="0" algn="ctr">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en-US" dirty="0"/>
          </a:p>
        </p:txBody>
      </p:sp>
      <p:sp>
        <p:nvSpPr>
          <p:cNvPr id="4" name="Text Placeholder 3"/>
          <p:cNvSpPr>
            <a:spLocks noGrp="1"/>
          </p:cNvSpPr>
          <p:nvPr>
            <p:ph type="body" sz="half" idx="2"/>
          </p:nvPr>
        </p:nvSpPr>
        <p:spPr>
          <a:xfrm>
            <a:off x="1131420" y="3057166"/>
            <a:ext cx="3390817" cy="2092568"/>
          </a:xfrm>
        </p:spPr>
        <p:txBody>
          <a:bodyPr>
            <a:normAutofit/>
          </a:bodyPr>
          <a:lstStyle>
            <a:lvl1pPr marL="0" indent="0" algn="l">
              <a:buNone/>
              <a:defRPr sz="18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Date Placeholder 4"/>
          <p:cNvSpPr>
            <a:spLocks noGrp="1"/>
          </p:cNvSpPr>
          <p:nvPr>
            <p:ph type="dt" sz="half" idx="10"/>
          </p:nvPr>
        </p:nvSpPr>
        <p:spPr>
          <a:xfrm>
            <a:off x="1124592" y="5469857"/>
            <a:ext cx="3393977" cy="320123"/>
          </a:xfrm>
        </p:spPr>
        <p:txBody>
          <a:bodyPr/>
          <a:lstStyle>
            <a:lvl1pPr algn="l">
              <a:defRPr/>
            </a:lvl1pPr>
          </a:lstStyle>
          <a:p>
            <a:pPr>
              <a:defRPr/>
            </a:pPr>
            <a:endParaRPr lang="en-US" altLang="zh-CN"/>
          </a:p>
        </p:txBody>
      </p:sp>
      <p:sp>
        <p:nvSpPr>
          <p:cNvPr id="6" name="Footer Placeholder 5"/>
          <p:cNvSpPr>
            <a:spLocks noGrp="1"/>
          </p:cNvSpPr>
          <p:nvPr>
            <p:ph type="ftr" sz="quarter" idx="11"/>
          </p:nvPr>
        </p:nvSpPr>
        <p:spPr>
          <a:xfrm>
            <a:off x="1125459" y="318641"/>
            <a:ext cx="2601032" cy="320931"/>
          </a:xfrm>
        </p:spPr>
        <p:txBody>
          <a:bodyPr/>
          <a:lstStyle/>
          <a:p>
            <a:pPr>
              <a:defRPr/>
            </a:pPr>
            <a:endParaRPr lang="en-US" altLang="zh-CN"/>
          </a:p>
        </p:txBody>
      </p:sp>
      <p:sp>
        <p:nvSpPr>
          <p:cNvPr id="7" name="Slide Number Placeholder 6"/>
          <p:cNvSpPr>
            <a:spLocks noGrp="1"/>
          </p:cNvSpPr>
          <p:nvPr>
            <p:ph type="sldNum" sz="quarter" idx="12"/>
          </p:nvPr>
        </p:nvSpPr>
        <p:spPr>
          <a:xfrm>
            <a:off x="3726491" y="131730"/>
            <a:ext cx="795746" cy="503578"/>
          </a:xfrm>
        </p:spPr>
        <p:txBody>
          <a:bodyPr/>
          <a:lstStyle/>
          <a:p>
            <a:pPr>
              <a:defRPr/>
            </a:pPr>
            <a:fld id="{18206E15-2FA0-42EF-AAC2-97334B3842B9}" type="slidenum">
              <a:rPr lang="zh-CN" altLang="en-US" smtClean="0"/>
              <a:pPr>
                <a:defRPr/>
              </a:pPr>
              <a:t>‹#›</a:t>
            </a:fld>
            <a:endParaRPr lang="en-US" altLang="zh-CN"/>
          </a:p>
        </p:txBody>
      </p:sp>
      <p:pic>
        <p:nvPicPr>
          <p:cNvPr id="22" name="Picture 21"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6" r="70363" b="36435"/>
          <a:stretch/>
        </p:blipFill>
        <p:spPr>
          <a:xfrm>
            <a:off x="1125460" y="643464"/>
            <a:ext cx="3392424" cy="155448"/>
          </a:xfrm>
          <a:prstGeom prst="rect">
            <a:avLst/>
          </a:prstGeom>
          <a:noFill/>
          <a:ln>
            <a:noFill/>
          </a:ln>
        </p:spPr>
      </p:pic>
    </p:spTree>
    <p:extLst>
      <p:ext uri="{BB962C8B-B14F-4D97-AF65-F5344CB8AC3E}">
        <p14:creationId xmlns:p14="http://schemas.microsoft.com/office/powerpoint/2010/main" val="34209198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pPr>
              <a:defRPr/>
            </a:pPr>
            <a:endParaRPr lang="en-US" altLang="zh-CN"/>
          </a:p>
        </p:txBody>
      </p:sp>
      <p:sp>
        <p:nvSpPr>
          <p:cNvPr id="5" name="Footer Placeholder 4"/>
          <p:cNvSpPr>
            <a:spLocks noGrp="1"/>
          </p:cNvSpPr>
          <p:nvPr>
            <p:ph type="ftr" sz="quarter" idx="11"/>
          </p:nvPr>
        </p:nvSpPr>
        <p:spPr/>
        <p:txBody>
          <a:bodyPr/>
          <a:lstStyle/>
          <a:p>
            <a:pPr>
              <a:defRPr/>
            </a:pPr>
            <a:endParaRPr lang="en-US" altLang="zh-CN"/>
          </a:p>
        </p:txBody>
      </p:sp>
      <p:sp>
        <p:nvSpPr>
          <p:cNvPr id="6" name="Slide Number Placeholder 5"/>
          <p:cNvSpPr>
            <a:spLocks noGrp="1"/>
          </p:cNvSpPr>
          <p:nvPr>
            <p:ph type="sldNum" sz="quarter" idx="12"/>
          </p:nvPr>
        </p:nvSpPr>
        <p:spPr/>
        <p:txBody>
          <a:bodyPr/>
          <a:lstStyle/>
          <a:p>
            <a:pPr>
              <a:defRPr/>
            </a:pPr>
            <a:fld id="{CBF5D698-4F3F-4A2B-A19D-7A2872D9E8E2}" type="slidenum">
              <a:rPr lang="zh-CN" altLang="en-US" smtClean="0"/>
              <a:pPr>
                <a:defRPr/>
              </a:pPr>
              <a:t>‹#›</a:t>
            </a:fld>
            <a:endParaRPr lang="en-US" altLang="zh-CN"/>
          </a:p>
        </p:txBody>
      </p:sp>
      <p:pic>
        <p:nvPicPr>
          <p:cNvPr id="15" name="Picture 14"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6" r="42454" b="36435"/>
          <a:stretch/>
        </p:blipFill>
        <p:spPr>
          <a:xfrm>
            <a:off x="1125460" y="643464"/>
            <a:ext cx="6574536" cy="155448"/>
          </a:xfrm>
          <a:prstGeom prst="rect">
            <a:avLst/>
          </a:prstGeom>
          <a:noFill/>
          <a:ln>
            <a:noFill/>
          </a:ln>
        </p:spPr>
      </p:pic>
    </p:spTree>
    <p:extLst>
      <p:ext uri="{BB962C8B-B14F-4D97-AF65-F5344CB8AC3E}">
        <p14:creationId xmlns:p14="http://schemas.microsoft.com/office/powerpoint/2010/main" val="3764449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6447" y="796298"/>
            <a:ext cx="1103027" cy="4662565"/>
          </a:xfrm>
        </p:spPr>
        <p:txBody>
          <a:bodyPr vert="eaVert"/>
          <a:lstStyle>
            <a:lvl1pPr algn="l">
              <a:defRPr/>
            </a:lvl1pP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1111910" y="796298"/>
            <a:ext cx="5301095" cy="4662565"/>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pPr>
              <a:defRPr/>
            </a:pPr>
            <a:endParaRPr lang="en-US" altLang="zh-CN"/>
          </a:p>
        </p:txBody>
      </p:sp>
      <p:sp>
        <p:nvSpPr>
          <p:cNvPr id="5" name="Footer Placeholder 4"/>
          <p:cNvSpPr>
            <a:spLocks noGrp="1"/>
          </p:cNvSpPr>
          <p:nvPr>
            <p:ph type="ftr" sz="quarter" idx="11"/>
          </p:nvPr>
        </p:nvSpPr>
        <p:spPr/>
        <p:txBody>
          <a:bodyPr/>
          <a:lstStyle/>
          <a:p>
            <a:pPr>
              <a:defRPr/>
            </a:pPr>
            <a:endParaRPr lang="en-US" altLang="zh-CN"/>
          </a:p>
        </p:txBody>
      </p:sp>
      <p:sp>
        <p:nvSpPr>
          <p:cNvPr id="6" name="Slide Number Placeholder 5"/>
          <p:cNvSpPr>
            <a:spLocks noGrp="1"/>
          </p:cNvSpPr>
          <p:nvPr>
            <p:ph type="sldNum" sz="quarter" idx="12"/>
          </p:nvPr>
        </p:nvSpPr>
        <p:spPr/>
        <p:txBody>
          <a:bodyPr/>
          <a:lstStyle/>
          <a:p>
            <a:pPr>
              <a:defRPr/>
            </a:pPr>
            <a:fld id="{CCEA256E-D17F-4EA1-9942-576B2E404BBD}" type="slidenum">
              <a:rPr lang="zh-CN" altLang="en-US" smtClean="0"/>
              <a:pPr>
                <a:defRPr/>
              </a:pPr>
              <a:t>‹#›</a:t>
            </a:fld>
            <a:endParaRPr lang="en-US" altLang="zh-CN"/>
          </a:p>
        </p:txBody>
      </p:sp>
      <p:pic>
        <p:nvPicPr>
          <p:cNvPr id="16" name="Picture 15"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6" r="59215" b="36435"/>
          <a:stretch/>
        </p:blipFill>
        <p:spPr>
          <a:xfrm rot="5400000">
            <a:off x="5605390" y="3050294"/>
            <a:ext cx="4663440" cy="155448"/>
          </a:xfrm>
          <a:prstGeom prst="rect">
            <a:avLst/>
          </a:prstGeom>
          <a:noFill/>
          <a:ln>
            <a:noFill/>
          </a:ln>
        </p:spPr>
      </p:pic>
    </p:spTree>
    <p:extLst>
      <p:ext uri="{BB962C8B-B14F-4D97-AF65-F5344CB8AC3E}">
        <p14:creationId xmlns:p14="http://schemas.microsoft.com/office/powerpoint/2010/main" val="417124540"/>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609600"/>
            <a:ext cx="7772400" cy="54864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2"/>
          <p:cNvSpPr>
            <a:spLocks noGrp="1"/>
          </p:cNvSpPr>
          <p:nvPr>
            <p:ph type="dt" sz="half" idx="10"/>
          </p:nvPr>
        </p:nvSpPr>
        <p:spPr>
          <a:xfrm>
            <a:off x="685800" y="6172200"/>
            <a:ext cx="1905000" cy="457200"/>
          </a:xfrm>
        </p:spPr>
        <p:txBody>
          <a:bodyPr/>
          <a:lstStyle>
            <a:lvl1pPr>
              <a:defRPr/>
            </a:lvl1pPr>
          </a:lstStyle>
          <a:p>
            <a:endParaRPr lang="en-US"/>
          </a:p>
        </p:txBody>
      </p:sp>
      <p:sp>
        <p:nvSpPr>
          <p:cNvPr id="4" name="页脚占位符 3"/>
          <p:cNvSpPr>
            <a:spLocks noGrp="1"/>
          </p:cNvSpPr>
          <p:nvPr>
            <p:ph type="ftr" sz="quarter" idx="11"/>
          </p:nvPr>
        </p:nvSpPr>
        <p:spPr>
          <a:xfrm>
            <a:off x="3124200" y="6172200"/>
            <a:ext cx="2895600" cy="457200"/>
          </a:xfrm>
        </p:spPr>
        <p:txBody>
          <a:bodyPr/>
          <a:lstStyle>
            <a:lvl1pPr>
              <a:defRPr/>
            </a:lvl1pPr>
          </a:lstStyle>
          <a:p>
            <a:endParaRPr lang="en-US"/>
          </a:p>
        </p:txBody>
      </p:sp>
      <p:sp>
        <p:nvSpPr>
          <p:cNvPr id="5" name="灯片编号占位符 4"/>
          <p:cNvSpPr>
            <a:spLocks noGrp="1"/>
          </p:cNvSpPr>
          <p:nvPr>
            <p:ph type="sldNum" sz="quarter" idx="12"/>
          </p:nvPr>
        </p:nvSpPr>
        <p:spPr>
          <a:xfrm>
            <a:off x="6553200" y="6172200"/>
            <a:ext cx="1905000" cy="457200"/>
          </a:xfrm>
        </p:spPr>
        <p:txBody>
          <a:bodyPr/>
          <a:lstStyle>
            <a:lvl1pPr>
              <a:defRPr/>
            </a:lvl1pPr>
          </a:lstStyle>
          <a:p>
            <a:fld id="{F01E0188-923C-4F1E-B791-BE5C95D6091A}" type="slidenum">
              <a:rPr lang="zh-CN" altLang="en-US"/>
              <a:pPr/>
              <a:t>‹#›</a:t>
            </a:fld>
            <a:endParaRPr lang="en-US"/>
          </a:p>
        </p:txBody>
      </p:sp>
    </p:spTree>
    <p:extLst>
      <p:ext uri="{BB962C8B-B14F-4D97-AF65-F5344CB8AC3E}">
        <p14:creationId xmlns:p14="http://schemas.microsoft.com/office/powerpoint/2010/main" val="1186388576"/>
      </p:ext>
    </p:extLst>
  </p:cSld>
  <p:clrMapOvr>
    <a:masterClrMapping/>
  </p:clrMapOvr>
  <p:transition spd="slow">
    <p:random/>
    <p:sndAc>
      <p:stSnd>
        <p:snd r:embed="rId1" name="chimes.wav"/>
      </p:stSnd>
    </p:sndAc>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9" name="Picture 8"/>
          <p:cNvPicPr>
            <a:picLocks noChangeAspect="1"/>
          </p:cNvPicPr>
          <p:nvPr/>
        </p:nvPicPr>
        <p:blipFill rotWithShape="1">
          <a:blip r:embed="rId14">
            <a:extLst>
              <a:ext uri="{28A0092B-C50C-407E-A947-70E740481C1C}">
                <a14:useLocalDpi xmlns:a14="http://schemas.microsoft.com/office/drawing/2010/main" val="0"/>
              </a:ext>
            </a:extLst>
          </a:blip>
          <a:srcRect t="1538" b="-1538"/>
          <a:stretch/>
        </p:blipFill>
        <p:spPr>
          <a:xfrm>
            <a:off x="0" y="6119854"/>
            <a:ext cx="9144000" cy="742950"/>
          </a:xfrm>
          <a:prstGeom prst="rect">
            <a:avLst/>
          </a:prstGeom>
        </p:spPr>
      </p:pic>
      <p:sp>
        <p:nvSpPr>
          <p:cNvPr id="12" name="Rectangle 11"/>
          <p:cNvSpPr/>
          <p:nvPr/>
        </p:nvSpPr>
        <p:spPr>
          <a:xfrm>
            <a:off x="0" y="468769"/>
            <a:ext cx="9144000" cy="5647024"/>
          </a:xfrm>
          <a:prstGeom prst="rect">
            <a:avLst/>
          </a:prstGeom>
          <a:gradFill flip="none" rotWithShape="1">
            <a:gsLst>
              <a:gs pos="0">
                <a:schemeClr val="bg2">
                  <a:alpha val="0"/>
                  <a:lumMod val="100000"/>
                </a:schemeClr>
              </a:gs>
              <a:gs pos="100000">
                <a:schemeClr val="bg2">
                  <a:lumMod val="95000"/>
                  <a:lumOff val="5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3" name="Straight Connector 12"/>
          <p:cNvCxnSpPr/>
          <p:nvPr/>
        </p:nvCxnSpPr>
        <p:spPr>
          <a:xfrm>
            <a:off x="0" y="6121005"/>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p:nvSpPr>
          <p:cNvPr id="2" name="Title Placeholder 1"/>
          <p:cNvSpPr>
            <a:spLocks noGrp="1"/>
          </p:cNvSpPr>
          <p:nvPr>
            <p:ph type="title"/>
          </p:nvPr>
        </p:nvSpPr>
        <p:spPr>
          <a:xfrm>
            <a:off x="1128684" y="956172"/>
            <a:ext cx="6571343" cy="1049235"/>
          </a:xfrm>
          <a:prstGeom prst="rect">
            <a:avLst/>
          </a:prstGeom>
        </p:spPr>
        <p:txBody>
          <a:bodyPr vert="horz" lIns="91440" tIns="45720" rIns="91440" bIns="45720" rtlCol="0" anchor="t">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1128684" y="2167385"/>
            <a:ext cx="6571343" cy="3288635"/>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4521309" y="330371"/>
            <a:ext cx="2368292" cy="304938"/>
          </a:xfrm>
          <a:prstGeom prst="rect">
            <a:avLst/>
          </a:prstGeom>
        </p:spPr>
        <p:txBody>
          <a:bodyPr vert="horz" lIns="91440" tIns="45720" rIns="91440" bIns="45720" rtlCol="0" anchor="ctr"/>
          <a:lstStyle>
            <a:lvl1pPr algn="r">
              <a:defRPr sz="1000">
                <a:solidFill>
                  <a:schemeClr val="tx1">
                    <a:tint val="75000"/>
                  </a:schemeClr>
                </a:solidFill>
              </a:defRPr>
            </a:lvl1pPr>
          </a:lstStyle>
          <a:p>
            <a:pPr>
              <a:defRPr/>
            </a:pPr>
            <a:endParaRPr lang="en-US" altLang="zh-CN"/>
          </a:p>
        </p:txBody>
      </p:sp>
      <p:sp>
        <p:nvSpPr>
          <p:cNvPr id="5" name="Footer Placeholder 4"/>
          <p:cNvSpPr>
            <a:spLocks noGrp="1"/>
          </p:cNvSpPr>
          <p:nvPr>
            <p:ph type="ftr" sz="quarter" idx="3"/>
          </p:nvPr>
        </p:nvSpPr>
        <p:spPr>
          <a:xfrm>
            <a:off x="1128684" y="329308"/>
            <a:ext cx="3388498" cy="309201"/>
          </a:xfrm>
          <a:prstGeom prst="rect">
            <a:avLst/>
          </a:prstGeom>
        </p:spPr>
        <p:txBody>
          <a:bodyPr vert="horz" lIns="91440" tIns="45720" rIns="91440" bIns="45720" rtlCol="0" anchor="ctr"/>
          <a:lstStyle>
            <a:lvl1pPr algn="l">
              <a:defRPr sz="1000">
                <a:solidFill>
                  <a:schemeClr val="tx1">
                    <a:tint val="75000"/>
                  </a:schemeClr>
                </a:solidFill>
              </a:defRPr>
            </a:lvl1pPr>
          </a:lstStyle>
          <a:p>
            <a:pPr>
              <a:defRPr/>
            </a:pPr>
            <a:endParaRPr lang="en-US" altLang="zh-CN"/>
          </a:p>
        </p:txBody>
      </p:sp>
      <p:sp>
        <p:nvSpPr>
          <p:cNvPr id="6" name="Slide Number Placeholder 5"/>
          <p:cNvSpPr>
            <a:spLocks noGrp="1"/>
          </p:cNvSpPr>
          <p:nvPr>
            <p:ph type="sldNum" sz="quarter" idx="4"/>
          </p:nvPr>
        </p:nvSpPr>
        <p:spPr>
          <a:xfrm>
            <a:off x="6893728" y="131730"/>
            <a:ext cx="795746" cy="503578"/>
          </a:xfrm>
          <a:prstGeom prst="rect">
            <a:avLst/>
          </a:prstGeom>
        </p:spPr>
        <p:txBody>
          <a:bodyPr vert="horz" lIns="91440" tIns="45720" rIns="91440" bIns="45720" rtlCol="0" anchor="t"/>
          <a:lstStyle>
            <a:lvl1pPr algn="r">
              <a:defRPr sz="2800">
                <a:solidFill>
                  <a:schemeClr val="accent1"/>
                </a:solidFill>
              </a:defRPr>
            </a:lvl1pPr>
          </a:lstStyle>
          <a:p>
            <a:pPr>
              <a:defRPr/>
            </a:pPr>
            <a:fld id="{CCEA256E-D17F-4EA1-9942-576B2E404BBD}" type="slidenum">
              <a:rPr lang="zh-CN" altLang="en-US" smtClean="0"/>
              <a:pPr>
                <a:defRPr/>
              </a:pPr>
              <a:t>‹#›</a:t>
            </a:fld>
            <a:endParaRPr lang="en-US" altLang="zh-CN"/>
          </a:p>
        </p:txBody>
      </p:sp>
    </p:spTree>
    <p:extLst>
      <p:ext uri="{BB962C8B-B14F-4D97-AF65-F5344CB8AC3E}">
        <p14:creationId xmlns:p14="http://schemas.microsoft.com/office/powerpoint/2010/main" val="2460592612"/>
      </p:ext>
    </p:extLst>
  </p:cSld>
  <p:clrMap bg1="lt1" tx1="dk1" bg2="lt2" tx2="dk2" accent1="accent1" accent2="accent2" accent3="accent3" accent4="accent4" accent5="accent5" accent6="accent6" hlink="hlink" folHlink="folHlink"/>
  <p:sldLayoutIdLst>
    <p:sldLayoutId id="2147483795" r:id="rId1"/>
    <p:sldLayoutId id="2147483796" r:id="rId2"/>
    <p:sldLayoutId id="2147483797" r:id="rId3"/>
    <p:sldLayoutId id="2147483798" r:id="rId4"/>
    <p:sldLayoutId id="2147483799" r:id="rId5"/>
    <p:sldLayoutId id="2147483800" r:id="rId6"/>
    <p:sldLayoutId id="2147483801" r:id="rId7"/>
    <p:sldLayoutId id="2147483802" r:id="rId8"/>
    <p:sldLayoutId id="2147483803" r:id="rId9"/>
    <p:sldLayoutId id="2147483804" r:id="rId10"/>
    <p:sldLayoutId id="2147483805" r:id="rId11"/>
    <p:sldLayoutId id="2147483807" r:id="rId12"/>
  </p:sldLayoutIdLst>
  <p:hf hdr="0" ftr="0" dt="0"/>
  <p:txStyles>
    <p:titleStyle>
      <a:lvl1pPr algn="l" defTabSz="685800" rtl="0" eaLnBrk="1" latinLnBrk="0" hangingPunct="1">
        <a:lnSpc>
          <a:spcPct val="90000"/>
        </a:lnSpc>
        <a:spcBef>
          <a:spcPct val="0"/>
        </a:spcBef>
        <a:buNone/>
        <a:defRPr sz="3200" b="0" i="0" kern="1200" cap="none">
          <a:solidFill>
            <a:schemeClr val="tx1"/>
          </a:solidFill>
          <a:effectLst/>
          <a:latin typeface="+mj-lt"/>
          <a:ea typeface="+mj-ea"/>
          <a:cs typeface="+mj-cs"/>
        </a:defRPr>
      </a:lvl1pPr>
    </p:titleStyle>
    <p:bodyStyle>
      <a:lvl1pPr marL="228600" indent="-228600" algn="l" defTabSz="685800" rtl="0" eaLnBrk="1" latinLnBrk="0" hangingPunct="1">
        <a:lnSpc>
          <a:spcPct val="120000"/>
        </a:lnSpc>
        <a:spcBef>
          <a:spcPts val="1000"/>
        </a:spcBef>
        <a:buClr>
          <a:schemeClr val="accent1"/>
        </a:buClr>
        <a:buSzPct val="100000"/>
        <a:buFont typeface="Arial" panose="020B0604020202020204" pitchFamily="34" charset="0"/>
        <a:buChar char="•"/>
        <a:defRPr sz="2000" kern="1200" cap="none">
          <a:solidFill>
            <a:schemeClr val="tx1"/>
          </a:solidFill>
          <a:effectLst/>
          <a:latin typeface="+mn-lt"/>
          <a:ea typeface="+mn-ea"/>
          <a:cs typeface="+mn-cs"/>
        </a:defRPr>
      </a:lvl1pPr>
      <a:lvl2pPr marL="6858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baseline="0">
          <a:solidFill>
            <a:schemeClr val="tx1"/>
          </a:solidFill>
          <a:effectLst/>
          <a:latin typeface="+mn-lt"/>
          <a:ea typeface="+mn-ea"/>
          <a:cs typeface="+mn-cs"/>
        </a:defRPr>
      </a:lvl2pPr>
      <a:lvl3pPr marL="11430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a:solidFill>
            <a:schemeClr val="tx1"/>
          </a:solidFill>
          <a:effectLst/>
          <a:latin typeface="+mn-lt"/>
          <a:ea typeface="+mn-ea"/>
          <a:cs typeface="+mn-cs"/>
        </a:defRPr>
      </a:lvl3pPr>
      <a:lvl4pPr marL="16002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200" kern="1200" cap="none">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slh@hdu.edu.cn"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jpeg"/></Relationships>
</file>

<file path=ppt/slides/_rels/slide1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png"/><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3" Type="http://schemas.openxmlformats.org/officeDocument/2006/relationships/image" Target="../media/image20.jpeg"/><Relationship Id="rId7" Type="http://schemas.openxmlformats.org/officeDocument/2006/relationships/image" Target="../media/image24.jpeg"/><Relationship Id="rId2" Type="http://schemas.openxmlformats.org/officeDocument/2006/relationships/image" Target="../media/image19.png"/><Relationship Id="rId1" Type="http://schemas.openxmlformats.org/officeDocument/2006/relationships/slideLayout" Target="../slideLayouts/slideLayout1.xml"/><Relationship Id="rId6" Type="http://schemas.openxmlformats.org/officeDocument/2006/relationships/image" Target="../media/image23.jpeg"/><Relationship Id="rId5" Type="http://schemas.openxmlformats.org/officeDocument/2006/relationships/image" Target="../media/image22.jpeg"/><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2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4.jpeg"/><Relationship Id="rId7" Type="http://schemas.openxmlformats.org/officeDocument/2006/relationships/image" Target="../media/image36.png"/><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oleObject" Target="../embeddings/oleObject2.bin"/><Relationship Id="rId5" Type="http://schemas.openxmlformats.org/officeDocument/2006/relationships/image" Target="../media/image35.png"/><Relationship Id="rId4" Type="http://schemas.openxmlformats.org/officeDocument/2006/relationships/oleObject" Target="../embeddings/oleObject1.bin"/></Relationships>
</file>

<file path=ppt/slides/_rels/slide2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25.png"/><Relationship Id="rId1" Type="http://schemas.openxmlformats.org/officeDocument/2006/relationships/slideLayout" Target="../slideLayouts/slideLayout1.xml"/><Relationship Id="rId4" Type="http://schemas.openxmlformats.org/officeDocument/2006/relationships/image" Target="../media/image38.png"/></Relationships>
</file>

<file path=ppt/slides/_rels/slide3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 Id="rId5" Type="http://schemas.openxmlformats.org/officeDocument/2006/relationships/image" Target="../media/image42.png"/><Relationship Id="rId4" Type="http://schemas.openxmlformats.org/officeDocument/2006/relationships/image" Target="../media/image41.png"/></Relationships>
</file>

<file path=ppt/slides/_rels/slide3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oleObject" Target="../embeddings/oleObject3.bin"/><Relationship Id="rId1" Type="http://schemas.openxmlformats.org/officeDocument/2006/relationships/slideLayout" Target="../slideLayouts/slideLayout1.xml"/><Relationship Id="rId4" Type="http://schemas.openxmlformats.org/officeDocument/2006/relationships/image" Target="../media/image44.png"/></Relationships>
</file>

<file path=ppt/slides/_rels/slide3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37.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56.png"/><Relationship Id="rId7" Type="http://schemas.openxmlformats.org/officeDocument/2006/relationships/image" Target="../media/image60.png"/><Relationship Id="rId2" Type="http://schemas.openxmlformats.org/officeDocument/2006/relationships/image" Target="../media/image55.png"/><Relationship Id="rId1" Type="http://schemas.openxmlformats.org/officeDocument/2006/relationships/slideLayout" Target="../slideLayouts/slideLayout2.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44.xml.rels><?xml version="1.0" encoding="UTF-8" standalone="yes"?>
<Relationships xmlns="http://schemas.openxmlformats.org/package/2006/relationships"><Relationship Id="rId3" Type="http://schemas.openxmlformats.org/officeDocument/2006/relationships/image" Target="../media/image61.jpeg"/><Relationship Id="rId7" Type="http://schemas.openxmlformats.org/officeDocument/2006/relationships/image" Target="../media/image65.jpeg"/><Relationship Id="rId2" Type="http://schemas.openxmlformats.org/officeDocument/2006/relationships/image" Target="../media/image47.png"/><Relationship Id="rId1" Type="http://schemas.openxmlformats.org/officeDocument/2006/relationships/slideLayout" Target="../slideLayouts/slideLayout1.xml"/><Relationship Id="rId6" Type="http://schemas.openxmlformats.org/officeDocument/2006/relationships/image" Target="../media/image64.png"/><Relationship Id="rId5" Type="http://schemas.openxmlformats.org/officeDocument/2006/relationships/image" Target="../media/image63.jpeg"/><Relationship Id="rId4" Type="http://schemas.openxmlformats.org/officeDocument/2006/relationships/image" Target="../media/image62.jpeg"/></Relationships>
</file>

<file path=ppt/slides/_rels/slide45.xml.rels><?xml version="1.0" encoding="UTF-8" standalone="yes"?>
<Relationships xmlns="http://schemas.openxmlformats.org/package/2006/relationships"><Relationship Id="rId3" Type="http://schemas.openxmlformats.org/officeDocument/2006/relationships/image" Target="../media/image66.emf"/><Relationship Id="rId2" Type="http://schemas.openxmlformats.org/officeDocument/2006/relationships/oleObject" Target="../embeddings/oleObject4.bin"/><Relationship Id="rId1" Type="http://schemas.openxmlformats.org/officeDocument/2006/relationships/slideLayout" Target="../slideLayouts/slideLayout2.xml"/><Relationship Id="rId4" Type="http://schemas.openxmlformats.org/officeDocument/2006/relationships/image" Target="../media/image67.jpeg"/></Relationships>
</file>

<file path=ppt/slides/_rels/slide46.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image" Target="../media/image47.png"/><Relationship Id="rId1" Type="http://schemas.openxmlformats.org/officeDocument/2006/relationships/slideLayout" Target="../slideLayouts/slideLayout1.xml"/><Relationship Id="rId4" Type="http://schemas.openxmlformats.org/officeDocument/2006/relationships/image" Target="../media/image69.jpeg"/></Relationships>
</file>

<file path=ppt/slides/_rels/slide47.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47.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47.pn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oleObject" Target="../embeddings/oleObject5.bin"/><Relationship Id="rId7" Type="http://schemas.openxmlformats.org/officeDocument/2006/relationships/image" Target="../media/image79.jpeg"/><Relationship Id="rId2" Type="http://schemas.openxmlformats.org/officeDocument/2006/relationships/image" Target="../media/image47.png"/><Relationship Id="rId1" Type="http://schemas.openxmlformats.org/officeDocument/2006/relationships/slideLayout" Target="../slideLayouts/slideLayout1.xml"/><Relationship Id="rId6" Type="http://schemas.openxmlformats.org/officeDocument/2006/relationships/image" Target="../media/image78.jpeg"/><Relationship Id="rId5" Type="http://schemas.openxmlformats.org/officeDocument/2006/relationships/image" Target="../media/image77.png"/><Relationship Id="rId4" Type="http://schemas.openxmlformats.org/officeDocument/2006/relationships/image" Target="../media/image76.png"/></Relationships>
</file>

<file path=ppt/slides/_rels/slide61.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1.xml"/><Relationship Id="rId4" Type="http://schemas.openxmlformats.org/officeDocument/2006/relationships/image" Target="../media/image82.png"/></Relationships>
</file>

<file path=ppt/slides/_rels/slide62.xml.rels><?xml version="1.0" encoding="UTF-8" standalone="yes"?>
<Relationships xmlns="http://schemas.openxmlformats.org/package/2006/relationships"><Relationship Id="rId3" Type="http://schemas.openxmlformats.org/officeDocument/2006/relationships/image" Target="../media/image84.png"/><Relationship Id="rId7" Type="http://schemas.openxmlformats.org/officeDocument/2006/relationships/image" Target="../media/image88.png"/><Relationship Id="rId2" Type="http://schemas.openxmlformats.org/officeDocument/2006/relationships/image" Target="../media/image83.png"/><Relationship Id="rId1" Type="http://schemas.openxmlformats.org/officeDocument/2006/relationships/slideLayout" Target="../slideLayouts/slideLayout2.xml"/><Relationship Id="rId6" Type="http://schemas.openxmlformats.org/officeDocument/2006/relationships/image" Target="../media/image87.png"/><Relationship Id="rId5" Type="http://schemas.openxmlformats.org/officeDocument/2006/relationships/image" Target="../media/image86.png"/><Relationship Id="rId4" Type="http://schemas.openxmlformats.org/officeDocument/2006/relationships/image" Target="../media/image85.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89.jpeg"/><Relationship Id="rId7" Type="http://schemas.openxmlformats.org/officeDocument/2006/relationships/image" Target="../media/image92.png"/><Relationship Id="rId2" Type="http://schemas.openxmlformats.org/officeDocument/2006/relationships/audio" Target="../media/audio1.wav"/><Relationship Id="rId1" Type="http://schemas.openxmlformats.org/officeDocument/2006/relationships/slideLayout" Target="../slideLayouts/slideLayout12.xml"/><Relationship Id="rId6" Type="http://schemas.openxmlformats.org/officeDocument/2006/relationships/image" Target="../media/image91.jpeg"/><Relationship Id="rId5" Type="http://schemas.openxmlformats.org/officeDocument/2006/relationships/image" Target="../media/image90.wmf"/><Relationship Id="rId4" Type="http://schemas.openxmlformats.org/officeDocument/2006/relationships/oleObject" Target="../embeddings/oleObject6.bin"/></Relationships>
</file>

<file path=ppt/slides/_rels/slide72.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47.png"/><Relationship Id="rId1" Type="http://schemas.openxmlformats.org/officeDocument/2006/relationships/slideLayout" Target="../slideLayouts/slideLayout1.xml"/><Relationship Id="rId6" Type="http://schemas.openxmlformats.org/officeDocument/2006/relationships/image" Target="../media/image96.png"/><Relationship Id="rId5" Type="http://schemas.openxmlformats.org/officeDocument/2006/relationships/image" Target="../media/image95.png"/><Relationship Id="rId4" Type="http://schemas.openxmlformats.org/officeDocument/2006/relationships/image" Target="../media/image94.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100.jpeg"/><Relationship Id="rId7" Type="http://schemas.openxmlformats.org/officeDocument/2006/relationships/image" Target="../media/image104.png"/><Relationship Id="rId2" Type="http://schemas.openxmlformats.org/officeDocument/2006/relationships/image" Target="../media/image99.jpeg"/><Relationship Id="rId1" Type="http://schemas.openxmlformats.org/officeDocument/2006/relationships/slideLayout" Target="../slideLayouts/slideLayout2.xml"/><Relationship Id="rId6" Type="http://schemas.openxmlformats.org/officeDocument/2006/relationships/image" Target="../media/image103.png"/><Relationship Id="rId5" Type="http://schemas.openxmlformats.org/officeDocument/2006/relationships/image" Target="../media/image102.png"/><Relationship Id="rId4" Type="http://schemas.openxmlformats.org/officeDocument/2006/relationships/image" Target="../media/image101.jpeg"/></Relationships>
</file>

<file path=ppt/slides/_rels/slide77.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image" Target="../media/image105.jpeg"/><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2.xml"/></Relationships>
</file>

<file path=ppt/slides/_rels/slide79.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oleObject" Target="../embeddings/oleObject7.bin"/><Relationship Id="rId1" Type="http://schemas.openxmlformats.org/officeDocument/2006/relationships/slideLayout" Target="../slideLayouts/slideLayout1.xml"/><Relationship Id="rId4" Type="http://schemas.openxmlformats.org/officeDocument/2006/relationships/image" Target="../media/image108.png"/></Relationships>
</file>

<file path=ppt/slides/_rels/slide80.xml.rels><?xml version="1.0" encoding="UTF-8" standalone="yes"?>
<Relationships xmlns="http://schemas.openxmlformats.org/package/2006/relationships"><Relationship Id="rId8" Type="http://schemas.openxmlformats.org/officeDocument/2006/relationships/oleObject" Target="../embeddings/oleObject11.bin"/><Relationship Id="rId3" Type="http://schemas.openxmlformats.org/officeDocument/2006/relationships/image" Target="../media/image109.png"/><Relationship Id="rId7" Type="http://schemas.openxmlformats.org/officeDocument/2006/relationships/image" Target="../media/image111.png"/><Relationship Id="rId2" Type="http://schemas.openxmlformats.org/officeDocument/2006/relationships/oleObject" Target="../embeddings/oleObject8.bin"/><Relationship Id="rId1" Type="http://schemas.openxmlformats.org/officeDocument/2006/relationships/slideLayout" Target="../slideLayouts/slideLayout1.xml"/><Relationship Id="rId6" Type="http://schemas.openxmlformats.org/officeDocument/2006/relationships/oleObject" Target="../embeddings/oleObject10.bin"/><Relationship Id="rId5" Type="http://schemas.openxmlformats.org/officeDocument/2006/relationships/image" Target="../media/image110.png"/><Relationship Id="rId4" Type="http://schemas.openxmlformats.org/officeDocument/2006/relationships/oleObject" Target="../embeddings/oleObject9.bin"/><Relationship Id="rId9" Type="http://schemas.openxmlformats.org/officeDocument/2006/relationships/image" Target="../media/image112.png"/></Relationships>
</file>

<file path=ppt/slides/_rels/slide81.xml.rels><?xml version="1.0" encoding="UTF-8" standalone="yes"?>
<Relationships xmlns="http://schemas.openxmlformats.org/package/2006/relationships"><Relationship Id="rId8" Type="http://schemas.openxmlformats.org/officeDocument/2006/relationships/oleObject" Target="../embeddings/oleObject15.bin"/><Relationship Id="rId3" Type="http://schemas.openxmlformats.org/officeDocument/2006/relationships/image" Target="../media/image113.png"/><Relationship Id="rId7" Type="http://schemas.openxmlformats.org/officeDocument/2006/relationships/image" Target="../media/image115.png"/><Relationship Id="rId2" Type="http://schemas.openxmlformats.org/officeDocument/2006/relationships/oleObject" Target="../embeddings/oleObject12.bin"/><Relationship Id="rId1" Type="http://schemas.openxmlformats.org/officeDocument/2006/relationships/slideLayout" Target="../slideLayouts/slideLayout1.xml"/><Relationship Id="rId6" Type="http://schemas.openxmlformats.org/officeDocument/2006/relationships/oleObject" Target="../embeddings/oleObject14.bin"/><Relationship Id="rId5" Type="http://schemas.openxmlformats.org/officeDocument/2006/relationships/image" Target="../media/image114.png"/><Relationship Id="rId4" Type="http://schemas.openxmlformats.org/officeDocument/2006/relationships/oleObject" Target="../embeddings/oleObject13.bin"/><Relationship Id="rId9" Type="http://schemas.openxmlformats.org/officeDocument/2006/relationships/image" Target="../media/image116.png"/></Relationships>
</file>

<file path=ppt/slides/_rels/slide82.xml.rels><?xml version="1.0" encoding="UTF-8" standalone="yes"?>
<Relationships xmlns="http://schemas.openxmlformats.org/package/2006/relationships"><Relationship Id="rId8" Type="http://schemas.openxmlformats.org/officeDocument/2006/relationships/oleObject" Target="../embeddings/oleObject19.bin"/><Relationship Id="rId13" Type="http://schemas.openxmlformats.org/officeDocument/2006/relationships/image" Target="../media/image122.png"/><Relationship Id="rId3" Type="http://schemas.openxmlformats.org/officeDocument/2006/relationships/image" Target="../media/image117.png"/><Relationship Id="rId7" Type="http://schemas.openxmlformats.org/officeDocument/2006/relationships/image" Target="../media/image119.png"/><Relationship Id="rId12" Type="http://schemas.openxmlformats.org/officeDocument/2006/relationships/oleObject" Target="../embeddings/oleObject21.bin"/><Relationship Id="rId2" Type="http://schemas.openxmlformats.org/officeDocument/2006/relationships/oleObject" Target="../embeddings/oleObject16.bin"/><Relationship Id="rId1" Type="http://schemas.openxmlformats.org/officeDocument/2006/relationships/slideLayout" Target="../slideLayouts/slideLayout1.xml"/><Relationship Id="rId6" Type="http://schemas.openxmlformats.org/officeDocument/2006/relationships/oleObject" Target="../embeddings/oleObject18.bin"/><Relationship Id="rId11" Type="http://schemas.openxmlformats.org/officeDocument/2006/relationships/image" Target="../media/image121.png"/><Relationship Id="rId5" Type="http://schemas.openxmlformats.org/officeDocument/2006/relationships/image" Target="../media/image118.png"/><Relationship Id="rId10" Type="http://schemas.openxmlformats.org/officeDocument/2006/relationships/oleObject" Target="../embeddings/oleObject20.bin"/><Relationship Id="rId4" Type="http://schemas.openxmlformats.org/officeDocument/2006/relationships/oleObject" Target="../embeddings/oleObject17.bin"/><Relationship Id="rId9" Type="http://schemas.openxmlformats.org/officeDocument/2006/relationships/image" Target="../media/image120.png"/></Relationships>
</file>

<file path=ppt/slides/_rels/slide83.xml.rels><?xml version="1.0" encoding="UTF-8" standalone="yes"?>
<Relationships xmlns="http://schemas.openxmlformats.org/package/2006/relationships"><Relationship Id="rId8" Type="http://schemas.openxmlformats.org/officeDocument/2006/relationships/oleObject" Target="../embeddings/oleObject25.bin"/><Relationship Id="rId3" Type="http://schemas.openxmlformats.org/officeDocument/2006/relationships/image" Target="../media/image123.png"/><Relationship Id="rId7" Type="http://schemas.openxmlformats.org/officeDocument/2006/relationships/image" Target="../media/image125.png"/><Relationship Id="rId2" Type="http://schemas.openxmlformats.org/officeDocument/2006/relationships/oleObject" Target="../embeddings/oleObject22.bin"/><Relationship Id="rId1" Type="http://schemas.openxmlformats.org/officeDocument/2006/relationships/slideLayout" Target="../slideLayouts/slideLayout1.xml"/><Relationship Id="rId6" Type="http://schemas.openxmlformats.org/officeDocument/2006/relationships/oleObject" Target="../embeddings/oleObject24.bin"/><Relationship Id="rId11" Type="http://schemas.openxmlformats.org/officeDocument/2006/relationships/image" Target="../media/image127.png"/><Relationship Id="rId5" Type="http://schemas.openxmlformats.org/officeDocument/2006/relationships/image" Target="../media/image124.png"/><Relationship Id="rId10" Type="http://schemas.openxmlformats.org/officeDocument/2006/relationships/oleObject" Target="../embeddings/oleObject26.bin"/><Relationship Id="rId4" Type="http://schemas.openxmlformats.org/officeDocument/2006/relationships/oleObject" Target="../embeddings/oleObject23.bin"/><Relationship Id="rId9" Type="http://schemas.openxmlformats.org/officeDocument/2006/relationships/image" Target="../media/image126.png"/></Relationships>
</file>

<file path=ppt/slides/_rels/slide84.xml.rels><?xml version="1.0" encoding="UTF-8" standalone="yes"?>
<Relationships xmlns="http://schemas.openxmlformats.org/package/2006/relationships"><Relationship Id="rId8" Type="http://schemas.openxmlformats.org/officeDocument/2006/relationships/image" Target="../media/image132.png"/><Relationship Id="rId3" Type="http://schemas.openxmlformats.org/officeDocument/2006/relationships/image" Target="../media/image129.png"/><Relationship Id="rId7" Type="http://schemas.openxmlformats.org/officeDocument/2006/relationships/oleObject" Target="../embeddings/oleObject28.bin"/><Relationship Id="rId2" Type="http://schemas.openxmlformats.org/officeDocument/2006/relationships/image" Target="../media/image128.png"/><Relationship Id="rId1" Type="http://schemas.openxmlformats.org/officeDocument/2006/relationships/slideLayout" Target="../slideLayouts/slideLayout1.xml"/><Relationship Id="rId6" Type="http://schemas.openxmlformats.org/officeDocument/2006/relationships/image" Target="../media/image131.png"/><Relationship Id="rId5" Type="http://schemas.openxmlformats.org/officeDocument/2006/relationships/oleObject" Target="../embeddings/oleObject27.bin"/><Relationship Id="rId10" Type="http://schemas.openxmlformats.org/officeDocument/2006/relationships/image" Target="../media/image133.png"/><Relationship Id="rId4" Type="http://schemas.openxmlformats.org/officeDocument/2006/relationships/image" Target="../media/image130.png"/><Relationship Id="rId9" Type="http://schemas.openxmlformats.org/officeDocument/2006/relationships/oleObject" Target="../embeddings/oleObject29.bin"/></Relationships>
</file>

<file path=ppt/slides/_rels/slide85.xml.rels><?xml version="1.0" encoding="UTF-8" standalone="yes"?>
<Relationships xmlns="http://schemas.openxmlformats.org/package/2006/relationships"><Relationship Id="rId8" Type="http://schemas.openxmlformats.org/officeDocument/2006/relationships/image" Target="../media/image138.png"/><Relationship Id="rId3" Type="http://schemas.openxmlformats.org/officeDocument/2006/relationships/image" Target="../media/image134.png"/><Relationship Id="rId7" Type="http://schemas.openxmlformats.org/officeDocument/2006/relationships/oleObject" Target="../embeddings/oleObject31.bin"/><Relationship Id="rId12" Type="http://schemas.openxmlformats.org/officeDocument/2006/relationships/image" Target="../media/image140.png"/><Relationship Id="rId2" Type="http://schemas.openxmlformats.org/officeDocument/2006/relationships/oleObject" Target="../embeddings/oleObject30.bin"/><Relationship Id="rId1" Type="http://schemas.openxmlformats.org/officeDocument/2006/relationships/slideLayout" Target="../slideLayouts/slideLayout1.xml"/><Relationship Id="rId6" Type="http://schemas.openxmlformats.org/officeDocument/2006/relationships/image" Target="../media/image137.png"/><Relationship Id="rId11" Type="http://schemas.openxmlformats.org/officeDocument/2006/relationships/oleObject" Target="../embeddings/oleObject33.bin"/><Relationship Id="rId5" Type="http://schemas.openxmlformats.org/officeDocument/2006/relationships/image" Target="../media/image136.png"/><Relationship Id="rId10" Type="http://schemas.openxmlformats.org/officeDocument/2006/relationships/image" Target="../media/image139.png"/><Relationship Id="rId4" Type="http://schemas.openxmlformats.org/officeDocument/2006/relationships/image" Target="../media/image135.png"/><Relationship Id="rId9" Type="http://schemas.openxmlformats.org/officeDocument/2006/relationships/oleObject" Target="../embeddings/oleObject32.bin"/></Relationships>
</file>

<file path=ppt/slides/_rels/slide86.xml.rels><?xml version="1.0" encoding="UTF-8" standalone="yes"?>
<Relationships xmlns="http://schemas.openxmlformats.org/package/2006/relationships"><Relationship Id="rId3" Type="http://schemas.openxmlformats.org/officeDocument/2006/relationships/image" Target="../media/image142.jpeg"/><Relationship Id="rId7" Type="http://schemas.openxmlformats.org/officeDocument/2006/relationships/image" Target="../media/image146.jpeg"/><Relationship Id="rId2" Type="http://schemas.openxmlformats.org/officeDocument/2006/relationships/image" Target="../media/image141.jpeg"/><Relationship Id="rId1" Type="http://schemas.openxmlformats.org/officeDocument/2006/relationships/slideLayout" Target="../slideLayouts/slideLayout2.xml"/><Relationship Id="rId6" Type="http://schemas.openxmlformats.org/officeDocument/2006/relationships/image" Target="../media/image145.jpeg"/><Relationship Id="rId5" Type="http://schemas.openxmlformats.org/officeDocument/2006/relationships/image" Target="../media/image144.jpeg"/><Relationship Id="rId4" Type="http://schemas.openxmlformats.org/officeDocument/2006/relationships/image" Target="../media/image14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250825" y="1443633"/>
            <a:ext cx="8785225" cy="923330"/>
          </a:xfrm>
        </p:spPr>
        <p:txBody>
          <a:bodyPr/>
          <a:lstStyle/>
          <a:p>
            <a:pPr algn="ctr" eaLnBrk="1" hangingPunct="1"/>
            <a:r>
              <a:rPr lang="zh-CN" altLang="en-US" sz="5400" dirty="0">
                <a:latin typeface="Adobe 黑体 Std R" panose="020B0400000000000000" pitchFamily="34" charset="-122"/>
                <a:ea typeface="Adobe 黑体 Std R" panose="020B0400000000000000" pitchFamily="34" charset="-122"/>
              </a:rPr>
              <a:t>电子工艺</a:t>
            </a:r>
            <a:r>
              <a:rPr lang="en-US" altLang="zh-CN" sz="5400" dirty="0">
                <a:latin typeface="Adobe 黑体 Std R" panose="020B0400000000000000" pitchFamily="34" charset="-122"/>
                <a:ea typeface="Adobe 黑体 Std R" panose="020B0400000000000000" pitchFamily="34" charset="-122"/>
              </a:rPr>
              <a:t>/</a:t>
            </a:r>
            <a:r>
              <a:rPr lang="zh-CN" altLang="en-US" sz="5400" dirty="0">
                <a:latin typeface="Adobe 黑体 Std R" panose="020B0400000000000000" pitchFamily="34" charset="-122"/>
                <a:ea typeface="Adobe 黑体 Std R" panose="020B0400000000000000" pitchFamily="34" charset="-122"/>
              </a:rPr>
              <a:t>线路实习</a:t>
            </a:r>
            <a:endParaRPr lang="en-US" altLang="zh-CN" sz="5400" dirty="0">
              <a:latin typeface="Adobe 黑体 Std R" panose="020B0400000000000000" pitchFamily="34" charset="-122"/>
              <a:ea typeface="Adobe 黑体 Std R" panose="020B0400000000000000" pitchFamily="34" charset="-122"/>
            </a:endParaRPr>
          </a:p>
        </p:txBody>
      </p:sp>
      <p:sp>
        <p:nvSpPr>
          <p:cNvPr id="3075" name="Rectangle 3"/>
          <p:cNvSpPr>
            <a:spLocks noGrp="1" noChangeArrowheads="1"/>
          </p:cNvSpPr>
          <p:nvPr>
            <p:ph type="subTitle" idx="1"/>
          </p:nvPr>
        </p:nvSpPr>
        <p:spPr>
          <a:xfrm>
            <a:off x="539750" y="2060575"/>
            <a:ext cx="7696200" cy="3276600"/>
          </a:xfrm>
        </p:spPr>
        <p:txBody>
          <a:bodyPr>
            <a:normAutofit/>
          </a:bodyPr>
          <a:lstStyle/>
          <a:p>
            <a:pPr eaLnBrk="1" hangingPunct="1">
              <a:lnSpc>
                <a:spcPct val="80000"/>
              </a:lnSpc>
            </a:pPr>
            <a:endParaRPr lang="zh-CN" altLang="en-US" sz="4000" dirty="0">
              <a:latin typeface="Adobe 黑体 Std R" panose="020B0400000000000000" pitchFamily="34" charset="-122"/>
              <a:ea typeface="Adobe 黑体 Std R" panose="020B0400000000000000" pitchFamily="34" charset="-122"/>
            </a:endParaRPr>
          </a:p>
          <a:p>
            <a:pPr algn="ctr" eaLnBrk="1" hangingPunct="1">
              <a:lnSpc>
                <a:spcPct val="80000"/>
              </a:lnSpc>
            </a:pPr>
            <a:endParaRPr lang="zh-CN" altLang="en-US" sz="4000" dirty="0">
              <a:latin typeface="Adobe 黑体 Std R" panose="020B0400000000000000" pitchFamily="34" charset="-122"/>
              <a:ea typeface="Adobe 黑体 Std R" panose="020B0400000000000000" pitchFamily="34" charset="-122"/>
            </a:endParaRPr>
          </a:p>
          <a:p>
            <a:pPr algn="ctr" eaLnBrk="1" hangingPunct="1">
              <a:lnSpc>
                <a:spcPct val="80000"/>
              </a:lnSpc>
            </a:pPr>
            <a:endParaRPr lang="zh-CN" altLang="en-US" sz="4000" dirty="0">
              <a:latin typeface="Adobe 黑体 Std R" panose="020B0400000000000000" pitchFamily="34" charset="-122"/>
              <a:ea typeface="Adobe 黑体 Std R" panose="020B0400000000000000" pitchFamily="34" charset="-122"/>
            </a:endParaRPr>
          </a:p>
          <a:p>
            <a:pPr algn="ctr" eaLnBrk="1" hangingPunct="1">
              <a:lnSpc>
                <a:spcPct val="80000"/>
              </a:lnSpc>
            </a:pPr>
            <a:r>
              <a:rPr lang="zh-CN" altLang="en-US" sz="4000" dirty="0">
                <a:latin typeface="Adobe 黑体 Std R" panose="020B0400000000000000" pitchFamily="34" charset="-122"/>
                <a:ea typeface="Adobe 黑体 Std R" panose="020B0400000000000000" pitchFamily="34" charset="-122"/>
              </a:rPr>
              <a:t>主讲：赵晓梅</a:t>
            </a:r>
          </a:p>
          <a:p>
            <a:pPr algn="ctr" eaLnBrk="1" hangingPunct="1">
              <a:lnSpc>
                <a:spcPct val="80000"/>
              </a:lnSpc>
            </a:pPr>
            <a:r>
              <a:rPr lang="en-US" altLang="zh-CN" sz="4000" dirty="0">
                <a:latin typeface="Adobe 黑体 Std R" panose="020B0400000000000000" pitchFamily="34" charset="-122"/>
                <a:ea typeface="Adobe 黑体 Std R" panose="020B0400000000000000" pitchFamily="34" charset="-122"/>
                <a:hlinkClick r:id="rId3"/>
              </a:rPr>
              <a:t>zxm@hdu.edu.cn</a:t>
            </a:r>
            <a:endParaRPr lang="en-US" altLang="zh-CN" sz="4000" dirty="0">
              <a:latin typeface="Adobe 黑体 Std R" panose="020B0400000000000000" pitchFamily="34" charset="-122"/>
              <a:ea typeface="Adobe 黑体 Std R" panose="020B0400000000000000" pitchFamily="34" charset="-122"/>
            </a:endParaRPr>
          </a:p>
          <a:p>
            <a:pPr eaLnBrk="1" hangingPunct="1">
              <a:lnSpc>
                <a:spcPct val="80000"/>
              </a:lnSpc>
            </a:pPr>
            <a:endParaRPr lang="en-US" altLang="zh-CN" sz="4000" dirty="0">
              <a:latin typeface="Adobe 黑体 Std R" panose="020B0400000000000000" pitchFamily="34" charset="-122"/>
              <a:ea typeface="Adobe 黑体 Std R" panose="020B0400000000000000" pitchFamily="34" charset="-122"/>
            </a:endParaRPr>
          </a:p>
        </p:txBody>
      </p:sp>
      <p:sp>
        <p:nvSpPr>
          <p:cNvPr id="2" name="灯片编号占位符 1">
            <a:extLst>
              <a:ext uri="{FF2B5EF4-FFF2-40B4-BE49-F238E27FC236}">
                <a16:creationId xmlns:a16="http://schemas.microsoft.com/office/drawing/2014/main" id="{0B9FD108-7152-F8B6-90F2-F240DAD3ACEC}"/>
              </a:ext>
            </a:extLst>
          </p:cNvPr>
          <p:cNvSpPr>
            <a:spLocks noGrp="1"/>
          </p:cNvSpPr>
          <p:nvPr>
            <p:ph type="sldNum" sz="quarter" idx="12"/>
          </p:nvPr>
        </p:nvSpPr>
        <p:spPr/>
        <p:txBody>
          <a:bodyPr/>
          <a:lstStyle/>
          <a:p>
            <a:pPr>
              <a:defRPr/>
            </a:pPr>
            <a:fld id="{47A4CA45-135E-4AE6-A55B-F30C83FDB90E}" type="slidenum">
              <a:rPr lang="zh-CN" altLang="en-US" smtClean="0">
                <a:latin typeface="Adobe 黑体 Std R" panose="020B0400000000000000" pitchFamily="34" charset="-122"/>
                <a:ea typeface="Adobe 黑体 Std R" panose="020B0400000000000000" pitchFamily="34" charset="-122"/>
              </a:rPr>
              <a:pPr>
                <a:defRPr/>
              </a:pPr>
              <a:t>1</a:t>
            </a:fld>
            <a:endParaRPr lang="en-US" altLang="zh-CN">
              <a:latin typeface="Adobe 黑体 Std R" panose="020B0400000000000000" pitchFamily="34" charset="-122"/>
              <a:ea typeface="Adobe 黑体 Std R" panose="020B0400000000000000"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xfrm>
            <a:off x="533400" y="762000"/>
            <a:ext cx="7772400" cy="1143000"/>
          </a:xfrm>
        </p:spPr>
        <p:txBody>
          <a:bodyPr/>
          <a:lstStyle/>
          <a:p>
            <a:pPr eaLnBrk="1" hangingPunct="1"/>
            <a:r>
              <a:rPr lang="zh-CN" altLang="en-US" sz="6600" dirty="0">
                <a:latin typeface="宋体" pitchFamily="2" charset="-122"/>
              </a:rPr>
              <a:t>课程安排</a:t>
            </a:r>
          </a:p>
        </p:txBody>
      </p:sp>
      <p:sp>
        <p:nvSpPr>
          <p:cNvPr id="4099" name="Rectangle 3"/>
          <p:cNvSpPr>
            <a:spLocks noGrp="1" noChangeArrowheads="1"/>
          </p:cNvSpPr>
          <p:nvPr>
            <p:ph type="subTitle" idx="1"/>
          </p:nvPr>
        </p:nvSpPr>
        <p:spPr>
          <a:xfrm>
            <a:off x="457200" y="2204864"/>
            <a:ext cx="8229600" cy="3315072"/>
          </a:xfrm>
        </p:spPr>
        <p:txBody>
          <a:bodyPr/>
          <a:lstStyle/>
          <a:p>
            <a:pPr eaLnBrk="1" hangingPunct="1">
              <a:lnSpc>
                <a:spcPct val="110000"/>
              </a:lnSpc>
            </a:pPr>
            <a:r>
              <a:rPr lang="en-US" altLang="zh-CN" sz="2800" b="1" dirty="0"/>
              <a:t>1</a:t>
            </a:r>
            <a:r>
              <a:rPr lang="zh-CN" altLang="en-US" sz="2800" b="1" dirty="0"/>
              <a:t>、基本电子元器件讲解</a:t>
            </a:r>
            <a:endParaRPr lang="en-US" altLang="zh-CN" sz="2800" b="1" dirty="0"/>
          </a:p>
          <a:p>
            <a:pPr eaLnBrk="1" hangingPunct="1">
              <a:lnSpc>
                <a:spcPct val="110000"/>
              </a:lnSpc>
            </a:pPr>
            <a:endParaRPr lang="en-US" altLang="zh-CN" sz="2800" b="1" dirty="0"/>
          </a:p>
          <a:p>
            <a:pPr eaLnBrk="1" hangingPunct="1">
              <a:lnSpc>
                <a:spcPct val="110000"/>
              </a:lnSpc>
            </a:pPr>
            <a:r>
              <a:rPr lang="en-US" altLang="zh-CN" sz="2800" b="1" dirty="0"/>
              <a:t>2</a:t>
            </a:r>
            <a:r>
              <a:rPr lang="zh-CN" altLang="en-US" sz="2800" b="1" dirty="0"/>
              <a:t>、插件、贴片、回流焊练习</a:t>
            </a:r>
            <a:endParaRPr lang="en-US" altLang="zh-CN" sz="2800" b="1" dirty="0"/>
          </a:p>
          <a:p>
            <a:pPr eaLnBrk="1" hangingPunct="1">
              <a:lnSpc>
                <a:spcPct val="110000"/>
              </a:lnSpc>
            </a:pPr>
            <a:endParaRPr lang="en-US" altLang="zh-CN" b="1" dirty="0"/>
          </a:p>
          <a:p>
            <a:pPr eaLnBrk="1" hangingPunct="1">
              <a:lnSpc>
                <a:spcPct val="110000"/>
              </a:lnSpc>
            </a:pPr>
            <a:r>
              <a:rPr lang="en-US" altLang="zh-CN" sz="2800" b="1" dirty="0"/>
              <a:t>3</a:t>
            </a:r>
            <a:r>
              <a:rPr lang="zh-CN" altLang="en-US" sz="2800" b="1" dirty="0"/>
              <a:t>、有源音箱的制作（重点）</a:t>
            </a:r>
            <a:endParaRPr lang="en-US" altLang="zh-CN" sz="2800" b="1" dirty="0"/>
          </a:p>
          <a:p>
            <a:pPr eaLnBrk="1" hangingPunct="1">
              <a:lnSpc>
                <a:spcPct val="110000"/>
              </a:lnSpc>
            </a:pPr>
            <a:endParaRPr lang="en-US" altLang="zh-CN" sz="2800" b="1" dirty="0"/>
          </a:p>
        </p:txBody>
      </p:sp>
      <p:sp>
        <p:nvSpPr>
          <p:cNvPr id="2" name="灯片编号占位符 1">
            <a:extLst>
              <a:ext uri="{FF2B5EF4-FFF2-40B4-BE49-F238E27FC236}">
                <a16:creationId xmlns:a16="http://schemas.microsoft.com/office/drawing/2014/main" id="{C0E7E793-2451-69CF-414F-7755E010F845}"/>
              </a:ext>
            </a:extLst>
          </p:cNvPr>
          <p:cNvSpPr>
            <a:spLocks noGrp="1"/>
          </p:cNvSpPr>
          <p:nvPr>
            <p:ph type="sldNum" sz="quarter" idx="12"/>
          </p:nvPr>
        </p:nvSpPr>
        <p:spPr/>
        <p:txBody>
          <a:bodyPr/>
          <a:lstStyle/>
          <a:p>
            <a:pPr>
              <a:defRPr/>
            </a:pPr>
            <a:fld id="{47A4CA45-135E-4AE6-A55B-F30C83FDB90E}" type="slidenum">
              <a:rPr lang="zh-CN" altLang="en-US" smtClean="0"/>
              <a:pPr>
                <a:defRPr/>
              </a:pPr>
              <a:t>2</a:t>
            </a:fld>
            <a:endParaRPr lang="en-US" altLang="zh-C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ctrTitle"/>
          </p:nvPr>
        </p:nvSpPr>
        <p:spPr>
          <a:xfrm>
            <a:off x="533400" y="762000"/>
            <a:ext cx="7772400" cy="1143000"/>
          </a:xfrm>
        </p:spPr>
        <p:txBody>
          <a:bodyPr/>
          <a:lstStyle/>
          <a:p>
            <a:pPr eaLnBrk="1" hangingPunct="1"/>
            <a:r>
              <a:rPr lang="zh-CN" altLang="en-US" sz="6600" dirty="0">
                <a:latin typeface="宋体" pitchFamily="2" charset="-122"/>
              </a:rPr>
              <a:t>课程要求</a:t>
            </a:r>
          </a:p>
        </p:txBody>
      </p:sp>
      <p:sp>
        <p:nvSpPr>
          <p:cNvPr id="6147" name="Rectangle 3"/>
          <p:cNvSpPr>
            <a:spLocks noGrp="1" noChangeArrowheads="1"/>
          </p:cNvSpPr>
          <p:nvPr>
            <p:ph type="subTitle" idx="1"/>
          </p:nvPr>
        </p:nvSpPr>
        <p:spPr>
          <a:xfrm>
            <a:off x="395536" y="1918017"/>
            <a:ext cx="7696200" cy="3600400"/>
          </a:xfrm>
        </p:spPr>
        <p:txBody>
          <a:bodyPr>
            <a:normAutofit lnSpcReduction="10000"/>
          </a:bodyPr>
          <a:lstStyle/>
          <a:p>
            <a:pPr eaLnBrk="1" hangingPunct="1">
              <a:lnSpc>
                <a:spcPct val="150000"/>
              </a:lnSpc>
              <a:spcBef>
                <a:spcPct val="0"/>
              </a:spcBef>
              <a:buClrTx/>
              <a:buSzTx/>
            </a:pPr>
            <a:r>
              <a:rPr lang="zh-CN" altLang="en-US" sz="2000" b="1" dirty="0">
                <a:latin typeface="黑体" panose="02010609060101010101" pitchFamily="49" charset="-122"/>
                <a:ea typeface="黑体" panose="02010609060101010101" pitchFamily="49" charset="-122"/>
              </a:rPr>
              <a:t>    电子线路实习是我校实践环节面向全院工程类专业学生的一门必修课，是实践性较强的课程</a:t>
            </a:r>
            <a:r>
              <a:rPr lang="zh-CN" altLang="en-US" sz="2000" dirty="0">
                <a:latin typeface="黑体" panose="02010609060101010101" pitchFamily="49" charset="-122"/>
                <a:ea typeface="黑体" panose="02010609060101010101" pitchFamily="49" charset="-122"/>
              </a:rPr>
              <a:t>。</a:t>
            </a:r>
            <a:endParaRPr lang="en-US" altLang="zh-CN" sz="2000" dirty="0">
              <a:latin typeface="黑体" panose="02010609060101010101" pitchFamily="49" charset="-122"/>
              <a:ea typeface="黑体" panose="02010609060101010101" pitchFamily="49" charset="-122"/>
            </a:endParaRPr>
          </a:p>
          <a:p>
            <a:pPr eaLnBrk="1" hangingPunct="1">
              <a:lnSpc>
                <a:spcPct val="150000"/>
              </a:lnSpc>
              <a:spcBef>
                <a:spcPct val="0"/>
              </a:spcBef>
              <a:buClrTx/>
              <a:buSzTx/>
            </a:pPr>
            <a:r>
              <a:rPr lang="zh-CN" altLang="en-US" sz="2000" dirty="0">
                <a:solidFill>
                  <a:srgbClr val="FF0000"/>
                </a:solidFill>
                <a:latin typeface="黑体" panose="02010609060101010101" pitchFamily="49" charset="-122"/>
                <a:ea typeface="黑体" panose="02010609060101010101" pitchFamily="49" charset="-122"/>
              </a:rPr>
              <a:t>教学形式</a:t>
            </a:r>
            <a:r>
              <a:rPr lang="zh-CN" altLang="en-US" sz="2000" dirty="0">
                <a:latin typeface="黑体" panose="02010609060101010101" pitchFamily="49" charset="-122"/>
                <a:ea typeface="黑体" panose="02010609060101010101" pitchFamily="49" charset="-122"/>
              </a:rPr>
              <a:t>： 一种是集中实习教学（暑期）；一种是常规式教学。</a:t>
            </a:r>
            <a:endParaRPr lang="en-US" altLang="zh-CN" sz="2000" dirty="0">
              <a:latin typeface="黑体" panose="02010609060101010101" pitchFamily="49" charset="-122"/>
              <a:ea typeface="黑体" panose="02010609060101010101" pitchFamily="49" charset="-122"/>
            </a:endParaRPr>
          </a:p>
          <a:p>
            <a:pPr eaLnBrk="1" hangingPunct="1">
              <a:lnSpc>
                <a:spcPct val="150000"/>
              </a:lnSpc>
              <a:spcBef>
                <a:spcPct val="0"/>
              </a:spcBef>
              <a:buClrTx/>
              <a:buSzTx/>
            </a:pPr>
            <a:r>
              <a:rPr lang="zh-CN" altLang="en-US" sz="2000" dirty="0">
                <a:solidFill>
                  <a:srgbClr val="FF0000"/>
                </a:solidFill>
                <a:latin typeface="黑体" panose="02010609060101010101" pitchFamily="49" charset="-122"/>
                <a:ea typeface="黑体" panose="02010609060101010101" pitchFamily="49" charset="-122"/>
              </a:rPr>
              <a:t>目    的</a:t>
            </a:r>
            <a:r>
              <a:rPr lang="zh-CN" altLang="en-US" sz="2000" dirty="0">
                <a:latin typeface="黑体" panose="02010609060101010101" pitchFamily="49" charset="-122"/>
                <a:ea typeface="黑体" panose="02010609060101010101" pitchFamily="49" charset="-122"/>
              </a:rPr>
              <a:t>：就在于培养学生的独立动手能力及实践的创新精神。</a:t>
            </a:r>
            <a:endParaRPr lang="en-US" altLang="zh-CN" sz="2000" dirty="0">
              <a:latin typeface="黑体" panose="02010609060101010101" pitchFamily="49" charset="-122"/>
              <a:ea typeface="黑体" panose="02010609060101010101" pitchFamily="49" charset="-122"/>
            </a:endParaRPr>
          </a:p>
          <a:p>
            <a:pPr eaLnBrk="1" hangingPunct="1">
              <a:lnSpc>
                <a:spcPct val="150000"/>
              </a:lnSpc>
              <a:spcBef>
                <a:spcPct val="0"/>
              </a:spcBef>
              <a:buClrTx/>
              <a:buSzTx/>
            </a:pPr>
            <a:r>
              <a:rPr lang="zh-CN" altLang="en-US" sz="2000" dirty="0">
                <a:solidFill>
                  <a:srgbClr val="FF0000"/>
                </a:solidFill>
                <a:latin typeface="黑体" panose="02010609060101010101" pitchFamily="49" charset="-122"/>
                <a:ea typeface="黑体" panose="02010609060101010101" pitchFamily="49" charset="-122"/>
              </a:rPr>
              <a:t>全 过 程</a:t>
            </a:r>
            <a:r>
              <a:rPr lang="zh-CN" altLang="en-US" sz="2000" dirty="0">
                <a:latin typeface="黑体" panose="02010609060101010101" pitchFamily="49" charset="-122"/>
                <a:ea typeface="黑体" panose="02010609060101010101" pitchFamily="49" charset="-122"/>
              </a:rPr>
              <a:t>：散件</a:t>
            </a:r>
            <a:r>
              <a:rPr lang="en-US" altLang="zh-CN" sz="2000" dirty="0">
                <a:latin typeface="黑体" panose="02010609060101010101" pitchFamily="49" charset="-122"/>
                <a:ea typeface="黑体" panose="02010609060101010101" pitchFamily="49" charset="-122"/>
              </a:rPr>
              <a:t>-</a:t>
            </a:r>
            <a:r>
              <a:rPr lang="zh-CN" altLang="en-US" sz="2000" dirty="0">
                <a:latin typeface="黑体" panose="02010609060101010101" pitchFamily="49" charset="-122"/>
                <a:ea typeface="黑体" panose="02010609060101010101" pitchFamily="49" charset="-122"/>
              </a:rPr>
              <a:t>焊接</a:t>
            </a:r>
            <a:r>
              <a:rPr lang="en-US" altLang="zh-CN" sz="2000" dirty="0">
                <a:latin typeface="黑体" panose="02010609060101010101" pitchFamily="49" charset="-122"/>
                <a:ea typeface="黑体" panose="02010609060101010101" pitchFamily="49" charset="-122"/>
              </a:rPr>
              <a:t>-</a:t>
            </a:r>
            <a:r>
              <a:rPr lang="zh-CN" altLang="en-US" sz="2000" dirty="0">
                <a:latin typeface="黑体" panose="02010609060101010101" pitchFamily="49" charset="-122"/>
                <a:ea typeface="黑体" panose="02010609060101010101" pitchFamily="49" charset="-122"/>
              </a:rPr>
              <a:t>装配</a:t>
            </a:r>
            <a:r>
              <a:rPr lang="en-US" altLang="zh-CN" sz="2000" dirty="0">
                <a:latin typeface="黑体" panose="02010609060101010101" pitchFamily="49" charset="-122"/>
                <a:ea typeface="黑体" panose="02010609060101010101" pitchFamily="49" charset="-122"/>
              </a:rPr>
              <a:t>-</a:t>
            </a:r>
            <a:r>
              <a:rPr lang="zh-CN" altLang="en-US" sz="2000" dirty="0">
                <a:latin typeface="黑体" panose="02010609060101010101" pitchFamily="49" charset="-122"/>
                <a:ea typeface="黑体" panose="02010609060101010101" pitchFamily="49" charset="-122"/>
              </a:rPr>
              <a:t>检测</a:t>
            </a:r>
            <a:r>
              <a:rPr lang="en-US" altLang="zh-CN" sz="2000" dirty="0">
                <a:latin typeface="黑体" panose="02010609060101010101" pitchFamily="49" charset="-122"/>
                <a:ea typeface="黑体" panose="02010609060101010101" pitchFamily="49" charset="-122"/>
              </a:rPr>
              <a:t>-</a:t>
            </a:r>
            <a:r>
              <a:rPr lang="zh-CN" altLang="en-US" sz="2000" dirty="0">
                <a:latin typeface="黑体" panose="02010609060101010101" pitchFamily="49" charset="-122"/>
                <a:ea typeface="黑体" panose="02010609060101010101" pitchFamily="49" charset="-122"/>
              </a:rPr>
              <a:t>修理。</a:t>
            </a:r>
            <a:br>
              <a:rPr lang="en-US" altLang="zh-CN" sz="2000" dirty="0">
                <a:latin typeface="黑体" panose="02010609060101010101" pitchFamily="49" charset="-122"/>
                <a:ea typeface="黑体" panose="02010609060101010101" pitchFamily="49" charset="-122"/>
              </a:rPr>
            </a:br>
            <a:r>
              <a:rPr lang="zh-CN" altLang="en-US" sz="2000" dirty="0">
                <a:solidFill>
                  <a:srgbClr val="FF0000"/>
                </a:solidFill>
                <a:latin typeface="黑体" panose="02010609060101010101" pitchFamily="49" charset="-122"/>
                <a:ea typeface="黑体" panose="02010609060101010101" pitchFamily="49" charset="-122"/>
              </a:rPr>
              <a:t>要    求</a:t>
            </a:r>
            <a:r>
              <a:rPr lang="zh-CN" altLang="en-US" sz="2000" dirty="0">
                <a:latin typeface="黑体" panose="02010609060101010101" pitchFamily="49" charset="-122"/>
                <a:ea typeface="黑体" panose="02010609060101010101" pitchFamily="49" charset="-122"/>
              </a:rPr>
              <a:t>：独立的完成实习内容中，了解电子产品制作基本流程，熟悉各种常见电子元器件，掌握电子产品的焊接及组装，掌握电子产品的调试及性能测试。</a:t>
            </a:r>
          </a:p>
          <a:p>
            <a:pPr eaLnBrk="1" hangingPunct="1">
              <a:spcBef>
                <a:spcPct val="0"/>
              </a:spcBef>
              <a:buClrTx/>
              <a:buSzTx/>
            </a:pPr>
            <a:endParaRPr lang="zh-CN" altLang="en-US" dirty="0"/>
          </a:p>
          <a:p>
            <a:pPr eaLnBrk="1" hangingPunct="1">
              <a:spcBef>
                <a:spcPct val="0"/>
              </a:spcBef>
              <a:buClrTx/>
              <a:buSzTx/>
              <a:buFontTx/>
              <a:buNone/>
            </a:pPr>
            <a:endParaRPr lang="zh-CN" altLang="en-US" dirty="0"/>
          </a:p>
        </p:txBody>
      </p:sp>
      <p:sp>
        <p:nvSpPr>
          <p:cNvPr id="2" name="灯片编号占位符 1">
            <a:extLst>
              <a:ext uri="{FF2B5EF4-FFF2-40B4-BE49-F238E27FC236}">
                <a16:creationId xmlns:a16="http://schemas.microsoft.com/office/drawing/2014/main" id="{8702725D-5B05-6A82-AA33-8A37690CDDCC}"/>
              </a:ext>
            </a:extLst>
          </p:cNvPr>
          <p:cNvSpPr>
            <a:spLocks noGrp="1"/>
          </p:cNvSpPr>
          <p:nvPr>
            <p:ph type="sldNum" sz="quarter" idx="12"/>
          </p:nvPr>
        </p:nvSpPr>
        <p:spPr/>
        <p:txBody>
          <a:bodyPr/>
          <a:lstStyle/>
          <a:p>
            <a:pPr>
              <a:defRPr/>
            </a:pPr>
            <a:fld id="{47A4CA45-135E-4AE6-A55B-F30C83FDB90E}" type="slidenum">
              <a:rPr lang="zh-CN" altLang="en-US" smtClean="0"/>
              <a:pPr>
                <a:defRPr/>
              </a:pPr>
              <a:t>3</a:t>
            </a:fld>
            <a:endParaRPr lang="en-US" altLang="zh-C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ctrTitle"/>
          </p:nvPr>
        </p:nvSpPr>
        <p:spPr>
          <a:xfrm>
            <a:off x="533400" y="762000"/>
            <a:ext cx="7772400" cy="1143000"/>
          </a:xfrm>
        </p:spPr>
        <p:txBody>
          <a:bodyPr/>
          <a:lstStyle/>
          <a:p>
            <a:pPr marL="609600" indent="-609600" eaLnBrk="1" hangingPunct="1"/>
            <a:r>
              <a:rPr lang="zh-CN" altLang="en-US" sz="6600"/>
              <a:t>考核要求</a:t>
            </a:r>
          </a:p>
        </p:txBody>
      </p:sp>
      <p:sp>
        <p:nvSpPr>
          <p:cNvPr id="7171" name="Rectangle 3"/>
          <p:cNvSpPr>
            <a:spLocks noGrp="1" noChangeArrowheads="1"/>
          </p:cNvSpPr>
          <p:nvPr>
            <p:ph type="subTitle" idx="1"/>
          </p:nvPr>
        </p:nvSpPr>
        <p:spPr>
          <a:xfrm>
            <a:off x="323528" y="2007421"/>
            <a:ext cx="7696200" cy="3673177"/>
          </a:xfrm>
        </p:spPr>
        <p:txBody>
          <a:bodyPr>
            <a:normAutofit/>
          </a:bodyPr>
          <a:lstStyle/>
          <a:p>
            <a:pPr algn="just" eaLnBrk="1" hangingPunct="1">
              <a:spcBef>
                <a:spcPct val="0"/>
              </a:spcBef>
            </a:pPr>
            <a:r>
              <a:rPr lang="en-US" altLang="zh-CN" sz="2800" dirty="0"/>
              <a:t>1</a:t>
            </a:r>
            <a:r>
              <a:rPr lang="zh-CN" altLang="en-US" sz="2800" dirty="0"/>
              <a:t>、平时（</a:t>
            </a:r>
            <a:r>
              <a:rPr lang="en-US" altLang="zh-CN" sz="2800" dirty="0"/>
              <a:t> </a:t>
            </a:r>
            <a:r>
              <a:rPr lang="zh-CN" altLang="en-US" sz="2800" dirty="0"/>
              <a:t>插件、贴片、回流焊、作图）</a:t>
            </a:r>
            <a:endParaRPr lang="en-US" altLang="zh-CN" sz="2800" dirty="0"/>
          </a:p>
          <a:p>
            <a:pPr algn="just" eaLnBrk="1" hangingPunct="1">
              <a:spcBef>
                <a:spcPct val="0"/>
              </a:spcBef>
            </a:pPr>
            <a:r>
              <a:rPr lang="en-US" altLang="zh-CN" sz="2800" dirty="0"/>
              <a:t>      </a:t>
            </a:r>
          </a:p>
          <a:p>
            <a:pPr algn="just" eaLnBrk="1" hangingPunct="1">
              <a:spcBef>
                <a:spcPct val="0"/>
              </a:spcBef>
            </a:pPr>
            <a:r>
              <a:rPr lang="en-US" altLang="zh-CN" sz="2800" dirty="0"/>
              <a:t>2</a:t>
            </a:r>
            <a:r>
              <a:rPr lang="zh-CN" altLang="en-US" sz="2800" dirty="0"/>
              <a:t>、作品验收（功放焊接、功能验收）</a:t>
            </a:r>
            <a:endParaRPr lang="en-US" altLang="zh-CN" sz="2800" dirty="0"/>
          </a:p>
          <a:p>
            <a:pPr algn="just" eaLnBrk="1" hangingPunct="1">
              <a:spcBef>
                <a:spcPct val="0"/>
              </a:spcBef>
            </a:pPr>
            <a:endParaRPr lang="en-US" altLang="zh-CN" sz="2800" dirty="0"/>
          </a:p>
          <a:p>
            <a:pPr algn="just">
              <a:spcBef>
                <a:spcPct val="0"/>
              </a:spcBef>
            </a:pPr>
            <a:r>
              <a:rPr lang="en-US" altLang="zh-CN" sz="2800" dirty="0"/>
              <a:t>3</a:t>
            </a:r>
            <a:r>
              <a:rPr lang="zh-CN" altLang="en-US" sz="2800" dirty="0"/>
              <a:t>、设计报告（含思政）</a:t>
            </a:r>
          </a:p>
          <a:p>
            <a:pPr algn="just" eaLnBrk="1" hangingPunct="1">
              <a:spcBef>
                <a:spcPct val="0"/>
              </a:spcBef>
            </a:pPr>
            <a:endParaRPr lang="en-US" altLang="zh-CN" sz="2800" dirty="0"/>
          </a:p>
          <a:p>
            <a:pPr algn="just" eaLnBrk="1" hangingPunct="1">
              <a:spcBef>
                <a:spcPct val="0"/>
              </a:spcBef>
            </a:pPr>
            <a:endParaRPr lang="en-US" altLang="zh-CN" sz="2800" dirty="0"/>
          </a:p>
          <a:p>
            <a:pPr eaLnBrk="1" hangingPunct="1">
              <a:spcBef>
                <a:spcPct val="0"/>
              </a:spcBef>
            </a:pPr>
            <a:endParaRPr lang="zh-CN" altLang="en-US" dirty="0"/>
          </a:p>
        </p:txBody>
      </p:sp>
      <p:sp>
        <p:nvSpPr>
          <p:cNvPr id="2" name="灯片编号占位符 1">
            <a:extLst>
              <a:ext uri="{FF2B5EF4-FFF2-40B4-BE49-F238E27FC236}">
                <a16:creationId xmlns:a16="http://schemas.microsoft.com/office/drawing/2014/main" id="{7A9DCE68-7374-A712-2EE7-C2AB05CDC962}"/>
              </a:ext>
            </a:extLst>
          </p:cNvPr>
          <p:cNvSpPr>
            <a:spLocks noGrp="1"/>
          </p:cNvSpPr>
          <p:nvPr>
            <p:ph type="sldNum" sz="quarter" idx="12"/>
          </p:nvPr>
        </p:nvSpPr>
        <p:spPr/>
        <p:txBody>
          <a:bodyPr/>
          <a:lstStyle/>
          <a:p>
            <a:pPr>
              <a:defRPr/>
            </a:pPr>
            <a:fld id="{47A4CA45-135E-4AE6-A55B-F30C83FDB90E}" type="slidenum">
              <a:rPr lang="zh-CN" altLang="en-US" smtClean="0"/>
              <a:pPr>
                <a:defRPr/>
              </a:pPr>
              <a:t>4</a:t>
            </a:fld>
            <a:endParaRPr lang="en-US" altLang="zh-C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9883427-BF32-3C7C-0B3F-1170074258A1}"/>
              </a:ext>
            </a:extLst>
          </p:cNvPr>
          <p:cNvSpPr>
            <a:spLocks noGrp="1"/>
          </p:cNvSpPr>
          <p:nvPr>
            <p:ph type="title"/>
          </p:nvPr>
        </p:nvSpPr>
        <p:spPr>
          <a:xfrm>
            <a:off x="107503" y="232717"/>
            <a:ext cx="6120680" cy="864097"/>
          </a:xfrm>
          <a:solidFill>
            <a:schemeClr val="bg1">
              <a:lumMod val="95000"/>
            </a:schemeClr>
          </a:solidFill>
        </p:spPr>
        <p:txBody>
          <a:bodyPr vert="horz" lIns="91440" tIns="45720" rIns="91440" bIns="0" rtlCol="0" anchor="b">
            <a:normAutofit fontScale="90000"/>
          </a:bodyPr>
          <a:lstStyle/>
          <a:p>
            <a:r>
              <a:rPr lang="zh-CN" altLang="en-US" sz="6600" b="1" dirty="0">
                <a:latin typeface="宋体" pitchFamily="2" charset="-122"/>
              </a:rPr>
              <a:t>授课计划</a:t>
            </a:r>
          </a:p>
        </p:txBody>
      </p:sp>
      <p:graphicFrame>
        <p:nvGraphicFramePr>
          <p:cNvPr id="6" name="内容占位符 5">
            <a:extLst>
              <a:ext uri="{FF2B5EF4-FFF2-40B4-BE49-F238E27FC236}">
                <a16:creationId xmlns:a16="http://schemas.microsoft.com/office/drawing/2014/main" id="{E55157BB-C08C-DBFB-4FC2-458951881D0A}"/>
              </a:ext>
            </a:extLst>
          </p:cNvPr>
          <p:cNvGraphicFramePr>
            <a:graphicFrameLocks noGrp="1"/>
          </p:cNvGraphicFramePr>
          <p:nvPr>
            <p:ph idx="1"/>
            <p:extLst>
              <p:ext uri="{D42A27DB-BD31-4B8C-83A1-F6EECF244321}">
                <p14:modId xmlns:p14="http://schemas.microsoft.com/office/powerpoint/2010/main" val="3343822064"/>
              </p:ext>
            </p:extLst>
          </p:nvPr>
        </p:nvGraphicFramePr>
        <p:xfrm>
          <a:off x="107503" y="1067357"/>
          <a:ext cx="6120680" cy="5595648"/>
        </p:xfrm>
        <a:graphic>
          <a:graphicData uri="http://schemas.openxmlformats.org/drawingml/2006/table">
            <a:tbl>
              <a:tblPr firstRow="1" firstCol="1" bandRow="1">
                <a:tableStyleId>{5C22544A-7EE6-4342-B048-85BDC9FD1C3A}</a:tableStyleId>
              </a:tblPr>
              <a:tblGrid>
                <a:gridCol w="472517">
                  <a:extLst>
                    <a:ext uri="{9D8B030D-6E8A-4147-A177-3AD203B41FA5}">
                      <a16:colId xmlns:a16="http://schemas.microsoft.com/office/drawing/2014/main" val="2264875931"/>
                    </a:ext>
                  </a:extLst>
                </a:gridCol>
                <a:gridCol w="3007702">
                  <a:extLst>
                    <a:ext uri="{9D8B030D-6E8A-4147-A177-3AD203B41FA5}">
                      <a16:colId xmlns:a16="http://schemas.microsoft.com/office/drawing/2014/main" val="2402581592"/>
                    </a:ext>
                  </a:extLst>
                </a:gridCol>
                <a:gridCol w="413757">
                  <a:extLst>
                    <a:ext uri="{9D8B030D-6E8A-4147-A177-3AD203B41FA5}">
                      <a16:colId xmlns:a16="http://schemas.microsoft.com/office/drawing/2014/main" val="293910677"/>
                    </a:ext>
                  </a:extLst>
                </a:gridCol>
                <a:gridCol w="1350222">
                  <a:extLst>
                    <a:ext uri="{9D8B030D-6E8A-4147-A177-3AD203B41FA5}">
                      <a16:colId xmlns:a16="http://schemas.microsoft.com/office/drawing/2014/main" val="3550706121"/>
                    </a:ext>
                  </a:extLst>
                </a:gridCol>
                <a:gridCol w="876482">
                  <a:extLst>
                    <a:ext uri="{9D8B030D-6E8A-4147-A177-3AD203B41FA5}">
                      <a16:colId xmlns:a16="http://schemas.microsoft.com/office/drawing/2014/main" val="1517110943"/>
                    </a:ext>
                  </a:extLst>
                </a:gridCol>
              </a:tblGrid>
              <a:tr h="167329">
                <a:tc gridSpan="5">
                  <a:txBody>
                    <a:bodyPr/>
                    <a:lstStyle/>
                    <a:p>
                      <a:pPr algn="ctr"/>
                      <a:r>
                        <a:rPr lang="zh-CN" sz="800" kern="0" dirty="0">
                          <a:effectLst/>
                        </a:rPr>
                        <a:t>教 学 安 排</a:t>
                      </a:r>
                      <a:endParaRPr lang="zh-CN" sz="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684608759"/>
                  </a:ext>
                </a:extLst>
              </a:tr>
              <a:tr h="212346">
                <a:tc>
                  <a:txBody>
                    <a:bodyPr/>
                    <a:lstStyle/>
                    <a:p>
                      <a:pPr algn="ctr"/>
                      <a:r>
                        <a:rPr lang="zh-CN" sz="800" kern="0">
                          <a:effectLst/>
                        </a:rPr>
                        <a:t>序号</a:t>
                      </a:r>
                      <a:endParaRPr lang="zh-CN" sz="800" kern="10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ctr"/>
                      <a:r>
                        <a:rPr lang="zh-CN" sz="800" kern="0">
                          <a:effectLst/>
                        </a:rPr>
                        <a:t>教</a:t>
                      </a:r>
                      <a:r>
                        <a:rPr lang="en-US" sz="800" kern="0">
                          <a:effectLst/>
                        </a:rPr>
                        <a:t>  </a:t>
                      </a:r>
                      <a:r>
                        <a:rPr lang="zh-CN" sz="800" kern="0">
                          <a:effectLst/>
                        </a:rPr>
                        <a:t>学</a:t>
                      </a:r>
                      <a:r>
                        <a:rPr lang="en-US" sz="800" kern="0">
                          <a:effectLst/>
                        </a:rPr>
                        <a:t>  </a:t>
                      </a:r>
                      <a:r>
                        <a:rPr lang="zh-CN" sz="800" kern="0">
                          <a:effectLst/>
                        </a:rPr>
                        <a:t>内</a:t>
                      </a:r>
                      <a:r>
                        <a:rPr lang="en-US" sz="800" kern="0">
                          <a:effectLst/>
                        </a:rPr>
                        <a:t>  </a:t>
                      </a:r>
                      <a:r>
                        <a:rPr lang="zh-CN" sz="800" kern="0">
                          <a:effectLst/>
                        </a:rPr>
                        <a:t>容</a:t>
                      </a:r>
                      <a:endParaRPr lang="zh-CN" sz="800" kern="10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ctr"/>
                      <a:r>
                        <a:rPr lang="zh-CN" sz="800" kern="0">
                          <a:effectLst/>
                        </a:rPr>
                        <a:t>学时</a:t>
                      </a:r>
                      <a:endParaRPr lang="zh-CN" sz="800" kern="10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ctr"/>
                      <a:r>
                        <a:rPr lang="zh-CN" sz="800" kern="0">
                          <a:effectLst/>
                        </a:rPr>
                        <a:t>时间</a:t>
                      </a:r>
                      <a:endParaRPr lang="zh-CN" sz="800" kern="10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ctr"/>
                      <a:r>
                        <a:rPr lang="zh-CN" sz="800" kern="0">
                          <a:effectLst/>
                        </a:rPr>
                        <a:t>地点</a:t>
                      </a:r>
                      <a:endParaRPr lang="zh-CN" sz="800" kern="10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extLst>
                  <a:ext uri="{0D108BD9-81ED-4DB2-BD59-A6C34878D82A}">
                    <a16:rowId xmlns:a16="http://schemas.microsoft.com/office/drawing/2014/main" val="1698239561"/>
                  </a:ext>
                </a:extLst>
              </a:tr>
              <a:tr h="276734">
                <a:tc>
                  <a:txBody>
                    <a:bodyPr/>
                    <a:lstStyle/>
                    <a:p>
                      <a:pPr algn="ctr"/>
                      <a:r>
                        <a:rPr lang="en-US" sz="800" kern="0">
                          <a:effectLst/>
                        </a:rPr>
                        <a:t>1</a:t>
                      </a:r>
                      <a:endParaRPr lang="zh-CN" sz="800" kern="10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l"/>
                      <a:r>
                        <a:rPr lang="zh-CN" sz="1200" b="1" kern="0" dirty="0">
                          <a:effectLst/>
                        </a:rPr>
                        <a:t>常用电子元器件的认知，讲解元器件知识</a:t>
                      </a:r>
                      <a:endParaRPr lang="zh-CN" sz="12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ctr"/>
                      <a:r>
                        <a:rPr lang="en-US" sz="1200" b="1" kern="0">
                          <a:effectLst/>
                        </a:rPr>
                        <a:t>2</a:t>
                      </a:r>
                      <a:endParaRPr lang="zh-CN" sz="1200" b="1" kern="10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ctr"/>
                      <a:r>
                        <a:rPr lang="en-US" sz="1200" b="1" kern="0" dirty="0">
                          <a:effectLst/>
                        </a:rPr>
                        <a:t>10</a:t>
                      </a:r>
                      <a:r>
                        <a:rPr lang="zh-CN" sz="1200" b="1" kern="0" dirty="0">
                          <a:effectLst/>
                        </a:rPr>
                        <a:t>月</a:t>
                      </a:r>
                      <a:r>
                        <a:rPr lang="en-US" sz="1200" b="1" kern="0" dirty="0">
                          <a:solidFill>
                            <a:srgbClr val="FF0000"/>
                          </a:solidFill>
                          <a:effectLst/>
                        </a:rPr>
                        <a:t>14</a:t>
                      </a:r>
                      <a:r>
                        <a:rPr lang="zh-CN" sz="1200" b="1" kern="0" dirty="0">
                          <a:solidFill>
                            <a:srgbClr val="FF0000"/>
                          </a:solidFill>
                          <a:effectLst/>
                        </a:rPr>
                        <a:t>日</a:t>
                      </a:r>
                      <a:r>
                        <a:rPr lang="zh-CN" sz="1200" b="1" kern="0" dirty="0">
                          <a:effectLst/>
                        </a:rPr>
                        <a:t>，</a:t>
                      </a:r>
                      <a:r>
                        <a:rPr lang="en-US" sz="1200" b="1" kern="0" dirty="0">
                          <a:solidFill>
                            <a:srgbClr val="FF0000"/>
                          </a:solidFill>
                          <a:effectLst/>
                        </a:rPr>
                        <a:t>3-5</a:t>
                      </a:r>
                      <a:r>
                        <a:rPr lang="zh-CN" sz="1200" b="1" kern="0" dirty="0">
                          <a:solidFill>
                            <a:srgbClr val="FF0000"/>
                          </a:solidFill>
                          <a:effectLst/>
                        </a:rPr>
                        <a:t>节</a:t>
                      </a:r>
                      <a:endParaRPr lang="zh-CN" sz="1200" b="1"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ctr"/>
                      <a:r>
                        <a:rPr lang="zh-CN" sz="1200" b="1" kern="0" dirty="0">
                          <a:effectLst/>
                        </a:rPr>
                        <a:t>第</a:t>
                      </a:r>
                      <a:r>
                        <a:rPr lang="en-US" sz="1200" b="1" kern="0" dirty="0">
                          <a:effectLst/>
                        </a:rPr>
                        <a:t>8</a:t>
                      </a:r>
                      <a:r>
                        <a:rPr lang="zh-CN" sz="1200" b="1" kern="0" dirty="0">
                          <a:effectLst/>
                        </a:rPr>
                        <a:t>教学楼</a:t>
                      </a:r>
                      <a:r>
                        <a:rPr lang="en-US" sz="1200" b="1" kern="0" dirty="0">
                          <a:solidFill>
                            <a:srgbClr val="FF0000"/>
                          </a:solidFill>
                          <a:effectLst/>
                        </a:rPr>
                        <a:t>306</a:t>
                      </a:r>
                      <a:endParaRPr lang="zh-CN" sz="1200" b="1"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extLst>
                  <a:ext uri="{0D108BD9-81ED-4DB2-BD59-A6C34878D82A}">
                    <a16:rowId xmlns:a16="http://schemas.microsoft.com/office/drawing/2014/main" val="337303409"/>
                  </a:ext>
                </a:extLst>
              </a:tr>
              <a:tr h="276734">
                <a:tc>
                  <a:txBody>
                    <a:bodyPr/>
                    <a:lstStyle/>
                    <a:p>
                      <a:pPr algn="ctr"/>
                      <a:r>
                        <a:rPr lang="en-US" sz="800" kern="0">
                          <a:effectLst/>
                        </a:rPr>
                        <a:t>2</a:t>
                      </a:r>
                      <a:endParaRPr lang="zh-CN" sz="800" kern="10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l"/>
                      <a:r>
                        <a:rPr lang="zh-CN" sz="1200" b="1" kern="0" dirty="0">
                          <a:effectLst/>
                        </a:rPr>
                        <a:t>插件焊接工艺讲解，焊接电阻、跳线，讲解焊点问题。</a:t>
                      </a:r>
                      <a:endParaRPr lang="zh-CN" sz="12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ctr"/>
                      <a:r>
                        <a:rPr lang="en-US" sz="1200" b="1" kern="0">
                          <a:effectLst/>
                        </a:rPr>
                        <a:t>3</a:t>
                      </a:r>
                      <a:endParaRPr lang="zh-CN" sz="1200" b="1" kern="10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ctr"/>
                      <a:r>
                        <a:rPr lang="en-US" sz="1200" b="1" kern="0" dirty="0">
                          <a:effectLst/>
                        </a:rPr>
                        <a:t>10</a:t>
                      </a:r>
                      <a:r>
                        <a:rPr lang="zh-CN" sz="1200" b="1" kern="0" dirty="0">
                          <a:effectLst/>
                        </a:rPr>
                        <a:t>月</a:t>
                      </a:r>
                      <a:r>
                        <a:rPr lang="en-US" sz="1200" b="1" kern="0" dirty="0">
                          <a:effectLst/>
                        </a:rPr>
                        <a:t>21</a:t>
                      </a:r>
                      <a:r>
                        <a:rPr lang="zh-CN" sz="1200" b="1" kern="0" dirty="0">
                          <a:effectLst/>
                        </a:rPr>
                        <a:t>日，</a:t>
                      </a:r>
                      <a:r>
                        <a:rPr lang="en-US" sz="1200" b="1" kern="0" dirty="0">
                          <a:effectLst/>
                        </a:rPr>
                        <a:t>3-5</a:t>
                      </a:r>
                      <a:r>
                        <a:rPr lang="zh-CN" sz="1200" b="1" kern="0" dirty="0">
                          <a:effectLst/>
                        </a:rPr>
                        <a:t>节</a:t>
                      </a:r>
                      <a:endParaRPr lang="zh-CN" sz="12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ctr"/>
                      <a:r>
                        <a:rPr lang="zh-CN" sz="1200" b="1" kern="0">
                          <a:effectLst/>
                        </a:rPr>
                        <a:t>第</a:t>
                      </a:r>
                      <a:r>
                        <a:rPr lang="en-US" sz="1200" b="1" kern="0">
                          <a:effectLst/>
                        </a:rPr>
                        <a:t>8</a:t>
                      </a:r>
                      <a:r>
                        <a:rPr lang="zh-CN" sz="1200" b="1" kern="0">
                          <a:effectLst/>
                        </a:rPr>
                        <a:t>教学楼</a:t>
                      </a:r>
                      <a:r>
                        <a:rPr lang="en-US" sz="1200" b="1" kern="0">
                          <a:effectLst/>
                        </a:rPr>
                        <a:t>306</a:t>
                      </a:r>
                      <a:endParaRPr lang="zh-CN" sz="1200" b="1" kern="10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extLst>
                  <a:ext uri="{0D108BD9-81ED-4DB2-BD59-A6C34878D82A}">
                    <a16:rowId xmlns:a16="http://schemas.microsoft.com/office/drawing/2014/main" val="3884306835"/>
                  </a:ext>
                </a:extLst>
              </a:tr>
              <a:tr h="276734">
                <a:tc>
                  <a:txBody>
                    <a:bodyPr/>
                    <a:lstStyle/>
                    <a:p>
                      <a:pPr algn="ctr"/>
                      <a:r>
                        <a:rPr lang="en-US" sz="800" kern="0">
                          <a:effectLst/>
                        </a:rPr>
                        <a:t>3</a:t>
                      </a:r>
                      <a:endParaRPr lang="zh-CN" sz="800" kern="10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l"/>
                      <a:r>
                        <a:rPr lang="zh-CN" sz="1200" b="1" kern="0" dirty="0">
                          <a:effectLst/>
                        </a:rPr>
                        <a:t>插件电容、二极管、电感等焊接</a:t>
                      </a:r>
                      <a:endParaRPr lang="zh-CN" sz="12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ctr"/>
                      <a:r>
                        <a:rPr lang="en-US" sz="1200" b="1" kern="0">
                          <a:effectLst/>
                        </a:rPr>
                        <a:t>3</a:t>
                      </a:r>
                      <a:endParaRPr lang="zh-CN" sz="1200" b="1" kern="10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ctr"/>
                      <a:r>
                        <a:rPr lang="en-US" sz="1200" b="1" kern="0" dirty="0">
                          <a:effectLst/>
                        </a:rPr>
                        <a:t>10</a:t>
                      </a:r>
                      <a:r>
                        <a:rPr lang="zh-CN" sz="1200" b="1" kern="0" dirty="0">
                          <a:effectLst/>
                        </a:rPr>
                        <a:t>月</a:t>
                      </a:r>
                      <a:r>
                        <a:rPr lang="en-US" sz="1200" b="1" kern="0" dirty="0">
                          <a:effectLst/>
                        </a:rPr>
                        <a:t>28</a:t>
                      </a:r>
                      <a:r>
                        <a:rPr lang="zh-CN" sz="1200" b="1" kern="0" dirty="0">
                          <a:effectLst/>
                        </a:rPr>
                        <a:t>日，</a:t>
                      </a:r>
                      <a:r>
                        <a:rPr lang="en-US" sz="1200" b="1" kern="0" dirty="0">
                          <a:effectLst/>
                        </a:rPr>
                        <a:t>3-5</a:t>
                      </a:r>
                      <a:r>
                        <a:rPr lang="zh-CN" sz="1200" b="1" kern="0" dirty="0">
                          <a:effectLst/>
                        </a:rPr>
                        <a:t>节</a:t>
                      </a:r>
                      <a:endParaRPr lang="zh-CN" sz="12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ctr"/>
                      <a:r>
                        <a:rPr lang="zh-CN" sz="1200" b="1" kern="0">
                          <a:effectLst/>
                        </a:rPr>
                        <a:t>第</a:t>
                      </a:r>
                      <a:r>
                        <a:rPr lang="en-US" sz="1200" b="1" kern="0">
                          <a:effectLst/>
                        </a:rPr>
                        <a:t>8</a:t>
                      </a:r>
                      <a:r>
                        <a:rPr lang="zh-CN" sz="1200" b="1" kern="0">
                          <a:effectLst/>
                        </a:rPr>
                        <a:t>教学楼</a:t>
                      </a:r>
                      <a:r>
                        <a:rPr lang="en-US" sz="1200" b="1" kern="0">
                          <a:effectLst/>
                        </a:rPr>
                        <a:t>306</a:t>
                      </a:r>
                      <a:endParaRPr lang="zh-CN" sz="1200" b="1" kern="10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extLst>
                  <a:ext uri="{0D108BD9-81ED-4DB2-BD59-A6C34878D82A}">
                    <a16:rowId xmlns:a16="http://schemas.microsoft.com/office/drawing/2014/main" val="3598617656"/>
                  </a:ext>
                </a:extLst>
              </a:tr>
              <a:tr h="405675">
                <a:tc>
                  <a:txBody>
                    <a:bodyPr/>
                    <a:lstStyle/>
                    <a:p>
                      <a:pPr algn="ctr"/>
                      <a:r>
                        <a:rPr lang="en-US" sz="800" kern="0">
                          <a:effectLst/>
                        </a:rPr>
                        <a:t>4</a:t>
                      </a:r>
                      <a:endParaRPr lang="zh-CN" sz="800" kern="10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l"/>
                      <a:r>
                        <a:rPr lang="zh-CN" sz="1200" b="1" kern="0" dirty="0">
                          <a:effectLst/>
                        </a:rPr>
                        <a:t>贴片焊接工艺讲解，手工焊接</a:t>
                      </a:r>
                      <a:r>
                        <a:rPr lang="en-US" sz="1200" b="1" kern="0" dirty="0">
                          <a:effectLst/>
                        </a:rPr>
                        <a:t>0805</a:t>
                      </a:r>
                      <a:r>
                        <a:rPr lang="zh-CN" sz="1200" b="1" kern="0" dirty="0">
                          <a:effectLst/>
                        </a:rPr>
                        <a:t>贴片电阻</a:t>
                      </a:r>
                      <a:r>
                        <a:rPr lang="en-US" sz="1200" b="1" kern="0" dirty="0">
                          <a:effectLst/>
                        </a:rPr>
                        <a:t>/</a:t>
                      </a:r>
                      <a:r>
                        <a:rPr lang="zh-CN" sz="1200" b="1" kern="0" dirty="0">
                          <a:effectLst/>
                        </a:rPr>
                        <a:t>电容等，讲解焊点问题。</a:t>
                      </a:r>
                      <a:endParaRPr lang="zh-CN" sz="12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ctr"/>
                      <a:r>
                        <a:rPr lang="en-US" sz="1200" b="1" kern="0">
                          <a:effectLst/>
                        </a:rPr>
                        <a:t>3</a:t>
                      </a:r>
                      <a:endParaRPr lang="zh-CN" sz="1200" b="1" kern="10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ctr"/>
                      <a:r>
                        <a:rPr lang="en-US" sz="1200" b="1" kern="0" dirty="0">
                          <a:effectLst/>
                        </a:rPr>
                        <a:t>11</a:t>
                      </a:r>
                      <a:r>
                        <a:rPr lang="zh-CN" sz="1200" b="1" kern="0" dirty="0">
                          <a:effectLst/>
                        </a:rPr>
                        <a:t>月</a:t>
                      </a:r>
                      <a:r>
                        <a:rPr lang="en-US" sz="1200" b="1" kern="0" dirty="0">
                          <a:effectLst/>
                        </a:rPr>
                        <a:t>4</a:t>
                      </a:r>
                      <a:r>
                        <a:rPr lang="zh-CN" sz="1200" b="1" kern="0" dirty="0">
                          <a:effectLst/>
                        </a:rPr>
                        <a:t>日，</a:t>
                      </a:r>
                      <a:r>
                        <a:rPr lang="en-US" sz="1200" b="1" kern="0" dirty="0">
                          <a:effectLst/>
                        </a:rPr>
                        <a:t>3-5</a:t>
                      </a:r>
                      <a:r>
                        <a:rPr lang="zh-CN" sz="1200" b="1" kern="0" dirty="0">
                          <a:effectLst/>
                        </a:rPr>
                        <a:t>节</a:t>
                      </a:r>
                      <a:endParaRPr lang="zh-CN" sz="12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ctr"/>
                      <a:r>
                        <a:rPr lang="zh-CN" sz="1200" b="1" kern="0">
                          <a:effectLst/>
                        </a:rPr>
                        <a:t>第</a:t>
                      </a:r>
                      <a:r>
                        <a:rPr lang="en-US" sz="1200" b="1" kern="0">
                          <a:effectLst/>
                        </a:rPr>
                        <a:t>8</a:t>
                      </a:r>
                      <a:r>
                        <a:rPr lang="zh-CN" sz="1200" b="1" kern="0">
                          <a:effectLst/>
                        </a:rPr>
                        <a:t>教学楼</a:t>
                      </a:r>
                      <a:r>
                        <a:rPr lang="en-US" sz="1200" b="1" kern="0">
                          <a:effectLst/>
                        </a:rPr>
                        <a:t>306</a:t>
                      </a:r>
                      <a:endParaRPr lang="zh-CN" sz="1200" b="1" kern="10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extLst>
                  <a:ext uri="{0D108BD9-81ED-4DB2-BD59-A6C34878D82A}">
                    <a16:rowId xmlns:a16="http://schemas.microsoft.com/office/drawing/2014/main" val="376645637"/>
                  </a:ext>
                </a:extLst>
              </a:tr>
              <a:tr h="276734">
                <a:tc>
                  <a:txBody>
                    <a:bodyPr/>
                    <a:lstStyle/>
                    <a:p>
                      <a:pPr algn="ctr"/>
                      <a:r>
                        <a:rPr lang="en-US" sz="800" kern="0">
                          <a:effectLst/>
                        </a:rPr>
                        <a:t>5</a:t>
                      </a:r>
                      <a:endParaRPr lang="zh-CN" sz="800" kern="10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l"/>
                      <a:r>
                        <a:rPr lang="zh-CN" sz="1200" b="1" kern="0">
                          <a:effectLst/>
                        </a:rPr>
                        <a:t>贴片手工焊接</a:t>
                      </a:r>
                      <a:r>
                        <a:rPr lang="en-US" sz="1200" b="1" kern="0">
                          <a:effectLst/>
                        </a:rPr>
                        <a:t>0603</a:t>
                      </a:r>
                      <a:r>
                        <a:rPr lang="zh-CN" sz="1200" b="1" kern="0">
                          <a:effectLst/>
                        </a:rPr>
                        <a:t>、</a:t>
                      </a:r>
                      <a:r>
                        <a:rPr lang="en-US" sz="1200" b="1" kern="0">
                          <a:effectLst/>
                        </a:rPr>
                        <a:t>0402</a:t>
                      </a:r>
                      <a:r>
                        <a:rPr lang="zh-CN" sz="1200" b="1" kern="0">
                          <a:effectLst/>
                        </a:rPr>
                        <a:t>材料等</a:t>
                      </a:r>
                      <a:endParaRPr lang="zh-CN" sz="1200" b="1" kern="10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ctr"/>
                      <a:r>
                        <a:rPr lang="en-US" sz="1200" b="1" kern="0" dirty="0">
                          <a:effectLst/>
                        </a:rPr>
                        <a:t>3</a:t>
                      </a:r>
                      <a:endParaRPr lang="zh-CN" sz="12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ctr"/>
                      <a:r>
                        <a:rPr lang="en-US" sz="1200" b="1" kern="0" dirty="0">
                          <a:effectLst/>
                        </a:rPr>
                        <a:t>11</a:t>
                      </a:r>
                      <a:r>
                        <a:rPr lang="zh-CN" sz="1200" b="1" kern="0" dirty="0">
                          <a:effectLst/>
                        </a:rPr>
                        <a:t>月</a:t>
                      </a:r>
                      <a:r>
                        <a:rPr lang="en-US" sz="1200" b="1" kern="0" dirty="0">
                          <a:effectLst/>
                        </a:rPr>
                        <a:t>11</a:t>
                      </a:r>
                      <a:r>
                        <a:rPr lang="zh-CN" sz="1200" b="1" kern="0" dirty="0">
                          <a:effectLst/>
                        </a:rPr>
                        <a:t>日，</a:t>
                      </a:r>
                      <a:r>
                        <a:rPr lang="en-US" sz="1200" b="1" kern="0" dirty="0">
                          <a:effectLst/>
                        </a:rPr>
                        <a:t>3-5</a:t>
                      </a:r>
                      <a:r>
                        <a:rPr lang="zh-CN" sz="1200" b="1" kern="0" dirty="0">
                          <a:effectLst/>
                        </a:rPr>
                        <a:t>节</a:t>
                      </a:r>
                      <a:endParaRPr lang="zh-CN" sz="12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ctr"/>
                      <a:r>
                        <a:rPr lang="zh-CN" sz="1200" b="1" kern="0">
                          <a:effectLst/>
                        </a:rPr>
                        <a:t>第</a:t>
                      </a:r>
                      <a:r>
                        <a:rPr lang="en-US" sz="1200" b="1" kern="0">
                          <a:effectLst/>
                        </a:rPr>
                        <a:t>8</a:t>
                      </a:r>
                      <a:r>
                        <a:rPr lang="zh-CN" sz="1200" b="1" kern="0">
                          <a:effectLst/>
                        </a:rPr>
                        <a:t>教学楼</a:t>
                      </a:r>
                      <a:r>
                        <a:rPr lang="en-US" sz="1200" b="1" kern="0">
                          <a:effectLst/>
                        </a:rPr>
                        <a:t>306</a:t>
                      </a:r>
                      <a:endParaRPr lang="zh-CN" sz="1200" b="1" kern="10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extLst>
                  <a:ext uri="{0D108BD9-81ED-4DB2-BD59-A6C34878D82A}">
                    <a16:rowId xmlns:a16="http://schemas.microsoft.com/office/drawing/2014/main" val="1184978006"/>
                  </a:ext>
                </a:extLst>
              </a:tr>
              <a:tr h="439240">
                <a:tc>
                  <a:txBody>
                    <a:bodyPr/>
                    <a:lstStyle/>
                    <a:p>
                      <a:pPr algn="ctr"/>
                      <a:r>
                        <a:rPr lang="en-US" sz="800" kern="0">
                          <a:effectLst/>
                        </a:rPr>
                        <a:t>6</a:t>
                      </a:r>
                      <a:endParaRPr lang="zh-CN" sz="800" kern="10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l"/>
                      <a:r>
                        <a:rPr lang="zh-CN" sz="1200" b="1" kern="0" dirty="0">
                          <a:effectLst/>
                        </a:rPr>
                        <a:t>回流焊练习：</a:t>
                      </a:r>
                      <a:br>
                        <a:rPr lang="en-US" sz="1200" b="1" kern="0" dirty="0">
                          <a:effectLst/>
                        </a:rPr>
                      </a:br>
                      <a:r>
                        <a:rPr lang="zh-CN" sz="1200" b="1" kern="0" dirty="0">
                          <a:effectLst/>
                        </a:rPr>
                        <a:t>讲解回流焊工艺；统一刷锡膏；发放贴片材料；放回流焊炉。</a:t>
                      </a:r>
                      <a:endParaRPr lang="zh-CN" sz="12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ctr"/>
                      <a:r>
                        <a:rPr lang="en-US" sz="1200" b="1" kern="0">
                          <a:effectLst/>
                        </a:rPr>
                        <a:t>3</a:t>
                      </a:r>
                      <a:endParaRPr lang="zh-CN" sz="1200" b="1" kern="10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ctr"/>
                      <a:r>
                        <a:rPr lang="en-US" sz="1200" b="1" kern="0" dirty="0">
                          <a:effectLst/>
                        </a:rPr>
                        <a:t>11</a:t>
                      </a:r>
                      <a:r>
                        <a:rPr lang="zh-CN" sz="1200" b="1" kern="0" dirty="0">
                          <a:effectLst/>
                        </a:rPr>
                        <a:t>月</a:t>
                      </a:r>
                      <a:r>
                        <a:rPr lang="en-US" sz="1200" b="1" kern="0" dirty="0">
                          <a:effectLst/>
                        </a:rPr>
                        <a:t>18</a:t>
                      </a:r>
                      <a:r>
                        <a:rPr lang="zh-CN" sz="1200" b="1" kern="0" dirty="0">
                          <a:effectLst/>
                        </a:rPr>
                        <a:t>日，</a:t>
                      </a:r>
                      <a:r>
                        <a:rPr lang="en-US" sz="1200" b="1" kern="0" dirty="0">
                          <a:effectLst/>
                        </a:rPr>
                        <a:t>3-5</a:t>
                      </a:r>
                      <a:r>
                        <a:rPr lang="zh-CN" sz="1200" b="1" kern="0" dirty="0">
                          <a:effectLst/>
                        </a:rPr>
                        <a:t>节</a:t>
                      </a:r>
                      <a:endParaRPr lang="zh-CN" sz="12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ctr"/>
                      <a:r>
                        <a:rPr lang="zh-CN" sz="1200" b="1" kern="0" dirty="0">
                          <a:effectLst/>
                        </a:rPr>
                        <a:t>第</a:t>
                      </a:r>
                      <a:r>
                        <a:rPr lang="en-US" sz="1200" b="1" kern="0" dirty="0">
                          <a:effectLst/>
                        </a:rPr>
                        <a:t>8</a:t>
                      </a:r>
                      <a:r>
                        <a:rPr lang="zh-CN" sz="1200" b="1" kern="0" dirty="0">
                          <a:effectLst/>
                        </a:rPr>
                        <a:t>教学楼</a:t>
                      </a:r>
                      <a:r>
                        <a:rPr lang="en-US" sz="1200" b="1" kern="0" dirty="0">
                          <a:effectLst/>
                        </a:rPr>
                        <a:t>306</a:t>
                      </a:r>
                      <a:endParaRPr lang="zh-CN" sz="12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extLst>
                  <a:ext uri="{0D108BD9-81ED-4DB2-BD59-A6C34878D82A}">
                    <a16:rowId xmlns:a16="http://schemas.microsoft.com/office/drawing/2014/main" val="1786845452"/>
                  </a:ext>
                </a:extLst>
              </a:tr>
              <a:tr h="1011021">
                <a:tc>
                  <a:txBody>
                    <a:bodyPr/>
                    <a:lstStyle/>
                    <a:p>
                      <a:pPr algn="ctr"/>
                      <a:r>
                        <a:rPr lang="en-US" sz="800" kern="0">
                          <a:effectLst/>
                        </a:rPr>
                        <a:t>7</a:t>
                      </a:r>
                      <a:endParaRPr lang="zh-CN" sz="800" kern="10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l"/>
                      <a:r>
                        <a:rPr lang="zh-CN" sz="1200" b="1" kern="0" dirty="0">
                          <a:effectLst/>
                        </a:rPr>
                        <a:t>有源音箱电路原理图讲解及作图方法讲解，作图，收图纸。（</a:t>
                      </a:r>
                      <a:r>
                        <a:rPr lang="en-US" sz="1200" b="1" kern="0" dirty="0">
                          <a:effectLst/>
                        </a:rPr>
                        <a:t>45</a:t>
                      </a:r>
                      <a:r>
                        <a:rPr lang="zh-CN" sz="1200" b="1" kern="0" dirty="0">
                          <a:effectLst/>
                        </a:rPr>
                        <a:t>分钟）</a:t>
                      </a:r>
                      <a:br>
                        <a:rPr lang="en-US" sz="1200" b="1" kern="0" dirty="0">
                          <a:effectLst/>
                        </a:rPr>
                      </a:br>
                      <a:r>
                        <a:rPr lang="zh-CN" sz="1200" b="1" kern="0" dirty="0">
                          <a:effectLst/>
                        </a:rPr>
                        <a:t>回流焊测试：（</a:t>
                      </a:r>
                      <a:r>
                        <a:rPr lang="en-US" sz="1200" b="1" kern="0" dirty="0">
                          <a:effectLst/>
                        </a:rPr>
                        <a:t>90</a:t>
                      </a:r>
                      <a:r>
                        <a:rPr lang="zh-CN" sz="1200" b="1" kern="0" dirty="0">
                          <a:effectLst/>
                        </a:rPr>
                        <a:t>分钟）</a:t>
                      </a:r>
                      <a:br>
                        <a:rPr lang="en-US" sz="1200" b="1" kern="0" dirty="0">
                          <a:effectLst/>
                        </a:rPr>
                      </a:br>
                      <a:r>
                        <a:rPr lang="zh-CN" sz="1200" b="1" kern="0" dirty="0">
                          <a:effectLst/>
                        </a:rPr>
                        <a:t>上电测试，看</a:t>
                      </a:r>
                      <a:r>
                        <a:rPr lang="en-US" sz="1200" b="1" kern="0" dirty="0">
                          <a:effectLst/>
                        </a:rPr>
                        <a:t>LED</a:t>
                      </a:r>
                      <a:r>
                        <a:rPr lang="zh-CN" sz="1200" b="1" kern="0" dirty="0">
                          <a:effectLst/>
                        </a:rPr>
                        <a:t>灯闪烁；</a:t>
                      </a:r>
                      <a:br>
                        <a:rPr lang="en-US" sz="1200" b="1" kern="0" dirty="0">
                          <a:effectLst/>
                        </a:rPr>
                      </a:br>
                      <a:r>
                        <a:rPr lang="zh-CN" sz="1200" b="1" kern="0" dirty="0">
                          <a:effectLst/>
                        </a:rPr>
                        <a:t>测试通过，练习拆卸换电阻，看闪烁频率；</a:t>
                      </a:r>
                      <a:br>
                        <a:rPr lang="en-US" sz="1200" b="1" kern="0" dirty="0">
                          <a:effectLst/>
                        </a:rPr>
                      </a:br>
                      <a:r>
                        <a:rPr lang="zh-CN" sz="1200" b="1" kern="0" dirty="0">
                          <a:effectLst/>
                        </a:rPr>
                        <a:t>测试不通过，检查维修电路。（打分</a:t>
                      </a:r>
                      <a:r>
                        <a:rPr lang="en-US" sz="1200" b="1" kern="0" dirty="0">
                          <a:effectLst/>
                        </a:rPr>
                        <a:t>15</a:t>
                      </a:r>
                      <a:r>
                        <a:rPr lang="zh-CN" sz="1200" b="1" kern="0" dirty="0">
                          <a:effectLst/>
                        </a:rPr>
                        <a:t>）</a:t>
                      </a:r>
                      <a:endParaRPr lang="zh-CN" sz="12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tc>
                <a:tc>
                  <a:txBody>
                    <a:bodyPr/>
                    <a:lstStyle/>
                    <a:p>
                      <a:pPr algn="ctr"/>
                      <a:r>
                        <a:rPr lang="en-US" sz="1200" b="1" kern="0">
                          <a:effectLst/>
                        </a:rPr>
                        <a:t>3</a:t>
                      </a:r>
                      <a:endParaRPr lang="zh-CN" sz="1200" b="1" kern="10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ctr"/>
                      <a:r>
                        <a:rPr lang="en-US" sz="1200" b="1" kern="0" dirty="0">
                          <a:effectLst/>
                        </a:rPr>
                        <a:t>11</a:t>
                      </a:r>
                      <a:r>
                        <a:rPr lang="zh-CN" sz="1200" b="1" kern="0" dirty="0">
                          <a:effectLst/>
                        </a:rPr>
                        <a:t>月</a:t>
                      </a:r>
                      <a:r>
                        <a:rPr lang="en-US" sz="1200" b="1" kern="0" dirty="0">
                          <a:effectLst/>
                        </a:rPr>
                        <a:t>25</a:t>
                      </a:r>
                      <a:r>
                        <a:rPr lang="zh-CN" sz="1200" b="1" kern="0" dirty="0">
                          <a:effectLst/>
                        </a:rPr>
                        <a:t>日，</a:t>
                      </a:r>
                      <a:r>
                        <a:rPr lang="en-US" sz="1200" b="1" kern="0" dirty="0">
                          <a:effectLst/>
                        </a:rPr>
                        <a:t>3-5</a:t>
                      </a:r>
                      <a:r>
                        <a:rPr lang="zh-CN" sz="1200" b="1" kern="0" dirty="0">
                          <a:effectLst/>
                        </a:rPr>
                        <a:t>节</a:t>
                      </a:r>
                      <a:endParaRPr lang="zh-CN" sz="12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ctr"/>
                      <a:r>
                        <a:rPr lang="zh-CN" sz="1200" b="1" kern="0" dirty="0">
                          <a:effectLst/>
                        </a:rPr>
                        <a:t>第</a:t>
                      </a:r>
                      <a:r>
                        <a:rPr lang="en-US" sz="1200" b="1" kern="0" dirty="0">
                          <a:effectLst/>
                        </a:rPr>
                        <a:t>8</a:t>
                      </a:r>
                      <a:r>
                        <a:rPr lang="zh-CN" sz="1200" b="1" kern="0" dirty="0">
                          <a:effectLst/>
                        </a:rPr>
                        <a:t>教学楼</a:t>
                      </a:r>
                      <a:r>
                        <a:rPr lang="en-US" sz="1200" b="1" kern="0" dirty="0">
                          <a:effectLst/>
                        </a:rPr>
                        <a:t>306</a:t>
                      </a:r>
                      <a:endParaRPr lang="zh-CN" sz="12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extLst>
                  <a:ext uri="{0D108BD9-81ED-4DB2-BD59-A6C34878D82A}">
                    <a16:rowId xmlns:a16="http://schemas.microsoft.com/office/drawing/2014/main" val="103989436"/>
                  </a:ext>
                </a:extLst>
              </a:tr>
              <a:tr h="276734">
                <a:tc>
                  <a:txBody>
                    <a:bodyPr/>
                    <a:lstStyle/>
                    <a:p>
                      <a:pPr algn="ctr"/>
                      <a:r>
                        <a:rPr lang="en-US" sz="800" kern="0">
                          <a:effectLst/>
                        </a:rPr>
                        <a:t>8</a:t>
                      </a:r>
                      <a:endParaRPr lang="zh-CN" sz="800" kern="10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l"/>
                      <a:r>
                        <a:rPr lang="zh-CN" sz="1200" b="1" kern="0" dirty="0">
                          <a:effectLst/>
                        </a:rPr>
                        <a:t>绘制图纸及验收图纸（打分</a:t>
                      </a:r>
                      <a:r>
                        <a:rPr lang="en-US" sz="1200" b="1" kern="0" dirty="0">
                          <a:effectLst/>
                        </a:rPr>
                        <a:t>15</a:t>
                      </a:r>
                      <a:r>
                        <a:rPr lang="zh-CN" sz="1200" b="1" kern="0" dirty="0">
                          <a:effectLst/>
                        </a:rPr>
                        <a:t>）</a:t>
                      </a:r>
                      <a:endParaRPr lang="zh-CN" sz="12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ctr"/>
                      <a:r>
                        <a:rPr lang="en-US" sz="1200" b="1" kern="0">
                          <a:effectLst/>
                        </a:rPr>
                        <a:t>3</a:t>
                      </a:r>
                      <a:endParaRPr lang="zh-CN" sz="1200" b="1" kern="10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ctr"/>
                      <a:r>
                        <a:rPr lang="en-US" sz="1200" b="1" kern="0" dirty="0">
                          <a:effectLst/>
                        </a:rPr>
                        <a:t>12</a:t>
                      </a:r>
                      <a:r>
                        <a:rPr lang="zh-CN" sz="1200" b="1" kern="0" dirty="0">
                          <a:effectLst/>
                        </a:rPr>
                        <a:t>月</a:t>
                      </a:r>
                      <a:r>
                        <a:rPr lang="en-US" sz="1200" b="1" kern="0" dirty="0">
                          <a:effectLst/>
                        </a:rPr>
                        <a:t>2</a:t>
                      </a:r>
                      <a:r>
                        <a:rPr lang="zh-CN" sz="1200" b="1" kern="0" dirty="0">
                          <a:effectLst/>
                        </a:rPr>
                        <a:t>日，</a:t>
                      </a:r>
                      <a:r>
                        <a:rPr lang="en-US" sz="1200" b="1" kern="0" dirty="0">
                          <a:effectLst/>
                        </a:rPr>
                        <a:t>3-5</a:t>
                      </a:r>
                      <a:r>
                        <a:rPr lang="zh-CN" sz="1200" b="1" kern="0" dirty="0">
                          <a:effectLst/>
                        </a:rPr>
                        <a:t>节</a:t>
                      </a:r>
                      <a:endParaRPr lang="zh-CN" sz="12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ctr"/>
                      <a:r>
                        <a:rPr lang="zh-CN" sz="1200" b="1" kern="0" dirty="0">
                          <a:effectLst/>
                        </a:rPr>
                        <a:t>第</a:t>
                      </a:r>
                      <a:r>
                        <a:rPr lang="en-US" sz="1200" b="1" kern="0" dirty="0">
                          <a:effectLst/>
                        </a:rPr>
                        <a:t>8</a:t>
                      </a:r>
                      <a:r>
                        <a:rPr lang="zh-CN" sz="1200" b="1" kern="0" dirty="0">
                          <a:effectLst/>
                        </a:rPr>
                        <a:t>教学楼</a:t>
                      </a:r>
                      <a:r>
                        <a:rPr lang="en-US" sz="1200" b="1" kern="0" dirty="0">
                          <a:effectLst/>
                        </a:rPr>
                        <a:t>306</a:t>
                      </a:r>
                      <a:endParaRPr lang="zh-CN" sz="12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extLst>
                  <a:ext uri="{0D108BD9-81ED-4DB2-BD59-A6C34878D82A}">
                    <a16:rowId xmlns:a16="http://schemas.microsoft.com/office/drawing/2014/main" val="2373744100"/>
                  </a:ext>
                </a:extLst>
              </a:tr>
              <a:tr h="292826">
                <a:tc>
                  <a:txBody>
                    <a:bodyPr/>
                    <a:lstStyle/>
                    <a:p>
                      <a:pPr algn="ctr"/>
                      <a:r>
                        <a:rPr lang="en-US" sz="800" kern="0">
                          <a:effectLst/>
                        </a:rPr>
                        <a:t>9</a:t>
                      </a:r>
                      <a:endParaRPr lang="zh-CN" sz="800" kern="10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l"/>
                      <a:r>
                        <a:rPr lang="zh-CN" sz="1200" b="1" kern="0">
                          <a:effectLst/>
                        </a:rPr>
                        <a:t>功放板焊接</a:t>
                      </a:r>
                      <a:br>
                        <a:rPr lang="en-US" sz="1200" b="1" kern="0">
                          <a:effectLst/>
                        </a:rPr>
                      </a:br>
                      <a:r>
                        <a:rPr lang="zh-CN" sz="1200" b="1" kern="0">
                          <a:effectLst/>
                        </a:rPr>
                        <a:t>贴片焊接：芯片</a:t>
                      </a:r>
                      <a:r>
                        <a:rPr lang="en-US" sz="1200" b="1" kern="0">
                          <a:effectLst/>
                        </a:rPr>
                        <a:t>/</a:t>
                      </a:r>
                      <a:r>
                        <a:rPr lang="zh-CN" sz="1200" b="1" kern="0">
                          <a:effectLst/>
                        </a:rPr>
                        <a:t>电容</a:t>
                      </a:r>
                      <a:r>
                        <a:rPr lang="en-US" sz="1200" b="1" kern="0">
                          <a:effectLst/>
                        </a:rPr>
                        <a:t>/</a:t>
                      </a:r>
                      <a:r>
                        <a:rPr lang="zh-CN" sz="1200" b="1" kern="0">
                          <a:effectLst/>
                        </a:rPr>
                        <a:t>电阻等焊接和设计</a:t>
                      </a:r>
                      <a:endParaRPr lang="zh-CN" sz="1200" b="1" kern="10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ctr"/>
                      <a:r>
                        <a:rPr lang="en-US" sz="1200" b="1" kern="0" dirty="0">
                          <a:effectLst/>
                        </a:rPr>
                        <a:t>3</a:t>
                      </a:r>
                      <a:endParaRPr lang="zh-CN" sz="12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ctr"/>
                      <a:r>
                        <a:rPr lang="en-US" sz="1200" b="1" kern="0" dirty="0">
                          <a:effectLst/>
                        </a:rPr>
                        <a:t>12</a:t>
                      </a:r>
                      <a:r>
                        <a:rPr lang="zh-CN" sz="1200" b="1" kern="0" dirty="0">
                          <a:effectLst/>
                        </a:rPr>
                        <a:t>月</a:t>
                      </a:r>
                      <a:r>
                        <a:rPr lang="en-US" sz="1200" b="1" kern="0" dirty="0">
                          <a:effectLst/>
                        </a:rPr>
                        <a:t>9</a:t>
                      </a:r>
                      <a:r>
                        <a:rPr lang="zh-CN" sz="1200" b="1" kern="0" dirty="0">
                          <a:effectLst/>
                        </a:rPr>
                        <a:t>日，</a:t>
                      </a:r>
                      <a:r>
                        <a:rPr lang="en-US" sz="1200" b="1" kern="0" dirty="0">
                          <a:effectLst/>
                        </a:rPr>
                        <a:t>3-5</a:t>
                      </a:r>
                      <a:r>
                        <a:rPr lang="zh-CN" sz="1200" b="1" kern="0" dirty="0">
                          <a:effectLst/>
                        </a:rPr>
                        <a:t>节</a:t>
                      </a:r>
                      <a:endParaRPr lang="zh-CN" sz="12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ctr"/>
                      <a:r>
                        <a:rPr lang="zh-CN" sz="1200" b="1" kern="0" dirty="0">
                          <a:effectLst/>
                        </a:rPr>
                        <a:t>第</a:t>
                      </a:r>
                      <a:r>
                        <a:rPr lang="en-US" sz="1200" b="1" kern="0" dirty="0">
                          <a:effectLst/>
                        </a:rPr>
                        <a:t>8</a:t>
                      </a:r>
                      <a:r>
                        <a:rPr lang="zh-CN" sz="1200" b="1" kern="0" dirty="0">
                          <a:effectLst/>
                        </a:rPr>
                        <a:t>教学楼</a:t>
                      </a:r>
                      <a:r>
                        <a:rPr lang="en-US" sz="1200" b="1" kern="0" dirty="0">
                          <a:effectLst/>
                        </a:rPr>
                        <a:t>306</a:t>
                      </a:r>
                      <a:endParaRPr lang="zh-CN" sz="12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extLst>
                  <a:ext uri="{0D108BD9-81ED-4DB2-BD59-A6C34878D82A}">
                    <a16:rowId xmlns:a16="http://schemas.microsoft.com/office/drawing/2014/main" val="3766844585"/>
                  </a:ext>
                </a:extLst>
              </a:tr>
              <a:tr h="564143">
                <a:tc>
                  <a:txBody>
                    <a:bodyPr/>
                    <a:lstStyle/>
                    <a:p>
                      <a:pPr algn="ctr"/>
                      <a:r>
                        <a:rPr lang="en-US" sz="800" kern="0">
                          <a:effectLst/>
                        </a:rPr>
                        <a:t>10</a:t>
                      </a:r>
                      <a:endParaRPr lang="zh-CN" sz="800" kern="10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l"/>
                      <a:r>
                        <a:rPr lang="zh-CN" sz="1200" b="1" kern="0">
                          <a:effectLst/>
                        </a:rPr>
                        <a:t>测试及验收</a:t>
                      </a:r>
                      <a:br>
                        <a:rPr lang="en-US" sz="1200" b="1" kern="0">
                          <a:effectLst/>
                        </a:rPr>
                      </a:br>
                      <a:r>
                        <a:rPr lang="zh-CN" sz="1200" b="1" kern="0">
                          <a:effectLst/>
                        </a:rPr>
                        <a:t>插件元件焊接</a:t>
                      </a:r>
                      <a:br>
                        <a:rPr lang="en-US" sz="1200" b="1" kern="0">
                          <a:effectLst/>
                        </a:rPr>
                      </a:br>
                      <a:r>
                        <a:rPr lang="zh-CN" sz="1200" b="1" kern="0">
                          <a:effectLst/>
                        </a:rPr>
                        <a:t>功放测试和验收（打分</a:t>
                      </a:r>
                      <a:r>
                        <a:rPr lang="en-US" sz="1200" b="1" kern="0">
                          <a:effectLst/>
                        </a:rPr>
                        <a:t>20</a:t>
                      </a:r>
                      <a:r>
                        <a:rPr lang="zh-CN" sz="1200" b="1" kern="0">
                          <a:effectLst/>
                        </a:rPr>
                        <a:t>）</a:t>
                      </a:r>
                      <a:endParaRPr lang="zh-CN" sz="1200" b="1" kern="10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ctr"/>
                      <a:r>
                        <a:rPr lang="en-US" sz="1200" b="1" kern="0">
                          <a:effectLst/>
                        </a:rPr>
                        <a:t>3</a:t>
                      </a:r>
                      <a:endParaRPr lang="zh-CN" sz="1200" b="1" kern="10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ctr"/>
                      <a:r>
                        <a:rPr lang="en-US" sz="1200" b="1" kern="0" dirty="0">
                          <a:effectLst/>
                        </a:rPr>
                        <a:t>12</a:t>
                      </a:r>
                      <a:r>
                        <a:rPr lang="zh-CN" sz="1200" b="1" kern="0" dirty="0">
                          <a:effectLst/>
                        </a:rPr>
                        <a:t>月</a:t>
                      </a:r>
                      <a:r>
                        <a:rPr lang="en-US" sz="1200" b="1" kern="0" dirty="0">
                          <a:effectLst/>
                        </a:rPr>
                        <a:t>16</a:t>
                      </a:r>
                      <a:r>
                        <a:rPr lang="zh-CN" sz="1200" b="1" kern="0" dirty="0">
                          <a:effectLst/>
                        </a:rPr>
                        <a:t>日，</a:t>
                      </a:r>
                      <a:r>
                        <a:rPr lang="en-US" sz="1200" b="1" kern="0" dirty="0">
                          <a:effectLst/>
                        </a:rPr>
                        <a:t>3-5</a:t>
                      </a:r>
                      <a:r>
                        <a:rPr lang="zh-CN" sz="1200" b="1" kern="0" dirty="0">
                          <a:effectLst/>
                        </a:rPr>
                        <a:t>节</a:t>
                      </a:r>
                      <a:endParaRPr lang="zh-CN" sz="12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ctr"/>
                      <a:r>
                        <a:rPr lang="zh-CN" sz="1200" b="1" kern="0" dirty="0">
                          <a:effectLst/>
                        </a:rPr>
                        <a:t>第</a:t>
                      </a:r>
                      <a:r>
                        <a:rPr lang="en-US" sz="1200" b="1" kern="0" dirty="0">
                          <a:effectLst/>
                        </a:rPr>
                        <a:t>8</a:t>
                      </a:r>
                      <a:r>
                        <a:rPr lang="zh-CN" sz="1200" b="1" kern="0" dirty="0">
                          <a:effectLst/>
                        </a:rPr>
                        <a:t>教学楼</a:t>
                      </a:r>
                      <a:r>
                        <a:rPr lang="en-US" sz="1200" b="1" kern="0" dirty="0">
                          <a:effectLst/>
                        </a:rPr>
                        <a:t>306</a:t>
                      </a:r>
                      <a:endParaRPr lang="zh-CN" sz="12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extLst>
                  <a:ext uri="{0D108BD9-81ED-4DB2-BD59-A6C34878D82A}">
                    <a16:rowId xmlns:a16="http://schemas.microsoft.com/office/drawing/2014/main" val="2458142694"/>
                  </a:ext>
                </a:extLst>
              </a:tr>
              <a:tr h="405675">
                <a:tc>
                  <a:txBody>
                    <a:bodyPr/>
                    <a:lstStyle/>
                    <a:p>
                      <a:pPr algn="ctr"/>
                      <a:r>
                        <a:rPr lang="en-US" sz="800" kern="0">
                          <a:effectLst/>
                        </a:rPr>
                        <a:t>11</a:t>
                      </a:r>
                      <a:endParaRPr lang="zh-CN" sz="800" kern="10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ctr"/>
                      <a:r>
                        <a:rPr lang="zh-CN" sz="1200" b="1" kern="0">
                          <a:effectLst/>
                        </a:rPr>
                        <a:t>考核验收交报告</a:t>
                      </a:r>
                      <a:endParaRPr lang="zh-CN" sz="1200" b="1" kern="10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ctr"/>
                      <a:r>
                        <a:rPr lang="en-US" sz="1200" b="1" kern="0">
                          <a:effectLst/>
                        </a:rPr>
                        <a:t>3</a:t>
                      </a:r>
                      <a:endParaRPr lang="zh-CN" sz="1200" b="1" kern="10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ctr"/>
                      <a:r>
                        <a:rPr lang="en-US" sz="1200" b="1" kern="0" dirty="0">
                          <a:effectLst/>
                        </a:rPr>
                        <a:t>12</a:t>
                      </a:r>
                      <a:r>
                        <a:rPr lang="zh-CN" sz="1200" b="1" kern="0" dirty="0">
                          <a:effectLst/>
                        </a:rPr>
                        <a:t>月</a:t>
                      </a:r>
                      <a:r>
                        <a:rPr lang="en-US" sz="1200" b="1" kern="0" dirty="0">
                          <a:effectLst/>
                        </a:rPr>
                        <a:t>23</a:t>
                      </a:r>
                      <a:r>
                        <a:rPr lang="zh-CN" sz="1200" b="1" kern="0" dirty="0">
                          <a:effectLst/>
                        </a:rPr>
                        <a:t>日，</a:t>
                      </a:r>
                      <a:r>
                        <a:rPr lang="en-US" sz="1200" b="1" kern="0" dirty="0">
                          <a:effectLst/>
                        </a:rPr>
                        <a:t>3-5</a:t>
                      </a:r>
                      <a:r>
                        <a:rPr lang="zh-CN" sz="1200" b="1" kern="0" dirty="0">
                          <a:effectLst/>
                        </a:rPr>
                        <a:t>节</a:t>
                      </a:r>
                      <a:endParaRPr lang="zh-CN" sz="12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ctr"/>
                      <a:r>
                        <a:rPr lang="zh-CN" sz="1200" b="1" kern="0" dirty="0">
                          <a:effectLst/>
                        </a:rPr>
                        <a:t>第</a:t>
                      </a:r>
                      <a:r>
                        <a:rPr lang="en-US" sz="1200" b="1" kern="0" dirty="0">
                          <a:effectLst/>
                        </a:rPr>
                        <a:t>8</a:t>
                      </a:r>
                      <a:r>
                        <a:rPr lang="zh-CN" sz="1200" b="1" kern="0" dirty="0">
                          <a:effectLst/>
                        </a:rPr>
                        <a:t>教学楼</a:t>
                      </a:r>
                      <a:r>
                        <a:rPr lang="en-US" sz="1200" b="1" kern="0" dirty="0">
                          <a:effectLst/>
                        </a:rPr>
                        <a:t>306</a:t>
                      </a:r>
                      <a:endParaRPr lang="zh-CN" sz="12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extLst>
                  <a:ext uri="{0D108BD9-81ED-4DB2-BD59-A6C34878D82A}">
                    <a16:rowId xmlns:a16="http://schemas.microsoft.com/office/drawing/2014/main" val="2834721286"/>
                  </a:ext>
                </a:extLst>
              </a:tr>
            </a:tbl>
          </a:graphicData>
        </a:graphic>
      </p:graphicFrame>
      <p:sp>
        <p:nvSpPr>
          <p:cNvPr id="4" name="灯片编号占位符 3">
            <a:extLst>
              <a:ext uri="{FF2B5EF4-FFF2-40B4-BE49-F238E27FC236}">
                <a16:creationId xmlns:a16="http://schemas.microsoft.com/office/drawing/2014/main" id="{8DD8C173-CC32-63D8-0C68-3515EB28B935}"/>
              </a:ext>
            </a:extLst>
          </p:cNvPr>
          <p:cNvSpPr>
            <a:spLocks noGrp="1"/>
          </p:cNvSpPr>
          <p:nvPr>
            <p:ph type="sldNum" sz="quarter" idx="12"/>
          </p:nvPr>
        </p:nvSpPr>
        <p:spPr>
          <a:xfrm>
            <a:off x="6893728" y="131730"/>
            <a:ext cx="1134656" cy="503578"/>
          </a:xfrm>
        </p:spPr>
        <p:txBody>
          <a:bodyPr/>
          <a:lstStyle/>
          <a:p>
            <a:pPr>
              <a:defRPr/>
            </a:pPr>
            <a:fld id="{5FAFB815-62BA-464E-901C-79D108092E38}" type="slidenum">
              <a:rPr lang="zh-CN" altLang="en-US" smtClean="0"/>
              <a:pPr>
                <a:defRPr/>
              </a:pPr>
              <a:t>5</a:t>
            </a:fld>
            <a:endParaRPr lang="en-US" altLang="zh-CN" dirty="0"/>
          </a:p>
        </p:txBody>
      </p:sp>
      <p:graphicFrame>
        <p:nvGraphicFramePr>
          <p:cNvPr id="7" name="表格 6">
            <a:extLst>
              <a:ext uri="{FF2B5EF4-FFF2-40B4-BE49-F238E27FC236}">
                <a16:creationId xmlns:a16="http://schemas.microsoft.com/office/drawing/2014/main" id="{FD7F44D8-AA5E-29C2-977D-395897368D93}"/>
              </a:ext>
            </a:extLst>
          </p:cNvPr>
          <p:cNvGraphicFramePr>
            <a:graphicFrameLocks noGrp="1"/>
          </p:cNvGraphicFramePr>
          <p:nvPr>
            <p:extLst>
              <p:ext uri="{D42A27DB-BD31-4B8C-83A1-F6EECF244321}">
                <p14:modId xmlns:p14="http://schemas.microsoft.com/office/powerpoint/2010/main" val="2198712060"/>
              </p:ext>
            </p:extLst>
          </p:nvPr>
        </p:nvGraphicFramePr>
        <p:xfrm>
          <a:off x="6444208" y="1067358"/>
          <a:ext cx="2592288" cy="4576276"/>
        </p:xfrm>
        <a:graphic>
          <a:graphicData uri="http://schemas.openxmlformats.org/drawingml/2006/table">
            <a:tbl>
              <a:tblPr firstRow="1" firstCol="1" bandRow="1">
                <a:tableStyleId>{69012ECD-51FC-41F1-AA8D-1B2483CD663E}</a:tableStyleId>
              </a:tblPr>
              <a:tblGrid>
                <a:gridCol w="2592288">
                  <a:extLst>
                    <a:ext uri="{9D8B030D-6E8A-4147-A177-3AD203B41FA5}">
                      <a16:colId xmlns:a16="http://schemas.microsoft.com/office/drawing/2014/main" val="1554056100"/>
                    </a:ext>
                  </a:extLst>
                </a:gridCol>
              </a:tblGrid>
              <a:tr h="1012466">
                <a:tc>
                  <a:txBody>
                    <a:bodyPr/>
                    <a:lstStyle/>
                    <a:p>
                      <a:pPr algn="ctr"/>
                      <a:r>
                        <a:rPr lang="zh-CN" sz="1600" kern="0" dirty="0">
                          <a:effectLst/>
                        </a:rPr>
                        <a:t>考 核 方 式</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4022986469"/>
                  </a:ext>
                </a:extLst>
              </a:tr>
              <a:tr h="932802">
                <a:tc>
                  <a:txBody>
                    <a:bodyPr/>
                    <a:lstStyle/>
                    <a:p>
                      <a:pPr algn="l"/>
                      <a:r>
                        <a:rPr lang="zh-CN" sz="1600" kern="0" dirty="0">
                          <a:effectLst/>
                        </a:rPr>
                        <a:t>课程为非考试课程，考核方式为电路工艺设计、焊接和验收</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64663123"/>
                  </a:ext>
                </a:extLst>
              </a:tr>
              <a:tr h="1517194">
                <a:tc>
                  <a:txBody>
                    <a:bodyPr/>
                    <a:lstStyle/>
                    <a:p>
                      <a:pPr algn="l"/>
                      <a:r>
                        <a:rPr lang="en-US" sz="1600" kern="0" dirty="0">
                          <a:effectLst/>
                        </a:rPr>
                        <a:t> </a:t>
                      </a:r>
                      <a:r>
                        <a:rPr lang="zh-CN" sz="1600" kern="0" dirty="0">
                          <a:effectLst/>
                        </a:rPr>
                        <a:t>平时成绩</a:t>
                      </a:r>
                      <a:r>
                        <a:rPr lang="en-US" sz="1600" kern="0" dirty="0">
                          <a:effectLst/>
                        </a:rPr>
                        <a:t>(60%)</a:t>
                      </a:r>
                      <a:r>
                        <a:rPr lang="zh-CN" altLang="en-US" sz="1600" kern="0" dirty="0">
                          <a:effectLst/>
                        </a:rPr>
                        <a:t>：</a:t>
                      </a:r>
                      <a:endParaRPr lang="en-US" sz="1600" kern="0" dirty="0">
                        <a:effectLst/>
                      </a:endParaRPr>
                    </a:p>
                    <a:p>
                      <a:pPr algn="l"/>
                      <a:r>
                        <a:rPr lang="zh-CN" sz="1600" kern="0" dirty="0">
                          <a:solidFill>
                            <a:srgbClr val="FF0000"/>
                          </a:solidFill>
                          <a:effectLst/>
                        </a:rPr>
                        <a:t>插件焊接</a:t>
                      </a:r>
                      <a:r>
                        <a:rPr lang="en-US" sz="1600" kern="0" dirty="0">
                          <a:solidFill>
                            <a:srgbClr val="FF0000"/>
                          </a:solidFill>
                          <a:effectLst/>
                        </a:rPr>
                        <a:t>(15%) +</a:t>
                      </a:r>
                      <a:r>
                        <a:rPr lang="zh-CN" sz="1600" kern="0" dirty="0">
                          <a:solidFill>
                            <a:srgbClr val="FF0000"/>
                          </a:solidFill>
                          <a:effectLst/>
                        </a:rPr>
                        <a:t>贴片焊接</a:t>
                      </a:r>
                      <a:r>
                        <a:rPr lang="en-US" sz="1600" kern="0" dirty="0">
                          <a:solidFill>
                            <a:srgbClr val="FF0000"/>
                          </a:solidFill>
                          <a:effectLst/>
                        </a:rPr>
                        <a:t>1(15%)+</a:t>
                      </a:r>
                      <a:r>
                        <a:rPr lang="zh-CN" sz="1600" kern="0" dirty="0">
                          <a:solidFill>
                            <a:srgbClr val="FF0000"/>
                          </a:solidFill>
                          <a:effectLst/>
                        </a:rPr>
                        <a:t>回流焊</a:t>
                      </a:r>
                      <a:r>
                        <a:rPr lang="en-US" sz="1600" kern="0" dirty="0">
                          <a:solidFill>
                            <a:srgbClr val="FF0000"/>
                          </a:solidFill>
                          <a:effectLst/>
                        </a:rPr>
                        <a:t>(15%)+</a:t>
                      </a:r>
                      <a:r>
                        <a:rPr lang="zh-CN" sz="1600" kern="0" dirty="0">
                          <a:solidFill>
                            <a:srgbClr val="FF0000"/>
                          </a:solidFill>
                          <a:effectLst/>
                        </a:rPr>
                        <a:t>电路板图纸</a:t>
                      </a:r>
                      <a:r>
                        <a:rPr lang="en-US" sz="1600" kern="0" dirty="0">
                          <a:solidFill>
                            <a:srgbClr val="FF0000"/>
                          </a:solidFill>
                          <a:effectLst/>
                        </a:rPr>
                        <a:t>(15%)</a:t>
                      </a:r>
                      <a:endParaRPr lang="zh-CN" sz="16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040304310"/>
                  </a:ext>
                </a:extLst>
              </a:tr>
              <a:tr h="1113814">
                <a:tc>
                  <a:txBody>
                    <a:bodyPr/>
                    <a:lstStyle/>
                    <a:p>
                      <a:pPr algn="l"/>
                      <a:r>
                        <a:rPr lang="en-US" sz="1600" kern="0" dirty="0">
                          <a:effectLst/>
                        </a:rPr>
                        <a:t> </a:t>
                      </a:r>
                      <a:r>
                        <a:rPr lang="zh-CN" sz="1600" kern="0" dirty="0">
                          <a:effectLst/>
                        </a:rPr>
                        <a:t>实验成绩</a:t>
                      </a:r>
                      <a:r>
                        <a:rPr lang="en-US" sz="1600" kern="0" dirty="0">
                          <a:effectLst/>
                        </a:rPr>
                        <a:t>(40%)</a:t>
                      </a:r>
                      <a:r>
                        <a:rPr lang="zh-CN" altLang="en-US" sz="1600" kern="0" dirty="0">
                          <a:effectLst/>
                        </a:rPr>
                        <a:t>：</a:t>
                      </a:r>
                      <a:endParaRPr lang="en-US" altLang="zh-CN" sz="1600" kern="0" dirty="0">
                        <a:effectLst/>
                      </a:endParaRPr>
                    </a:p>
                    <a:p>
                      <a:pPr algn="l"/>
                      <a:r>
                        <a:rPr lang="zh-CN" sz="1600" kern="0" dirty="0">
                          <a:solidFill>
                            <a:srgbClr val="FF0000"/>
                          </a:solidFill>
                          <a:effectLst/>
                        </a:rPr>
                        <a:t>验收</a:t>
                      </a:r>
                      <a:r>
                        <a:rPr lang="en-US" sz="1600" kern="0" dirty="0">
                          <a:solidFill>
                            <a:srgbClr val="FF0000"/>
                          </a:solidFill>
                          <a:effectLst/>
                        </a:rPr>
                        <a:t>1(30%)+</a:t>
                      </a:r>
                      <a:r>
                        <a:rPr lang="zh-CN" sz="1600" kern="0" dirty="0">
                          <a:solidFill>
                            <a:srgbClr val="FF0000"/>
                          </a:solidFill>
                          <a:effectLst/>
                        </a:rPr>
                        <a:t>报告</a:t>
                      </a:r>
                      <a:r>
                        <a:rPr lang="en-US" sz="1600" kern="0" dirty="0">
                          <a:solidFill>
                            <a:srgbClr val="FF0000"/>
                          </a:solidFill>
                          <a:effectLst/>
                        </a:rPr>
                        <a:t>(10%)</a:t>
                      </a:r>
                      <a:endParaRPr lang="zh-CN" sz="16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652222961"/>
                  </a:ext>
                </a:extLst>
              </a:tr>
            </a:tbl>
          </a:graphicData>
        </a:graphic>
      </p:graphicFrame>
      <p:sp>
        <p:nvSpPr>
          <p:cNvPr id="9" name="文本框 8">
            <a:extLst>
              <a:ext uri="{FF2B5EF4-FFF2-40B4-BE49-F238E27FC236}">
                <a16:creationId xmlns:a16="http://schemas.microsoft.com/office/drawing/2014/main" id="{FFC32EAC-DFB8-81AD-D174-65302115600D}"/>
              </a:ext>
            </a:extLst>
          </p:cNvPr>
          <p:cNvSpPr txBox="1"/>
          <p:nvPr/>
        </p:nvSpPr>
        <p:spPr>
          <a:xfrm>
            <a:off x="4594870" y="698025"/>
            <a:ext cx="1918984" cy="369332"/>
          </a:xfrm>
          <a:prstGeom prst="rect">
            <a:avLst/>
          </a:prstGeom>
          <a:noFill/>
        </p:spPr>
        <p:txBody>
          <a:bodyPr wrap="square">
            <a:spAutoFit/>
          </a:bodyPr>
          <a:lstStyle/>
          <a:p>
            <a:r>
              <a:rPr lang="zh-CN" altLang="en-US" dirty="0"/>
              <a:t>周一上课安排</a:t>
            </a:r>
          </a:p>
        </p:txBody>
      </p:sp>
    </p:spTree>
    <p:extLst>
      <p:ext uri="{BB962C8B-B14F-4D97-AF65-F5344CB8AC3E}">
        <p14:creationId xmlns:p14="http://schemas.microsoft.com/office/powerpoint/2010/main" val="22258935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F33F6B2-8AB2-2A21-645A-41DED78D16E4}"/>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158F8FA5-E7B1-3285-7199-4EEE10895EDA}"/>
              </a:ext>
            </a:extLst>
          </p:cNvPr>
          <p:cNvSpPr>
            <a:spLocks noGrp="1"/>
          </p:cNvSpPr>
          <p:nvPr>
            <p:ph idx="1"/>
          </p:nvPr>
        </p:nvSpPr>
        <p:spPr/>
        <p:txBody>
          <a:bodyPr/>
          <a:lstStyle/>
          <a:p>
            <a:endParaRPr lang="zh-CN" altLang="en-US"/>
          </a:p>
        </p:txBody>
      </p:sp>
      <p:sp>
        <p:nvSpPr>
          <p:cNvPr id="4" name="灯片编号占位符 3">
            <a:extLst>
              <a:ext uri="{FF2B5EF4-FFF2-40B4-BE49-F238E27FC236}">
                <a16:creationId xmlns:a16="http://schemas.microsoft.com/office/drawing/2014/main" id="{6CAB0594-9986-9552-04B4-B0030277395B}"/>
              </a:ext>
            </a:extLst>
          </p:cNvPr>
          <p:cNvSpPr>
            <a:spLocks noGrp="1"/>
          </p:cNvSpPr>
          <p:nvPr>
            <p:ph type="sldNum" sz="quarter" idx="12"/>
          </p:nvPr>
        </p:nvSpPr>
        <p:spPr/>
        <p:txBody>
          <a:bodyPr/>
          <a:lstStyle/>
          <a:p>
            <a:pPr>
              <a:defRPr/>
            </a:pPr>
            <a:fld id="{5FAFB815-62BA-464E-901C-79D108092E38}" type="slidenum">
              <a:rPr lang="zh-CN" altLang="en-US" smtClean="0"/>
              <a:pPr>
                <a:defRPr/>
              </a:pPr>
              <a:t>6</a:t>
            </a:fld>
            <a:endParaRPr lang="en-US" altLang="zh-CN"/>
          </a:p>
        </p:txBody>
      </p:sp>
      <p:sp>
        <p:nvSpPr>
          <p:cNvPr id="5" name="标题 1">
            <a:extLst>
              <a:ext uri="{FF2B5EF4-FFF2-40B4-BE49-F238E27FC236}">
                <a16:creationId xmlns:a16="http://schemas.microsoft.com/office/drawing/2014/main" id="{27BB7760-A3BF-4AEA-48D0-3039CA456A45}"/>
              </a:ext>
            </a:extLst>
          </p:cNvPr>
          <p:cNvSpPr txBox="1">
            <a:spLocks/>
          </p:cNvSpPr>
          <p:nvPr/>
        </p:nvSpPr>
        <p:spPr>
          <a:xfrm>
            <a:off x="107503" y="232717"/>
            <a:ext cx="6120680" cy="864097"/>
          </a:xfrm>
          <a:prstGeom prst="rect">
            <a:avLst/>
          </a:prstGeom>
          <a:solidFill>
            <a:schemeClr val="bg1">
              <a:lumMod val="95000"/>
            </a:schemeClr>
          </a:solidFill>
        </p:spPr>
        <p:txBody>
          <a:bodyPr vert="horz" lIns="91440" tIns="45720" rIns="91440" bIns="0" rtlCol="0" anchor="b">
            <a:normAutofit fontScale="97500" lnSpcReduction="10000"/>
          </a:bodyPr>
          <a:lstStyle>
            <a:lvl1pPr algn="l" defTabSz="685800" rtl="0" eaLnBrk="1" latinLnBrk="0" hangingPunct="1">
              <a:lnSpc>
                <a:spcPct val="90000"/>
              </a:lnSpc>
              <a:spcBef>
                <a:spcPct val="0"/>
              </a:spcBef>
              <a:buNone/>
              <a:defRPr sz="3200" b="0" i="0" kern="1200" cap="none">
                <a:solidFill>
                  <a:schemeClr val="tx1"/>
                </a:solidFill>
                <a:effectLst/>
                <a:latin typeface="+mj-lt"/>
                <a:ea typeface="+mj-ea"/>
                <a:cs typeface="+mj-cs"/>
              </a:defRPr>
            </a:lvl1pPr>
          </a:lstStyle>
          <a:p>
            <a:r>
              <a:rPr lang="zh-CN" altLang="en-US" sz="6600" b="1">
                <a:latin typeface="宋体" pitchFamily="2" charset="-122"/>
              </a:rPr>
              <a:t>授课计划</a:t>
            </a:r>
            <a:endParaRPr lang="zh-CN" altLang="en-US" sz="6600" b="1" dirty="0">
              <a:latin typeface="宋体" pitchFamily="2" charset="-122"/>
            </a:endParaRPr>
          </a:p>
        </p:txBody>
      </p:sp>
      <p:graphicFrame>
        <p:nvGraphicFramePr>
          <p:cNvPr id="6" name="内容占位符 5">
            <a:extLst>
              <a:ext uri="{FF2B5EF4-FFF2-40B4-BE49-F238E27FC236}">
                <a16:creationId xmlns:a16="http://schemas.microsoft.com/office/drawing/2014/main" id="{4AB0B696-CF0D-B337-44A2-E5E5CDCF4091}"/>
              </a:ext>
            </a:extLst>
          </p:cNvPr>
          <p:cNvGraphicFramePr>
            <a:graphicFrameLocks/>
          </p:cNvGraphicFramePr>
          <p:nvPr>
            <p:extLst>
              <p:ext uri="{D42A27DB-BD31-4B8C-83A1-F6EECF244321}">
                <p14:modId xmlns:p14="http://schemas.microsoft.com/office/powerpoint/2010/main" val="2097909957"/>
              </p:ext>
            </p:extLst>
          </p:nvPr>
        </p:nvGraphicFramePr>
        <p:xfrm>
          <a:off x="179512" y="1124744"/>
          <a:ext cx="6120680" cy="5595648"/>
        </p:xfrm>
        <a:graphic>
          <a:graphicData uri="http://schemas.openxmlformats.org/drawingml/2006/table">
            <a:tbl>
              <a:tblPr firstRow="1" firstCol="1" bandRow="1">
                <a:tableStyleId>{5C22544A-7EE6-4342-B048-85BDC9FD1C3A}</a:tableStyleId>
              </a:tblPr>
              <a:tblGrid>
                <a:gridCol w="472517">
                  <a:extLst>
                    <a:ext uri="{9D8B030D-6E8A-4147-A177-3AD203B41FA5}">
                      <a16:colId xmlns:a16="http://schemas.microsoft.com/office/drawing/2014/main" val="2264875931"/>
                    </a:ext>
                  </a:extLst>
                </a:gridCol>
                <a:gridCol w="3007702">
                  <a:extLst>
                    <a:ext uri="{9D8B030D-6E8A-4147-A177-3AD203B41FA5}">
                      <a16:colId xmlns:a16="http://schemas.microsoft.com/office/drawing/2014/main" val="2402581592"/>
                    </a:ext>
                  </a:extLst>
                </a:gridCol>
                <a:gridCol w="413757">
                  <a:extLst>
                    <a:ext uri="{9D8B030D-6E8A-4147-A177-3AD203B41FA5}">
                      <a16:colId xmlns:a16="http://schemas.microsoft.com/office/drawing/2014/main" val="293910677"/>
                    </a:ext>
                  </a:extLst>
                </a:gridCol>
                <a:gridCol w="1506625">
                  <a:extLst>
                    <a:ext uri="{9D8B030D-6E8A-4147-A177-3AD203B41FA5}">
                      <a16:colId xmlns:a16="http://schemas.microsoft.com/office/drawing/2014/main" val="3550706121"/>
                    </a:ext>
                  </a:extLst>
                </a:gridCol>
                <a:gridCol w="720079">
                  <a:extLst>
                    <a:ext uri="{9D8B030D-6E8A-4147-A177-3AD203B41FA5}">
                      <a16:colId xmlns:a16="http://schemas.microsoft.com/office/drawing/2014/main" val="1517110943"/>
                    </a:ext>
                  </a:extLst>
                </a:gridCol>
              </a:tblGrid>
              <a:tr h="167329">
                <a:tc gridSpan="5">
                  <a:txBody>
                    <a:bodyPr/>
                    <a:lstStyle/>
                    <a:p>
                      <a:pPr algn="ctr"/>
                      <a:r>
                        <a:rPr lang="zh-CN" sz="800" kern="0" dirty="0">
                          <a:effectLst/>
                        </a:rPr>
                        <a:t>教 学 安 排</a:t>
                      </a:r>
                      <a:endParaRPr lang="zh-CN" sz="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684608759"/>
                  </a:ext>
                </a:extLst>
              </a:tr>
              <a:tr h="212346">
                <a:tc>
                  <a:txBody>
                    <a:bodyPr/>
                    <a:lstStyle/>
                    <a:p>
                      <a:pPr algn="ctr"/>
                      <a:r>
                        <a:rPr lang="zh-CN" sz="800" kern="0">
                          <a:effectLst/>
                        </a:rPr>
                        <a:t>序号</a:t>
                      </a:r>
                      <a:endParaRPr lang="zh-CN" sz="800" kern="10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ctr"/>
                      <a:r>
                        <a:rPr lang="zh-CN" sz="800" kern="0">
                          <a:effectLst/>
                        </a:rPr>
                        <a:t>教</a:t>
                      </a:r>
                      <a:r>
                        <a:rPr lang="en-US" sz="800" kern="0">
                          <a:effectLst/>
                        </a:rPr>
                        <a:t>  </a:t>
                      </a:r>
                      <a:r>
                        <a:rPr lang="zh-CN" sz="800" kern="0">
                          <a:effectLst/>
                        </a:rPr>
                        <a:t>学</a:t>
                      </a:r>
                      <a:r>
                        <a:rPr lang="en-US" sz="800" kern="0">
                          <a:effectLst/>
                        </a:rPr>
                        <a:t>  </a:t>
                      </a:r>
                      <a:r>
                        <a:rPr lang="zh-CN" sz="800" kern="0">
                          <a:effectLst/>
                        </a:rPr>
                        <a:t>内</a:t>
                      </a:r>
                      <a:r>
                        <a:rPr lang="en-US" sz="800" kern="0">
                          <a:effectLst/>
                        </a:rPr>
                        <a:t>  </a:t>
                      </a:r>
                      <a:r>
                        <a:rPr lang="zh-CN" sz="800" kern="0">
                          <a:effectLst/>
                        </a:rPr>
                        <a:t>容</a:t>
                      </a:r>
                      <a:endParaRPr lang="zh-CN" sz="800" kern="10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ctr"/>
                      <a:r>
                        <a:rPr lang="zh-CN" sz="800" kern="0">
                          <a:effectLst/>
                        </a:rPr>
                        <a:t>学时</a:t>
                      </a:r>
                      <a:endParaRPr lang="zh-CN" sz="800" kern="10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ctr"/>
                      <a:r>
                        <a:rPr lang="zh-CN" sz="800" kern="0">
                          <a:effectLst/>
                        </a:rPr>
                        <a:t>时间</a:t>
                      </a:r>
                      <a:endParaRPr lang="zh-CN" sz="800" kern="10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ctr"/>
                      <a:r>
                        <a:rPr lang="zh-CN" sz="800" kern="0">
                          <a:effectLst/>
                        </a:rPr>
                        <a:t>地点</a:t>
                      </a:r>
                      <a:endParaRPr lang="zh-CN" sz="800" kern="10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extLst>
                  <a:ext uri="{0D108BD9-81ED-4DB2-BD59-A6C34878D82A}">
                    <a16:rowId xmlns:a16="http://schemas.microsoft.com/office/drawing/2014/main" val="1698239561"/>
                  </a:ext>
                </a:extLst>
              </a:tr>
              <a:tr h="276734">
                <a:tc>
                  <a:txBody>
                    <a:bodyPr/>
                    <a:lstStyle/>
                    <a:p>
                      <a:pPr algn="ctr"/>
                      <a:r>
                        <a:rPr lang="en-US" sz="800" kern="0">
                          <a:effectLst/>
                        </a:rPr>
                        <a:t>1</a:t>
                      </a:r>
                      <a:endParaRPr lang="zh-CN" sz="800" kern="10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l"/>
                      <a:r>
                        <a:rPr lang="zh-CN" sz="1200" b="1" kern="0" dirty="0">
                          <a:effectLst/>
                        </a:rPr>
                        <a:t>常用电子元器件的认知，讲解元器件知识</a:t>
                      </a:r>
                      <a:endParaRPr lang="zh-CN" sz="12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ctr"/>
                      <a:r>
                        <a:rPr lang="en-US" sz="1200" b="1" kern="0">
                          <a:effectLst/>
                        </a:rPr>
                        <a:t>2</a:t>
                      </a:r>
                      <a:endParaRPr lang="zh-CN" sz="1200" b="1" kern="10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ctr"/>
                      <a:r>
                        <a:rPr lang="en-US" sz="1200" b="1" kern="0" dirty="0">
                          <a:effectLst/>
                        </a:rPr>
                        <a:t>10</a:t>
                      </a:r>
                      <a:r>
                        <a:rPr lang="zh-CN" sz="1200" b="1" kern="0" dirty="0">
                          <a:effectLst/>
                        </a:rPr>
                        <a:t>月</a:t>
                      </a:r>
                      <a:r>
                        <a:rPr lang="en-US" sz="1200" b="1" kern="0" dirty="0">
                          <a:solidFill>
                            <a:srgbClr val="FF0000"/>
                          </a:solidFill>
                          <a:effectLst/>
                        </a:rPr>
                        <a:t>1</a:t>
                      </a:r>
                      <a:r>
                        <a:rPr lang="en-US" altLang="zh-CN" sz="1200" b="1" kern="0" dirty="0">
                          <a:solidFill>
                            <a:srgbClr val="FF0000"/>
                          </a:solidFill>
                          <a:effectLst/>
                        </a:rPr>
                        <a:t>5</a:t>
                      </a:r>
                      <a:r>
                        <a:rPr lang="zh-CN" sz="1200" b="1" kern="0" dirty="0">
                          <a:solidFill>
                            <a:srgbClr val="FF0000"/>
                          </a:solidFill>
                          <a:effectLst/>
                        </a:rPr>
                        <a:t>日</a:t>
                      </a:r>
                      <a:r>
                        <a:rPr lang="zh-CN" sz="1200" b="1" kern="0" dirty="0">
                          <a:effectLst/>
                        </a:rPr>
                        <a:t>，</a:t>
                      </a:r>
                      <a:r>
                        <a:rPr lang="en-US" altLang="zh-CN" sz="1200" b="1" kern="0" dirty="0">
                          <a:solidFill>
                            <a:srgbClr val="FF0000"/>
                          </a:solidFill>
                          <a:effectLst/>
                        </a:rPr>
                        <a:t>10-12</a:t>
                      </a:r>
                      <a:r>
                        <a:rPr lang="zh-CN" sz="1200" b="1" kern="0" dirty="0">
                          <a:solidFill>
                            <a:srgbClr val="FF0000"/>
                          </a:solidFill>
                          <a:effectLst/>
                        </a:rPr>
                        <a:t>节</a:t>
                      </a:r>
                      <a:endParaRPr lang="zh-CN" sz="1200" b="1"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ctr"/>
                      <a:r>
                        <a:rPr lang="zh-CN" sz="1200" b="1" kern="0" dirty="0">
                          <a:effectLst/>
                        </a:rPr>
                        <a:t>第</a:t>
                      </a:r>
                      <a:r>
                        <a:rPr lang="en-US" sz="1200" b="1" kern="0" dirty="0">
                          <a:effectLst/>
                        </a:rPr>
                        <a:t>8</a:t>
                      </a:r>
                      <a:r>
                        <a:rPr lang="zh-CN" sz="1200" b="1" kern="0" dirty="0">
                          <a:effectLst/>
                        </a:rPr>
                        <a:t>教学楼</a:t>
                      </a:r>
                      <a:r>
                        <a:rPr lang="en-US" altLang="zh-CN" sz="1200" b="1" kern="0" dirty="0">
                          <a:solidFill>
                            <a:srgbClr val="FF0000"/>
                          </a:solidFill>
                          <a:effectLst/>
                        </a:rPr>
                        <a:t>308</a:t>
                      </a:r>
                      <a:endParaRPr lang="zh-CN" sz="1200" b="1"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extLst>
                  <a:ext uri="{0D108BD9-81ED-4DB2-BD59-A6C34878D82A}">
                    <a16:rowId xmlns:a16="http://schemas.microsoft.com/office/drawing/2014/main" val="337303409"/>
                  </a:ext>
                </a:extLst>
              </a:tr>
              <a:tr h="276734">
                <a:tc>
                  <a:txBody>
                    <a:bodyPr/>
                    <a:lstStyle/>
                    <a:p>
                      <a:pPr algn="ctr"/>
                      <a:r>
                        <a:rPr lang="en-US" sz="800" kern="0">
                          <a:effectLst/>
                        </a:rPr>
                        <a:t>2</a:t>
                      </a:r>
                      <a:endParaRPr lang="zh-CN" sz="800" kern="10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l"/>
                      <a:r>
                        <a:rPr lang="zh-CN" sz="1200" b="1" kern="0" dirty="0">
                          <a:effectLst/>
                        </a:rPr>
                        <a:t>插件焊接工艺讲解，焊接电阻、跳线，讲解焊点问题。</a:t>
                      </a:r>
                      <a:endParaRPr lang="zh-CN" sz="12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ctr"/>
                      <a:r>
                        <a:rPr lang="en-US" sz="1200" b="1" kern="0">
                          <a:effectLst/>
                        </a:rPr>
                        <a:t>3</a:t>
                      </a:r>
                      <a:endParaRPr lang="zh-CN" sz="1200" b="1" kern="10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ctr"/>
                      <a:r>
                        <a:rPr lang="en-US" sz="1200" b="1" kern="0" dirty="0">
                          <a:effectLst/>
                        </a:rPr>
                        <a:t>10</a:t>
                      </a:r>
                      <a:r>
                        <a:rPr lang="zh-CN" sz="1200" b="1" kern="0" dirty="0">
                          <a:effectLst/>
                        </a:rPr>
                        <a:t>月</a:t>
                      </a:r>
                      <a:r>
                        <a:rPr lang="en-US" sz="1200" b="1" kern="0" dirty="0">
                          <a:effectLst/>
                        </a:rPr>
                        <a:t>2</a:t>
                      </a:r>
                      <a:r>
                        <a:rPr lang="en-US" altLang="zh-CN" sz="1200" b="1" kern="0" dirty="0">
                          <a:effectLst/>
                        </a:rPr>
                        <a:t>2</a:t>
                      </a:r>
                      <a:r>
                        <a:rPr lang="zh-CN" sz="1200" b="1" kern="0" dirty="0">
                          <a:effectLst/>
                        </a:rPr>
                        <a:t>日，</a:t>
                      </a:r>
                      <a:r>
                        <a:rPr lang="en-US" altLang="zh-CN" sz="1200" b="1" kern="0" dirty="0">
                          <a:solidFill>
                            <a:srgbClr val="FF0000"/>
                          </a:solidFill>
                          <a:effectLst/>
                        </a:rPr>
                        <a:t>10-12</a:t>
                      </a:r>
                      <a:r>
                        <a:rPr lang="zh-CN" altLang="zh-CN" sz="1200" b="1" kern="0" dirty="0">
                          <a:solidFill>
                            <a:srgbClr val="FF0000"/>
                          </a:solidFill>
                          <a:effectLst/>
                        </a:rPr>
                        <a:t>节</a:t>
                      </a:r>
                      <a:endParaRPr lang="zh-CN" sz="12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zh-CN" altLang="zh-CN" sz="1200" b="1" i="0" u="none" strike="noStrike" kern="0" cap="none" spc="0" normalizeH="0" baseline="0" noProof="0">
                          <a:ln>
                            <a:noFill/>
                          </a:ln>
                          <a:solidFill>
                            <a:prstClr val="black"/>
                          </a:solidFill>
                          <a:effectLst/>
                          <a:uLnTx/>
                          <a:uFillTx/>
                          <a:latin typeface="Century Gothic" panose="020B0502020202020204"/>
                          <a:ea typeface="等线" panose="02010600030101010101" pitchFamily="2" charset="-122"/>
                          <a:cs typeface="+mn-cs"/>
                        </a:rPr>
                        <a:t>第</a:t>
                      </a:r>
                      <a:r>
                        <a:rPr kumimoji="0" lang="en-US" altLang="zh-CN" sz="1200" b="1" i="0" u="none" strike="noStrike" kern="0" cap="none" spc="0" normalizeH="0" baseline="0" noProof="0">
                          <a:ln>
                            <a:noFill/>
                          </a:ln>
                          <a:solidFill>
                            <a:prstClr val="black"/>
                          </a:solidFill>
                          <a:effectLst/>
                          <a:uLnTx/>
                          <a:uFillTx/>
                          <a:latin typeface="Century Gothic" panose="020B0502020202020204"/>
                          <a:ea typeface="等线" panose="02010600030101010101" pitchFamily="2" charset="-122"/>
                          <a:cs typeface="+mn-cs"/>
                        </a:rPr>
                        <a:t>8</a:t>
                      </a:r>
                      <a:r>
                        <a:rPr kumimoji="0" lang="zh-CN" altLang="zh-CN" sz="1200" b="1" i="0" u="none" strike="noStrike" kern="0" cap="none" spc="0" normalizeH="0" baseline="0" noProof="0">
                          <a:ln>
                            <a:noFill/>
                          </a:ln>
                          <a:solidFill>
                            <a:prstClr val="black"/>
                          </a:solidFill>
                          <a:effectLst/>
                          <a:uLnTx/>
                          <a:uFillTx/>
                          <a:latin typeface="Century Gothic" panose="020B0502020202020204"/>
                          <a:ea typeface="等线" panose="02010600030101010101" pitchFamily="2" charset="-122"/>
                          <a:cs typeface="+mn-cs"/>
                        </a:rPr>
                        <a:t>教学楼</a:t>
                      </a:r>
                      <a:r>
                        <a:rPr kumimoji="0" lang="en-US" altLang="zh-CN" sz="1200" b="1" i="0" u="none" strike="noStrike" kern="0" cap="none" spc="0" normalizeH="0" baseline="0" noProof="0">
                          <a:ln>
                            <a:noFill/>
                          </a:ln>
                          <a:solidFill>
                            <a:srgbClr val="FF0000"/>
                          </a:solidFill>
                          <a:effectLst/>
                          <a:uLnTx/>
                          <a:uFillTx/>
                          <a:latin typeface="Century Gothic" panose="020B0502020202020204"/>
                          <a:ea typeface="等线" panose="02010600030101010101" pitchFamily="2" charset="-122"/>
                          <a:cs typeface="+mn-cs"/>
                        </a:rPr>
                        <a:t>308</a:t>
                      </a:r>
                      <a:endParaRPr kumimoji="0" lang="zh-CN" altLang="zh-CN" sz="1200" b="1"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extLst>
                  <a:ext uri="{0D108BD9-81ED-4DB2-BD59-A6C34878D82A}">
                    <a16:rowId xmlns:a16="http://schemas.microsoft.com/office/drawing/2014/main" val="3884306835"/>
                  </a:ext>
                </a:extLst>
              </a:tr>
              <a:tr h="276734">
                <a:tc>
                  <a:txBody>
                    <a:bodyPr/>
                    <a:lstStyle/>
                    <a:p>
                      <a:pPr algn="ctr"/>
                      <a:r>
                        <a:rPr lang="en-US" sz="800" kern="0">
                          <a:effectLst/>
                        </a:rPr>
                        <a:t>3</a:t>
                      </a:r>
                      <a:endParaRPr lang="zh-CN" sz="800" kern="10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l"/>
                      <a:r>
                        <a:rPr lang="zh-CN" sz="1200" b="1" kern="0" dirty="0">
                          <a:effectLst/>
                        </a:rPr>
                        <a:t>插件电容、二极管、电感等焊接</a:t>
                      </a:r>
                      <a:endParaRPr lang="zh-CN" sz="12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ctr"/>
                      <a:r>
                        <a:rPr lang="en-US" sz="1200" b="1" kern="0">
                          <a:effectLst/>
                        </a:rPr>
                        <a:t>3</a:t>
                      </a:r>
                      <a:endParaRPr lang="zh-CN" sz="1200" b="1" kern="10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ctr"/>
                      <a:r>
                        <a:rPr lang="en-US" sz="1200" b="1" kern="0" dirty="0">
                          <a:effectLst/>
                        </a:rPr>
                        <a:t>10</a:t>
                      </a:r>
                      <a:r>
                        <a:rPr lang="zh-CN" sz="1200" b="1" kern="0" dirty="0">
                          <a:effectLst/>
                        </a:rPr>
                        <a:t>月</a:t>
                      </a:r>
                      <a:r>
                        <a:rPr lang="en-US" sz="1200" b="1" kern="0" dirty="0">
                          <a:effectLst/>
                        </a:rPr>
                        <a:t>2</a:t>
                      </a:r>
                      <a:r>
                        <a:rPr lang="en-US" altLang="zh-CN" sz="1200" b="1" kern="0" dirty="0">
                          <a:effectLst/>
                        </a:rPr>
                        <a:t>9</a:t>
                      </a:r>
                      <a:r>
                        <a:rPr lang="zh-CN" sz="1200" b="1" kern="0" dirty="0">
                          <a:effectLst/>
                        </a:rPr>
                        <a:t>日，</a:t>
                      </a:r>
                      <a:r>
                        <a:rPr lang="en-US" altLang="zh-CN" sz="1200" b="1" kern="0" dirty="0">
                          <a:solidFill>
                            <a:srgbClr val="FF0000"/>
                          </a:solidFill>
                          <a:effectLst/>
                        </a:rPr>
                        <a:t>10-12</a:t>
                      </a:r>
                      <a:r>
                        <a:rPr lang="zh-CN" altLang="zh-CN" sz="1200" b="1" kern="0" dirty="0">
                          <a:solidFill>
                            <a:srgbClr val="FF0000"/>
                          </a:solidFill>
                          <a:effectLst/>
                        </a:rPr>
                        <a:t>节</a:t>
                      </a:r>
                      <a:endParaRPr lang="zh-CN" sz="12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zh-CN" altLang="zh-CN" sz="1200" b="1" i="0" u="none" strike="noStrike" kern="0" cap="none" spc="0" normalizeH="0" baseline="0" noProof="0">
                          <a:ln>
                            <a:noFill/>
                          </a:ln>
                          <a:solidFill>
                            <a:prstClr val="black"/>
                          </a:solidFill>
                          <a:effectLst/>
                          <a:uLnTx/>
                          <a:uFillTx/>
                          <a:latin typeface="Century Gothic" panose="020B0502020202020204"/>
                          <a:ea typeface="等线" panose="02010600030101010101" pitchFamily="2" charset="-122"/>
                          <a:cs typeface="+mn-cs"/>
                        </a:rPr>
                        <a:t>第</a:t>
                      </a:r>
                      <a:r>
                        <a:rPr kumimoji="0" lang="en-US" altLang="zh-CN" sz="1200" b="1" i="0" u="none" strike="noStrike" kern="0" cap="none" spc="0" normalizeH="0" baseline="0" noProof="0">
                          <a:ln>
                            <a:noFill/>
                          </a:ln>
                          <a:solidFill>
                            <a:prstClr val="black"/>
                          </a:solidFill>
                          <a:effectLst/>
                          <a:uLnTx/>
                          <a:uFillTx/>
                          <a:latin typeface="Century Gothic" panose="020B0502020202020204"/>
                          <a:ea typeface="等线" panose="02010600030101010101" pitchFamily="2" charset="-122"/>
                          <a:cs typeface="+mn-cs"/>
                        </a:rPr>
                        <a:t>8</a:t>
                      </a:r>
                      <a:r>
                        <a:rPr kumimoji="0" lang="zh-CN" altLang="zh-CN" sz="1200" b="1" i="0" u="none" strike="noStrike" kern="0" cap="none" spc="0" normalizeH="0" baseline="0" noProof="0">
                          <a:ln>
                            <a:noFill/>
                          </a:ln>
                          <a:solidFill>
                            <a:prstClr val="black"/>
                          </a:solidFill>
                          <a:effectLst/>
                          <a:uLnTx/>
                          <a:uFillTx/>
                          <a:latin typeface="Century Gothic" panose="020B0502020202020204"/>
                          <a:ea typeface="等线" panose="02010600030101010101" pitchFamily="2" charset="-122"/>
                          <a:cs typeface="+mn-cs"/>
                        </a:rPr>
                        <a:t>教学楼</a:t>
                      </a:r>
                      <a:r>
                        <a:rPr kumimoji="0" lang="en-US" altLang="zh-CN" sz="1200" b="1" i="0" u="none" strike="noStrike" kern="0" cap="none" spc="0" normalizeH="0" baseline="0" noProof="0">
                          <a:ln>
                            <a:noFill/>
                          </a:ln>
                          <a:solidFill>
                            <a:srgbClr val="FF0000"/>
                          </a:solidFill>
                          <a:effectLst/>
                          <a:uLnTx/>
                          <a:uFillTx/>
                          <a:latin typeface="Century Gothic" panose="020B0502020202020204"/>
                          <a:ea typeface="等线" panose="02010600030101010101" pitchFamily="2" charset="-122"/>
                          <a:cs typeface="+mn-cs"/>
                        </a:rPr>
                        <a:t>308</a:t>
                      </a:r>
                      <a:endParaRPr kumimoji="0" lang="zh-CN" altLang="zh-CN" sz="1200" b="1"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extLst>
                  <a:ext uri="{0D108BD9-81ED-4DB2-BD59-A6C34878D82A}">
                    <a16:rowId xmlns:a16="http://schemas.microsoft.com/office/drawing/2014/main" val="3598617656"/>
                  </a:ext>
                </a:extLst>
              </a:tr>
              <a:tr h="405675">
                <a:tc>
                  <a:txBody>
                    <a:bodyPr/>
                    <a:lstStyle/>
                    <a:p>
                      <a:pPr algn="ctr"/>
                      <a:r>
                        <a:rPr lang="en-US" sz="800" kern="0">
                          <a:effectLst/>
                        </a:rPr>
                        <a:t>4</a:t>
                      </a:r>
                      <a:endParaRPr lang="zh-CN" sz="800" kern="10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l"/>
                      <a:r>
                        <a:rPr lang="zh-CN" sz="1200" b="1" kern="0" dirty="0">
                          <a:effectLst/>
                        </a:rPr>
                        <a:t>贴片焊接工艺讲解，手工焊接</a:t>
                      </a:r>
                      <a:r>
                        <a:rPr lang="en-US" sz="1200" b="1" kern="0" dirty="0">
                          <a:effectLst/>
                        </a:rPr>
                        <a:t>0805</a:t>
                      </a:r>
                      <a:r>
                        <a:rPr lang="zh-CN" sz="1200" b="1" kern="0" dirty="0">
                          <a:effectLst/>
                        </a:rPr>
                        <a:t>贴片电阻</a:t>
                      </a:r>
                      <a:r>
                        <a:rPr lang="en-US" sz="1200" b="1" kern="0" dirty="0">
                          <a:effectLst/>
                        </a:rPr>
                        <a:t>/</a:t>
                      </a:r>
                      <a:r>
                        <a:rPr lang="zh-CN" sz="1200" b="1" kern="0" dirty="0">
                          <a:effectLst/>
                        </a:rPr>
                        <a:t>电容等，讲解焊点问题。</a:t>
                      </a:r>
                      <a:endParaRPr lang="zh-CN" sz="12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ctr"/>
                      <a:r>
                        <a:rPr lang="en-US" sz="1200" b="1" kern="0">
                          <a:effectLst/>
                        </a:rPr>
                        <a:t>3</a:t>
                      </a:r>
                      <a:endParaRPr lang="zh-CN" sz="1200" b="1" kern="10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ctr"/>
                      <a:r>
                        <a:rPr lang="en-US" sz="1200" b="1" kern="0" dirty="0">
                          <a:effectLst/>
                        </a:rPr>
                        <a:t>11</a:t>
                      </a:r>
                      <a:r>
                        <a:rPr lang="zh-CN" sz="1200" b="1" kern="0" dirty="0">
                          <a:effectLst/>
                        </a:rPr>
                        <a:t>月</a:t>
                      </a:r>
                      <a:r>
                        <a:rPr lang="en-US" altLang="zh-CN" sz="1200" b="1" kern="0" dirty="0">
                          <a:effectLst/>
                        </a:rPr>
                        <a:t>5</a:t>
                      </a:r>
                      <a:r>
                        <a:rPr lang="zh-CN" sz="1200" b="1" kern="0" dirty="0">
                          <a:effectLst/>
                        </a:rPr>
                        <a:t>日，</a:t>
                      </a:r>
                      <a:r>
                        <a:rPr lang="en-US" altLang="zh-CN" sz="1200" b="1" kern="0" dirty="0">
                          <a:solidFill>
                            <a:srgbClr val="FF0000"/>
                          </a:solidFill>
                          <a:effectLst/>
                        </a:rPr>
                        <a:t>10-12</a:t>
                      </a:r>
                      <a:r>
                        <a:rPr lang="zh-CN" altLang="zh-CN" sz="1200" b="1" kern="0" dirty="0">
                          <a:solidFill>
                            <a:srgbClr val="FF0000"/>
                          </a:solidFill>
                          <a:effectLst/>
                        </a:rPr>
                        <a:t>节</a:t>
                      </a:r>
                      <a:endParaRPr lang="zh-CN" sz="12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zh-CN" altLang="zh-CN" sz="1200" b="1" i="0" u="none" strike="noStrike" kern="0" cap="none" spc="0" normalizeH="0" baseline="0" noProof="0">
                          <a:ln>
                            <a:noFill/>
                          </a:ln>
                          <a:solidFill>
                            <a:prstClr val="black"/>
                          </a:solidFill>
                          <a:effectLst/>
                          <a:uLnTx/>
                          <a:uFillTx/>
                          <a:latin typeface="Century Gothic" panose="020B0502020202020204"/>
                          <a:ea typeface="等线" panose="02010600030101010101" pitchFamily="2" charset="-122"/>
                          <a:cs typeface="+mn-cs"/>
                        </a:rPr>
                        <a:t>第</a:t>
                      </a:r>
                      <a:r>
                        <a:rPr kumimoji="0" lang="en-US" altLang="zh-CN" sz="1200" b="1" i="0" u="none" strike="noStrike" kern="0" cap="none" spc="0" normalizeH="0" baseline="0" noProof="0">
                          <a:ln>
                            <a:noFill/>
                          </a:ln>
                          <a:solidFill>
                            <a:prstClr val="black"/>
                          </a:solidFill>
                          <a:effectLst/>
                          <a:uLnTx/>
                          <a:uFillTx/>
                          <a:latin typeface="Century Gothic" panose="020B0502020202020204"/>
                          <a:ea typeface="等线" panose="02010600030101010101" pitchFamily="2" charset="-122"/>
                          <a:cs typeface="+mn-cs"/>
                        </a:rPr>
                        <a:t>8</a:t>
                      </a:r>
                      <a:r>
                        <a:rPr kumimoji="0" lang="zh-CN" altLang="zh-CN" sz="1200" b="1" i="0" u="none" strike="noStrike" kern="0" cap="none" spc="0" normalizeH="0" baseline="0" noProof="0">
                          <a:ln>
                            <a:noFill/>
                          </a:ln>
                          <a:solidFill>
                            <a:prstClr val="black"/>
                          </a:solidFill>
                          <a:effectLst/>
                          <a:uLnTx/>
                          <a:uFillTx/>
                          <a:latin typeface="Century Gothic" panose="020B0502020202020204"/>
                          <a:ea typeface="等线" panose="02010600030101010101" pitchFamily="2" charset="-122"/>
                          <a:cs typeface="+mn-cs"/>
                        </a:rPr>
                        <a:t>教学楼</a:t>
                      </a:r>
                      <a:r>
                        <a:rPr kumimoji="0" lang="en-US" altLang="zh-CN" sz="1200" b="1" i="0" u="none" strike="noStrike" kern="0" cap="none" spc="0" normalizeH="0" baseline="0" noProof="0">
                          <a:ln>
                            <a:noFill/>
                          </a:ln>
                          <a:solidFill>
                            <a:srgbClr val="FF0000"/>
                          </a:solidFill>
                          <a:effectLst/>
                          <a:uLnTx/>
                          <a:uFillTx/>
                          <a:latin typeface="Century Gothic" panose="020B0502020202020204"/>
                          <a:ea typeface="等线" panose="02010600030101010101" pitchFamily="2" charset="-122"/>
                          <a:cs typeface="+mn-cs"/>
                        </a:rPr>
                        <a:t>308</a:t>
                      </a:r>
                      <a:endParaRPr kumimoji="0" lang="zh-CN" altLang="zh-CN" sz="1200" b="1"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extLst>
                  <a:ext uri="{0D108BD9-81ED-4DB2-BD59-A6C34878D82A}">
                    <a16:rowId xmlns:a16="http://schemas.microsoft.com/office/drawing/2014/main" val="376645637"/>
                  </a:ext>
                </a:extLst>
              </a:tr>
              <a:tr h="276734">
                <a:tc>
                  <a:txBody>
                    <a:bodyPr/>
                    <a:lstStyle/>
                    <a:p>
                      <a:pPr algn="ctr"/>
                      <a:r>
                        <a:rPr lang="en-US" sz="800" kern="0">
                          <a:effectLst/>
                        </a:rPr>
                        <a:t>5</a:t>
                      </a:r>
                      <a:endParaRPr lang="zh-CN" sz="800" kern="10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l"/>
                      <a:r>
                        <a:rPr lang="zh-CN" sz="1200" b="1" kern="0">
                          <a:effectLst/>
                        </a:rPr>
                        <a:t>贴片手工焊接</a:t>
                      </a:r>
                      <a:r>
                        <a:rPr lang="en-US" sz="1200" b="1" kern="0">
                          <a:effectLst/>
                        </a:rPr>
                        <a:t>0603</a:t>
                      </a:r>
                      <a:r>
                        <a:rPr lang="zh-CN" sz="1200" b="1" kern="0">
                          <a:effectLst/>
                        </a:rPr>
                        <a:t>、</a:t>
                      </a:r>
                      <a:r>
                        <a:rPr lang="en-US" sz="1200" b="1" kern="0">
                          <a:effectLst/>
                        </a:rPr>
                        <a:t>0402</a:t>
                      </a:r>
                      <a:r>
                        <a:rPr lang="zh-CN" sz="1200" b="1" kern="0">
                          <a:effectLst/>
                        </a:rPr>
                        <a:t>材料等</a:t>
                      </a:r>
                      <a:endParaRPr lang="zh-CN" sz="1200" b="1" kern="10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ctr"/>
                      <a:r>
                        <a:rPr lang="en-US" sz="1200" b="1" kern="0" dirty="0">
                          <a:effectLst/>
                        </a:rPr>
                        <a:t>3</a:t>
                      </a:r>
                      <a:endParaRPr lang="zh-CN" sz="12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ctr"/>
                      <a:r>
                        <a:rPr lang="en-US" sz="1200" b="1" kern="0" dirty="0">
                          <a:effectLst/>
                        </a:rPr>
                        <a:t>11</a:t>
                      </a:r>
                      <a:r>
                        <a:rPr lang="zh-CN" sz="1200" b="1" kern="0" dirty="0">
                          <a:effectLst/>
                        </a:rPr>
                        <a:t>月</a:t>
                      </a:r>
                      <a:r>
                        <a:rPr lang="en-US" sz="1200" b="1" kern="0" dirty="0">
                          <a:effectLst/>
                        </a:rPr>
                        <a:t>1</a:t>
                      </a:r>
                      <a:r>
                        <a:rPr lang="en-US" altLang="zh-CN" sz="1200" b="1" kern="0" dirty="0">
                          <a:effectLst/>
                        </a:rPr>
                        <a:t>2</a:t>
                      </a:r>
                      <a:r>
                        <a:rPr lang="zh-CN" sz="1200" b="1" kern="0" dirty="0">
                          <a:effectLst/>
                        </a:rPr>
                        <a:t>日，</a:t>
                      </a:r>
                      <a:r>
                        <a:rPr lang="en-US" altLang="zh-CN" sz="1200" b="1" kern="0" dirty="0">
                          <a:solidFill>
                            <a:srgbClr val="FF0000"/>
                          </a:solidFill>
                          <a:effectLst/>
                        </a:rPr>
                        <a:t>10-12</a:t>
                      </a:r>
                      <a:r>
                        <a:rPr lang="zh-CN" altLang="zh-CN" sz="1200" b="1" kern="0" dirty="0">
                          <a:solidFill>
                            <a:srgbClr val="FF0000"/>
                          </a:solidFill>
                          <a:effectLst/>
                        </a:rPr>
                        <a:t>节</a:t>
                      </a:r>
                      <a:endParaRPr lang="zh-CN" sz="12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zh-CN" altLang="zh-CN" sz="1200" b="1" i="0" u="none" strike="noStrike" kern="0" cap="none" spc="0" normalizeH="0" baseline="0" noProof="0">
                          <a:ln>
                            <a:noFill/>
                          </a:ln>
                          <a:solidFill>
                            <a:prstClr val="black"/>
                          </a:solidFill>
                          <a:effectLst/>
                          <a:uLnTx/>
                          <a:uFillTx/>
                          <a:latin typeface="Century Gothic" panose="020B0502020202020204"/>
                          <a:ea typeface="等线" panose="02010600030101010101" pitchFamily="2" charset="-122"/>
                          <a:cs typeface="+mn-cs"/>
                        </a:rPr>
                        <a:t>第</a:t>
                      </a:r>
                      <a:r>
                        <a:rPr kumimoji="0" lang="en-US" altLang="zh-CN" sz="1200" b="1" i="0" u="none" strike="noStrike" kern="0" cap="none" spc="0" normalizeH="0" baseline="0" noProof="0">
                          <a:ln>
                            <a:noFill/>
                          </a:ln>
                          <a:solidFill>
                            <a:prstClr val="black"/>
                          </a:solidFill>
                          <a:effectLst/>
                          <a:uLnTx/>
                          <a:uFillTx/>
                          <a:latin typeface="Century Gothic" panose="020B0502020202020204"/>
                          <a:ea typeface="等线" panose="02010600030101010101" pitchFamily="2" charset="-122"/>
                          <a:cs typeface="+mn-cs"/>
                        </a:rPr>
                        <a:t>8</a:t>
                      </a:r>
                      <a:r>
                        <a:rPr kumimoji="0" lang="zh-CN" altLang="zh-CN" sz="1200" b="1" i="0" u="none" strike="noStrike" kern="0" cap="none" spc="0" normalizeH="0" baseline="0" noProof="0">
                          <a:ln>
                            <a:noFill/>
                          </a:ln>
                          <a:solidFill>
                            <a:prstClr val="black"/>
                          </a:solidFill>
                          <a:effectLst/>
                          <a:uLnTx/>
                          <a:uFillTx/>
                          <a:latin typeface="Century Gothic" panose="020B0502020202020204"/>
                          <a:ea typeface="等线" panose="02010600030101010101" pitchFamily="2" charset="-122"/>
                          <a:cs typeface="+mn-cs"/>
                        </a:rPr>
                        <a:t>教学楼</a:t>
                      </a:r>
                      <a:r>
                        <a:rPr kumimoji="0" lang="en-US" altLang="zh-CN" sz="1200" b="1" i="0" u="none" strike="noStrike" kern="0" cap="none" spc="0" normalizeH="0" baseline="0" noProof="0">
                          <a:ln>
                            <a:noFill/>
                          </a:ln>
                          <a:solidFill>
                            <a:srgbClr val="FF0000"/>
                          </a:solidFill>
                          <a:effectLst/>
                          <a:uLnTx/>
                          <a:uFillTx/>
                          <a:latin typeface="Century Gothic" panose="020B0502020202020204"/>
                          <a:ea typeface="等线" panose="02010600030101010101" pitchFamily="2" charset="-122"/>
                          <a:cs typeface="+mn-cs"/>
                        </a:rPr>
                        <a:t>308</a:t>
                      </a:r>
                      <a:endParaRPr kumimoji="0" lang="zh-CN" altLang="zh-CN" sz="1200" b="1"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extLst>
                  <a:ext uri="{0D108BD9-81ED-4DB2-BD59-A6C34878D82A}">
                    <a16:rowId xmlns:a16="http://schemas.microsoft.com/office/drawing/2014/main" val="1184978006"/>
                  </a:ext>
                </a:extLst>
              </a:tr>
              <a:tr h="439240">
                <a:tc>
                  <a:txBody>
                    <a:bodyPr/>
                    <a:lstStyle/>
                    <a:p>
                      <a:pPr algn="ctr"/>
                      <a:r>
                        <a:rPr lang="en-US" sz="800" kern="0">
                          <a:effectLst/>
                        </a:rPr>
                        <a:t>6</a:t>
                      </a:r>
                      <a:endParaRPr lang="zh-CN" sz="800" kern="10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l"/>
                      <a:r>
                        <a:rPr lang="zh-CN" sz="1200" b="1" kern="0" dirty="0">
                          <a:effectLst/>
                        </a:rPr>
                        <a:t>回流焊练习：</a:t>
                      </a:r>
                      <a:br>
                        <a:rPr lang="en-US" sz="1200" b="1" kern="0" dirty="0">
                          <a:effectLst/>
                        </a:rPr>
                      </a:br>
                      <a:r>
                        <a:rPr lang="zh-CN" sz="1200" b="1" kern="0" dirty="0">
                          <a:effectLst/>
                        </a:rPr>
                        <a:t>讲解回流焊工艺；统一刷锡膏；发放贴片材料；放回流焊炉。</a:t>
                      </a:r>
                      <a:endParaRPr lang="zh-CN" sz="12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ctr"/>
                      <a:r>
                        <a:rPr lang="en-US" sz="1200" b="1" kern="0">
                          <a:effectLst/>
                        </a:rPr>
                        <a:t>3</a:t>
                      </a:r>
                      <a:endParaRPr lang="zh-CN" sz="1200" b="1" kern="10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ctr"/>
                      <a:r>
                        <a:rPr lang="en-US" sz="1200" b="1" kern="0" dirty="0">
                          <a:effectLst/>
                        </a:rPr>
                        <a:t>11</a:t>
                      </a:r>
                      <a:r>
                        <a:rPr lang="zh-CN" sz="1200" b="1" kern="0" dirty="0">
                          <a:effectLst/>
                        </a:rPr>
                        <a:t>月</a:t>
                      </a:r>
                      <a:r>
                        <a:rPr lang="en-US" sz="1200" b="1" kern="0" dirty="0">
                          <a:effectLst/>
                        </a:rPr>
                        <a:t>1</a:t>
                      </a:r>
                      <a:r>
                        <a:rPr lang="en-US" altLang="zh-CN" sz="1200" b="1" kern="0" dirty="0">
                          <a:effectLst/>
                        </a:rPr>
                        <a:t>9</a:t>
                      </a:r>
                      <a:r>
                        <a:rPr lang="zh-CN" sz="1200" b="1" kern="0" dirty="0">
                          <a:effectLst/>
                        </a:rPr>
                        <a:t>日，</a:t>
                      </a:r>
                      <a:r>
                        <a:rPr lang="en-US" altLang="zh-CN" sz="1200" b="1" kern="0" dirty="0">
                          <a:solidFill>
                            <a:srgbClr val="FF0000"/>
                          </a:solidFill>
                          <a:effectLst/>
                        </a:rPr>
                        <a:t>10-12</a:t>
                      </a:r>
                      <a:r>
                        <a:rPr lang="zh-CN" altLang="zh-CN" sz="1200" b="1" kern="0" dirty="0">
                          <a:solidFill>
                            <a:srgbClr val="FF0000"/>
                          </a:solidFill>
                          <a:effectLst/>
                        </a:rPr>
                        <a:t>节</a:t>
                      </a:r>
                      <a:endParaRPr lang="zh-CN" sz="12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zh-CN" altLang="zh-CN" sz="1200" b="1" i="0" u="none" strike="noStrike" kern="0" cap="none" spc="0" normalizeH="0" baseline="0" noProof="0">
                          <a:ln>
                            <a:noFill/>
                          </a:ln>
                          <a:solidFill>
                            <a:prstClr val="black"/>
                          </a:solidFill>
                          <a:effectLst/>
                          <a:uLnTx/>
                          <a:uFillTx/>
                          <a:latin typeface="Century Gothic" panose="020B0502020202020204"/>
                          <a:ea typeface="等线" panose="02010600030101010101" pitchFamily="2" charset="-122"/>
                          <a:cs typeface="+mn-cs"/>
                        </a:rPr>
                        <a:t>第</a:t>
                      </a:r>
                      <a:r>
                        <a:rPr kumimoji="0" lang="en-US" altLang="zh-CN" sz="1200" b="1" i="0" u="none" strike="noStrike" kern="0" cap="none" spc="0" normalizeH="0" baseline="0" noProof="0">
                          <a:ln>
                            <a:noFill/>
                          </a:ln>
                          <a:solidFill>
                            <a:prstClr val="black"/>
                          </a:solidFill>
                          <a:effectLst/>
                          <a:uLnTx/>
                          <a:uFillTx/>
                          <a:latin typeface="Century Gothic" panose="020B0502020202020204"/>
                          <a:ea typeface="等线" panose="02010600030101010101" pitchFamily="2" charset="-122"/>
                          <a:cs typeface="+mn-cs"/>
                        </a:rPr>
                        <a:t>8</a:t>
                      </a:r>
                      <a:r>
                        <a:rPr kumimoji="0" lang="zh-CN" altLang="zh-CN" sz="1200" b="1" i="0" u="none" strike="noStrike" kern="0" cap="none" spc="0" normalizeH="0" baseline="0" noProof="0">
                          <a:ln>
                            <a:noFill/>
                          </a:ln>
                          <a:solidFill>
                            <a:prstClr val="black"/>
                          </a:solidFill>
                          <a:effectLst/>
                          <a:uLnTx/>
                          <a:uFillTx/>
                          <a:latin typeface="Century Gothic" panose="020B0502020202020204"/>
                          <a:ea typeface="等线" panose="02010600030101010101" pitchFamily="2" charset="-122"/>
                          <a:cs typeface="+mn-cs"/>
                        </a:rPr>
                        <a:t>教学楼</a:t>
                      </a:r>
                      <a:r>
                        <a:rPr kumimoji="0" lang="en-US" altLang="zh-CN" sz="1200" b="1" i="0" u="none" strike="noStrike" kern="0" cap="none" spc="0" normalizeH="0" baseline="0" noProof="0">
                          <a:ln>
                            <a:noFill/>
                          </a:ln>
                          <a:solidFill>
                            <a:srgbClr val="FF0000"/>
                          </a:solidFill>
                          <a:effectLst/>
                          <a:uLnTx/>
                          <a:uFillTx/>
                          <a:latin typeface="Century Gothic" panose="020B0502020202020204"/>
                          <a:ea typeface="等线" panose="02010600030101010101" pitchFamily="2" charset="-122"/>
                          <a:cs typeface="+mn-cs"/>
                        </a:rPr>
                        <a:t>308</a:t>
                      </a:r>
                      <a:endParaRPr kumimoji="0" lang="zh-CN" altLang="zh-CN" sz="1200" b="1"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extLst>
                  <a:ext uri="{0D108BD9-81ED-4DB2-BD59-A6C34878D82A}">
                    <a16:rowId xmlns:a16="http://schemas.microsoft.com/office/drawing/2014/main" val="1786845452"/>
                  </a:ext>
                </a:extLst>
              </a:tr>
              <a:tr h="1011021">
                <a:tc>
                  <a:txBody>
                    <a:bodyPr/>
                    <a:lstStyle/>
                    <a:p>
                      <a:pPr algn="ctr"/>
                      <a:r>
                        <a:rPr lang="en-US" sz="800" kern="0">
                          <a:effectLst/>
                        </a:rPr>
                        <a:t>7</a:t>
                      </a:r>
                      <a:endParaRPr lang="zh-CN" sz="800" kern="10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l"/>
                      <a:r>
                        <a:rPr lang="zh-CN" sz="1200" b="1" kern="0" dirty="0">
                          <a:effectLst/>
                        </a:rPr>
                        <a:t>有源音箱电路原理图讲解及作图方法讲解，作图，收图纸。（</a:t>
                      </a:r>
                      <a:r>
                        <a:rPr lang="en-US" sz="1200" b="1" kern="0" dirty="0">
                          <a:effectLst/>
                        </a:rPr>
                        <a:t>45</a:t>
                      </a:r>
                      <a:r>
                        <a:rPr lang="zh-CN" sz="1200" b="1" kern="0" dirty="0">
                          <a:effectLst/>
                        </a:rPr>
                        <a:t>分钟）</a:t>
                      </a:r>
                      <a:br>
                        <a:rPr lang="en-US" sz="1200" b="1" kern="0" dirty="0">
                          <a:effectLst/>
                        </a:rPr>
                      </a:br>
                      <a:r>
                        <a:rPr lang="zh-CN" sz="1200" b="1" kern="0" dirty="0">
                          <a:effectLst/>
                        </a:rPr>
                        <a:t>回流焊测试：（</a:t>
                      </a:r>
                      <a:r>
                        <a:rPr lang="en-US" sz="1200" b="1" kern="0" dirty="0">
                          <a:effectLst/>
                        </a:rPr>
                        <a:t>90</a:t>
                      </a:r>
                      <a:r>
                        <a:rPr lang="zh-CN" sz="1200" b="1" kern="0" dirty="0">
                          <a:effectLst/>
                        </a:rPr>
                        <a:t>分钟）</a:t>
                      </a:r>
                      <a:br>
                        <a:rPr lang="en-US" sz="1200" b="1" kern="0" dirty="0">
                          <a:effectLst/>
                        </a:rPr>
                      </a:br>
                      <a:r>
                        <a:rPr lang="zh-CN" sz="1200" b="1" kern="0" dirty="0">
                          <a:effectLst/>
                        </a:rPr>
                        <a:t>上电测试，看</a:t>
                      </a:r>
                      <a:r>
                        <a:rPr lang="en-US" sz="1200" b="1" kern="0" dirty="0">
                          <a:effectLst/>
                        </a:rPr>
                        <a:t>LED</a:t>
                      </a:r>
                      <a:r>
                        <a:rPr lang="zh-CN" sz="1200" b="1" kern="0" dirty="0">
                          <a:effectLst/>
                        </a:rPr>
                        <a:t>灯闪烁；</a:t>
                      </a:r>
                      <a:br>
                        <a:rPr lang="en-US" sz="1200" b="1" kern="0" dirty="0">
                          <a:effectLst/>
                        </a:rPr>
                      </a:br>
                      <a:r>
                        <a:rPr lang="zh-CN" sz="1200" b="1" kern="0" dirty="0">
                          <a:effectLst/>
                        </a:rPr>
                        <a:t>测试通过，练习拆卸换电阻，看闪烁频率；</a:t>
                      </a:r>
                      <a:br>
                        <a:rPr lang="en-US" sz="1200" b="1" kern="0" dirty="0">
                          <a:effectLst/>
                        </a:rPr>
                      </a:br>
                      <a:r>
                        <a:rPr lang="zh-CN" sz="1200" b="1" kern="0" dirty="0">
                          <a:effectLst/>
                        </a:rPr>
                        <a:t>测试不通过，检查维修电路。（打分</a:t>
                      </a:r>
                      <a:r>
                        <a:rPr lang="en-US" sz="1200" b="1" kern="0" dirty="0">
                          <a:effectLst/>
                        </a:rPr>
                        <a:t>15</a:t>
                      </a:r>
                      <a:r>
                        <a:rPr lang="zh-CN" sz="1200" b="1" kern="0" dirty="0">
                          <a:effectLst/>
                        </a:rPr>
                        <a:t>）</a:t>
                      </a:r>
                      <a:endParaRPr lang="zh-CN" sz="12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tc>
                <a:tc>
                  <a:txBody>
                    <a:bodyPr/>
                    <a:lstStyle/>
                    <a:p>
                      <a:pPr algn="ctr"/>
                      <a:r>
                        <a:rPr lang="en-US" sz="1200" b="1" kern="0">
                          <a:effectLst/>
                        </a:rPr>
                        <a:t>3</a:t>
                      </a:r>
                      <a:endParaRPr lang="zh-CN" sz="1200" b="1" kern="10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ctr"/>
                      <a:r>
                        <a:rPr lang="en-US" sz="1200" b="1" kern="0" dirty="0">
                          <a:effectLst/>
                        </a:rPr>
                        <a:t>11</a:t>
                      </a:r>
                      <a:r>
                        <a:rPr lang="zh-CN" sz="1200" b="1" kern="0" dirty="0">
                          <a:effectLst/>
                        </a:rPr>
                        <a:t>月</a:t>
                      </a:r>
                      <a:r>
                        <a:rPr lang="en-US" sz="1200" b="1" kern="0" dirty="0">
                          <a:effectLst/>
                        </a:rPr>
                        <a:t>2</a:t>
                      </a:r>
                      <a:r>
                        <a:rPr lang="en-US" altLang="zh-CN" sz="1200" b="1" kern="0" dirty="0">
                          <a:effectLst/>
                        </a:rPr>
                        <a:t>6</a:t>
                      </a:r>
                      <a:r>
                        <a:rPr lang="zh-CN" sz="1200" b="1" kern="0" dirty="0">
                          <a:effectLst/>
                        </a:rPr>
                        <a:t>日，</a:t>
                      </a:r>
                      <a:r>
                        <a:rPr lang="en-US" altLang="zh-CN" sz="1200" b="1" kern="0" dirty="0">
                          <a:solidFill>
                            <a:srgbClr val="FF0000"/>
                          </a:solidFill>
                          <a:effectLst/>
                        </a:rPr>
                        <a:t>10-12</a:t>
                      </a:r>
                      <a:r>
                        <a:rPr lang="zh-CN" altLang="zh-CN" sz="1200" b="1" kern="0" dirty="0">
                          <a:solidFill>
                            <a:srgbClr val="FF0000"/>
                          </a:solidFill>
                          <a:effectLst/>
                        </a:rPr>
                        <a:t>节</a:t>
                      </a:r>
                      <a:endParaRPr lang="zh-CN" sz="12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zh-CN" altLang="zh-CN" sz="1200" b="1" i="0" u="none" strike="noStrike" kern="0" cap="none" spc="0" normalizeH="0" baseline="0" noProof="0">
                          <a:ln>
                            <a:noFill/>
                          </a:ln>
                          <a:solidFill>
                            <a:prstClr val="black"/>
                          </a:solidFill>
                          <a:effectLst/>
                          <a:uLnTx/>
                          <a:uFillTx/>
                          <a:latin typeface="Century Gothic" panose="020B0502020202020204"/>
                          <a:ea typeface="等线" panose="02010600030101010101" pitchFamily="2" charset="-122"/>
                          <a:cs typeface="+mn-cs"/>
                        </a:rPr>
                        <a:t>第</a:t>
                      </a:r>
                      <a:r>
                        <a:rPr kumimoji="0" lang="en-US" altLang="zh-CN" sz="1200" b="1" i="0" u="none" strike="noStrike" kern="0" cap="none" spc="0" normalizeH="0" baseline="0" noProof="0">
                          <a:ln>
                            <a:noFill/>
                          </a:ln>
                          <a:solidFill>
                            <a:prstClr val="black"/>
                          </a:solidFill>
                          <a:effectLst/>
                          <a:uLnTx/>
                          <a:uFillTx/>
                          <a:latin typeface="Century Gothic" panose="020B0502020202020204"/>
                          <a:ea typeface="等线" panose="02010600030101010101" pitchFamily="2" charset="-122"/>
                          <a:cs typeface="+mn-cs"/>
                        </a:rPr>
                        <a:t>8</a:t>
                      </a:r>
                      <a:r>
                        <a:rPr kumimoji="0" lang="zh-CN" altLang="zh-CN" sz="1200" b="1" i="0" u="none" strike="noStrike" kern="0" cap="none" spc="0" normalizeH="0" baseline="0" noProof="0">
                          <a:ln>
                            <a:noFill/>
                          </a:ln>
                          <a:solidFill>
                            <a:prstClr val="black"/>
                          </a:solidFill>
                          <a:effectLst/>
                          <a:uLnTx/>
                          <a:uFillTx/>
                          <a:latin typeface="Century Gothic" panose="020B0502020202020204"/>
                          <a:ea typeface="等线" panose="02010600030101010101" pitchFamily="2" charset="-122"/>
                          <a:cs typeface="+mn-cs"/>
                        </a:rPr>
                        <a:t>教学楼</a:t>
                      </a:r>
                      <a:r>
                        <a:rPr kumimoji="0" lang="en-US" altLang="zh-CN" sz="1200" b="1" i="0" u="none" strike="noStrike" kern="0" cap="none" spc="0" normalizeH="0" baseline="0" noProof="0">
                          <a:ln>
                            <a:noFill/>
                          </a:ln>
                          <a:solidFill>
                            <a:srgbClr val="FF0000"/>
                          </a:solidFill>
                          <a:effectLst/>
                          <a:uLnTx/>
                          <a:uFillTx/>
                          <a:latin typeface="Century Gothic" panose="020B0502020202020204"/>
                          <a:ea typeface="等线" panose="02010600030101010101" pitchFamily="2" charset="-122"/>
                          <a:cs typeface="+mn-cs"/>
                        </a:rPr>
                        <a:t>308</a:t>
                      </a:r>
                      <a:endParaRPr kumimoji="0" lang="zh-CN" altLang="zh-CN" sz="1200" b="1"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extLst>
                  <a:ext uri="{0D108BD9-81ED-4DB2-BD59-A6C34878D82A}">
                    <a16:rowId xmlns:a16="http://schemas.microsoft.com/office/drawing/2014/main" val="103989436"/>
                  </a:ext>
                </a:extLst>
              </a:tr>
              <a:tr h="276734">
                <a:tc>
                  <a:txBody>
                    <a:bodyPr/>
                    <a:lstStyle/>
                    <a:p>
                      <a:pPr algn="ctr"/>
                      <a:r>
                        <a:rPr lang="en-US" sz="800" kern="0">
                          <a:effectLst/>
                        </a:rPr>
                        <a:t>8</a:t>
                      </a:r>
                      <a:endParaRPr lang="zh-CN" sz="800" kern="10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l"/>
                      <a:r>
                        <a:rPr lang="zh-CN" sz="1200" b="1" kern="0" dirty="0">
                          <a:effectLst/>
                        </a:rPr>
                        <a:t>绘制图纸及验收图纸（打分</a:t>
                      </a:r>
                      <a:r>
                        <a:rPr lang="en-US" sz="1200" b="1" kern="0" dirty="0">
                          <a:effectLst/>
                        </a:rPr>
                        <a:t>15</a:t>
                      </a:r>
                      <a:r>
                        <a:rPr lang="zh-CN" sz="1200" b="1" kern="0" dirty="0">
                          <a:effectLst/>
                        </a:rPr>
                        <a:t>）</a:t>
                      </a:r>
                      <a:endParaRPr lang="zh-CN" sz="12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ctr"/>
                      <a:r>
                        <a:rPr lang="en-US" sz="1200" b="1" kern="0">
                          <a:effectLst/>
                        </a:rPr>
                        <a:t>3</a:t>
                      </a:r>
                      <a:endParaRPr lang="zh-CN" sz="1200" b="1" kern="10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ctr"/>
                      <a:r>
                        <a:rPr lang="en-US" sz="1200" b="1" kern="0" dirty="0">
                          <a:effectLst/>
                        </a:rPr>
                        <a:t>12</a:t>
                      </a:r>
                      <a:r>
                        <a:rPr lang="zh-CN" sz="1200" b="1" kern="0" dirty="0">
                          <a:effectLst/>
                        </a:rPr>
                        <a:t>月</a:t>
                      </a:r>
                      <a:r>
                        <a:rPr lang="en-US" altLang="zh-CN" sz="1200" b="1" kern="0" dirty="0">
                          <a:effectLst/>
                        </a:rPr>
                        <a:t>3</a:t>
                      </a:r>
                      <a:r>
                        <a:rPr lang="zh-CN" sz="1200" b="1" kern="0" dirty="0">
                          <a:effectLst/>
                        </a:rPr>
                        <a:t>日，</a:t>
                      </a:r>
                      <a:r>
                        <a:rPr lang="en-US" altLang="zh-CN" sz="1200" b="1" kern="0" dirty="0">
                          <a:solidFill>
                            <a:srgbClr val="FF0000"/>
                          </a:solidFill>
                          <a:effectLst/>
                        </a:rPr>
                        <a:t>10-12</a:t>
                      </a:r>
                      <a:r>
                        <a:rPr lang="zh-CN" altLang="zh-CN" sz="1200" b="1" kern="0" dirty="0">
                          <a:solidFill>
                            <a:srgbClr val="FF0000"/>
                          </a:solidFill>
                          <a:effectLst/>
                        </a:rPr>
                        <a:t>节</a:t>
                      </a:r>
                      <a:endParaRPr lang="zh-CN" sz="12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zh-CN" altLang="zh-CN" sz="1200" b="1" i="0" u="none" strike="noStrike" kern="0" cap="none" spc="0" normalizeH="0" baseline="0" noProof="0">
                          <a:ln>
                            <a:noFill/>
                          </a:ln>
                          <a:solidFill>
                            <a:prstClr val="black"/>
                          </a:solidFill>
                          <a:effectLst/>
                          <a:uLnTx/>
                          <a:uFillTx/>
                          <a:latin typeface="Century Gothic" panose="020B0502020202020204"/>
                          <a:ea typeface="等线" panose="02010600030101010101" pitchFamily="2" charset="-122"/>
                          <a:cs typeface="+mn-cs"/>
                        </a:rPr>
                        <a:t>第</a:t>
                      </a:r>
                      <a:r>
                        <a:rPr kumimoji="0" lang="en-US" altLang="zh-CN" sz="1200" b="1" i="0" u="none" strike="noStrike" kern="0" cap="none" spc="0" normalizeH="0" baseline="0" noProof="0">
                          <a:ln>
                            <a:noFill/>
                          </a:ln>
                          <a:solidFill>
                            <a:prstClr val="black"/>
                          </a:solidFill>
                          <a:effectLst/>
                          <a:uLnTx/>
                          <a:uFillTx/>
                          <a:latin typeface="Century Gothic" panose="020B0502020202020204"/>
                          <a:ea typeface="等线" panose="02010600030101010101" pitchFamily="2" charset="-122"/>
                          <a:cs typeface="+mn-cs"/>
                        </a:rPr>
                        <a:t>8</a:t>
                      </a:r>
                      <a:r>
                        <a:rPr kumimoji="0" lang="zh-CN" altLang="zh-CN" sz="1200" b="1" i="0" u="none" strike="noStrike" kern="0" cap="none" spc="0" normalizeH="0" baseline="0" noProof="0">
                          <a:ln>
                            <a:noFill/>
                          </a:ln>
                          <a:solidFill>
                            <a:prstClr val="black"/>
                          </a:solidFill>
                          <a:effectLst/>
                          <a:uLnTx/>
                          <a:uFillTx/>
                          <a:latin typeface="Century Gothic" panose="020B0502020202020204"/>
                          <a:ea typeface="等线" panose="02010600030101010101" pitchFamily="2" charset="-122"/>
                          <a:cs typeface="+mn-cs"/>
                        </a:rPr>
                        <a:t>教学楼</a:t>
                      </a:r>
                      <a:r>
                        <a:rPr kumimoji="0" lang="en-US" altLang="zh-CN" sz="1200" b="1" i="0" u="none" strike="noStrike" kern="0" cap="none" spc="0" normalizeH="0" baseline="0" noProof="0">
                          <a:ln>
                            <a:noFill/>
                          </a:ln>
                          <a:solidFill>
                            <a:srgbClr val="FF0000"/>
                          </a:solidFill>
                          <a:effectLst/>
                          <a:uLnTx/>
                          <a:uFillTx/>
                          <a:latin typeface="Century Gothic" panose="020B0502020202020204"/>
                          <a:ea typeface="等线" panose="02010600030101010101" pitchFamily="2" charset="-122"/>
                          <a:cs typeface="+mn-cs"/>
                        </a:rPr>
                        <a:t>308</a:t>
                      </a:r>
                      <a:endParaRPr kumimoji="0" lang="zh-CN" altLang="zh-CN" sz="1200" b="1"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extLst>
                  <a:ext uri="{0D108BD9-81ED-4DB2-BD59-A6C34878D82A}">
                    <a16:rowId xmlns:a16="http://schemas.microsoft.com/office/drawing/2014/main" val="2373744100"/>
                  </a:ext>
                </a:extLst>
              </a:tr>
              <a:tr h="292826">
                <a:tc>
                  <a:txBody>
                    <a:bodyPr/>
                    <a:lstStyle/>
                    <a:p>
                      <a:pPr algn="ctr"/>
                      <a:r>
                        <a:rPr lang="en-US" sz="800" kern="0">
                          <a:effectLst/>
                        </a:rPr>
                        <a:t>9</a:t>
                      </a:r>
                      <a:endParaRPr lang="zh-CN" sz="800" kern="10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l"/>
                      <a:r>
                        <a:rPr lang="zh-CN" sz="1200" b="1" kern="0">
                          <a:effectLst/>
                        </a:rPr>
                        <a:t>功放板焊接</a:t>
                      </a:r>
                      <a:br>
                        <a:rPr lang="en-US" sz="1200" b="1" kern="0">
                          <a:effectLst/>
                        </a:rPr>
                      </a:br>
                      <a:r>
                        <a:rPr lang="zh-CN" sz="1200" b="1" kern="0">
                          <a:effectLst/>
                        </a:rPr>
                        <a:t>贴片焊接：芯片</a:t>
                      </a:r>
                      <a:r>
                        <a:rPr lang="en-US" sz="1200" b="1" kern="0">
                          <a:effectLst/>
                        </a:rPr>
                        <a:t>/</a:t>
                      </a:r>
                      <a:r>
                        <a:rPr lang="zh-CN" sz="1200" b="1" kern="0">
                          <a:effectLst/>
                        </a:rPr>
                        <a:t>电容</a:t>
                      </a:r>
                      <a:r>
                        <a:rPr lang="en-US" sz="1200" b="1" kern="0">
                          <a:effectLst/>
                        </a:rPr>
                        <a:t>/</a:t>
                      </a:r>
                      <a:r>
                        <a:rPr lang="zh-CN" sz="1200" b="1" kern="0">
                          <a:effectLst/>
                        </a:rPr>
                        <a:t>电阻等焊接和设计</a:t>
                      </a:r>
                      <a:endParaRPr lang="zh-CN" sz="1200" b="1" kern="10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ctr"/>
                      <a:r>
                        <a:rPr lang="en-US" sz="1200" b="1" kern="0" dirty="0">
                          <a:effectLst/>
                        </a:rPr>
                        <a:t>3</a:t>
                      </a:r>
                      <a:endParaRPr lang="zh-CN" sz="12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ctr"/>
                      <a:r>
                        <a:rPr lang="en-US" sz="1200" b="1" kern="0" dirty="0">
                          <a:effectLst/>
                        </a:rPr>
                        <a:t>12</a:t>
                      </a:r>
                      <a:r>
                        <a:rPr lang="zh-CN" sz="1200" b="1" kern="0" dirty="0">
                          <a:effectLst/>
                        </a:rPr>
                        <a:t>月</a:t>
                      </a:r>
                      <a:r>
                        <a:rPr lang="en-US" altLang="zh-CN" sz="1200" b="1" kern="0" dirty="0">
                          <a:effectLst/>
                        </a:rPr>
                        <a:t>10</a:t>
                      </a:r>
                      <a:r>
                        <a:rPr lang="zh-CN" sz="1200" b="1" kern="0" dirty="0">
                          <a:effectLst/>
                        </a:rPr>
                        <a:t>日，</a:t>
                      </a:r>
                      <a:r>
                        <a:rPr lang="en-US" altLang="zh-CN" sz="1200" b="1" kern="0" dirty="0">
                          <a:solidFill>
                            <a:srgbClr val="FF0000"/>
                          </a:solidFill>
                          <a:effectLst/>
                        </a:rPr>
                        <a:t>10-12</a:t>
                      </a:r>
                      <a:r>
                        <a:rPr lang="zh-CN" altLang="zh-CN" sz="1200" b="1" kern="0" dirty="0">
                          <a:solidFill>
                            <a:srgbClr val="FF0000"/>
                          </a:solidFill>
                          <a:effectLst/>
                        </a:rPr>
                        <a:t>节</a:t>
                      </a:r>
                      <a:endParaRPr lang="zh-CN" sz="12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zh-CN" altLang="zh-CN" sz="1200" b="1" i="0" u="none" strike="noStrike" kern="0" cap="none" spc="0" normalizeH="0" baseline="0" noProof="0">
                          <a:ln>
                            <a:noFill/>
                          </a:ln>
                          <a:solidFill>
                            <a:prstClr val="black"/>
                          </a:solidFill>
                          <a:effectLst/>
                          <a:uLnTx/>
                          <a:uFillTx/>
                          <a:latin typeface="Century Gothic" panose="020B0502020202020204"/>
                          <a:ea typeface="等线" panose="02010600030101010101" pitchFamily="2" charset="-122"/>
                          <a:cs typeface="+mn-cs"/>
                        </a:rPr>
                        <a:t>第</a:t>
                      </a:r>
                      <a:r>
                        <a:rPr kumimoji="0" lang="en-US" altLang="zh-CN" sz="1200" b="1" i="0" u="none" strike="noStrike" kern="0" cap="none" spc="0" normalizeH="0" baseline="0" noProof="0">
                          <a:ln>
                            <a:noFill/>
                          </a:ln>
                          <a:solidFill>
                            <a:prstClr val="black"/>
                          </a:solidFill>
                          <a:effectLst/>
                          <a:uLnTx/>
                          <a:uFillTx/>
                          <a:latin typeface="Century Gothic" panose="020B0502020202020204"/>
                          <a:ea typeface="等线" panose="02010600030101010101" pitchFamily="2" charset="-122"/>
                          <a:cs typeface="+mn-cs"/>
                        </a:rPr>
                        <a:t>8</a:t>
                      </a:r>
                      <a:r>
                        <a:rPr kumimoji="0" lang="zh-CN" altLang="zh-CN" sz="1200" b="1" i="0" u="none" strike="noStrike" kern="0" cap="none" spc="0" normalizeH="0" baseline="0" noProof="0">
                          <a:ln>
                            <a:noFill/>
                          </a:ln>
                          <a:solidFill>
                            <a:prstClr val="black"/>
                          </a:solidFill>
                          <a:effectLst/>
                          <a:uLnTx/>
                          <a:uFillTx/>
                          <a:latin typeface="Century Gothic" panose="020B0502020202020204"/>
                          <a:ea typeface="等线" panose="02010600030101010101" pitchFamily="2" charset="-122"/>
                          <a:cs typeface="+mn-cs"/>
                        </a:rPr>
                        <a:t>教学楼</a:t>
                      </a:r>
                      <a:r>
                        <a:rPr kumimoji="0" lang="en-US" altLang="zh-CN" sz="1200" b="1" i="0" u="none" strike="noStrike" kern="0" cap="none" spc="0" normalizeH="0" baseline="0" noProof="0">
                          <a:ln>
                            <a:noFill/>
                          </a:ln>
                          <a:solidFill>
                            <a:srgbClr val="FF0000"/>
                          </a:solidFill>
                          <a:effectLst/>
                          <a:uLnTx/>
                          <a:uFillTx/>
                          <a:latin typeface="Century Gothic" panose="020B0502020202020204"/>
                          <a:ea typeface="等线" panose="02010600030101010101" pitchFamily="2" charset="-122"/>
                          <a:cs typeface="+mn-cs"/>
                        </a:rPr>
                        <a:t>308</a:t>
                      </a:r>
                      <a:endParaRPr kumimoji="0" lang="zh-CN" altLang="zh-CN" sz="1200" b="1"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extLst>
                  <a:ext uri="{0D108BD9-81ED-4DB2-BD59-A6C34878D82A}">
                    <a16:rowId xmlns:a16="http://schemas.microsoft.com/office/drawing/2014/main" val="3766844585"/>
                  </a:ext>
                </a:extLst>
              </a:tr>
              <a:tr h="564143">
                <a:tc>
                  <a:txBody>
                    <a:bodyPr/>
                    <a:lstStyle/>
                    <a:p>
                      <a:pPr algn="ctr"/>
                      <a:r>
                        <a:rPr lang="en-US" sz="800" kern="0">
                          <a:effectLst/>
                        </a:rPr>
                        <a:t>10</a:t>
                      </a:r>
                      <a:endParaRPr lang="zh-CN" sz="800" kern="10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l"/>
                      <a:r>
                        <a:rPr lang="zh-CN" sz="1200" b="1" kern="0">
                          <a:effectLst/>
                        </a:rPr>
                        <a:t>测试及验收</a:t>
                      </a:r>
                      <a:br>
                        <a:rPr lang="en-US" sz="1200" b="1" kern="0">
                          <a:effectLst/>
                        </a:rPr>
                      </a:br>
                      <a:r>
                        <a:rPr lang="zh-CN" sz="1200" b="1" kern="0">
                          <a:effectLst/>
                        </a:rPr>
                        <a:t>插件元件焊接</a:t>
                      </a:r>
                      <a:br>
                        <a:rPr lang="en-US" sz="1200" b="1" kern="0">
                          <a:effectLst/>
                        </a:rPr>
                      </a:br>
                      <a:r>
                        <a:rPr lang="zh-CN" sz="1200" b="1" kern="0">
                          <a:effectLst/>
                        </a:rPr>
                        <a:t>功放测试和验收（打分</a:t>
                      </a:r>
                      <a:r>
                        <a:rPr lang="en-US" sz="1200" b="1" kern="0">
                          <a:effectLst/>
                        </a:rPr>
                        <a:t>20</a:t>
                      </a:r>
                      <a:r>
                        <a:rPr lang="zh-CN" sz="1200" b="1" kern="0">
                          <a:effectLst/>
                        </a:rPr>
                        <a:t>）</a:t>
                      </a:r>
                      <a:endParaRPr lang="zh-CN" sz="1200" b="1" kern="10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ctr"/>
                      <a:r>
                        <a:rPr lang="en-US" sz="1200" b="1" kern="0">
                          <a:effectLst/>
                        </a:rPr>
                        <a:t>3</a:t>
                      </a:r>
                      <a:endParaRPr lang="zh-CN" sz="1200" b="1" kern="10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ctr"/>
                      <a:r>
                        <a:rPr lang="en-US" sz="1200" b="1" kern="0" dirty="0">
                          <a:effectLst/>
                        </a:rPr>
                        <a:t>12</a:t>
                      </a:r>
                      <a:r>
                        <a:rPr lang="zh-CN" sz="1200" b="1" kern="0" dirty="0">
                          <a:effectLst/>
                        </a:rPr>
                        <a:t>月</a:t>
                      </a:r>
                      <a:r>
                        <a:rPr lang="en-US" sz="1200" b="1" kern="0" dirty="0">
                          <a:effectLst/>
                        </a:rPr>
                        <a:t>1</a:t>
                      </a:r>
                      <a:r>
                        <a:rPr lang="en-US" altLang="zh-CN" sz="1200" b="1" kern="0" dirty="0">
                          <a:effectLst/>
                        </a:rPr>
                        <a:t>7</a:t>
                      </a:r>
                      <a:r>
                        <a:rPr lang="zh-CN" sz="1200" b="1" kern="0" dirty="0">
                          <a:effectLst/>
                        </a:rPr>
                        <a:t>日，</a:t>
                      </a:r>
                      <a:r>
                        <a:rPr lang="en-US" altLang="zh-CN" sz="1200" b="1" kern="0" dirty="0">
                          <a:solidFill>
                            <a:srgbClr val="FF0000"/>
                          </a:solidFill>
                          <a:effectLst/>
                        </a:rPr>
                        <a:t>10-12</a:t>
                      </a:r>
                      <a:r>
                        <a:rPr lang="zh-CN" altLang="zh-CN" sz="1200" b="1" kern="0" dirty="0">
                          <a:solidFill>
                            <a:srgbClr val="FF0000"/>
                          </a:solidFill>
                          <a:effectLst/>
                        </a:rPr>
                        <a:t>节</a:t>
                      </a:r>
                      <a:endParaRPr lang="zh-CN" sz="12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zh-CN" altLang="zh-CN" sz="1200" b="1" i="0" u="none" strike="noStrike" kern="0" cap="none" spc="0" normalizeH="0" baseline="0" noProof="0">
                          <a:ln>
                            <a:noFill/>
                          </a:ln>
                          <a:solidFill>
                            <a:prstClr val="black"/>
                          </a:solidFill>
                          <a:effectLst/>
                          <a:uLnTx/>
                          <a:uFillTx/>
                          <a:latin typeface="Century Gothic" panose="020B0502020202020204"/>
                          <a:ea typeface="等线" panose="02010600030101010101" pitchFamily="2" charset="-122"/>
                          <a:cs typeface="+mn-cs"/>
                        </a:rPr>
                        <a:t>第</a:t>
                      </a:r>
                      <a:r>
                        <a:rPr kumimoji="0" lang="en-US" altLang="zh-CN" sz="1200" b="1" i="0" u="none" strike="noStrike" kern="0" cap="none" spc="0" normalizeH="0" baseline="0" noProof="0">
                          <a:ln>
                            <a:noFill/>
                          </a:ln>
                          <a:solidFill>
                            <a:prstClr val="black"/>
                          </a:solidFill>
                          <a:effectLst/>
                          <a:uLnTx/>
                          <a:uFillTx/>
                          <a:latin typeface="Century Gothic" panose="020B0502020202020204"/>
                          <a:ea typeface="等线" panose="02010600030101010101" pitchFamily="2" charset="-122"/>
                          <a:cs typeface="+mn-cs"/>
                        </a:rPr>
                        <a:t>8</a:t>
                      </a:r>
                      <a:r>
                        <a:rPr kumimoji="0" lang="zh-CN" altLang="zh-CN" sz="1200" b="1" i="0" u="none" strike="noStrike" kern="0" cap="none" spc="0" normalizeH="0" baseline="0" noProof="0">
                          <a:ln>
                            <a:noFill/>
                          </a:ln>
                          <a:solidFill>
                            <a:prstClr val="black"/>
                          </a:solidFill>
                          <a:effectLst/>
                          <a:uLnTx/>
                          <a:uFillTx/>
                          <a:latin typeface="Century Gothic" panose="020B0502020202020204"/>
                          <a:ea typeface="等线" panose="02010600030101010101" pitchFamily="2" charset="-122"/>
                          <a:cs typeface="+mn-cs"/>
                        </a:rPr>
                        <a:t>教学楼</a:t>
                      </a:r>
                      <a:r>
                        <a:rPr kumimoji="0" lang="en-US" altLang="zh-CN" sz="1200" b="1" i="0" u="none" strike="noStrike" kern="0" cap="none" spc="0" normalizeH="0" baseline="0" noProof="0">
                          <a:ln>
                            <a:noFill/>
                          </a:ln>
                          <a:solidFill>
                            <a:srgbClr val="FF0000"/>
                          </a:solidFill>
                          <a:effectLst/>
                          <a:uLnTx/>
                          <a:uFillTx/>
                          <a:latin typeface="Century Gothic" panose="020B0502020202020204"/>
                          <a:ea typeface="等线" panose="02010600030101010101" pitchFamily="2" charset="-122"/>
                          <a:cs typeface="+mn-cs"/>
                        </a:rPr>
                        <a:t>308</a:t>
                      </a:r>
                      <a:endParaRPr kumimoji="0" lang="zh-CN" altLang="zh-CN" sz="1200" b="1"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extLst>
                  <a:ext uri="{0D108BD9-81ED-4DB2-BD59-A6C34878D82A}">
                    <a16:rowId xmlns:a16="http://schemas.microsoft.com/office/drawing/2014/main" val="2458142694"/>
                  </a:ext>
                </a:extLst>
              </a:tr>
              <a:tr h="405675">
                <a:tc>
                  <a:txBody>
                    <a:bodyPr/>
                    <a:lstStyle/>
                    <a:p>
                      <a:pPr algn="ctr"/>
                      <a:r>
                        <a:rPr lang="en-US" sz="800" kern="0">
                          <a:effectLst/>
                        </a:rPr>
                        <a:t>11</a:t>
                      </a:r>
                      <a:endParaRPr lang="zh-CN" sz="800" kern="10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ctr"/>
                      <a:r>
                        <a:rPr lang="zh-CN" sz="1200" b="1" kern="0">
                          <a:effectLst/>
                        </a:rPr>
                        <a:t>考核验收交报告</a:t>
                      </a:r>
                      <a:endParaRPr lang="zh-CN" sz="1200" b="1" kern="10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ctr"/>
                      <a:r>
                        <a:rPr lang="en-US" sz="1200" b="1" kern="0">
                          <a:effectLst/>
                        </a:rPr>
                        <a:t>3</a:t>
                      </a:r>
                      <a:endParaRPr lang="zh-CN" sz="1200" b="1" kern="10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ctr"/>
                      <a:r>
                        <a:rPr lang="en-US" sz="1200" b="1" kern="0" dirty="0">
                          <a:effectLst/>
                        </a:rPr>
                        <a:t>12</a:t>
                      </a:r>
                      <a:r>
                        <a:rPr lang="zh-CN" sz="1200" b="1" kern="0" dirty="0">
                          <a:effectLst/>
                        </a:rPr>
                        <a:t>月</a:t>
                      </a:r>
                      <a:r>
                        <a:rPr lang="en-US" sz="1200" b="1" kern="0" dirty="0">
                          <a:effectLst/>
                        </a:rPr>
                        <a:t>2</a:t>
                      </a:r>
                      <a:r>
                        <a:rPr lang="en-US" altLang="zh-CN" sz="1200" b="1" kern="0" dirty="0">
                          <a:effectLst/>
                        </a:rPr>
                        <a:t>4</a:t>
                      </a:r>
                      <a:r>
                        <a:rPr lang="zh-CN" sz="1200" b="1" kern="0" dirty="0">
                          <a:effectLst/>
                        </a:rPr>
                        <a:t>日，</a:t>
                      </a:r>
                      <a:r>
                        <a:rPr lang="en-US" altLang="zh-CN" sz="1200" b="1" kern="0" dirty="0">
                          <a:solidFill>
                            <a:srgbClr val="FF0000"/>
                          </a:solidFill>
                          <a:effectLst/>
                        </a:rPr>
                        <a:t>10-12</a:t>
                      </a:r>
                      <a:r>
                        <a:rPr lang="zh-CN" altLang="zh-CN" sz="1200" b="1" kern="0" dirty="0">
                          <a:solidFill>
                            <a:srgbClr val="FF0000"/>
                          </a:solidFill>
                          <a:effectLst/>
                        </a:rPr>
                        <a:t>节</a:t>
                      </a:r>
                      <a:endParaRPr lang="zh-CN" sz="12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zh-CN" altLang="zh-CN" sz="1200" b="1" i="0" u="none" strike="noStrike" kern="0" cap="none" spc="0" normalizeH="0" baseline="0" noProof="0" dirty="0">
                          <a:ln>
                            <a:noFill/>
                          </a:ln>
                          <a:solidFill>
                            <a:prstClr val="black"/>
                          </a:solidFill>
                          <a:effectLst/>
                          <a:uLnTx/>
                          <a:uFillTx/>
                          <a:latin typeface="Century Gothic" panose="020B0502020202020204"/>
                          <a:ea typeface="等线" panose="02010600030101010101" pitchFamily="2" charset="-122"/>
                          <a:cs typeface="+mn-cs"/>
                        </a:rPr>
                        <a:t>第</a:t>
                      </a:r>
                      <a:r>
                        <a:rPr kumimoji="0" lang="en-US" altLang="zh-CN" sz="1200" b="1" i="0" u="none" strike="noStrike" kern="0" cap="none" spc="0" normalizeH="0" baseline="0" noProof="0" dirty="0">
                          <a:ln>
                            <a:noFill/>
                          </a:ln>
                          <a:solidFill>
                            <a:prstClr val="black"/>
                          </a:solidFill>
                          <a:effectLst/>
                          <a:uLnTx/>
                          <a:uFillTx/>
                          <a:latin typeface="Century Gothic" panose="020B0502020202020204"/>
                          <a:ea typeface="等线" panose="02010600030101010101" pitchFamily="2" charset="-122"/>
                          <a:cs typeface="+mn-cs"/>
                        </a:rPr>
                        <a:t>8</a:t>
                      </a:r>
                      <a:r>
                        <a:rPr kumimoji="0" lang="zh-CN" altLang="zh-CN" sz="1200" b="1" i="0" u="none" strike="noStrike" kern="0" cap="none" spc="0" normalizeH="0" baseline="0" noProof="0" dirty="0">
                          <a:ln>
                            <a:noFill/>
                          </a:ln>
                          <a:solidFill>
                            <a:prstClr val="black"/>
                          </a:solidFill>
                          <a:effectLst/>
                          <a:uLnTx/>
                          <a:uFillTx/>
                          <a:latin typeface="Century Gothic" panose="020B0502020202020204"/>
                          <a:ea typeface="等线" panose="02010600030101010101" pitchFamily="2" charset="-122"/>
                          <a:cs typeface="+mn-cs"/>
                        </a:rPr>
                        <a:t>教学楼</a:t>
                      </a:r>
                      <a:r>
                        <a:rPr kumimoji="0" lang="en-US" altLang="zh-CN" sz="1200" b="1" i="0" u="none" strike="noStrike" kern="0" cap="none" spc="0" normalizeH="0" baseline="0" noProof="0" dirty="0">
                          <a:ln>
                            <a:noFill/>
                          </a:ln>
                          <a:solidFill>
                            <a:srgbClr val="FF0000"/>
                          </a:solidFill>
                          <a:effectLst/>
                          <a:uLnTx/>
                          <a:uFillTx/>
                          <a:latin typeface="Century Gothic" panose="020B0502020202020204"/>
                          <a:ea typeface="等线" panose="02010600030101010101" pitchFamily="2" charset="-122"/>
                          <a:cs typeface="+mn-cs"/>
                        </a:rPr>
                        <a:t>308</a:t>
                      </a:r>
                      <a:endParaRPr kumimoji="0" lang="zh-CN" altLang="zh-CN" sz="1200" b="1" i="0" u="none" strike="noStrike" kern="100" cap="none" spc="0" normalizeH="0" baseline="0" noProof="0" dirty="0">
                        <a:ln>
                          <a:noFill/>
                        </a:ln>
                        <a:solidFill>
                          <a:srgbClr val="FF0000"/>
                        </a:solidFill>
                        <a:effectLst/>
                        <a:uLnTx/>
                        <a:uFillTx/>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extLst>
                  <a:ext uri="{0D108BD9-81ED-4DB2-BD59-A6C34878D82A}">
                    <a16:rowId xmlns:a16="http://schemas.microsoft.com/office/drawing/2014/main" val="2834721286"/>
                  </a:ext>
                </a:extLst>
              </a:tr>
            </a:tbl>
          </a:graphicData>
        </a:graphic>
      </p:graphicFrame>
      <p:graphicFrame>
        <p:nvGraphicFramePr>
          <p:cNvPr id="8" name="表格 7">
            <a:extLst>
              <a:ext uri="{FF2B5EF4-FFF2-40B4-BE49-F238E27FC236}">
                <a16:creationId xmlns:a16="http://schemas.microsoft.com/office/drawing/2014/main" id="{0DE2F5E6-6603-1A34-D821-894BFAE1F6E4}"/>
              </a:ext>
            </a:extLst>
          </p:cNvPr>
          <p:cNvGraphicFramePr>
            <a:graphicFrameLocks noGrp="1"/>
          </p:cNvGraphicFramePr>
          <p:nvPr>
            <p:extLst>
              <p:ext uri="{D42A27DB-BD31-4B8C-83A1-F6EECF244321}">
                <p14:modId xmlns:p14="http://schemas.microsoft.com/office/powerpoint/2010/main" val="3715060622"/>
              </p:ext>
            </p:extLst>
          </p:nvPr>
        </p:nvGraphicFramePr>
        <p:xfrm>
          <a:off x="6444208" y="1096814"/>
          <a:ext cx="2592288" cy="4546819"/>
        </p:xfrm>
        <a:graphic>
          <a:graphicData uri="http://schemas.openxmlformats.org/drawingml/2006/table">
            <a:tbl>
              <a:tblPr firstRow="1" firstCol="1" bandRow="1">
                <a:tableStyleId>{69012ECD-51FC-41F1-AA8D-1B2483CD663E}</a:tableStyleId>
              </a:tblPr>
              <a:tblGrid>
                <a:gridCol w="2592288">
                  <a:extLst>
                    <a:ext uri="{9D8B030D-6E8A-4147-A177-3AD203B41FA5}">
                      <a16:colId xmlns:a16="http://schemas.microsoft.com/office/drawing/2014/main" val="1554056100"/>
                    </a:ext>
                  </a:extLst>
                </a:gridCol>
              </a:tblGrid>
              <a:tr h="1005949">
                <a:tc>
                  <a:txBody>
                    <a:bodyPr/>
                    <a:lstStyle/>
                    <a:p>
                      <a:pPr algn="ctr"/>
                      <a:r>
                        <a:rPr lang="zh-CN" sz="1600" kern="0" dirty="0">
                          <a:effectLst/>
                        </a:rPr>
                        <a:t>考 核 方 式</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4022986469"/>
                  </a:ext>
                </a:extLst>
              </a:tr>
              <a:tr h="926798">
                <a:tc>
                  <a:txBody>
                    <a:bodyPr/>
                    <a:lstStyle/>
                    <a:p>
                      <a:pPr algn="l"/>
                      <a:r>
                        <a:rPr lang="zh-CN" sz="1600" kern="0" dirty="0">
                          <a:effectLst/>
                        </a:rPr>
                        <a:t>课程为非考试课程，考核方式为电路工艺设计、焊接和验收</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64663123"/>
                  </a:ext>
                </a:extLst>
              </a:tr>
              <a:tr h="1507428">
                <a:tc>
                  <a:txBody>
                    <a:bodyPr/>
                    <a:lstStyle/>
                    <a:p>
                      <a:pPr algn="l"/>
                      <a:r>
                        <a:rPr lang="en-US" sz="1600" kern="0" dirty="0">
                          <a:effectLst/>
                        </a:rPr>
                        <a:t> </a:t>
                      </a:r>
                      <a:r>
                        <a:rPr lang="zh-CN" sz="1600" kern="0" dirty="0">
                          <a:effectLst/>
                        </a:rPr>
                        <a:t>平时成绩</a:t>
                      </a:r>
                      <a:r>
                        <a:rPr lang="en-US" sz="1600" kern="0" dirty="0">
                          <a:effectLst/>
                        </a:rPr>
                        <a:t>(60%)</a:t>
                      </a:r>
                      <a:r>
                        <a:rPr lang="zh-CN" altLang="en-US" sz="1600" kern="0" dirty="0">
                          <a:effectLst/>
                        </a:rPr>
                        <a:t>：</a:t>
                      </a:r>
                      <a:endParaRPr lang="en-US" sz="1600" kern="0" dirty="0">
                        <a:effectLst/>
                      </a:endParaRPr>
                    </a:p>
                    <a:p>
                      <a:pPr algn="l"/>
                      <a:r>
                        <a:rPr lang="zh-CN" sz="1600" kern="0" dirty="0">
                          <a:solidFill>
                            <a:srgbClr val="FF0000"/>
                          </a:solidFill>
                          <a:effectLst/>
                        </a:rPr>
                        <a:t>插件焊接</a:t>
                      </a:r>
                      <a:r>
                        <a:rPr lang="en-US" sz="1600" kern="0" dirty="0">
                          <a:solidFill>
                            <a:srgbClr val="FF0000"/>
                          </a:solidFill>
                          <a:effectLst/>
                        </a:rPr>
                        <a:t>(15%) +</a:t>
                      </a:r>
                      <a:r>
                        <a:rPr lang="zh-CN" sz="1600" kern="0" dirty="0">
                          <a:solidFill>
                            <a:srgbClr val="FF0000"/>
                          </a:solidFill>
                          <a:effectLst/>
                        </a:rPr>
                        <a:t>贴片焊接</a:t>
                      </a:r>
                      <a:r>
                        <a:rPr lang="en-US" sz="1600" kern="0" dirty="0">
                          <a:solidFill>
                            <a:srgbClr val="FF0000"/>
                          </a:solidFill>
                          <a:effectLst/>
                        </a:rPr>
                        <a:t>1(15%)+</a:t>
                      </a:r>
                      <a:r>
                        <a:rPr lang="zh-CN" sz="1600" kern="0" dirty="0">
                          <a:solidFill>
                            <a:srgbClr val="FF0000"/>
                          </a:solidFill>
                          <a:effectLst/>
                        </a:rPr>
                        <a:t>回流焊</a:t>
                      </a:r>
                      <a:r>
                        <a:rPr lang="en-US" sz="1600" kern="0" dirty="0">
                          <a:solidFill>
                            <a:srgbClr val="FF0000"/>
                          </a:solidFill>
                          <a:effectLst/>
                        </a:rPr>
                        <a:t>(15%)+</a:t>
                      </a:r>
                      <a:r>
                        <a:rPr lang="zh-CN" sz="1600" kern="0" dirty="0">
                          <a:solidFill>
                            <a:srgbClr val="FF0000"/>
                          </a:solidFill>
                          <a:effectLst/>
                        </a:rPr>
                        <a:t>电路板图纸</a:t>
                      </a:r>
                      <a:r>
                        <a:rPr lang="en-US" sz="1600" kern="0" dirty="0">
                          <a:solidFill>
                            <a:srgbClr val="FF0000"/>
                          </a:solidFill>
                          <a:effectLst/>
                        </a:rPr>
                        <a:t>(15%)</a:t>
                      </a:r>
                      <a:endParaRPr lang="zh-CN" sz="16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040304310"/>
                  </a:ext>
                </a:extLst>
              </a:tr>
              <a:tr h="1106644">
                <a:tc>
                  <a:txBody>
                    <a:bodyPr/>
                    <a:lstStyle/>
                    <a:p>
                      <a:pPr algn="l"/>
                      <a:r>
                        <a:rPr lang="en-US" sz="1600" kern="0" dirty="0">
                          <a:effectLst/>
                        </a:rPr>
                        <a:t> </a:t>
                      </a:r>
                      <a:r>
                        <a:rPr lang="zh-CN" sz="1600" kern="0" dirty="0">
                          <a:effectLst/>
                        </a:rPr>
                        <a:t>实验成绩</a:t>
                      </a:r>
                      <a:r>
                        <a:rPr lang="en-US" sz="1600" kern="0" dirty="0">
                          <a:effectLst/>
                        </a:rPr>
                        <a:t>(40%)</a:t>
                      </a:r>
                      <a:r>
                        <a:rPr lang="zh-CN" altLang="en-US" sz="1600" kern="0" dirty="0">
                          <a:effectLst/>
                        </a:rPr>
                        <a:t>：</a:t>
                      </a:r>
                      <a:endParaRPr lang="en-US" altLang="zh-CN" sz="1600" kern="0" dirty="0">
                        <a:effectLst/>
                      </a:endParaRPr>
                    </a:p>
                    <a:p>
                      <a:pPr algn="l"/>
                      <a:r>
                        <a:rPr lang="zh-CN" sz="1600" kern="0" dirty="0">
                          <a:solidFill>
                            <a:srgbClr val="FF0000"/>
                          </a:solidFill>
                          <a:effectLst/>
                        </a:rPr>
                        <a:t>验收</a:t>
                      </a:r>
                      <a:r>
                        <a:rPr lang="en-US" sz="1600" kern="0" dirty="0">
                          <a:solidFill>
                            <a:srgbClr val="FF0000"/>
                          </a:solidFill>
                          <a:effectLst/>
                        </a:rPr>
                        <a:t>1(30%)+</a:t>
                      </a:r>
                      <a:r>
                        <a:rPr lang="zh-CN" sz="1600" kern="0" dirty="0">
                          <a:solidFill>
                            <a:srgbClr val="FF0000"/>
                          </a:solidFill>
                          <a:effectLst/>
                        </a:rPr>
                        <a:t>报告</a:t>
                      </a:r>
                      <a:r>
                        <a:rPr lang="en-US" sz="1600" kern="0" dirty="0">
                          <a:solidFill>
                            <a:srgbClr val="FF0000"/>
                          </a:solidFill>
                          <a:effectLst/>
                        </a:rPr>
                        <a:t>(10%)</a:t>
                      </a:r>
                      <a:endParaRPr lang="zh-CN" sz="16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652222961"/>
                  </a:ext>
                </a:extLst>
              </a:tr>
            </a:tbl>
          </a:graphicData>
        </a:graphic>
      </p:graphicFrame>
      <p:sp>
        <p:nvSpPr>
          <p:cNvPr id="9" name="文本框 8">
            <a:extLst>
              <a:ext uri="{FF2B5EF4-FFF2-40B4-BE49-F238E27FC236}">
                <a16:creationId xmlns:a16="http://schemas.microsoft.com/office/drawing/2014/main" id="{D934B6CF-2214-5B25-D19F-7092E0FE6E40}"/>
              </a:ext>
            </a:extLst>
          </p:cNvPr>
          <p:cNvSpPr txBox="1"/>
          <p:nvPr/>
        </p:nvSpPr>
        <p:spPr>
          <a:xfrm>
            <a:off x="4525224" y="637728"/>
            <a:ext cx="1918984" cy="369332"/>
          </a:xfrm>
          <a:prstGeom prst="rect">
            <a:avLst/>
          </a:prstGeom>
          <a:noFill/>
        </p:spPr>
        <p:txBody>
          <a:bodyPr wrap="square">
            <a:spAutoFit/>
          </a:bodyPr>
          <a:lstStyle/>
          <a:p>
            <a:r>
              <a:rPr lang="zh-CN" altLang="en-US" dirty="0"/>
              <a:t>周二上课安排</a:t>
            </a:r>
          </a:p>
        </p:txBody>
      </p:sp>
    </p:spTree>
    <p:extLst>
      <p:ext uri="{BB962C8B-B14F-4D97-AF65-F5344CB8AC3E}">
        <p14:creationId xmlns:p14="http://schemas.microsoft.com/office/powerpoint/2010/main" val="8676480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49BF68D-A741-6346-AA49-84492F908518}"/>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FF880EAA-0D52-9368-364B-7F797644798D}"/>
              </a:ext>
            </a:extLst>
          </p:cNvPr>
          <p:cNvSpPr>
            <a:spLocks noGrp="1"/>
          </p:cNvSpPr>
          <p:nvPr>
            <p:ph idx="1"/>
          </p:nvPr>
        </p:nvSpPr>
        <p:spPr/>
        <p:txBody>
          <a:bodyPr/>
          <a:lstStyle/>
          <a:p>
            <a:endParaRPr lang="zh-CN" altLang="en-US"/>
          </a:p>
        </p:txBody>
      </p:sp>
      <p:sp>
        <p:nvSpPr>
          <p:cNvPr id="4" name="灯片编号占位符 3">
            <a:extLst>
              <a:ext uri="{FF2B5EF4-FFF2-40B4-BE49-F238E27FC236}">
                <a16:creationId xmlns:a16="http://schemas.microsoft.com/office/drawing/2014/main" id="{430C99A4-23CE-3E64-653C-67493A590885}"/>
              </a:ext>
            </a:extLst>
          </p:cNvPr>
          <p:cNvSpPr>
            <a:spLocks noGrp="1"/>
          </p:cNvSpPr>
          <p:nvPr>
            <p:ph type="sldNum" sz="quarter" idx="12"/>
          </p:nvPr>
        </p:nvSpPr>
        <p:spPr/>
        <p:txBody>
          <a:bodyPr/>
          <a:lstStyle/>
          <a:p>
            <a:pPr>
              <a:defRPr/>
            </a:pPr>
            <a:fld id="{5FAFB815-62BA-464E-901C-79D108092E38}" type="slidenum">
              <a:rPr lang="zh-CN" altLang="en-US" smtClean="0"/>
              <a:pPr>
                <a:defRPr/>
              </a:pPr>
              <a:t>7</a:t>
            </a:fld>
            <a:endParaRPr lang="en-US" altLang="zh-CN"/>
          </a:p>
        </p:txBody>
      </p:sp>
      <p:sp>
        <p:nvSpPr>
          <p:cNvPr id="13" name="标题 1">
            <a:extLst>
              <a:ext uri="{FF2B5EF4-FFF2-40B4-BE49-F238E27FC236}">
                <a16:creationId xmlns:a16="http://schemas.microsoft.com/office/drawing/2014/main" id="{3293B622-92E3-3EE9-B14F-EF2BB8379E97}"/>
              </a:ext>
            </a:extLst>
          </p:cNvPr>
          <p:cNvSpPr txBox="1">
            <a:spLocks/>
          </p:cNvSpPr>
          <p:nvPr/>
        </p:nvSpPr>
        <p:spPr>
          <a:xfrm>
            <a:off x="107503" y="232717"/>
            <a:ext cx="6120680" cy="864097"/>
          </a:xfrm>
          <a:prstGeom prst="rect">
            <a:avLst/>
          </a:prstGeom>
          <a:solidFill>
            <a:schemeClr val="bg1">
              <a:lumMod val="95000"/>
            </a:schemeClr>
          </a:solidFill>
        </p:spPr>
        <p:txBody>
          <a:bodyPr vert="horz" lIns="91440" tIns="45720" rIns="91440" bIns="0" rtlCol="0" anchor="b">
            <a:normAutofit fontScale="97500" lnSpcReduction="10000"/>
          </a:bodyPr>
          <a:lstStyle>
            <a:lvl1pPr algn="l" defTabSz="685800" rtl="0" eaLnBrk="1" latinLnBrk="0" hangingPunct="1">
              <a:lnSpc>
                <a:spcPct val="90000"/>
              </a:lnSpc>
              <a:spcBef>
                <a:spcPct val="0"/>
              </a:spcBef>
              <a:buNone/>
              <a:defRPr sz="3200" b="0" i="0" kern="1200" cap="none">
                <a:solidFill>
                  <a:schemeClr val="tx1"/>
                </a:solidFill>
                <a:effectLst/>
                <a:latin typeface="+mj-lt"/>
                <a:ea typeface="+mj-ea"/>
                <a:cs typeface="+mj-cs"/>
              </a:defRPr>
            </a:lvl1pPr>
          </a:lstStyle>
          <a:p>
            <a:r>
              <a:rPr lang="zh-CN" altLang="en-US" sz="6600" b="1">
                <a:latin typeface="宋体" pitchFamily="2" charset="-122"/>
              </a:rPr>
              <a:t>授课计划</a:t>
            </a:r>
            <a:endParaRPr lang="zh-CN" altLang="en-US" sz="6600" b="1" dirty="0">
              <a:latin typeface="宋体" pitchFamily="2" charset="-122"/>
            </a:endParaRPr>
          </a:p>
        </p:txBody>
      </p:sp>
      <p:graphicFrame>
        <p:nvGraphicFramePr>
          <p:cNvPr id="14" name="内容占位符 5">
            <a:extLst>
              <a:ext uri="{FF2B5EF4-FFF2-40B4-BE49-F238E27FC236}">
                <a16:creationId xmlns:a16="http://schemas.microsoft.com/office/drawing/2014/main" id="{D1FD944D-EA87-1314-1BF6-5ADCEAA4D7EA}"/>
              </a:ext>
            </a:extLst>
          </p:cNvPr>
          <p:cNvGraphicFramePr>
            <a:graphicFrameLocks/>
          </p:cNvGraphicFramePr>
          <p:nvPr>
            <p:extLst>
              <p:ext uri="{D42A27DB-BD31-4B8C-83A1-F6EECF244321}">
                <p14:modId xmlns:p14="http://schemas.microsoft.com/office/powerpoint/2010/main" val="3127275275"/>
              </p:ext>
            </p:extLst>
          </p:nvPr>
        </p:nvGraphicFramePr>
        <p:xfrm>
          <a:off x="107503" y="1067357"/>
          <a:ext cx="6120680" cy="5595648"/>
        </p:xfrm>
        <a:graphic>
          <a:graphicData uri="http://schemas.openxmlformats.org/drawingml/2006/table">
            <a:tbl>
              <a:tblPr firstRow="1" firstCol="1" bandRow="1">
                <a:tableStyleId>{5C22544A-7EE6-4342-B048-85BDC9FD1C3A}</a:tableStyleId>
              </a:tblPr>
              <a:tblGrid>
                <a:gridCol w="472517">
                  <a:extLst>
                    <a:ext uri="{9D8B030D-6E8A-4147-A177-3AD203B41FA5}">
                      <a16:colId xmlns:a16="http://schemas.microsoft.com/office/drawing/2014/main" val="2264875931"/>
                    </a:ext>
                  </a:extLst>
                </a:gridCol>
                <a:gridCol w="3007702">
                  <a:extLst>
                    <a:ext uri="{9D8B030D-6E8A-4147-A177-3AD203B41FA5}">
                      <a16:colId xmlns:a16="http://schemas.microsoft.com/office/drawing/2014/main" val="2402581592"/>
                    </a:ext>
                  </a:extLst>
                </a:gridCol>
                <a:gridCol w="413757">
                  <a:extLst>
                    <a:ext uri="{9D8B030D-6E8A-4147-A177-3AD203B41FA5}">
                      <a16:colId xmlns:a16="http://schemas.microsoft.com/office/drawing/2014/main" val="293910677"/>
                    </a:ext>
                  </a:extLst>
                </a:gridCol>
                <a:gridCol w="1350222">
                  <a:extLst>
                    <a:ext uri="{9D8B030D-6E8A-4147-A177-3AD203B41FA5}">
                      <a16:colId xmlns:a16="http://schemas.microsoft.com/office/drawing/2014/main" val="3550706121"/>
                    </a:ext>
                  </a:extLst>
                </a:gridCol>
                <a:gridCol w="876482">
                  <a:extLst>
                    <a:ext uri="{9D8B030D-6E8A-4147-A177-3AD203B41FA5}">
                      <a16:colId xmlns:a16="http://schemas.microsoft.com/office/drawing/2014/main" val="1517110943"/>
                    </a:ext>
                  </a:extLst>
                </a:gridCol>
              </a:tblGrid>
              <a:tr h="167329">
                <a:tc gridSpan="5">
                  <a:txBody>
                    <a:bodyPr/>
                    <a:lstStyle/>
                    <a:p>
                      <a:pPr algn="ctr"/>
                      <a:r>
                        <a:rPr lang="zh-CN" sz="800" kern="0" dirty="0">
                          <a:effectLst/>
                        </a:rPr>
                        <a:t>教 学 安 排</a:t>
                      </a:r>
                      <a:endParaRPr lang="zh-CN" sz="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684608759"/>
                  </a:ext>
                </a:extLst>
              </a:tr>
              <a:tr h="212346">
                <a:tc>
                  <a:txBody>
                    <a:bodyPr/>
                    <a:lstStyle/>
                    <a:p>
                      <a:pPr algn="ctr"/>
                      <a:r>
                        <a:rPr lang="zh-CN" sz="800" kern="0">
                          <a:effectLst/>
                        </a:rPr>
                        <a:t>序号</a:t>
                      </a:r>
                      <a:endParaRPr lang="zh-CN" sz="800" kern="10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ctr"/>
                      <a:r>
                        <a:rPr lang="zh-CN" sz="800" kern="0">
                          <a:effectLst/>
                        </a:rPr>
                        <a:t>教</a:t>
                      </a:r>
                      <a:r>
                        <a:rPr lang="en-US" sz="800" kern="0">
                          <a:effectLst/>
                        </a:rPr>
                        <a:t>  </a:t>
                      </a:r>
                      <a:r>
                        <a:rPr lang="zh-CN" sz="800" kern="0">
                          <a:effectLst/>
                        </a:rPr>
                        <a:t>学</a:t>
                      </a:r>
                      <a:r>
                        <a:rPr lang="en-US" sz="800" kern="0">
                          <a:effectLst/>
                        </a:rPr>
                        <a:t>  </a:t>
                      </a:r>
                      <a:r>
                        <a:rPr lang="zh-CN" sz="800" kern="0">
                          <a:effectLst/>
                        </a:rPr>
                        <a:t>内</a:t>
                      </a:r>
                      <a:r>
                        <a:rPr lang="en-US" sz="800" kern="0">
                          <a:effectLst/>
                        </a:rPr>
                        <a:t>  </a:t>
                      </a:r>
                      <a:r>
                        <a:rPr lang="zh-CN" sz="800" kern="0">
                          <a:effectLst/>
                        </a:rPr>
                        <a:t>容</a:t>
                      </a:r>
                      <a:endParaRPr lang="zh-CN" sz="800" kern="10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ctr"/>
                      <a:r>
                        <a:rPr lang="zh-CN" sz="800" kern="0">
                          <a:effectLst/>
                        </a:rPr>
                        <a:t>学时</a:t>
                      </a:r>
                      <a:endParaRPr lang="zh-CN" sz="800" kern="10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ctr"/>
                      <a:r>
                        <a:rPr lang="zh-CN" sz="800" kern="0">
                          <a:effectLst/>
                        </a:rPr>
                        <a:t>时间</a:t>
                      </a:r>
                      <a:endParaRPr lang="zh-CN" sz="800" kern="10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ctr"/>
                      <a:r>
                        <a:rPr lang="zh-CN" sz="800" kern="0">
                          <a:effectLst/>
                        </a:rPr>
                        <a:t>地点</a:t>
                      </a:r>
                      <a:endParaRPr lang="zh-CN" sz="800" kern="10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extLst>
                  <a:ext uri="{0D108BD9-81ED-4DB2-BD59-A6C34878D82A}">
                    <a16:rowId xmlns:a16="http://schemas.microsoft.com/office/drawing/2014/main" val="1698239561"/>
                  </a:ext>
                </a:extLst>
              </a:tr>
              <a:tr h="276734">
                <a:tc>
                  <a:txBody>
                    <a:bodyPr/>
                    <a:lstStyle/>
                    <a:p>
                      <a:pPr algn="ctr"/>
                      <a:r>
                        <a:rPr lang="en-US" sz="800" kern="0">
                          <a:effectLst/>
                        </a:rPr>
                        <a:t>1</a:t>
                      </a:r>
                      <a:endParaRPr lang="zh-CN" sz="800" kern="10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l"/>
                      <a:r>
                        <a:rPr lang="zh-CN" sz="1200" b="1" kern="0" dirty="0">
                          <a:effectLst/>
                        </a:rPr>
                        <a:t>常用电子元器件的认知，讲解元器件知识</a:t>
                      </a:r>
                      <a:endParaRPr lang="zh-CN" sz="12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ctr"/>
                      <a:r>
                        <a:rPr lang="en-US" sz="1200" b="1" kern="0">
                          <a:effectLst/>
                        </a:rPr>
                        <a:t>2</a:t>
                      </a:r>
                      <a:endParaRPr lang="zh-CN" sz="1200" b="1" kern="10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ctr"/>
                      <a:r>
                        <a:rPr lang="en-US" sz="1200" b="1" kern="0" dirty="0">
                          <a:effectLst/>
                        </a:rPr>
                        <a:t>10</a:t>
                      </a:r>
                      <a:r>
                        <a:rPr lang="zh-CN" sz="1200" b="1" kern="0" dirty="0">
                          <a:effectLst/>
                        </a:rPr>
                        <a:t>月</a:t>
                      </a:r>
                      <a:r>
                        <a:rPr lang="en-US" sz="1200" b="1" kern="0" dirty="0">
                          <a:solidFill>
                            <a:srgbClr val="FF0000"/>
                          </a:solidFill>
                          <a:effectLst/>
                        </a:rPr>
                        <a:t>1</a:t>
                      </a:r>
                      <a:r>
                        <a:rPr lang="en-US" altLang="zh-CN" sz="1200" b="1" kern="0" dirty="0">
                          <a:solidFill>
                            <a:srgbClr val="FF0000"/>
                          </a:solidFill>
                          <a:effectLst/>
                        </a:rPr>
                        <a:t>7</a:t>
                      </a:r>
                      <a:r>
                        <a:rPr lang="zh-CN" sz="1200" b="1" kern="0" dirty="0">
                          <a:solidFill>
                            <a:srgbClr val="FF0000"/>
                          </a:solidFill>
                          <a:effectLst/>
                        </a:rPr>
                        <a:t>日</a:t>
                      </a:r>
                      <a:r>
                        <a:rPr lang="zh-CN" sz="1200" b="1" kern="0" dirty="0">
                          <a:effectLst/>
                        </a:rPr>
                        <a:t>，</a:t>
                      </a:r>
                      <a:r>
                        <a:rPr lang="en-US" sz="1200" b="1" kern="0" dirty="0">
                          <a:solidFill>
                            <a:srgbClr val="FF0000"/>
                          </a:solidFill>
                          <a:effectLst/>
                        </a:rPr>
                        <a:t>3-5</a:t>
                      </a:r>
                      <a:r>
                        <a:rPr lang="zh-CN" sz="1200" b="1" kern="0" dirty="0">
                          <a:solidFill>
                            <a:srgbClr val="FF0000"/>
                          </a:solidFill>
                          <a:effectLst/>
                        </a:rPr>
                        <a:t>节</a:t>
                      </a:r>
                      <a:endParaRPr lang="zh-CN" sz="1200" b="1"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ctr"/>
                      <a:r>
                        <a:rPr lang="zh-CN" sz="1200" b="1" kern="0" dirty="0">
                          <a:effectLst/>
                        </a:rPr>
                        <a:t>第</a:t>
                      </a:r>
                      <a:r>
                        <a:rPr lang="en-US" sz="1200" b="1" kern="0" dirty="0">
                          <a:effectLst/>
                        </a:rPr>
                        <a:t>8</a:t>
                      </a:r>
                      <a:r>
                        <a:rPr lang="zh-CN" sz="1200" b="1" kern="0" dirty="0">
                          <a:effectLst/>
                        </a:rPr>
                        <a:t>教学楼</a:t>
                      </a:r>
                      <a:r>
                        <a:rPr lang="en-US" sz="1200" b="1" kern="0" dirty="0">
                          <a:solidFill>
                            <a:srgbClr val="FF0000"/>
                          </a:solidFill>
                          <a:effectLst/>
                        </a:rPr>
                        <a:t>306</a:t>
                      </a:r>
                      <a:endParaRPr lang="zh-CN" sz="1200" b="1"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extLst>
                  <a:ext uri="{0D108BD9-81ED-4DB2-BD59-A6C34878D82A}">
                    <a16:rowId xmlns:a16="http://schemas.microsoft.com/office/drawing/2014/main" val="337303409"/>
                  </a:ext>
                </a:extLst>
              </a:tr>
              <a:tr h="276734">
                <a:tc>
                  <a:txBody>
                    <a:bodyPr/>
                    <a:lstStyle/>
                    <a:p>
                      <a:pPr algn="ctr"/>
                      <a:r>
                        <a:rPr lang="en-US" sz="800" kern="0">
                          <a:effectLst/>
                        </a:rPr>
                        <a:t>2</a:t>
                      </a:r>
                      <a:endParaRPr lang="zh-CN" sz="800" kern="10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l"/>
                      <a:r>
                        <a:rPr lang="zh-CN" sz="1200" b="1" kern="0" dirty="0">
                          <a:effectLst/>
                        </a:rPr>
                        <a:t>插件焊接工艺讲解，焊接电阻、跳线，讲解焊点问题。</a:t>
                      </a:r>
                      <a:endParaRPr lang="zh-CN" sz="12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ctr"/>
                      <a:r>
                        <a:rPr lang="en-US" sz="1200" b="1" kern="0">
                          <a:effectLst/>
                        </a:rPr>
                        <a:t>3</a:t>
                      </a:r>
                      <a:endParaRPr lang="zh-CN" sz="1200" b="1" kern="10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ctr"/>
                      <a:r>
                        <a:rPr lang="en-US" sz="1200" b="1" kern="0" dirty="0">
                          <a:effectLst/>
                        </a:rPr>
                        <a:t>10</a:t>
                      </a:r>
                      <a:r>
                        <a:rPr lang="zh-CN" sz="1200" b="1" kern="0" dirty="0">
                          <a:effectLst/>
                        </a:rPr>
                        <a:t>月</a:t>
                      </a:r>
                      <a:r>
                        <a:rPr lang="en-US" sz="1200" b="1" kern="0" dirty="0">
                          <a:effectLst/>
                        </a:rPr>
                        <a:t>2</a:t>
                      </a:r>
                      <a:r>
                        <a:rPr lang="en-US" altLang="zh-CN" sz="1200" b="1" kern="0" dirty="0">
                          <a:effectLst/>
                        </a:rPr>
                        <a:t>4</a:t>
                      </a:r>
                      <a:r>
                        <a:rPr lang="zh-CN" sz="1200" b="1" kern="0" dirty="0">
                          <a:effectLst/>
                        </a:rPr>
                        <a:t>日，</a:t>
                      </a:r>
                      <a:r>
                        <a:rPr lang="en-US" sz="1200" b="1" kern="0" dirty="0">
                          <a:effectLst/>
                        </a:rPr>
                        <a:t>3-5</a:t>
                      </a:r>
                      <a:r>
                        <a:rPr lang="zh-CN" sz="1200" b="1" kern="0" dirty="0">
                          <a:effectLst/>
                        </a:rPr>
                        <a:t>节</a:t>
                      </a:r>
                      <a:endParaRPr lang="zh-CN" sz="12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ctr"/>
                      <a:r>
                        <a:rPr lang="zh-CN" sz="1200" b="1" kern="0">
                          <a:effectLst/>
                        </a:rPr>
                        <a:t>第</a:t>
                      </a:r>
                      <a:r>
                        <a:rPr lang="en-US" sz="1200" b="1" kern="0">
                          <a:effectLst/>
                        </a:rPr>
                        <a:t>8</a:t>
                      </a:r>
                      <a:r>
                        <a:rPr lang="zh-CN" sz="1200" b="1" kern="0">
                          <a:effectLst/>
                        </a:rPr>
                        <a:t>教学楼</a:t>
                      </a:r>
                      <a:r>
                        <a:rPr lang="en-US" sz="1200" b="1" kern="0">
                          <a:effectLst/>
                        </a:rPr>
                        <a:t>306</a:t>
                      </a:r>
                      <a:endParaRPr lang="zh-CN" sz="1200" b="1" kern="10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extLst>
                  <a:ext uri="{0D108BD9-81ED-4DB2-BD59-A6C34878D82A}">
                    <a16:rowId xmlns:a16="http://schemas.microsoft.com/office/drawing/2014/main" val="3884306835"/>
                  </a:ext>
                </a:extLst>
              </a:tr>
              <a:tr h="276734">
                <a:tc>
                  <a:txBody>
                    <a:bodyPr/>
                    <a:lstStyle/>
                    <a:p>
                      <a:pPr algn="ctr"/>
                      <a:r>
                        <a:rPr lang="en-US" sz="800" kern="0">
                          <a:effectLst/>
                        </a:rPr>
                        <a:t>3</a:t>
                      </a:r>
                      <a:endParaRPr lang="zh-CN" sz="800" kern="10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l"/>
                      <a:r>
                        <a:rPr lang="zh-CN" sz="1200" b="1" kern="0" dirty="0">
                          <a:effectLst/>
                        </a:rPr>
                        <a:t>插件电容、二极管、电感等焊接</a:t>
                      </a:r>
                      <a:endParaRPr lang="zh-CN" sz="12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ctr"/>
                      <a:r>
                        <a:rPr lang="en-US" sz="1200" b="1" kern="0">
                          <a:effectLst/>
                        </a:rPr>
                        <a:t>3</a:t>
                      </a:r>
                      <a:endParaRPr lang="zh-CN" sz="1200" b="1" kern="10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ctr"/>
                      <a:r>
                        <a:rPr lang="en-US" sz="1200" b="1" kern="0" dirty="0">
                          <a:effectLst/>
                        </a:rPr>
                        <a:t>10</a:t>
                      </a:r>
                      <a:r>
                        <a:rPr lang="zh-CN" sz="1200" b="1" kern="0" dirty="0">
                          <a:effectLst/>
                        </a:rPr>
                        <a:t>月</a:t>
                      </a:r>
                      <a:r>
                        <a:rPr lang="en-US" altLang="zh-CN" sz="1200" b="1" kern="0" dirty="0">
                          <a:effectLst/>
                        </a:rPr>
                        <a:t>31</a:t>
                      </a:r>
                      <a:r>
                        <a:rPr lang="zh-CN" sz="1200" b="1" kern="0" dirty="0">
                          <a:effectLst/>
                        </a:rPr>
                        <a:t>日，</a:t>
                      </a:r>
                      <a:r>
                        <a:rPr lang="en-US" sz="1200" b="1" kern="0" dirty="0">
                          <a:effectLst/>
                        </a:rPr>
                        <a:t>3-5</a:t>
                      </a:r>
                      <a:r>
                        <a:rPr lang="zh-CN" sz="1200" b="1" kern="0" dirty="0">
                          <a:effectLst/>
                        </a:rPr>
                        <a:t>节</a:t>
                      </a:r>
                      <a:endParaRPr lang="zh-CN" sz="12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ctr"/>
                      <a:r>
                        <a:rPr lang="zh-CN" sz="1200" b="1" kern="0">
                          <a:effectLst/>
                        </a:rPr>
                        <a:t>第</a:t>
                      </a:r>
                      <a:r>
                        <a:rPr lang="en-US" sz="1200" b="1" kern="0">
                          <a:effectLst/>
                        </a:rPr>
                        <a:t>8</a:t>
                      </a:r>
                      <a:r>
                        <a:rPr lang="zh-CN" sz="1200" b="1" kern="0">
                          <a:effectLst/>
                        </a:rPr>
                        <a:t>教学楼</a:t>
                      </a:r>
                      <a:r>
                        <a:rPr lang="en-US" sz="1200" b="1" kern="0">
                          <a:effectLst/>
                        </a:rPr>
                        <a:t>306</a:t>
                      </a:r>
                      <a:endParaRPr lang="zh-CN" sz="1200" b="1" kern="10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extLst>
                  <a:ext uri="{0D108BD9-81ED-4DB2-BD59-A6C34878D82A}">
                    <a16:rowId xmlns:a16="http://schemas.microsoft.com/office/drawing/2014/main" val="3598617656"/>
                  </a:ext>
                </a:extLst>
              </a:tr>
              <a:tr h="405675">
                <a:tc>
                  <a:txBody>
                    <a:bodyPr/>
                    <a:lstStyle/>
                    <a:p>
                      <a:pPr algn="ctr"/>
                      <a:r>
                        <a:rPr lang="en-US" sz="800" kern="0">
                          <a:effectLst/>
                        </a:rPr>
                        <a:t>4</a:t>
                      </a:r>
                      <a:endParaRPr lang="zh-CN" sz="800" kern="10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l"/>
                      <a:r>
                        <a:rPr lang="zh-CN" sz="1200" b="1" kern="0" dirty="0">
                          <a:effectLst/>
                        </a:rPr>
                        <a:t>贴片焊接工艺讲解，手工焊接</a:t>
                      </a:r>
                      <a:r>
                        <a:rPr lang="en-US" sz="1200" b="1" kern="0" dirty="0">
                          <a:effectLst/>
                        </a:rPr>
                        <a:t>0805</a:t>
                      </a:r>
                      <a:r>
                        <a:rPr lang="zh-CN" sz="1200" b="1" kern="0" dirty="0">
                          <a:effectLst/>
                        </a:rPr>
                        <a:t>贴片电阻</a:t>
                      </a:r>
                      <a:r>
                        <a:rPr lang="en-US" sz="1200" b="1" kern="0" dirty="0">
                          <a:effectLst/>
                        </a:rPr>
                        <a:t>/</a:t>
                      </a:r>
                      <a:r>
                        <a:rPr lang="zh-CN" sz="1200" b="1" kern="0" dirty="0">
                          <a:effectLst/>
                        </a:rPr>
                        <a:t>电容等，讲解焊点问题。</a:t>
                      </a:r>
                      <a:endParaRPr lang="zh-CN" sz="12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ctr"/>
                      <a:r>
                        <a:rPr lang="en-US" sz="1200" b="1" kern="0" dirty="0">
                          <a:effectLst/>
                        </a:rPr>
                        <a:t>3</a:t>
                      </a:r>
                      <a:endParaRPr lang="zh-CN" sz="12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ctr"/>
                      <a:r>
                        <a:rPr lang="en-US" sz="1200" b="1" kern="0" dirty="0">
                          <a:effectLst/>
                        </a:rPr>
                        <a:t>11</a:t>
                      </a:r>
                      <a:r>
                        <a:rPr lang="zh-CN" sz="1200" b="1" kern="0" dirty="0">
                          <a:effectLst/>
                        </a:rPr>
                        <a:t>月</a:t>
                      </a:r>
                      <a:r>
                        <a:rPr lang="en-US" altLang="zh-CN" sz="1200" b="1" kern="0" dirty="0">
                          <a:effectLst/>
                        </a:rPr>
                        <a:t>7</a:t>
                      </a:r>
                      <a:r>
                        <a:rPr lang="zh-CN" sz="1200" b="1" kern="0" dirty="0">
                          <a:effectLst/>
                        </a:rPr>
                        <a:t>日，</a:t>
                      </a:r>
                      <a:r>
                        <a:rPr lang="en-US" sz="1200" b="1" kern="0" dirty="0">
                          <a:effectLst/>
                        </a:rPr>
                        <a:t>3-5</a:t>
                      </a:r>
                      <a:r>
                        <a:rPr lang="zh-CN" sz="1200" b="1" kern="0" dirty="0">
                          <a:effectLst/>
                        </a:rPr>
                        <a:t>节</a:t>
                      </a:r>
                      <a:endParaRPr lang="zh-CN" sz="12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ctr"/>
                      <a:r>
                        <a:rPr lang="zh-CN" sz="1200" b="1" kern="0">
                          <a:effectLst/>
                        </a:rPr>
                        <a:t>第</a:t>
                      </a:r>
                      <a:r>
                        <a:rPr lang="en-US" sz="1200" b="1" kern="0">
                          <a:effectLst/>
                        </a:rPr>
                        <a:t>8</a:t>
                      </a:r>
                      <a:r>
                        <a:rPr lang="zh-CN" sz="1200" b="1" kern="0">
                          <a:effectLst/>
                        </a:rPr>
                        <a:t>教学楼</a:t>
                      </a:r>
                      <a:r>
                        <a:rPr lang="en-US" sz="1200" b="1" kern="0">
                          <a:effectLst/>
                        </a:rPr>
                        <a:t>306</a:t>
                      </a:r>
                      <a:endParaRPr lang="zh-CN" sz="1200" b="1" kern="10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extLst>
                  <a:ext uri="{0D108BD9-81ED-4DB2-BD59-A6C34878D82A}">
                    <a16:rowId xmlns:a16="http://schemas.microsoft.com/office/drawing/2014/main" val="376645637"/>
                  </a:ext>
                </a:extLst>
              </a:tr>
              <a:tr h="276734">
                <a:tc>
                  <a:txBody>
                    <a:bodyPr/>
                    <a:lstStyle/>
                    <a:p>
                      <a:pPr algn="ctr"/>
                      <a:r>
                        <a:rPr lang="en-US" sz="800" kern="0">
                          <a:effectLst/>
                        </a:rPr>
                        <a:t>5</a:t>
                      </a:r>
                      <a:endParaRPr lang="zh-CN" sz="800" kern="10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l"/>
                      <a:r>
                        <a:rPr lang="zh-CN" sz="1200" b="1" kern="0">
                          <a:effectLst/>
                        </a:rPr>
                        <a:t>贴片手工焊接</a:t>
                      </a:r>
                      <a:r>
                        <a:rPr lang="en-US" sz="1200" b="1" kern="0">
                          <a:effectLst/>
                        </a:rPr>
                        <a:t>0603</a:t>
                      </a:r>
                      <a:r>
                        <a:rPr lang="zh-CN" sz="1200" b="1" kern="0">
                          <a:effectLst/>
                        </a:rPr>
                        <a:t>、</a:t>
                      </a:r>
                      <a:r>
                        <a:rPr lang="en-US" sz="1200" b="1" kern="0">
                          <a:effectLst/>
                        </a:rPr>
                        <a:t>0402</a:t>
                      </a:r>
                      <a:r>
                        <a:rPr lang="zh-CN" sz="1200" b="1" kern="0">
                          <a:effectLst/>
                        </a:rPr>
                        <a:t>材料等</a:t>
                      </a:r>
                      <a:endParaRPr lang="zh-CN" sz="1200" b="1" kern="10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ctr"/>
                      <a:r>
                        <a:rPr lang="en-US" sz="1200" b="1" kern="0" dirty="0">
                          <a:effectLst/>
                        </a:rPr>
                        <a:t>3</a:t>
                      </a:r>
                      <a:endParaRPr lang="zh-CN" sz="12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ctr"/>
                      <a:r>
                        <a:rPr lang="en-US" sz="1200" b="1" kern="0" dirty="0">
                          <a:effectLst/>
                        </a:rPr>
                        <a:t>11</a:t>
                      </a:r>
                      <a:r>
                        <a:rPr lang="zh-CN" sz="1200" b="1" kern="0" dirty="0">
                          <a:effectLst/>
                        </a:rPr>
                        <a:t>月</a:t>
                      </a:r>
                      <a:r>
                        <a:rPr lang="en-US" sz="1200" b="1" kern="0" dirty="0">
                          <a:effectLst/>
                        </a:rPr>
                        <a:t>1</a:t>
                      </a:r>
                      <a:r>
                        <a:rPr lang="en-US" altLang="zh-CN" sz="1200" b="1" kern="0" dirty="0">
                          <a:effectLst/>
                        </a:rPr>
                        <a:t>4</a:t>
                      </a:r>
                      <a:r>
                        <a:rPr lang="zh-CN" sz="1200" b="1" kern="0" dirty="0">
                          <a:effectLst/>
                        </a:rPr>
                        <a:t>日，</a:t>
                      </a:r>
                      <a:r>
                        <a:rPr lang="en-US" sz="1200" b="1" kern="0" dirty="0">
                          <a:effectLst/>
                        </a:rPr>
                        <a:t>3-5</a:t>
                      </a:r>
                      <a:r>
                        <a:rPr lang="zh-CN" sz="1200" b="1" kern="0" dirty="0">
                          <a:effectLst/>
                        </a:rPr>
                        <a:t>节</a:t>
                      </a:r>
                      <a:endParaRPr lang="zh-CN" sz="12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ctr"/>
                      <a:r>
                        <a:rPr lang="zh-CN" sz="1200" b="1" kern="0">
                          <a:effectLst/>
                        </a:rPr>
                        <a:t>第</a:t>
                      </a:r>
                      <a:r>
                        <a:rPr lang="en-US" sz="1200" b="1" kern="0">
                          <a:effectLst/>
                        </a:rPr>
                        <a:t>8</a:t>
                      </a:r>
                      <a:r>
                        <a:rPr lang="zh-CN" sz="1200" b="1" kern="0">
                          <a:effectLst/>
                        </a:rPr>
                        <a:t>教学楼</a:t>
                      </a:r>
                      <a:r>
                        <a:rPr lang="en-US" sz="1200" b="1" kern="0">
                          <a:effectLst/>
                        </a:rPr>
                        <a:t>306</a:t>
                      </a:r>
                      <a:endParaRPr lang="zh-CN" sz="1200" b="1" kern="10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extLst>
                  <a:ext uri="{0D108BD9-81ED-4DB2-BD59-A6C34878D82A}">
                    <a16:rowId xmlns:a16="http://schemas.microsoft.com/office/drawing/2014/main" val="1184978006"/>
                  </a:ext>
                </a:extLst>
              </a:tr>
              <a:tr h="439240">
                <a:tc>
                  <a:txBody>
                    <a:bodyPr/>
                    <a:lstStyle/>
                    <a:p>
                      <a:pPr algn="ctr"/>
                      <a:r>
                        <a:rPr lang="en-US" sz="800" kern="0">
                          <a:effectLst/>
                        </a:rPr>
                        <a:t>6</a:t>
                      </a:r>
                      <a:endParaRPr lang="zh-CN" sz="800" kern="10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l"/>
                      <a:r>
                        <a:rPr lang="zh-CN" sz="1200" b="1" kern="0" dirty="0">
                          <a:effectLst/>
                        </a:rPr>
                        <a:t>回流焊练习：</a:t>
                      </a:r>
                      <a:br>
                        <a:rPr lang="en-US" sz="1200" b="1" kern="0" dirty="0">
                          <a:effectLst/>
                        </a:rPr>
                      </a:br>
                      <a:r>
                        <a:rPr lang="zh-CN" sz="1200" b="1" kern="0" dirty="0">
                          <a:effectLst/>
                        </a:rPr>
                        <a:t>讲解回流焊工艺；统一刷锡膏；发放贴片材料；放回流焊炉。</a:t>
                      </a:r>
                      <a:endParaRPr lang="zh-CN" sz="12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ctr"/>
                      <a:r>
                        <a:rPr lang="en-US" sz="1200" b="1" kern="0">
                          <a:effectLst/>
                        </a:rPr>
                        <a:t>3</a:t>
                      </a:r>
                      <a:endParaRPr lang="zh-CN" sz="1200" b="1" kern="10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ctr"/>
                      <a:r>
                        <a:rPr lang="en-US" sz="1200" b="1" kern="0" dirty="0">
                          <a:effectLst/>
                        </a:rPr>
                        <a:t>11</a:t>
                      </a:r>
                      <a:r>
                        <a:rPr lang="zh-CN" sz="1200" b="1" kern="0" dirty="0">
                          <a:effectLst/>
                        </a:rPr>
                        <a:t>月</a:t>
                      </a:r>
                      <a:r>
                        <a:rPr lang="en-US" altLang="zh-CN" sz="1200" b="1" kern="0" dirty="0">
                          <a:effectLst/>
                        </a:rPr>
                        <a:t>21</a:t>
                      </a:r>
                      <a:r>
                        <a:rPr lang="zh-CN" sz="1200" b="1" kern="0" dirty="0">
                          <a:effectLst/>
                        </a:rPr>
                        <a:t>日，</a:t>
                      </a:r>
                      <a:r>
                        <a:rPr lang="en-US" sz="1200" b="1" kern="0" dirty="0">
                          <a:effectLst/>
                        </a:rPr>
                        <a:t>3-5</a:t>
                      </a:r>
                      <a:r>
                        <a:rPr lang="zh-CN" sz="1200" b="1" kern="0" dirty="0">
                          <a:effectLst/>
                        </a:rPr>
                        <a:t>节</a:t>
                      </a:r>
                      <a:endParaRPr lang="zh-CN" sz="12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ctr"/>
                      <a:r>
                        <a:rPr lang="zh-CN" sz="1200" b="1" kern="0" dirty="0">
                          <a:effectLst/>
                        </a:rPr>
                        <a:t>第</a:t>
                      </a:r>
                      <a:r>
                        <a:rPr lang="en-US" sz="1200" b="1" kern="0" dirty="0">
                          <a:effectLst/>
                        </a:rPr>
                        <a:t>8</a:t>
                      </a:r>
                      <a:r>
                        <a:rPr lang="zh-CN" sz="1200" b="1" kern="0" dirty="0">
                          <a:effectLst/>
                        </a:rPr>
                        <a:t>教学楼</a:t>
                      </a:r>
                      <a:r>
                        <a:rPr lang="en-US" sz="1200" b="1" kern="0" dirty="0">
                          <a:effectLst/>
                        </a:rPr>
                        <a:t>306</a:t>
                      </a:r>
                      <a:endParaRPr lang="zh-CN" sz="12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extLst>
                  <a:ext uri="{0D108BD9-81ED-4DB2-BD59-A6C34878D82A}">
                    <a16:rowId xmlns:a16="http://schemas.microsoft.com/office/drawing/2014/main" val="1786845452"/>
                  </a:ext>
                </a:extLst>
              </a:tr>
              <a:tr h="1011021">
                <a:tc>
                  <a:txBody>
                    <a:bodyPr/>
                    <a:lstStyle/>
                    <a:p>
                      <a:pPr algn="ctr"/>
                      <a:r>
                        <a:rPr lang="en-US" sz="800" kern="0">
                          <a:effectLst/>
                        </a:rPr>
                        <a:t>7</a:t>
                      </a:r>
                      <a:endParaRPr lang="zh-CN" sz="800" kern="10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l"/>
                      <a:r>
                        <a:rPr lang="zh-CN" sz="1200" b="1" kern="0" dirty="0">
                          <a:effectLst/>
                        </a:rPr>
                        <a:t>有源音箱电路原理图讲解及作图方法讲解，作图，收图纸。（</a:t>
                      </a:r>
                      <a:r>
                        <a:rPr lang="en-US" sz="1200" b="1" kern="0" dirty="0">
                          <a:effectLst/>
                        </a:rPr>
                        <a:t>45</a:t>
                      </a:r>
                      <a:r>
                        <a:rPr lang="zh-CN" sz="1200" b="1" kern="0" dirty="0">
                          <a:effectLst/>
                        </a:rPr>
                        <a:t>分钟）</a:t>
                      </a:r>
                      <a:br>
                        <a:rPr lang="en-US" sz="1200" b="1" kern="0" dirty="0">
                          <a:effectLst/>
                        </a:rPr>
                      </a:br>
                      <a:r>
                        <a:rPr lang="zh-CN" sz="1200" b="1" kern="0" dirty="0">
                          <a:effectLst/>
                        </a:rPr>
                        <a:t>回流焊测试：（</a:t>
                      </a:r>
                      <a:r>
                        <a:rPr lang="en-US" sz="1200" b="1" kern="0" dirty="0">
                          <a:effectLst/>
                        </a:rPr>
                        <a:t>90</a:t>
                      </a:r>
                      <a:r>
                        <a:rPr lang="zh-CN" sz="1200" b="1" kern="0" dirty="0">
                          <a:effectLst/>
                        </a:rPr>
                        <a:t>分钟）</a:t>
                      </a:r>
                      <a:br>
                        <a:rPr lang="en-US" sz="1200" b="1" kern="0" dirty="0">
                          <a:effectLst/>
                        </a:rPr>
                      </a:br>
                      <a:r>
                        <a:rPr lang="zh-CN" sz="1200" b="1" kern="0" dirty="0">
                          <a:effectLst/>
                        </a:rPr>
                        <a:t>上电测试，看</a:t>
                      </a:r>
                      <a:r>
                        <a:rPr lang="en-US" sz="1200" b="1" kern="0" dirty="0">
                          <a:effectLst/>
                        </a:rPr>
                        <a:t>LED</a:t>
                      </a:r>
                      <a:r>
                        <a:rPr lang="zh-CN" sz="1200" b="1" kern="0" dirty="0">
                          <a:effectLst/>
                        </a:rPr>
                        <a:t>灯闪烁；</a:t>
                      </a:r>
                      <a:br>
                        <a:rPr lang="en-US" sz="1200" b="1" kern="0" dirty="0">
                          <a:effectLst/>
                        </a:rPr>
                      </a:br>
                      <a:r>
                        <a:rPr lang="zh-CN" sz="1200" b="1" kern="0" dirty="0">
                          <a:effectLst/>
                        </a:rPr>
                        <a:t>测试通过，练习拆卸换电阻，看闪烁频率；</a:t>
                      </a:r>
                      <a:br>
                        <a:rPr lang="en-US" sz="1200" b="1" kern="0" dirty="0">
                          <a:effectLst/>
                        </a:rPr>
                      </a:br>
                      <a:r>
                        <a:rPr lang="zh-CN" sz="1200" b="1" kern="0" dirty="0">
                          <a:effectLst/>
                        </a:rPr>
                        <a:t>测试不通过，检查维修电路。（打分</a:t>
                      </a:r>
                      <a:r>
                        <a:rPr lang="en-US" sz="1200" b="1" kern="0" dirty="0">
                          <a:effectLst/>
                        </a:rPr>
                        <a:t>15</a:t>
                      </a:r>
                      <a:r>
                        <a:rPr lang="zh-CN" sz="1200" b="1" kern="0" dirty="0">
                          <a:effectLst/>
                        </a:rPr>
                        <a:t>）</a:t>
                      </a:r>
                      <a:endParaRPr lang="zh-CN" sz="12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tc>
                <a:tc>
                  <a:txBody>
                    <a:bodyPr/>
                    <a:lstStyle/>
                    <a:p>
                      <a:pPr algn="ctr"/>
                      <a:r>
                        <a:rPr lang="en-US" sz="1200" b="1" kern="0">
                          <a:effectLst/>
                        </a:rPr>
                        <a:t>3</a:t>
                      </a:r>
                      <a:endParaRPr lang="zh-CN" sz="1200" b="1" kern="10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ctr"/>
                      <a:r>
                        <a:rPr lang="en-US" sz="1200" b="1" kern="0" dirty="0">
                          <a:effectLst/>
                        </a:rPr>
                        <a:t>11</a:t>
                      </a:r>
                      <a:r>
                        <a:rPr lang="zh-CN" sz="1200" b="1" kern="0" dirty="0">
                          <a:effectLst/>
                        </a:rPr>
                        <a:t>月</a:t>
                      </a:r>
                      <a:r>
                        <a:rPr lang="en-US" altLang="zh-CN" sz="1200" b="1" kern="0" dirty="0">
                          <a:effectLst/>
                        </a:rPr>
                        <a:t>28</a:t>
                      </a:r>
                      <a:r>
                        <a:rPr lang="zh-CN" sz="1200" b="1" kern="0" dirty="0">
                          <a:effectLst/>
                        </a:rPr>
                        <a:t>日，</a:t>
                      </a:r>
                      <a:r>
                        <a:rPr lang="en-US" sz="1200" b="1" kern="0" dirty="0">
                          <a:effectLst/>
                        </a:rPr>
                        <a:t>3-5</a:t>
                      </a:r>
                      <a:r>
                        <a:rPr lang="zh-CN" sz="1200" b="1" kern="0" dirty="0">
                          <a:effectLst/>
                        </a:rPr>
                        <a:t>节</a:t>
                      </a:r>
                      <a:endParaRPr lang="zh-CN" sz="12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ctr"/>
                      <a:r>
                        <a:rPr lang="zh-CN" sz="1200" b="1" kern="0" dirty="0">
                          <a:effectLst/>
                        </a:rPr>
                        <a:t>第</a:t>
                      </a:r>
                      <a:r>
                        <a:rPr lang="en-US" sz="1200" b="1" kern="0" dirty="0">
                          <a:effectLst/>
                        </a:rPr>
                        <a:t>8</a:t>
                      </a:r>
                      <a:r>
                        <a:rPr lang="zh-CN" sz="1200" b="1" kern="0" dirty="0">
                          <a:effectLst/>
                        </a:rPr>
                        <a:t>教学楼</a:t>
                      </a:r>
                      <a:r>
                        <a:rPr lang="en-US" sz="1200" b="1" kern="0" dirty="0">
                          <a:effectLst/>
                        </a:rPr>
                        <a:t>306</a:t>
                      </a:r>
                      <a:endParaRPr lang="zh-CN" sz="12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extLst>
                  <a:ext uri="{0D108BD9-81ED-4DB2-BD59-A6C34878D82A}">
                    <a16:rowId xmlns:a16="http://schemas.microsoft.com/office/drawing/2014/main" val="103989436"/>
                  </a:ext>
                </a:extLst>
              </a:tr>
              <a:tr h="276734">
                <a:tc>
                  <a:txBody>
                    <a:bodyPr/>
                    <a:lstStyle/>
                    <a:p>
                      <a:pPr algn="ctr"/>
                      <a:r>
                        <a:rPr lang="en-US" sz="800" kern="0">
                          <a:effectLst/>
                        </a:rPr>
                        <a:t>8</a:t>
                      </a:r>
                      <a:endParaRPr lang="zh-CN" sz="800" kern="10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l"/>
                      <a:r>
                        <a:rPr lang="zh-CN" sz="1200" b="1" kern="0" dirty="0">
                          <a:effectLst/>
                        </a:rPr>
                        <a:t>绘制图纸及验收图纸（打分</a:t>
                      </a:r>
                      <a:r>
                        <a:rPr lang="en-US" sz="1200" b="1" kern="0" dirty="0">
                          <a:effectLst/>
                        </a:rPr>
                        <a:t>15</a:t>
                      </a:r>
                      <a:r>
                        <a:rPr lang="zh-CN" sz="1200" b="1" kern="0" dirty="0">
                          <a:effectLst/>
                        </a:rPr>
                        <a:t>）</a:t>
                      </a:r>
                      <a:endParaRPr lang="zh-CN" sz="12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ctr"/>
                      <a:r>
                        <a:rPr lang="en-US" sz="1200" b="1" kern="0">
                          <a:effectLst/>
                        </a:rPr>
                        <a:t>3</a:t>
                      </a:r>
                      <a:endParaRPr lang="zh-CN" sz="1200" b="1" kern="10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ctr"/>
                      <a:r>
                        <a:rPr lang="en-US" sz="1200" b="1" kern="0" dirty="0">
                          <a:effectLst/>
                        </a:rPr>
                        <a:t>12</a:t>
                      </a:r>
                      <a:r>
                        <a:rPr lang="zh-CN" sz="1200" b="1" kern="0" dirty="0">
                          <a:effectLst/>
                        </a:rPr>
                        <a:t>月</a:t>
                      </a:r>
                      <a:r>
                        <a:rPr lang="en-US" altLang="zh-CN" sz="1200" b="1" kern="0" dirty="0">
                          <a:effectLst/>
                        </a:rPr>
                        <a:t>5</a:t>
                      </a:r>
                      <a:r>
                        <a:rPr lang="zh-CN" sz="1200" b="1" kern="0" dirty="0">
                          <a:effectLst/>
                        </a:rPr>
                        <a:t>日，</a:t>
                      </a:r>
                      <a:r>
                        <a:rPr lang="en-US" sz="1200" b="1" kern="0" dirty="0">
                          <a:effectLst/>
                        </a:rPr>
                        <a:t>3-5</a:t>
                      </a:r>
                      <a:r>
                        <a:rPr lang="zh-CN" sz="1200" b="1" kern="0" dirty="0">
                          <a:effectLst/>
                        </a:rPr>
                        <a:t>节</a:t>
                      </a:r>
                      <a:endParaRPr lang="zh-CN" sz="12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ctr"/>
                      <a:r>
                        <a:rPr lang="zh-CN" sz="1200" b="1" kern="0" dirty="0">
                          <a:effectLst/>
                        </a:rPr>
                        <a:t>第</a:t>
                      </a:r>
                      <a:r>
                        <a:rPr lang="en-US" sz="1200" b="1" kern="0" dirty="0">
                          <a:effectLst/>
                        </a:rPr>
                        <a:t>8</a:t>
                      </a:r>
                      <a:r>
                        <a:rPr lang="zh-CN" sz="1200" b="1" kern="0" dirty="0">
                          <a:effectLst/>
                        </a:rPr>
                        <a:t>教学楼</a:t>
                      </a:r>
                      <a:r>
                        <a:rPr lang="en-US" sz="1200" b="1" kern="0" dirty="0">
                          <a:effectLst/>
                        </a:rPr>
                        <a:t>306</a:t>
                      </a:r>
                      <a:endParaRPr lang="zh-CN" sz="12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extLst>
                  <a:ext uri="{0D108BD9-81ED-4DB2-BD59-A6C34878D82A}">
                    <a16:rowId xmlns:a16="http://schemas.microsoft.com/office/drawing/2014/main" val="2373744100"/>
                  </a:ext>
                </a:extLst>
              </a:tr>
              <a:tr h="292826">
                <a:tc>
                  <a:txBody>
                    <a:bodyPr/>
                    <a:lstStyle/>
                    <a:p>
                      <a:pPr algn="ctr"/>
                      <a:r>
                        <a:rPr lang="en-US" sz="800" kern="0">
                          <a:effectLst/>
                        </a:rPr>
                        <a:t>9</a:t>
                      </a:r>
                      <a:endParaRPr lang="zh-CN" sz="800" kern="10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l"/>
                      <a:r>
                        <a:rPr lang="zh-CN" sz="1200" b="1" kern="0">
                          <a:effectLst/>
                        </a:rPr>
                        <a:t>功放板焊接</a:t>
                      </a:r>
                      <a:br>
                        <a:rPr lang="en-US" sz="1200" b="1" kern="0">
                          <a:effectLst/>
                        </a:rPr>
                      </a:br>
                      <a:r>
                        <a:rPr lang="zh-CN" sz="1200" b="1" kern="0">
                          <a:effectLst/>
                        </a:rPr>
                        <a:t>贴片焊接：芯片</a:t>
                      </a:r>
                      <a:r>
                        <a:rPr lang="en-US" sz="1200" b="1" kern="0">
                          <a:effectLst/>
                        </a:rPr>
                        <a:t>/</a:t>
                      </a:r>
                      <a:r>
                        <a:rPr lang="zh-CN" sz="1200" b="1" kern="0">
                          <a:effectLst/>
                        </a:rPr>
                        <a:t>电容</a:t>
                      </a:r>
                      <a:r>
                        <a:rPr lang="en-US" sz="1200" b="1" kern="0">
                          <a:effectLst/>
                        </a:rPr>
                        <a:t>/</a:t>
                      </a:r>
                      <a:r>
                        <a:rPr lang="zh-CN" sz="1200" b="1" kern="0">
                          <a:effectLst/>
                        </a:rPr>
                        <a:t>电阻等焊接和设计</a:t>
                      </a:r>
                      <a:endParaRPr lang="zh-CN" sz="1200" b="1" kern="10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ctr"/>
                      <a:r>
                        <a:rPr lang="en-US" sz="1200" b="1" kern="0" dirty="0">
                          <a:effectLst/>
                        </a:rPr>
                        <a:t>3</a:t>
                      </a:r>
                      <a:endParaRPr lang="zh-CN" sz="12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ctr"/>
                      <a:r>
                        <a:rPr lang="en-US" sz="1200" b="1" kern="0" dirty="0">
                          <a:effectLst/>
                        </a:rPr>
                        <a:t>12</a:t>
                      </a:r>
                      <a:r>
                        <a:rPr lang="zh-CN" sz="1200" b="1" kern="0" dirty="0">
                          <a:effectLst/>
                        </a:rPr>
                        <a:t>月</a:t>
                      </a:r>
                      <a:r>
                        <a:rPr lang="en-US" altLang="zh-CN" sz="1200" b="1" kern="0" dirty="0">
                          <a:effectLst/>
                        </a:rPr>
                        <a:t>12</a:t>
                      </a:r>
                      <a:r>
                        <a:rPr lang="zh-CN" sz="1200" b="1" kern="0" dirty="0">
                          <a:effectLst/>
                        </a:rPr>
                        <a:t>日，</a:t>
                      </a:r>
                      <a:r>
                        <a:rPr lang="en-US" sz="1200" b="1" kern="0" dirty="0">
                          <a:effectLst/>
                        </a:rPr>
                        <a:t>3-5</a:t>
                      </a:r>
                      <a:r>
                        <a:rPr lang="zh-CN" sz="1200" b="1" kern="0" dirty="0">
                          <a:effectLst/>
                        </a:rPr>
                        <a:t>节</a:t>
                      </a:r>
                      <a:endParaRPr lang="zh-CN" sz="12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ctr"/>
                      <a:r>
                        <a:rPr lang="zh-CN" sz="1200" b="1" kern="0" dirty="0">
                          <a:effectLst/>
                        </a:rPr>
                        <a:t>第</a:t>
                      </a:r>
                      <a:r>
                        <a:rPr lang="en-US" sz="1200" b="1" kern="0" dirty="0">
                          <a:effectLst/>
                        </a:rPr>
                        <a:t>8</a:t>
                      </a:r>
                      <a:r>
                        <a:rPr lang="zh-CN" sz="1200" b="1" kern="0" dirty="0">
                          <a:effectLst/>
                        </a:rPr>
                        <a:t>教学楼</a:t>
                      </a:r>
                      <a:r>
                        <a:rPr lang="en-US" sz="1200" b="1" kern="0" dirty="0">
                          <a:effectLst/>
                        </a:rPr>
                        <a:t>306</a:t>
                      </a:r>
                      <a:endParaRPr lang="zh-CN" sz="12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extLst>
                  <a:ext uri="{0D108BD9-81ED-4DB2-BD59-A6C34878D82A}">
                    <a16:rowId xmlns:a16="http://schemas.microsoft.com/office/drawing/2014/main" val="3766844585"/>
                  </a:ext>
                </a:extLst>
              </a:tr>
              <a:tr h="564143">
                <a:tc>
                  <a:txBody>
                    <a:bodyPr/>
                    <a:lstStyle/>
                    <a:p>
                      <a:pPr algn="ctr"/>
                      <a:r>
                        <a:rPr lang="en-US" sz="800" kern="0">
                          <a:effectLst/>
                        </a:rPr>
                        <a:t>10</a:t>
                      </a:r>
                      <a:endParaRPr lang="zh-CN" sz="800" kern="10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l"/>
                      <a:r>
                        <a:rPr lang="zh-CN" sz="1200" b="1" kern="0">
                          <a:effectLst/>
                        </a:rPr>
                        <a:t>测试及验收</a:t>
                      </a:r>
                      <a:br>
                        <a:rPr lang="en-US" sz="1200" b="1" kern="0">
                          <a:effectLst/>
                        </a:rPr>
                      </a:br>
                      <a:r>
                        <a:rPr lang="zh-CN" sz="1200" b="1" kern="0">
                          <a:effectLst/>
                        </a:rPr>
                        <a:t>插件元件焊接</a:t>
                      </a:r>
                      <a:br>
                        <a:rPr lang="en-US" sz="1200" b="1" kern="0">
                          <a:effectLst/>
                        </a:rPr>
                      </a:br>
                      <a:r>
                        <a:rPr lang="zh-CN" sz="1200" b="1" kern="0">
                          <a:effectLst/>
                        </a:rPr>
                        <a:t>功放测试和验收（打分</a:t>
                      </a:r>
                      <a:r>
                        <a:rPr lang="en-US" sz="1200" b="1" kern="0">
                          <a:effectLst/>
                        </a:rPr>
                        <a:t>20</a:t>
                      </a:r>
                      <a:r>
                        <a:rPr lang="zh-CN" sz="1200" b="1" kern="0">
                          <a:effectLst/>
                        </a:rPr>
                        <a:t>）</a:t>
                      </a:r>
                      <a:endParaRPr lang="zh-CN" sz="1200" b="1" kern="10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ctr"/>
                      <a:r>
                        <a:rPr lang="en-US" sz="1200" b="1" kern="0">
                          <a:effectLst/>
                        </a:rPr>
                        <a:t>3</a:t>
                      </a:r>
                      <a:endParaRPr lang="zh-CN" sz="1200" b="1" kern="10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ctr"/>
                      <a:r>
                        <a:rPr lang="en-US" sz="1200" b="1" kern="0" dirty="0">
                          <a:effectLst/>
                        </a:rPr>
                        <a:t>12</a:t>
                      </a:r>
                      <a:r>
                        <a:rPr lang="zh-CN" sz="1200" b="1" kern="0" dirty="0">
                          <a:effectLst/>
                        </a:rPr>
                        <a:t>月</a:t>
                      </a:r>
                      <a:r>
                        <a:rPr lang="en-US" sz="1200" b="1" kern="0" dirty="0">
                          <a:effectLst/>
                        </a:rPr>
                        <a:t>1</a:t>
                      </a:r>
                      <a:r>
                        <a:rPr lang="en-US" altLang="zh-CN" sz="1200" b="1" kern="0" dirty="0">
                          <a:effectLst/>
                        </a:rPr>
                        <a:t>9</a:t>
                      </a:r>
                      <a:r>
                        <a:rPr lang="zh-CN" sz="1200" b="1" kern="0" dirty="0">
                          <a:effectLst/>
                        </a:rPr>
                        <a:t>日，</a:t>
                      </a:r>
                      <a:r>
                        <a:rPr lang="en-US" sz="1200" b="1" kern="0" dirty="0">
                          <a:effectLst/>
                        </a:rPr>
                        <a:t>3-5</a:t>
                      </a:r>
                      <a:r>
                        <a:rPr lang="zh-CN" sz="1200" b="1" kern="0" dirty="0">
                          <a:effectLst/>
                        </a:rPr>
                        <a:t>节</a:t>
                      </a:r>
                      <a:endParaRPr lang="zh-CN" sz="12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ctr"/>
                      <a:r>
                        <a:rPr lang="zh-CN" sz="1200" b="1" kern="0" dirty="0">
                          <a:effectLst/>
                        </a:rPr>
                        <a:t>第</a:t>
                      </a:r>
                      <a:r>
                        <a:rPr lang="en-US" sz="1200" b="1" kern="0" dirty="0">
                          <a:effectLst/>
                        </a:rPr>
                        <a:t>8</a:t>
                      </a:r>
                      <a:r>
                        <a:rPr lang="zh-CN" sz="1200" b="1" kern="0" dirty="0">
                          <a:effectLst/>
                        </a:rPr>
                        <a:t>教学楼</a:t>
                      </a:r>
                      <a:r>
                        <a:rPr lang="en-US" sz="1200" b="1" kern="0" dirty="0">
                          <a:effectLst/>
                        </a:rPr>
                        <a:t>306</a:t>
                      </a:r>
                      <a:endParaRPr lang="zh-CN" sz="12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extLst>
                  <a:ext uri="{0D108BD9-81ED-4DB2-BD59-A6C34878D82A}">
                    <a16:rowId xmlns:a16="http://schemas.microsoft.com/office/drawing/2014/main" val="2458142694"/>
                  </a:ext>
                </a:extLst>
              </a:tr>
              <a:tr h="405675">
                <a:tc>
                  <a:txBody>
                    <a:bodyPr/>
                    <a:lstStyle/>
                    <a:p>
                      <a:pPr algn="ctr"/>
                      <a:r>
                        <a:rPr lang="en-US" sz="800" kern="0">
                          <a:effectLst/>
                        </a:rPr>
                        <a:t>11</a:t>
                      </a:r>
                      <a:endParaRPr lang="zh-CN" sz="800" kern="10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ctr"/>
                      <a:r>
                        <a:rPr lang="zh-CN" sz="1200" b="1" kern="0">
                          <a:effectLst/>
                        </a:rPr>
                        <a:t>考核验收交报告</a:t>
                      </a:r>
                      <a:endParaRPr lang="zh-CN" sz="1200" b="1" kern="10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ctr"/>
                      <a:r>
                        <a:rPr lang="en-US" sz="1200" b="1" kern="0">
                          <a:effectLst/>
                        </a:rPr>
                        <a:t>3</a:t>
                      </a:r>
                      <a:endParaRPr lang="zh-CN" sz="1200" b="1" kern="10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ctr"/>
                      <a:r>
                        <a:rPr lang="en-US" sz="1200" b="1" kern="0" dirty="0">
                          <a:effectLst/>
                        </a:rPr>
                        <a:t>12</a:t>
                      </a:r>
                      <a:r>
                        <a:rPr lang="zh-CN" sz="1200" b="1" kern="0" dirty="0">
                          <a:effectLst/>
                        </a:rPr>
                        <a:t>月</a:t>
                      </a:r>
                      <a:r>
                        <a:rPr lang="en-US" sz="1200" b="1" kern="0" dirty="0">
                          <a:effectLst/>
                        </a:rPr>
                        <a:t>2</a:t>
                      </a:r>
                      <a:r>
                        <a:rPr lang="en-US" altLang="zh-CN" sz="1200" b="1" kern="0" dirty="0">
                          <a:effectLst/>
                        </a:rPr>
                        <a:t>6</a:t>
                      </a:r>
                      <a:r>
                        <a:rPr lang="zh-CN" sz="1200" b="1" kern="0" dirty="0">
                          <a:effectLst/>
                        </a:rPr>
                        <a:t>日，</a:t>
                      </a:r>
                      <a:r>
                        <a:rPr lang="en-US" sz="1200" b="1" kern="0" dirty="0">
                          <a:effectLst/>
                        </a:rPr>
                        <a:t>3-5</a:t>
                      </a:r>
                      <a:r>
                        <a:rPr lang="zh-CN" sz="1200" b="1" kern="0" dirty="0">
                          <a:effectLst/>
                        </a:rPr>
                        <a:t>节</a:t>
                      </a:r>
                      <a:endParaRPr lang="zh-CN" sz="12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tc>
                  <a:txBody>
                    <a:bodyPr/>
                    <a:lstStyle/>
                    <a:p>
                      <a:pPr algn="ctr"/>
                      <a:r>
                        <a:rPr lang="zh-CN" sz="1200" b="1" kern="0" dirty="0">
                          <a:effectLst/>
                        </a:rPr>
                        <a:t>第</a:t>
                      </a:r>
                      <a:r>
                        <a:rPr lang="en-US" sz="1200" b="1" kern="0" dirty="0">
                          <a:effectLst/>
                        </a:rPr>
                        <a:t>8</a:t>
                      </a:r>
                      <a:r>
                        <a:rPr lang="zh-CN" sz="1200" b="1" kern="0" dirty="0">
                          <a:effectLst/>
                        </a:rPr>
                        <a:t>教学楼</a:t>
                      </a:r>
                      <a:r>
                        <a:rPr lang="en-US" sz="1200" b="1" kern="0" dirty="0">
                          <a:effectLst/>
                        </a:rPr>
                        <a:t>306</a:t>
                      </a:r>
                      <a:endParaRPr lang="zh-CN" sz="12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49880" marR="49880" marT="0" marB="0" anchor="ctr"/>
                </a:tc>
                <a:extLst>
                  <a:ext uri="{0D108BD9-81ED-4DB2-BD59-A6C34878D82A}">
                    <a16:rowId xmlns:a16="http://schemas.microsoft.com/office/drawing/2014/main" val="2834721286"/>
                  </a:ext>
                </a:extLst>
              </a:tr>
            </a:tbl>
          </a:graphicData>
        </a:graphic>
      </p:graphicFrame>
      <p:graphicFrame>
        <p:nvGraphicFramePr>
          <p:cNvPr id="16" name="表格 15">
            <a:extLst>
              <a:ext uri="{FF2B5EF4-FFF2-40B4-BE49-F238E27FC236}">
                <a16:creationId xmlns:a16="http://schemas.microsoft.com/office/drawing/2014/main" id="{19A4D3C8-A30E-6125-20D8-BEC89147AEED}"/>
              </a:ext>
            </a:extLst>
          </p:cNvPr>
          <p:cNvGraphicFramePr>
            <a:graphicFrameLocks noGrp="1"/>
          </p:cNvGraphicFramePr>
          <p:nvPr>
            <p:extLst>
              <p:ext uri="{D42A27DB-BD31-4B8C-83A1-F6EECF244321}">
                <p14:modId xmlns:p14="http://schemas.microsoft.com/office/powerpoint/2010/main" val="3708236886"/>
              </p:ext>
            </p:extLst>
          </p:nvPr>
        </p:nvGraphicFramePr>
        <p:xfrm>
          <a:off x="6444208" y="956172"/>
          <a:ext cx="2592288" cy="4687461"/>
        </p:xfrm>
        <a:graphic>
          <a:graphicData uri="http://schemas.openxmlformats.org/drawingml/2006/table">
            <a:tbl>
              <a:tblPr firstRow="1" firstCol="1" bandRow="1">
                <a:tableStyleId>{69012ECD-51FC-41F1-AA8D-1B2483CD663E}</a:tableStyleId>
              </a:tblPr>
              <a:tblGrid>
                <a:gridCol w="2592288">
                  <a:extLst>
                    <a:ext uri="{9D8B030D-6E8A-4147-A177-3AD203B41FA5}">
                      <a16:colId xmlns:a16="http://schemas.microsoft.com/office/drawing/2014/main" val="1554056100"/>
                    </a:ext>
                  </a:extLst>
                </a:gridCol>
              </a:tblGrid>
              <a:tr h="1037065">
                <a:tc>
                  <a:txBody>
                    <a:bodyPr/>
                    <a:lstStyle/>
                    <a:p>
                      <a:pPr algn="ctr"/>
                      <a:r>
                        <a:rPr lang="zh-CN" sz="1600" kern="0">
                          <a:effectLst/>
                        </a:rPr>
                        <a:t>考 核 方 式</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4022986469"/>
                  </a:ext>
                </a:extLst>
              </a:tr>
              <a:tr h="955465">
                <a:tc>
                  <a:txBody>
                    <a:bodyPr/>
                    <a:lstStyle/>
                    <a:p>
                      <a:pPr algn="l"/>
                      <a:r>
                        <a:rPr lang="zh-CN" sz="1600" kern="0" dirty="0">
                          <a:effectLst/>
                        </a:rPr>
                        <a:t>课程为非考试课程，考核方式为电路工艺设计、焊接和验收</a:t>
                      </a:r>
                      <a:endParaRPr lang="zh-CN" sz="16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64663123"/>
                  </a:ext>
                </a:extLst>
              </a:tr>
              <a:tr h="1554056">
                <a:tc>
                  <a:txBody>
                    <a:bodyPr/>
                    <a:lstStyle/>
                    <a:p>
                      <a:pPr algn="l"/>
                      <a:r>
                        <a:rPr lang="en-US" sz="1600" kern="0" dirty="0">
                          <a:effectLst/>
                        </a:rPr>
                        <a:t> </a:t>
                      </a:r>
                      <a:r>
                        <a:rPr lang="zh-CN" sz="1600" kern="0" dirty="0">
                          <a:effectLst/>
                        </a:rPr>
                        <a:t>平时成绩</a:t>
                      </a:r>
                      <a:r>
                        <a:rPr lang="en-US" sz="1600" kern="0" dirty="0">
                          <a:effectLst/>
                        </a:rPr>
                        <a:t>(60%)</a:t>
                      </a:r>
                      <a:r>
                        <a:rPr lang="zh-CN" altLang="en-US" sz="1600" kern="0" dirty="0">
                          <a:effectLst/>
                        </a:rPr>
                        <a:t>：</a:t>
                      </a:r>
                      <a:endParaRPr lang="en-US" sz="1600" kern="0" dirty="0">
                        <a:effectLst/>
                      </a:endParaRPr>
                    </a:p>
                    <a:p>
                      <a:pPr algn="l"/>
                      <a:r>
                        <a:rPr lang="zh-CN" sz="1600" kern="0" dirty="0">
                          <a:solidFill>
                            <a:srgbClr val="FF0000"/>
                          </a:solidFill>
                          <a:effectLst/>
                        </a:rPr>
                        <a:t>插件焊接</a:t>
                      </a:r>
                      <a:r>
                        <a:rPr lang="en-US" sz="1600" kern="0" dirty="0">
                          <a:solidFill>
                            <a:srgbClr val="FF0000"/>
                          </a:solidFill>
                          <a:effectLst/>
                        </a:rPr>
                        <a:t>(15%) +</a:t>
                      </a:r>
                      <a:r>
                        <a:rPr lang="zh-CN" sz="1600" kern="0" dirty="0">
                          <a:solidFill>
                            <a:srgbClr val="FF0000"/>
                          </a:solidFill>
                          <a:effectLst/>
                        </a:rPr>
                        <a:t>贴片焊接</a:t>
                      </a:r>
                      <a:r>
                        <a:rPr lang="en-US" sz="1600" kern="0" dirty="0">
                          <a:solidFill>
                            <a:srgbClr val="FF0000"/>
                          </a:solidFill>
                          <a:effectLst/>
                        </a:rPr>
                        <a:t>1(15%)+</a:t>
                      </a:r>
                      <a:r>
                        <a:rPr lang="zh-CN" sz="1600" kern="0" dirty="0">
                          <a:solidFill>
                            <a:srgbClr val="FF0000"/>
                          </a:solidFill>
                          <a:effectLst/>
                        </a:rPr>
                        <a:t>回流焊</a:t>
                      </a:r>
                      <a:r>
                        <a:rPr lang="en-US" sz="1600" kern="0" dirty="0">
                          <a:solidFill>
                            <a:srgbClr val="FF0000"/>
                          </a:solidFill>
                          <a:effectLst/>
                        </a:rPr>
                        <a:t>(15%)+</a:t>
                      </a:r>
                      <a:r>
                        <a:rPr lang="zh-CN" sz="1600" kern="0" dirty="0">
                          <a:solidFill>
                            <a:srgbClr val="FF0000"/>
                          </a:solidFill>
                          <a:effectLst/>
                        </a:rPr>
                        <a:t>电路板图纸</a:t>
                      </a:r>
                      <a:r>
                        <a:rPr lang="en-US" sz="1600" kern="0" dirty="0">
                          <a:solidFill>
                            <a:srgbClr val="FF0000"/>
                          </a:solidFill>
                          <a:effectLst/>
                        </a:rPr>
                        <a:t>(15%)</a:t>
                      </a:r>
                      <a:endParaRPr lang="zh-CN" sz="16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040304310"/>
                  </a:ext>
                </a:extLst>
              </a:tr>
              <a:tr h="1140875">
                <a:tc>
                  <a:txBody>
                    <a:bodyPr/>
                    <a:lstStyle/>
                    <a:p>
                      <a:pPr algn="l"/>
                      <a:r>
                        <a:rPr lang="en-US" sz="1600" kern="0" dirty="0">
                          <a:effectLst/>
                        </a:rPr>
                        <a:t> </a:t>
                      </a:r>
                      <a:r>
                        <a:rPr lang="zh-CN" sz="1600" kern="0" dirty="0">
                          <a:effectLst/>
                        </a:rPr>
                        <a:t>实验成绩</a:t>
                      </a:r>
                      <a:r>
                        <a:rPr lang="en-US" sz="1600" kern="0" dirty="0">
                          <a:effectLst/>
                        </a:rPr>
                        <a:t>(40%)</a:t>
                      </a:r>
                      <a:r>
                        <a:rPr lang="zh-CN" altLang="en-US" sz="1600" kern="0" dirty="0">
                          <a:effectLst/>
                        </a:rPr>
                        <a:t>：</a:t>
                      </a:r>
                      <a:endParaRPr lang="en-US" altLang="zh-CN" sz="1600" kern="0" dirty="0">
                        <a:effectLst/>
                      </a:endParaRPr>
                    </a:p>
                    <a:p>
                      <a:pPr algn="l"/>
                      <a:r>
                        <a:rPr lang="zh-CN" sz="1600" kern="0" dirty="0">
                          <a:solidFill>
                            <a:srgbClr val="FF0000"/>
                          </a:solidFill>
                          <a:effectLst/>
                        </a:rPr>
                        <a:t>验收</a:t>
                      </a:r>
                      <a:r>
                        <a:rPr lang="en-US" sz="1600" kern="0" dirty="0">
                          <a:solidFill>
                            <a:srgbClr val="FF0000"/>
                          </a:solidFill>
                          <a:effectLst/>
                        </a:rPr>
                        <a:t>1(30%)+</a:t>
                      </a:r>
                      <a:r>
                        <a:rPr lang="zh-CN" sz="1600" kern="0" dirty="0">
                          <a:solidFill>
                            <a:srgbClr val="FF0000"/>
                          </a:solidFill>
                          <a:effectLst/>
                        </a:rPr>
                        <a:t>报告</a:t>
                      </a:r>
                      <a:r>
                        <a:rPr lang="en-US" sz="1600" kern="0" dirty="0">
                          <a:solidFill>
                            <a:srgbClr val="FF0000"/>
                          </a:solidFill>
                          <a:effectLst/>
                        </a:rPr>
                        <a:t>(10%)</a:t>
                      </a:r>
                      <a:endParaRPr lang="zh-CN" sz="1600" kern="100" dirty="0">
                        <a:solidFill>
                          <a:srgbClr val="FF0000"/>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652222961"/>
                  </a:ext>
                </a:extLst>
              </a:tr>
            </a:tbl>
          </a:graphicData>
        </a:graphic>
      </p:graphicFrame>
      <p:sp>
        <p:nvSpPr>
          <p:cNvPr id="17" name="文本框 16">
            <a:extLst>
              <a:ext uri="{FF2B5EF4-FFF2-40B4-BE49-F238E27FC236}">
                <a16:creationId xmlns:a16="http://schemas.microsoft.com/office/drawing/2014/main" id="{ED74C37B-8645-207E-770E-DF7DF6DF0B52}"/>
              </a:ext>
            </a:extLst>
          </p:cNvPr>
          <p:cNvSpPr txBox="1"/>
          <p:nvPr/>
        </p:nvSpPr>
        <p:spPr>
          <a:xfrm>
            <a:off x="4641972" y="623805"/>
            <a:ext cx="1918984" cy="369332"/>
          </a:xfrm>
          <a:prstGeom prst="rect">
            <a:avLst/>
          </a:prstGeom>
          <a:noFill/>
        </p:spPr>
        <p:txBody>
          <a:bodyPr wrap="square">
            <a:spAutoFit/>
          </a:bodyPr>
          <a:lstStyle/>
          <a:p>
            <a:r>
              <a:rPr lang="zh-CN" altLang="en-US" dirty="0"/>
              <a:t>周四上课安排</a:t>
            </a:r>
          </a:p>
        </p:txBody>
      </p:sp>
    </p:spTree>
    <p:extLst>
      <p:ext uri="{BB962C8B-B14F-4D97-AF65-F5344CB8AC3E}">
        <p14:creationId xmlns:p14="http://schemas.microsoft.com/office/powerpoint/2010/main" val="27827700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ctrTitle"/>
          </p:nvPr>
        </p:nvSpPr>
        <p:spPr>
          <a:xfrm>
            <a:off x="533400" y="762000"/>
            <a:ext cx="7772400" cy="1143000"/>
          </a:xfrm>
        </p:spPr>
        <p:txBody>
          <a:bodyPr/>
          <a:lstStyle/>
          <a:p>
            <a:pPr marL="609600" indent="-609600" eaLnBrk="1" hangingPunct="1"/>
            <a:r>
              <a:rPr lang="zh-CN" altLang="en-US" sz="6600" dirty="0"/>
              <a:t>实验室规范</a:t>
            </a:r>
          </a:p>
        </p:txBody>
      </p:sp>
      <p:sp>
        <p:nvSpPr>
          <p:cNvPr id="8195" name="Rectangle 3"/>
          <p:cNvSpPr>
            <a:spLocks noGrp="1" noChangeArrowheads="1"/>
          </p:cNvSpPr>
          <p:nvPr>
            <p:ph type="subTitle" idx="1"/>
          </p:nvPr>
        </p:nvSpPr>
        <p:spPr>
          <a:xfrm>
            <a:off x="395536" y="2132856"/>
            <a:ext cx="8424936" cy="3816424"/>
          </a:xfrm>
        </p:spPr>
        <p:txBody>
          <a:bodyPr>
            <a:normAutofit/>
          </a:bodyPr>
          <a:lstStyle/>
          <a:p>
            <a:pPr eaLnBrk="1" hangingPunct="1">
              <a:spcBef>
                <a:spcPct val="0"/>
              </a:spcBef>
            </a:pPr>
            <a:r>
              <a:rPr lang="en-US" altLang="zh-CN" sz="2800" dirty="0"/>
              <a:t>1</a:t>
            </a:r>
            <a:r>
              <a:rPr lang="zh-CN" altLang="en-US" sz="2800" dirty="0"/>
              <a:t>、安全</a:t>
            </a:r>
            <a:endParaRPr lang="en-US" altLang="zh-CN" sz="2800" dirty="0"/>
          </a:p>
          <a:p>
            <a:pPr lvl="1" algn="l" eaLnBrk="1" hangingPunct="1">
              <a:spcBef>
                <a:spcPct val="0"/>
              </a:spcBef>
              <a:buFont typeface="Arial" pitchFamily="34" charset="0"/>
              <a:buChar char="•"/>
            </a:pPr>
            <a:r>
              <a:rPr lang="zh-CN" altLang="en-US" sz="2400" dirty="0"/>
              <a:t>用电安全；</a:t>
            </a:r>
            <a:endParaRPr lang="en-US" altLang="zh-CN" sz="2400" dirty="0"/>
          </a:p>
          <a:p>
            <a:pPr lvl="1" algn="l" eaLnBrk="1" hangingPunct="1">
              <a:spcBef>
                <a:spcPct val="0"/>
              </a:spcBef>
              <a:buFont typeface="Arial" pitchFamily="34" charset="0"/>
              <a:buChar char="•"/>
            </a:pPr>
            <a:r>
              <a:rPr lang="zh-CN" altLang="en-US" sz="2400" dirty="0"/>
              <a:t>按规范使用工具，特别是电烙铁；</a:t>
            </a:r>
            <a:endParaRPr lang="en-US" altLang="zh-CN" sz="2400" dirty="0"/>
          </a:p>
          <a:p>
            <a:pPr eaLnBrk="1" hangingPunct="1">
              <a:spcBef>
                <a:spcPct val="0"/>
              </a:spcBef>
            </a:pPr>
            <a:r>
              <a:rPr lang="en-US" altLang="zh-CN" sz="2800" dirty="0"/>
              <a:t>2</a:t>
            </a:r>
            <a:r>
              <a:rPr lang="zh-CN" altLang="en-US" sz="2800" dirty="0"/>
              <a:t>、整洁、卫生</a:t>
            </a:r>
            <a:endParaRPr lang="en-US" altLang="zh-CN" sz="2800" dirty="0"/>
          </a:p>
          <a:p>
            <a:pPr lvl="1" algn="l" eaLnBrk="1" hangingPunct="1">
              <a:spcBef>
                <a:spcPct val="0"/>
              </a:spcBef>
              <a:buFont typeface="Arial" pitchFamily="34" charset="0"/>
              <a:buChar char="•"/>
            </a:pPr>
            <a:r>
              <a:rPr lang="zh-CN" altLang="en-US" sz="2400" dirty="0"/>
              <a:t>按座位号入座；</a:t>
            </a:r>
            <a:endParaRPr lang="en-US" altLang="zh-CN" sz="2400" dirty="0"/>
          </a:p>
          <a:p>
            <a:pPr lvl="1" algn="l" eaLnBrk="1" hangingPunct="1">
              <a:spcBef>
                <a:spcPct val="0"/>
              </a:spcBef>
              <a:buFont typeface="Arial" pitchFamily="34" charset="0"/>
              <a:buChar char="•"/>
            </a:pPr>
            <a:r>
              <a:rPr lang="zh-CN" altLang="en-US" sz="2400" dirty="0"/>
              <a:t>不允许带食物入实验室；</a:t>
            </a:r>
            <a:endParaRPr lang="en-US" altLang="zh-CN" sz="2400" dirty="0"/>
          </a:p>
          <a:p>
            <a:pPr lvl="1" algn="l" eaLnBrk="1" hangingPunct="1">
              <a:spcBef>
                <a:spcPct val="0"/>
              </a:spcBef>
              <a:buFont typeface="Arial" pitchFamily="34" charset="0"/>
              <a:buChar char="•"/>
            </a:pPr>
            <a:r>
              <a:rPr lang="zh-CN" altLang="en-US" sz="2400" dirty="0"/>
              <a:t>实验完毕，工具归位，整理桌面，清除垃圾，凳子归位；</a:t>
            </a:r>
          </a:p>
        </p:txBody>
      </p:sp>
      <p:sp>
        <p:nvSpPr>
          <p:cNvPr id="2" name="灯片编号占位符 1">
            <a:extLst>
              <a:ext uri="{FF2B5EF4-FFF2-40B4-BE49-F238E27FC236}">
                <a16:creationId xmlns:a16="http://schemas.microsoft.com/office/drawing/2014/main" id="{78F35428-317E-1A16-D401-E2CC7878449B}"/>
              </a:ext>
            </a:extLst>
          </p:cNvPr>
          <p:cNvSpPr>
            <a:spLocks noGrp="1"/>
          </p:cNvSpPr>
          <p:nvPr>
            <p:ph type="sldNum" sz="quarter" idx="12"/>
          </p:nvPr>
        </p:nvSpPr>
        <p:spPr/>
        <p:txBody>
          <a:bodyPr/>
          <a:lstStyle/>
          <a:p>
            <a:pPr>
              <a:defRPr/>
            </a:pPr>
            <a:fld id="{47A4CA45-135E-4AE6-A55B-F30C83FDB90E}" type="slidenum">
              <a:rPr lang="zh-CN" altLang="en-US" smtClean="0"/>
              <a:pPr>
                <a:defRPr/>
              </a:pPr>
              <a:t>8</a:t>
            </a:fld>
            <a:endParaRPr lang="en-US" altLang="zh-C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ctrTitle"/>
          </p:nvPr>
        </p:nvSpPr>
        <p:spPr>
          <a:xfrm>
            <a:off x="533400" y="762000"/>
            <a:ext cx="7772400" cy="1143000"/>
          </a:xfrm>
        </p:spPr>
        <p:txBody>
          <a:bodyPr/>
          <a:lstStyle/>
          <a:p>
            <a:pPr marL="609600" indent="-609600" eaLnBrk="1" hangingPunct="1"/>
            <a:r>
              <a:rPr lang="zh-CN" altLang="en-US" sz="6600" dirty="0"/>
              <a:t>参考教材</a:t>
            </a:r>
          </a:p>
        </p:txBody>
      </p:sp>
      <p:sp>
        <p:nvSpPr>
          <p:cNvPr id="8195" name="Rectangle 3"/>
          <p:cNvSpPr>
            <a:spLocks noGrp="1" noChangeArrowheads="1"/>
          </p:cNvSpPr>
          <p:nvPr>
            <p:ph type="subTitle" idx="1"/>
          </p:nvPr>
        </p:nvSpPr>
        <p:spPr>
          <a:xfrm>
            <a:off x="600944" y="2279576"/>
            <a:ext cx="7859488" cy="3816424"/>
          </a:xfrm>
        </p:spPr>
        <p:txBody>
          <a:bodyPr/>
          <a:lstStyle/>
          <a:p>
            <a:pPr eaLnBrk="1" hangingPunct="1">
              <a:lnSpc>
                <a:spcPct val="200000"/>
              </a:lnSpc>
            </a:pPr>
            <a:r>
              <a:rPr lang="zh-CN" altLang="en-US" sz="2000" dirty="0">
                <a:latin typeface="Times New Roman" panose="02020603050405020304" pitchFamily="18" charset="0"/>
                <a:ea typeface="华文宋体" panose="02010600040101010101" pitchFamily="2" charset="-122"/>
                <a:cs typeface="Times New Roman" panose="02020603050405020304" pitchFamily="18" charset="0"/>
              </a:rPr>
              <a:t>（</a:t>
            </a:r>
            <a:r>
              <a:rPr lang="en-US" altLang="zh-CN" sz="2000" dirty="0">
                <a:latin typeface="Times New Roman" panose="02020603050405020304" pitchFamily="18" charset="0"/>
                <a:ea typeface="华文宋体" panose="02010600040101010101" pitchFamily="2" charset="-122"/>
                <a:cs typeface="Times New Roman" panose="02020603050405020304" pitchFamily="18" charset="0"/>
              </a:rPr>
              <a:t>1</a:t>
            </a:r>
            <a:r>
              <a:rPr lang="zh-CN" altLang="en-US" sz="2000" dirty="0">
                <a:latin typeface="Times New Roman" panose="02020603050405020304" pitchFamily="18" charset="0"/>
                <a:ea typeface="华文宋体" panose="02010600040101010101" pitchFamily="2" charset="-122"/>
                <a:cs typeface="Times New Roman" panose="02020603050405020304" pitchFamily="18" charset="0"/>
              </a:rPr>
              <a:t>）</a:t>
            </a:r>
            <a:r>
              <a:rPr lang="en-US" altLang="zh-CN" sz="2000" dirty="0">
                <a:latin typeface="Times New Roman" panose="02020603050405020304" pitchFamily="18" charset="0"/>
                <a:ea typeface="华文宋体" panose="02010600040101010101" pitchFamily="2" charset="-122"/>
                <a:cs typeface="Times New Roman" panose="02020603050405020304" pitchFamily="18" charset="0"/>
              </a:rPr>
              <a:t>《</a:t>
            </a:r>
            <a:r>
              <a:rPr lang="zh-CN" altLang="en-US" sz="2000" dirty="0">
                <a:latin typeface="Times New Roman" panose="02020603050405020304" pitchFamily="18" charset="0"/>
                <a:ea typeface="华文宋体" panose="02010600040101010101" pitchFamily="2" charset="-122"/>
                <a:cs typeface="Times New Roman" panose="02020603050405020304" pitchFamily="18" charset="0"/>
              </a:rPr>
              <a:t>电子线路实习指导教程</a:t>
            </a:r>
            <a:r>
              <a:rPr lang="en-US" altLang="zh-CN" sz="2000" dirty="0">
                <a:latin typeface="Times New Roman" panose="02020603050405020304" pitchFamily="18" charset="0"/>
                <a:ea typeface="华文宋体" panose="02010600040101010101" pitchFamily="2" charset="-122"/>
                <a:cs typeface="Times New Roman" panose="02020603050405020304" pitchFamily="18" charset="0"/>
              </a:rPr>
              <a:t>》</a:t>
            </a:r>
            <a:r>
              <a:rPr lang="zh-CN" altLang="en-US" sz="2000" dirty="0">
                <a:latin typeface="Times New Roman" panose="02020603050405020304" pitchFamily="18" charset="0"/>
                <a:ea typeface="华文宋体" panose="02010600040101010101" pitchFamily="2" charset="-122"/>
                <a:cs typeface="Times New Roman" panose="02020603050405020304" pitchFamily="18" charset="0"/>
              </a:rPr>
              <a:t>邵李焕、徐敏主编 机械工业出版社</a:t>
            </a:r>
            <a:endParaRPr lang="en-US" altLang="zh-CN" sz="2000" dirty="0">
              <a:latin typeface="Times New Roman" panose="02020603050405020304" pitchFamily="18" charset="0"/>
              <a:ea typeface="华文宋体" panose="02010600040101010101" pitchFamily="2" charset="-122"/>
              <a:cs typeface="Times New Roman" panose="02020603050405020304" pitchFamily="18" charset="0"/>
            </a:endParaRPr>
          </a:p>
          <a:p>
            <a:pPr eaLnBrk="1" hangingPunct="1">
              <a:lnSpc>
                <a:spcPct val="200000"/>
              </a:lnSpc>
            </a:pPr>
            <a:r>
              <a:rPr lang="zh-CN" altLang="en-US" sz="2000" dirty="0">
                <a:latin typeface="Times New Roman" panose="02020603050405020304" pitchFamily="18" charset="0"/>
                <a:ea typeface="华文宋体" panose="02010600040101010101" pitchFamily="2" charset="-122"/>
                <a:cs typeface="Times New Roman" panose="02020603050405020304" pitchFamily="18" charset="0"/>
              </a:rPr>
              <a:t>（</a:t>
            </a:r>
            <a:r>
              <a:rPr lang="en-US" altLang="zh-CN" sz="2000" dirty="0">
                <a:latin typeface="Times New Roman" panose="02020603050405020304" pitchFamily="18" charset="0"/>
                <a:ea typeface="华文宋体" panose="02010600040101010101" pitchFamily="2" charset="-122"/>
                <a:cs typeface="Times New Roman" panose="02020603050405020304" pitchFamily="18" charset="0"/>
              </a:rPr>
              <a:t>2</a:t>
            </a:r>
            <a:r>
              <a:rPr lang="zh-CN" altLang="en-US" sz="2000" dirty="0">
                <a:latin typeface="Times New Roman" panose="02020603050405020304" pitchFamily="18" charset="0"/>
                <a:ea typeface="华文宋体" panose="02010600040101010101" pitchFamily="2" charset="-122"/>
                <a:cs typeface="Times New Roman" panose="02020603050405020304" pitchFamily="18" charset="0"/>
              </a:rPr>
              <a:t>）自编讲义</a:t>
            </a:r>
            <a:r>
              <a:rPr lang="en-US" altLang="zh-CN" sz="2000" dirty="0">
                <a:latin typeface="Times New Roman" panose="02020603050405020304" pitchFamily="18" charset="0"/>
                <a:ea typeface="华文宋体" panose="02010600040101010101" pitchFamily="2" charset="-122"/>
                <a:cs typeface="Times New Roman" panose="02020603050405020304" pitchFamily="18" charset="0"/>
              </a:rPr>
              <a:t>《</a:t>
            </a:r>
            <a:r>
              <a:rPr lang="zh-CN" altLang="en-US" sz="2000" dirty="0">
                <a:latin typeface="Times New Roman" panose="02020603050405020304" pitchFamily="18" charset="0"/>
                <a:ea typeface="华文宋体" panose="02010600040101010101" pitchFamily="2" charset="-122"/>
                <a:cs typeface="Times New Roman" panose="02020603050405020304" pitchFamily="18" charset="0"/>
              </a:rPr>
              <a:t>基于</a:t>
            </a:r>
            <a:r>
              <a:rPr lang="en-US" altLang="zh-CN" sz="2000" dirty="0">
                <a:latin typeface="Times New Roman" panose="02020603050405020304" pitchFamily="18" charset="0"/>
                <a:ea typeface="华文宋体" panose="02010600040101010101" pitchFamily="2" charset="-122"/>
                <a:cs typeface="Times New Roman" panose="02020603050405020304" pitchFamily="18" charset="0"/>
              </a:rPr>
              <a:t>51</a:t>
            </a:r>
            <a:r>
              <a:rPr lang="zh-CN" altLang="en-US" sz="2000" dirty="0">
                <a:latin typeface="Times New Roman" panose="02020603050405020304" pitchFamily="18" charset="0"/>
                <a:ea typeface="华文宋体" panose="02010600040101010101" pitchFamily="2" charset="-122"/>
                <a:cs typeface="Times New Roman" panose="02020603050405020304" pitchFamily="18" charset="0"/>
              </a:rPr>
              <a:t>单片机的数字时钟制作</a:t>
            </a:r>
            <a:r>
              <a:rPr lang="en-US" altLang="zh-CN" sz="2000" dirty="0">
                <a:latin typeface="Times New Roman" panose="02020603050405020304" pitchFamily="18" charset="0"/>
                <a:ea typeface="华文宋体" panose="02010600040101010101" pitchFamily="2" charset="-122"/>
                <a:cs typeface="Times New Roman" panose="02020603050405020304" pitchFamily="18" charset="0"/>
              </a:rPr>
              <a:t>》</a:t>
            </a:r>
            <a:r>
              <a:rPr lang="zh-CN" altLang="en-US" sz="2000" dirty="0">
                <a:latin typeface="Times New Roman" panose="02020603050405020304" pitchFamily="18" charset="0"/>
                <a:ea typeface="华文宋体" panose="02010600040101010101" pitchFamily="2" charset="-122"/>
                <a:cs typeface="Times New Roman" panose="02020603050405020304" pitchFamily="18" charset="0"/>
              </a:rPr>
              <a:t>邵李焕、徐敏主编</a:t>
            </a:r>
            <a:endParaRPr lang="en-US" altLang="zh-CN" sz="2000" dirty="0">
              <a:latin typeface="Times New Roman" panose="02020603050405020304" pitchFamily="18" charset="0"/>
              <a:ea typeface="华文宋体" panose="02010600040101010101" pitchFamily="2" charset="-122"/>
              <a:cs typeface="Times New Roman" panose="02020603050405020304" pitchFamily="18" charset="0"/>
            </a:endParaRPr>
          </a:p>
          <a:p>
            <a:pPr eaLnBrk="1" hangingPunct="1">
              <a:lnSpc>
                <a:spcPct val="200000"/>
              </a:lnSpc>
            </a:pPr>
            <a:r>
              <a:rPr lang="zh-CN" altLang="en-US" sz="2000" dirty="0">
                <a:latin typeface="Times New Roman" panose="02020603050405020304" pitchFamily="18" charset="0"/>
                <a:ea typeface="华文宋体" panose="02010600040101010101" pitchFamily="2" charset="-122"/>
                <a:cs typeface="Times New Roman" panose="02020603050405020304" pitchFamily="18" charset="0"/>
              </a:rPr>
              <a:t>         前继课程：数字电路、模拟电路、</a:t>
            </a:r>
            <a:r>
              <a:rPr lang="en-US" altLang="zh-CN" sz="2000" dirty="0">
                <a:latin typeface="Times New Roman" panose="02020603050405020304" pitchFamily="18" charset="0"/>
                <a:ea typeface="华文宋体" panose="02010600040101010101" pitchFamily="2" charset="-122"/>
                <a:cs typeface="Times New Roman" panose="02020603050405020304" pitchFamily="18" charset="0"/>
              </a:rPr>
              <a:t>PCB</a:t>
            </a:r>
            <a:r>
              <a:rPr lang="zh-CN" altLang="en-US" sz="2000" dirty="0">
                <a:latin typeface="Times New Roman" panose="02020603050405020304" pitchFamily="18" charset="0"/>
                <a:ea typeface="华文宋体" panose="02010600040101010101" pitchFamily="2" charset="-122"/>
                <a:cs typeface="Times New Roman" panose="02020603050405020304" pitchFamily="18" charset="0"/>
              </a:rPr>
              <a:t>设计、</a:t>
            </a:r>
            <a:r>
              <a:rPr lang="en-US" altLang="zh-CN" sz="2000" dirty="0">
                <a:latin typeface="Times New Roman" panose="02020603050405020304" pitchFamily="18" charset="0"/>
                <a:ea typeface="华文宋体" panose="02010600040101010101" pitchFamily="2" charset="-122"/>
                <a:cs typeface="Times New Roman" panose="02020603050405020304" pitchFamily="18" charset="0"/>
              </a:rPr>
              <a:t>C</a:t>
            </a:r>
            <a:r>
              <a:rPr lang="zh-CN" altLang="en-US" sz="2000" dirty="0">
                <a:latin typeface="Times New Roman" panose="02020603050405020304" pitchFamily="18" charset="0"/>
                <a:ea typeface="华文宋体" panose="02010600040101010101" pitchFamily="2" charset="-122"/>
                <a:cs typeface="Times New Roman" panose="02020603050405020304" pitchFamily="18" charset="0"/>
              </a:rPr>
              <a:t>语言程序设计</a:t>
            </a:r>
          </a:p>
          <a:p>
            <a:pPr eaLnBrk="1" hangingPunct="1">
              <a:lnSpc>
                <a:spcPct val="250000"/>
              </a:lnSpc>
              <a:spcBef>
                <a:spcPct val="0"/>
              </a:spcBef>
            </a:pPr>
            <a:endParaRPr lang="zh-CN" altLang="en-US" dirty="0"/>
          </a:p>
        </p:txBody>
      </p:sp>
      <p:sp>
        <p:nvSpPr>
          <p:cNvPr id="2" name="灯片编号占位符 1">
            <a:extLst>
              <a:ext uri="{FF2B5EF4-FFF2-40B4-BE49-F238E27FC236}">
                <a16:creationId xmlns:a16="http://schemas.microsoft.com/office/drawing/2014/main" id="{9DE6B9BD-5C67-E707-C4ED-84E206443904}"/>
              </a:ext>
            </a:extLst>
          </p:cNvPr>
          <p:cNvSpPr>
            <a:spLocks noGrp="1"/>
          </p:cNvSpPr>
          <p:nvPr>
            <p:ph type="sldNum" sz="quarter" idx="12"/>
          </p:nvPr>
        </p:nvSpPr>
        <p:spPr/>
        <p:txBody>
          <a:bodyPr/>
          <a:lstStyle/>
          <a:p>
            <a:pPr>
              <a:defRPr/>
            </a:pPr>
            <a:fld id="{47A4CA45-135E-4AE6-A55B-F30C83FDB90E}" type="slidenum">
              <a:rPr lang="zh-CN" altLang="en-US" smtClean="0"/>
              <a:pPr>
                <a:defRPr/>
              </a:pPr>
              <a:t>9</a:t>
            </a:fld>
            <a:endParaRPr lang="en-US" altLang="zh-C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ctrTitle"/>
          </p:nvPr>
        </p:nvSpPr>
        <p:spPr>
          <a:xfrm>
            <a:off x="533400" y="762000"/>
            <a:ext cx="7772400" cy="1143000"/>
          </a:xfrm>
        </p:spPr>
        <p:txBody>
          <a:bodyPr/>
          <a:lstStyle/>
          <a:p>
            <a:pPr marL="609600" indent="-609600" eaLnBrk="1" hangingPunct="1"/>
            <a:r>
              <a:rPr lang="zh-CN" altLang="en-US" sz="6600" dirty="0"/>
              <a:t>实物图片</a:t>
            </a:r>
          </a:p>
        </p:txBody>
      </p:sp>
      <p:sp>
        <p:nvSpPr>
          <p:cNvPr id="2" name="灯片编号占位符 1">
            <a:extLst>
              <a:ext uri="{FF2B5EF4-FFF2-40B4-BE49-F238E27FC236}">
                <a16:creationId xmlns:a16="http://schemas.microsoft.com/office/drawing/2014/main" id="{F1B35C61-2A8B-FA9C-552C-22208C43123E}"/>
              </a:ext>
            </a:extLst>
          </p:cNvPr>
          <p:cNvSpPr>
            <a:spLocks noGrp="1"/>
          </p:cNvSpPr>
          <p:nvPr>
            <p:ph type="sldNum" sz="quarter" idx="12"/>
          </p:nvPr>
        </p:nvSpPr>
        <p:spPr/>
        <p:txBody>
          <a:bodyPr/>
          <a:lstStyle/>
          <a:p>
            <a:pPr>
              <a:defRPr/>
            </a:pPr>
            <a:fld id="{47A4CA45-135E-4AE6-A55B-F30C83FDB90E}" type="slidenum">
              <a:rPr lang="zh-CN" altLang="en-US" smtClean="0"/>
              <a:pPr>
                <a:defRPr/>
              </a:pPr>
              <a:t>10</a:t>
            </a:fld>
            <a:endParaRPr lang="en-US" altLang="zh-CN"/>
          </a:p>
        </p:txBody>
      </p:sp>
      <p:pic>
        <p:nvPicPr>
          <p:cNvPr id="1026" name="Picture 2"/>
          <p:cNvPicPr>
            <a:picLocks noChangeAspect="1" noChangeArrowheads="1"/>
          </p:cNvPicPr>
          <p:nvPr/>
        </p:nvPicPr>
        <p:blipFill>
          <a:blip r:embed="rId2" cstate="print"/>
          <a:srcRect/>
          <a:stretch>
            <a:fillRect/>
          </a:stretch>
        </p:blipFill>
        <p:spPr bwMode="auto">
          <a:xfrm>
            <a:off x="6560907" y="3936000"/>
            <a:ext cx="2583093" cy="2160000"/>
          </a:xfrm>
          <a:prstGeom prst="rect">
            <a:avLst/>
          </a:prstGeom>
          <a:noFill/>
          <a:ln w="9525">
            <a:noFill/>
            <a:miter lim="800000"/>
            <a:headEnd/>
            <a:tailEnd/>
          </a:ln>
        </p:spPr>
      </p:pic>
      <p:pic>
        <p:nvPicPr>
          <p:cNvPr id="6" name="图片 5"/>
          <p:cNvPicPr/>
          <p:nvPr/>
        </p:nvPicPr>
        <p:blipFill rotWithShape="1">
          <a:blip r:embed="rId3" cstate="print">
            <a:extLst>
              <a:ext uri="{28A0092B-C50C-407E-A947-70E740481C1C}">
                <a14:useLocalDpi xmlns:a14="http://schemas.microsoft.com/office/drawing/2010/main" val="0"/>
              </a:ext>
            </a:extLst>
          </a:blip>
          <a:srcRect b="2087"/>
          <a:stretch/>
        </p:blipFill>
        <p:spPr bwMode="auto">
          <a:xfrm>
            <a:off x="4206419" y="3936000"/>
            <a:ext cx="2376264" cy="2160000"/>
          </a:xfrm>
          <a:prstGeom prst="rect">
            <a:avLst/>
          </a:prstGeom>
          <a:ln>
            <a:noFill/>
          </a:ln>
          <a:extLst>
            <a:ext uri="{53640926-AAD7-44D8-BBD7-CCE9431645EC}">
              <a14:shadowObscured xmlns:a14="http://schemas.microsoft.com/office/drawing/2010/main"/>
            </a:ext>
          </a:extLst>
        </p:spPr>
      </p:pic>
      <p:pic>
        <p:nvPicPr>
          <p:cNvPr id="4" name="图片 3">
            <a:extLst>
              <a:ext uri="{FF2B5EF4-FFF2-40B4-BE49-F238E27FC236}">
                <a16:creationId xmlns:a16="http://schemas.microsoft.com/office/drawing/2014/main" id="{06AA245A-3D8F-4A35-FA51-36DA6E9366AA}"/>
              </a:ext>
            </a:extLst>
          </p:cNvPr>
          <p:cNvPicPr>
            <a:picLocks noChangeAspect="1"/>
          </p:cNvPicPr>
          <p:nvPr/>
        </p:nvPicPr>
        <p:blipFill>
          <a:blip r:embed="rId4"/>
          <a:stretch>
            <a:fillRect/>
          </a:stretch>
        </p:blipFill>
        <p:spPr>
          <a:xfrm>
            <a:off x="0" y="4116000"/>
            <a:ext cx="3634483" cy="1800000"/>
          </a:xfrm>
          <a:prstGeom prst="rect">
            <a:avLst/>
          </a:prstGeom>
        </p:spPr>
      </p:pic>
      <p:pic>
        <p:nvPicPr>
          <p:cNvPr id="7" name="图片 6">
            <a:extLst>
              <a:ext uri="{FF2B5EF4-FFF2-40B4-BE49-F238E27FC236}">
                <a16:creationId xmlns:a16="http://schemas.microsoft.com/office/drawing/2014/main" id="{F934BCC5-6F4F-20CA-C551-964EAE01A927}"/>
              </a:ext>
            </a:extLst>
          </p:cNvPr>
          <p:cNvPicPr>
            <a:picLocks noChangeAspect="1"/>
          </p:cNvPicPr>
          <p:nvPr/>
        </p:nvPicPr>
        <p:blipFill>
          <a:blip r:embed="rId5"/>
          <a:stretch>
            <a:fillRect/>
          </a:stretch>
        </p:blipFill>
        <p:spPr>
          <a:xfrm>
            <a:off x="3439575" y="1905000"/>
            <a:ext cx="2485957" cy="1800000"/>
          </a:xfrm>
          <a:prstGeom prst="rect">
            <a:avLst/>
          </a:prstGeom>
        </p:spPr>
      </p:pic>
      <p:pic>
        <p:nvPicPr>
          <p:cNvPr id="9" name="图片 8">
            <a:extLst>
              <a:ext uri="{FF2B5EF4-FFF2-40B4-BE49-F238E27FC236}">
                <a16:creationId xmlns:a16="http://schemas.microsoft.com/office/drawing/2014/main" id="{DAC8FDC2-DF5B-29F0-F0DC-CBE35CB81E17}"/>
              </a:ext>
            </a:extLst>
          </p:cNvPr>
          <p:cNvPicPr>
            <a:picLocks noChangeAspect="1"/>
          </p:cNvPicPr>
          <p:nvPr/>
        </p:nvPicPr>
        <p:blipFill>
          <a:blip r:embed="rId6"/>
          <a:stretch>
            <a:fillRect/>
          </a:stretch>
        </p:blipFill>
        <p:spPr>
          <a:xfrm>
            <a:off x="6282377" y="1903800"/>
            <a:ext cx="2583093" cy="1800000"/>
          </a:xfrm>
          <a:prstGeom prst="rect">
            <a:avLst/>
          </a:prstGeom>
        </p:spPr>
      </p:pic>
      <p:pic>
        <p:nvPicPr>
          <p:cNvPr id="11" name="图片 10">
            <a:extLst>
              <a:ext uri="{FF2B5EF4-FFF2-40B4-BE49-F238E27FC236}">
                <a16:creationId xmlns:a16="http://schemas.microsoft.com/office/drawing/2014/main" id="{30879376-4C95-7590-67E7-5D19E5755ED4}"/>
              </a:ext>
            </a:extLst>
          </p:cNvPr>
          <p:cNvPicPr>
            <a:picLocks noChangeAspect="1"/>
          </p:cNvPicPr>
          <p:nvPr/>
        </p:nvPicPr>
        <p:blipFill>
          <a:blip r:embed="rId7"/>
          <a:stretch>
            <a:fillRect/>
          </a:stretch>
        </p:blipFill>
        <p:spPr>
          <a:xfrm>
            <a:off x="278530" y="1920236"/>
            <a:ext cx="2498353" cy="2160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1000"/>
                                        <p:tgtEl>
                                          <p:spTgt spid="4"/>
                                        </p:tgtEl>
                                      </p:cBhvr>
                                    </p:animEffect>
                                    <p:anim calcmode="lin" valueType="num">
                                      <p:cBhvr>
                                        <p:cTn id="14" dur="1000" fill="hold"/>
                                        <p:tgtEl>
                                          <p:spTgt spid="4"/>
                                        </p:tgtEl>
                                        <p:attrNameLst>
                                          <p:attrName>ppt_x</p:attrName>
                                        </p:attrNameLst>
                                      </p:cBhvr>
                                      <p:tavLst>
                                        <p:tav tm="0">
                                          <p:val>
                                            <p:strVal val="#ppt_x"/>
                                          </p:val>
                                        </p:tav>
                                        <p:tav tm="100000">
                                          <p:val>
                                            <p:strVal val="#ppt_x"/>
                                          </p:val>
                                        </p:tav>
                                      </p:tavLst>
                                    </p:anim>
                                    <p:anim calcmode="lin" valueType="num">
                                      <p:cBhvr>
                                        <p:cTn id="15"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7"/>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9"/>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nodeType="clickEffect">
                                  <p:stCondLst>
                                    <p:cond delay="0"/>
                                  </p:stCondLst>
                                  <p:childTnLst>
                                    <p:set>
                                      <p:cBhvr>
                                        <p:cTn id="25" dur="1" fill="hold">
                                          <p:stCondLst>
                                            <p:cond delay="0"/>
                                          </p:stCondLst>
                                        </p:cTn>
                                        <p:tgtEl>
                                          <p:spTgt spid="6"/>
                                        </p:tgtEl>
                                        <p:attrNameLst>
                                          <p:attrName>style.visibility</p:attrName>
                                        </p:attrNameLst>
                                      </p:cBhvr>
                                      <p:to>
                                        <p:strVal val="visible"/>
                                      </p:to>
                                    </p:set>
                                    <p:anim calcmode="lin" valueType="num">
                                      <p:cBhvr additive="base">
                                        <p:cTn id="26" dur="500" fill="hold"/>
                                        <p:tgtEl>
                                          <p:spTgt spid="6"/>
                                        </p:tgtEl>
                                        <p:attrNameLst>
                                          <p:attrName>ppt_x</p:attrName>
                                        </p:attrNameLst>
                                      </p:cBhvr>
                                      <p:tavLst>
                                        <p:tav tm="0">
                                          <p:val>
                                            <p:strVal val="#ppt_x"/>
                                          </p:val>
                                        </p:tav>
                                        <p:tav tm="100000">
                                          <p:val>
                                            <p:strVal val="#ppt_x"/>
                                          </p:val>
                                        </p:tav>
                                      </p:tavLst>
                                    </p:anim>
                                    <p:anim calcmode="lin" valueType="num">
                                      <p:cBhvr additive="base">
                                        <p:cTn id="27"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1026"/>
                                        </p:tgtEl>
                                        <p:attrNameLst>
                                          <p:attrName>style.visibility</p:attrName>
                                        </p:attrNameLst>
                                      </p:cBhvr>
                                      <p:to>
                                        <p:strVal val="visible"/>
                                      </p:to>
                                    </p:set>
                                    <p:anim calcmode="lin" valueType="num">
                                      <p:cBhvr additive="base">
                                        <p:cTn id="32" dur="500" fill="hold"/>
                                        <p:tgtEl>
                                          <p:spTgt spid="1026"/>
                                        </p:tgtEl>
                                        <p:attrNameLst>
                                          <p:attrName>ppt_x</p:attrName>
                                        </p:attrNameLst>
                                      </p:cBhvr>
                                      <p:tavLst>
                                        <p:tav tm="0">
                                          <p:val>
                                            <p:strVal val="#ppt_x"/>
                                          </p:val>
                                        </p:tav>
                                        <p:tav tm="100000">
                                          <p:val>
                                            <p:strVal val="#ppt_x"/>
                                          </p:val>
                                        </p:tav>
                                      </p:tavLst>
                                    </p:anim>
                                    <p:anim calcmode="lin" valueType="num">
                                      <p:cBhvr additive="base">
                                        <p:cTn id="33" dur="500" fill="hold"/>
                                        <p:tgtEl>
                                          <p:spTgt spid="10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1128684" y="956173"/>
            <a:ext cx="6571343" cy="888652"/>
          </a:xfrm>
        </p:spPr>
        <p:txBody>
          <a:bodyPr>
            <a:noAutofit/>
          </a:bodyPr>
          <a:lstStyle/>
          <a:p>
            <a:pPr algn="ctr"/>
            <a:r>
              <a:rPr lang="zh-CN" altLang="en-US" sz="6000" b="1" dirty="0"/>
              <a:t>电子元器件简介</a:t>
            </a:r>
            <a:br>
              <a:rPr lang="zh-CN" altLang="en-US" sz="6000" b="1" dirty="0"/>
            </a:br>
            <a:endParaRPr lang="zh-CN" altLang="en-US" sz="6000" b="1" dirty="0"/>
          </a:p>
        </p:txBody>
      </p:sp>
      <p:sp>
        <p:nvSpPr>
          <p:cNvPr id="2" name="灯片编号占位符 1">
            <a:extLst>
              <a:ext uri="{FF2B5EF4-FFF2-40B4-BE49-F238E27FC236}">
                <a16:creationId xmlns:a16="http://schemas.microsoft.com/office/drawing/2014/main" id="{894F6615-2075-66B4-44AD-CA5CA3B447E2}"/>
              </a:ext>
            </a:extLst>
          </p:cNvPr>
          <p:cNvSpPr>
            <a:spLocks noGrp="1"/>
          </p:cNvSpPr>
          <p:nvPr>
            <p:ph type="sldNum" sz="quarter" idx="12"/>
          </p:nvPr>
        </p:nvSpPr>
        <p:spPr/>
        <p:txBody>
          <a:bodyPr/>
          <a:lstStyle/>
          <a:p>
            <a:pPr>
              <a:defRPr/>
            </a:pPr>
            <a:fld id="{5FAFB815-62BA-464E-901C-79D108092E38}" type="slidenum">
              <a:rPr lang="zh-CN" altLang="en-US" smtClean="0"/>
              <a:pPr>
                <a:defRPr/>
              </a:pPr>
              <a:t>11</a:t>
            </a:fld>
            <a:endParaRPr lang="en-US" altLang="zh-CN"/>
          </a:p>
        </p:txBody>
      </p:sp>
      <p:pic>
        <p:nvPicPr>
          <p:cNvPr id="5" name="图片 4">
            <a:extLst>
              <a:ext uri="{FF2B5EF4-FFF2-40B4-BE49-F238E27FC236}">
                <a16:creationId xmlns:a16="http://schemas.microsoft.com/office/drawing/2014/main" id="{8467D1A7-88F8-0637-35F8-488CC1DA5E13}"/>
              </a:ext>
            </a:extLst>
          </p:cNvPr>
          <p:cNvPicPr>
            <a:picLocks noChangeAspect="1"/>
          </p:cNvPicPr>
          <p:nvPr/>
        </p:nvPicPr>
        <p:blipFill>
          <a:blip r:embed="rId2"/>
          <a:srcRect t="1822"/>
          <a:stretch/>
        </p:blipFill>
        <p:spPr>
          <a:xfrm>
            <a:off x="0" y="1810705"/>
            <a:ext cx="9144000" cy="4771265"/>
          </a:xfrm>
          <a:prstGeom prst="rect">
            <a:avLst/>
          </a:prstGeom>
        </p:spPr>
      </p:pic>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1899" y="1"/>
            <a:ext cx="2193837" cy="635308"/>
          </a:xfrm>
          <a:solidFill>
            <a:schemeClr val="bg1">
              <a:lumMod val="95000"/>
            </a:schemeClr>
          </a:solidFill>
        </p:spPr>
        <p:txBody>
          <a:bodyPr vert="horz" lIns="91440" tIns="45720" rIns="91440" bIns="45720" rtlCol="0" anchor="t">
            <a:normAutofit/>
          </a:bodyPr>
          <a:lstStyle/>
          <a:p>
            <a:r>
              <a:rPr lang="zh-CN" altLang="en-US" sz="3600" b="1" dirty="0">
                <a:latin typeface="华文行楷" panose="02010800040101010101" pitchFamily="2" charset="-122"/>
                <a:ea typeface="华文行楷" panose="02010800040101010101" pitchFamily="2" charset="-122"/>
              </a:rPr>
              <a:t>一、电阻</a:t>
            </a:r>
          </a:p>
        </p:txBody>
      </p:sp>
      <p:sp>
        <p:nvSpPr>
          <p:cNvPr id="26627" name="Rectangle 3"/>
          <p:cNvSpPr>
            <a:spLocks noGrp="1" noChangeArrowheads="1"/>
          </p:cNvSpPr>
          <p:nvPr>
            <p:ph idx="1"/>
          </p:nvPr>
        </p:nvSpPr>
        <p:spPr>
          <a:xfrm>
            <a:off x="179512" y="1124744"/>
            <a:ext cx="8568952" cy="4392488"/>
          </a:xfrm>
        </p:spPr>
        <p:txBody>
          <a:bodyPr>
            <a:normAutofit lnSpcReduction="10000"/>
          </a:bodyPr>
          <a:lstStyle/>
          <a:p>
            <a:pPr>
              <a:lnSpc>
                <a:spcPct val="125000"/>
              </a:lnSpc>
              <a:buFont typeface="Wingdings" pitchFamily="2" charset="2"/>
              <a:buNone/>
            </a:pPr>
            <a:r>
              <a:rPr lang="zh-CN" altLang="en-US" sz="2800" b="1" dirty="0">
                <a:solidFill>
                  <a:srgbClr val="231EF2"/>
                </a:solidFill>
                <a:highlight>
                  <a:srgbClr val="808080"/>
                </a:highlight>
              </a:rPr>
              <a:t> </a:t>
            </a:r>
            <a:r>
              <a:rPr lang="en-US" altLang="zh-CN" sz="2800" b="1" dirty="0">
                <a:solidFill>
                  <a:srgbClr val="231EF2"/>
                </a:solidFill>
                <a:highlight>
                  <a:srgbClr val="808080"/>
                </a:highlight>
              </a:rPr>
              <a:t>1</a:t>
            </a:r>
            <a:r>
              <a:rPr lang="zh-CN" altLang="en-US" sz="2800" b="1" dirty="0">
                <a:solidFill>
                  <a:srgbClr val="231EF2"/>
                </a:solidFill>
                <a:highlight>
                  <a:srgbClr val="808080"/>
                </a:highlight>
              </a:rPr>
              <a:t>、电阻的概念   </a:t>
            </a:r>
          </a:p>
          <a:p>
            <a:pPr>
              <a:lnSpc>
                <a:spcPct val="125000"/>
              </a:lnSpc>
              <a:buFont typeface="Wingdings" pitchFamily="2" charset="2"/>
              <a:buNone/>
            </a:pPr>
            <a:r>
              <a:rPr lang="zh-CN" altLang="en-US" sz="2800" b="1" dirty="0"/>
              <a:t>   </a:t>
            </a:r>
            <a:r>
              <a:rPr lang="en-US" altLang="zh-CN" sz="2800" b="1" dirty="0"/>
              <a:t>	</a:t>
            </a:r>
            <a:r>
              <a:rPr lang="zh-CN" altLang="en-US" sz="2800" b="1" dirty="0"/>
              <a:t>电阻器是一种具有一定阻值，一定几何形状，一定性能参数，在电路中起电阻作用的实体元件。在电路中，它的主要作用是</a:t>
            </a:r>
            <a:r>
              <a:rPr lang="zh-CN" altLang="en-US" sz="2800" b="1" dirty="0">
                <a:solidFill>
                  <a:srgbClr val="FF0000"/>
                </a:solidFill>
              </a:rPr>
              <a:t>稳定和调节电路中的电流和电压，作为分流器、分压器和消耗电能的负载使用</a:t>
            </a:r>
            <a:r>
              <a:rPr lang="zh-CN" altLang="en-US" sz="2800" b="1" dirty="0"/>
              <a:t>。电阻器是电子产品中用的最多的元件之一，约占总数的</a:t>
            </a:r>
            <a:r>
              <a:rPr lang="en-US" altLang="zh-CN" sz="2800" b="1" dirty="0"/>
              <a:t>40%</a:t>
            </a:r>
            <a:r>
              <a:rPr lang="zh-CN" altLang="en-US" sz="2800" b="1" dirty="0"/>
              <a:t>以上。</a:t>
            </a:r>
            <a:endParaRPr lang="en-US" altLang="zh-CN" sz="2800" b="1" dirty="0"/>
          </a:p>
          <a:p>
            <a:pPr>
              <a:lnSpc>
                <a:spcPct val="125000"/>
              </a:lnSpc>
              <a:buFont typeface="Wingdings" pitchFamily="2" charset="2"/>
              <a:buNone/>
            </a:pPr>
            <a:r>
              <a:rPr lang="en-US" altLang="zh-CN" sz="2800" b="1" dirty="0"/>
              <a:t>         </a:t>
            </a:r>
            <a:r>
              <a:rPr lang="zh-CN" altLang="en-US" sz="2800" b="1" dirty="0"/>
              <a:t>电阻率：与物体材料的性质有关。</a:t>
            </a:r>
          </a:p>
        </p:txBody>
      </p:sp>
      <p:sp>
        <p:nvSpPr>
          <p:cNvPr id="2" name="灯片编号占位符 1">
            <a:extLst>
              <a:ext uri="{FF2B5EF4-FFF2-40B4-BE49-F238E27FC236}">
                <a16:creationId xmlns:a16="http://schemas.microsoft.com/office/drawing/2014/main" id="{210677E3-F04F-2EEB-4673-6706EE942505}"/>
              </a:ext>
            </a:extLst>
          </p:cNvPr>
          <p:cNvSpPr>
            <a:spLocks noGrp="1"/>
          </p:cNvSpPr>
          <p:nvPr>
            <p:ph type="sldNum" sz="quarter" idx="12"/>
          </p:nvPr>
        </p:nvSpPr>
        <p:spPr/>
        <p:txBody>
          <a:bodyPr/>
          <a:lstStyle/>
          <a:p>
            <a:pPr>
              <a:defRPr/>
            </a:pPr>
            <a:fld id="{5FAFB815-62BA-464E-901C-79D108092E38}" type="slidenum">
              <a:rPr lang="zh-CN" altLang="en-US" smtClean="0"/>
              <a:pPr>
                <a:defRPr/>
              </a:pPr>
              <a:t>12</a:t>
            </a:fld>
            <a:endParaRPr lang="en-US" altLang="zh-CN"/>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3"/>
          <p:cNvSpPr>
            <a:spLocks noGrp="1" noChangeArrowheads="1"/>
          </p:cNvSpPr>
          <p:nvPr>
            <p:ph idx="1"/>
          </p:nvPr>
        </p:nvSpPr>
        <p:spPr>
          <a:xfrm>
            <a:off x="323528" y="1340768"/>
            <a:ext cx="8135938" cy="4402832"/>
          </a:xfrm>
        </p:spPr>
        <p:txBody>
          <a:bodyPr/>
          <a:lstStyle/>
          <a:p>
            <a:pPr>
              <a:buFont typeface="Wingdings" pitchFamily="2" charset="2"/>
              <a:buNone/>
            </a:pPr>
            <a:r>
              <a:rPr lang="zh-CN" altLang="en-US" sz="2800" b="1" dirty="0"/>
              <a:t>   </a:t>
            </a:r>
            <a:r>
              <a:rPr lang="en-US" altLang="zh-CN" sz="2800" b="1" dirty="0"/>
              <a:t>	  </a:t>
            </a:r>
            <a:r>
              <a:rPr lang="zh-CN" altLang="en-US" sz="2800" b="1" dirty="0"/>
              <a:t>大部分电阻器的引出线为轴向引线，一小部分为径向引线，为了适应现代表面组装技术（</a:t>
            </a:r>
            <a:r>
              <a:rPr lang="en-US" altLang="zh-CN" sz="2800" b="1" dirty="0"/>
              <a:t>SMT</a:t>
            </a:r>
            <a:r>
              <a:rPr lang="zh-CN" altLang="en-US" sz="2800" b="1" dirty="0"/>
              <a:t>）的需要，还有</a:t>
            </a:r>
            <a:r>
              <a:rPr lang="zh-CN" altLang="en-US" sz="2800" b="1" dirty="0">
                <a:latin typeface="Times New Roman"/>
              </a:rPr>
              <a:t>“</a:t>
            </a:r>
            <a:r>
              <a:rPr lang="zh-CN" altLang="en-US" sz="2800" b="1" dirty="0"/>
              <a:t>无引出线</a:t>
            </a:r>
            <a:r>
              <a:rPr lang="zh-CN" altLang="en-US" sz="2800" b="1" dirty="0">
                <a:latin typeface="Times New Roman"/>
              </a:rPr>
              <a:t>”</a:t>
            </a:r>
            <a:r>
              <a:rPr lang="zh-CN" altLang="en-US" sz="2800" b="1" dirty="0"/>
              <a:t>的片状电阻器（或叫无脚零件），片状电阻器像米粒般大小、扁平的，一般用自动贴片机摆放。</a:t>
            </a:r>
            <a:endParaRPr lang="en-US" altLang="zh-CN" sz="2800" b="1" dirty="0"/>
          </a:p>
          <a:p>
            <a:pPr>
              <a:buFont typeface="Wingdings" pitchFamily="2" charset="2"/>
              <a:buNone/>
            </a:pPr>
            <a:r>
              <a:rPr lang="en-US" altLang="zh-CN" sz="2800" b="1" dirty="0"/>
              <a:t>        </a:t>
            </a:r>
            <a:r>
              <a:rPr lang="zh-CN" altLang="en-US" sz="2800" b="1" dirty="0"/>
              <a:t>电阻器是非极性元件，电阻器的阻值可在元件体通过色环或工程编码来鉴别。</a:t>
            </a:r>
          </a:p>
        </p:txBody>
      </p:sp>
      <p:sp>
        <p:nvSpPr>
          <p:cNvPr id="2" name="灯片编号占位符 1">
            <a:extLst>
              <a:ext uri="{FF2B5EF4-FFF2-40B4-BE49-F238E27FC236}">
                <a16:creationId xmlns:a16="http://schemas.microsoft.com/office/drawing/2014/main" id="{2C2D1167-DE51-F9C9-3A31-4238C9204A20}"/>
              </a:ext>
            </a:extLst>
          </p:cNvPr>
          <p:cNvSpPr>
            <a:spLocks noGrp="1"/>
          </p:cNvSpPr>
          <p:nvPr>
            <p:ph type="sldNum" sz="quarter" idx="12"/>
          </p:nvPr>
        </p:nvSpPr>
        <p:spPr/>
        <p:txBody>
          <a:bodyPr/>
          <a:lstStyle/>
          <a:p>
            <a:pPr>
              <a:defRPr/>
            </a:pPr>
            <a:fld id="{5FAFB815-62BA-464E-901C-79D108092E38}" type="slidenum">
              <a:rPr lang="zh-CN" altLang="en-US" smtClean="0"/>
              <a:pPr>
                <a:defRPr/>
              </a:pPr>
              <a:t>13</a:t>
            </a:fld>
            <a:endParaRPr lang="en-US" altLang="zh-CN"/>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3"/>
          <p:cNvSpPr>
            <a:spLocks noGrp="1" noChangeArrowheads="1"/>
          </p:cNvSpPr>
          <p:nvPr>
            <p:ph idx="1"/>
          </p:nvPr>
        </p:nvSpPr>
        <p:spPr>
          <a:xfrm>
            <a:off x="683568" y="980728"/>
            <a:ext cx="8208912" cy="5112567"/>
          </a:xfrm>
        </p:spPr>
        <p:txBody>
          <a:bodyPr>
            <a:normAutofit fontScale="92500" lnSpcReduction="20000"/>
          </a:bodyPr>
          <a:lstStyle/>
          <a:p>
            <a:pPr>
              <a:buFont typeface="Wingdings" pitchFamily="2" charset="2"/>
              <a:buNone/>
            </a:pPr>
            <a:r>
              <a:rPr lang="en-US" altLang="zh-CN" sz="3000" b="1" dirty="0">
                <a:solidFill>
                  <a:srgbClr val="231EF2"/>
                </a:solidFill>
                <a:highlight>
                  <a:srgbClr val="808080"/>
                </a:highlight>
              </a:rPr>
              <a:t>2</a:t>
            </a:r>
            <a:r>
              <a:rPr lang="zh-CN" altLang="en-US" sz="3000" b="1" dirty="0">
                <a:solidFill>
                  <a:srgbClr val="231EF2"/>
                </a:solidFill>
                <a:highlight>
                  <a:srgbClr val="808080"/>
                </a:highlight>
              </a:rPr>
              <a:t>、电阻的种类</a:t>
            </a:r>
          </a:p>
          <a:p>
            <a:pPr>
              <a:buFont typeface="Wingdings" pitchFamily="2" charset="2"/>
              <a:buNone/>
            </a:pPr>
            <a:r>
              <a:rPr lang="zh-CN" altLang="en-US" sz="2800" b="1" dirty="0"/>
              <a:t>  我们常见的电阻器有下列几种：材料分类</a:t>
            </a:r>
          </a:p>
          <a:p>
            <a:pPr>
              <a:buFont typeface="Wingdings" pitchFamily="2" charset="2"/>
              <a:buNone/>
            </a:pPr>
            <a:r>
              <a:rPr lang="zh-CN" altLang="en-US" sz="2800" b="1" dirty="0"/>
              <a:t>（</a:t>
            </a:r>
            <a:r>
              <a:rPr lang="en-US" altLang="zh-CN" sz="2800" b="1" dirty="0"/>
              <a:t>1</a:t>
            </a:r>
            <a:r>
              <a:rPr lang="zh-CN" altLang="en-US" sz="2800" b="1" dirty="0"/>
              <a:t>）金属膜电阻器                （</a:t>
            </a:r>
            <a:r>
              <a:rPr lang="en-US" altLang="zh-CN" sz="2800" b="1" dirty="0"/>
              <a:t>2</a:t>
            </a:r>
            <a:r>
              <a:rPr lang="zh-CN" altLang="en-US" sz="2800" b="1" dirty="0"/>
              <a:t>）碳膜电阻器</a:t>
            </a:r>
          </a:p>
          <a:p>
            <a:pPr>
              <a:buFont typeface="Wingdings" pitchFamily="2" charset="2"/>
              <a:buNone/>
            </a:pPr>
            <a:r>
              <a:rPr lang="zh-CN" altLang="en-US" sz="2800" b="1" dirty="0"/>
              <a:t>（</a:t>
            </a:r>
            <a:r>
              <a:rPr lang="en-US" altLang="zh-CN" sz="2800" b="1" dirty="0"/>
              <a:t>3</a:t>
            </a:r>
            <a:r>
              <a:rPr lang="zh-CN" altLang="en-US" sz="2800" b="1" dirty="0"/>
              <a:t>）线绕电阻器                   （</a:t>
            </a:r>
            <a:r>
              <a:rPr lang="en-US" altLang="zh-CN" sz="2800" b="1" dirty="0"/>
              <a:t>4</a:t>
            </a:r>
            <a:r>
              <a:rPr lang="zh-CN" altLang="en-US" sz="2800" b="1" dirty="0"/>
              <a:t>）电位器</a:t>
            </a:r>
          </a:p>
          <a:p>
            <a:pPr>
              <a:buFont typeface="Wingdings" pitchFamily="2" charset="2"/>
              <a:buNone/>
            </a:pPr>
            <a:r>
              <a:rPr lang="zh-CN" altLang="en-US" sz="2800" b="1" dirty="0"/>
              <a:t>（</a:t>
            </a:r>
            <a:r>
              <a:rPr lang="en-US" altLang="zh-CN" sz="2800" b="1" dirty="0"/>
              <a:t>5</a:t>
            </a:r>
            <a:r>
              <a:rPr lang="zh-CN" altLang="en-US" sz="2800" b="1" dirty="0"/>
              <a:t>）电阻网络器                   （</a:t>
            </a:r>
            <a:r>
              <a:rPr lang="en-US" altLang="zh-CN" sz="2800" b="1" dirty="0"/>
              <a:t>6</a:t>
            </a:r>
            <a:r>
              <a:rPr lang="zh-CN" altLang="en-US" sz="2800" b="1" dirty="0"/>
              <a:t>）热敏电阻器</a:t>
            </a:r>
            <a:endParaRPr lang="en-US" altLang="zh-CN" sz="2800" b="1" dirty="0"/>
          </a:p>
          <a:p>
            <a:pPr>
              <a:buFont typeface="Wingdings" pitchFamily="2" charset="2"/>
              <a:buNone/>
            </a:pPr>
            <a:r>
              <a:rPr lang="zh-CN" altLang="en-US" sz="2800" b="1" dirty="0"/>
              <a:t>  结构形式分类</a:t>
            </a:r>
            <a:endParaRPr lang="en-US" altLang="zh-CN" sz="2800" b="1" dirty="0"/>
          </a:p>
          <a:p>
            <a:pPr>
              <a:buFont typeface="Wingdings" pitchFamily="2" charset="2"/>
              <a:buNone/>
            </a:pPr>
            <a:r>
              <a:rPr lang="zh-CN" altLang="en-US" sz="2800" b="1" dirty="0"/>
              <a:t>  （</a:t>
            </a:r>
            <a:r>
              <a:rPr lang="en-US" altLang="zh-CN" sz="2800" b="1" dirty="0"/>
              <a:t>1</a:t>
            </a:r>
            <a:r>
              <a:rPr lang="zh-CN" altLang="en-US" sz="2800" b="1" dirty="0"/>
              <a:t>）固定电阻器                 （</a:t>
            </a:r>
            <a:r>
              <a:rPr lang="en-US" altLang="zh-CN" sz="2800" b="1" dirty="0"/>
              <a:t>2</a:t>
            </a:r>
            <a:r>
              <a:rPr lang="zh-CN" altLang="en-US" sz="2800" b="1" dirty="0"/>
              <a:t>）微调电阻器</a:t>
            </a:r>
            <a:endParaRPr lang="en-US" altLang="zh-CN" sz="2800" b="1" dirty="0"/>
          </a:p>
          <a:p>
            <a:pPr>
              <a:buFont typeface="Wingdings" pitchFamily="2" charset="2"/>
              <a:buNone/>
            </a:pPr>
            <a:r>
              <a:rPr lang="en-US" altLang="zh-CN" sz="2800" b="1" dirty="0"/>
              <a:t>  </a:t>
            </a:r>
            <a:r>
              <a:rPr lang="zh-CN" altLang="en-US" sz="2800" b="1" dirty="0"/>
              <a:t>（</a:t>
            </a:r>
            <a:r>
              <a:rPr lang="en-US" altLang="zh-CN" sz="2800" b="1" dirty="0"/>
              <a:t>3</a:t>
            </a:r>
            <a:r>
              <a:rPr lang="zh-CN" altLang="en-US" sz="2800" b="1" dirty="0"/>
              <a:t>）可变电阻器</a:t>
            </a:r>
          </a:p>
          <a:p>
            <a:pPr>
              <a:buFont typeface="Wingdings" pitchFamily="2" charset="2"/>
              <a:buNone/>
            </a:pPr>
            <a:r>
              <a:rPr lang="zh-CN" altLang="en-US" sz="2800" b="1" dirty="0"/>
              <a:t>  不同的电阻器，不仅其电阻值不同，功能也不一样，所以不同的电阻器是不可以随便替代的。</a:t>
            </a:r>
            <a:endParaRPr lang="en-US" altLang="zh-CN" sz="2800" b="1" dirty="0"/>
          </a:p>
        </p:txBody>
      </p:sp>
      <p:sp>
        <p:nvSpPr>
          <p:cNvPr id="2" name="灯片编号占位符 1">
            <a:extLst>
              <a:ext uri="{FF2B5EF4-FFF2-40B4-BE49-F238E27FC236}">
                <a16:creationId xmlns:a16="http://schemas.microsoft.com/office/drawing/2014/main" id="{DA664247-7FD9-2963-27BE-A7565CAE77C8}"/>
              </a:ext>
            </a:extLst>
          </p:cNvPr>
          <p:cNvSpPr>
            <a:spLocks noGrp="1"/>
          </p:cNvSpPr>
          <p:nvPr>
            <p:ph type="sldNum" sz="quarter" idx="12"/>
          </p:nvPr>
        </p:nvSpPr>
        <p:spPr/>
        <p:txBody>
          <a:bodyPr/>
          <a:lstStyle/>
          <a:p>
            <a:pPr>
              <a:defRPr/>
            </a:pPr>
            <a:fld id="{5FAFB815-62BA-464E-901C-79D108092E38}" type="slidenum">
              <a:rPr lang="zh-CN" altLang="en-US" smtClean="0"/>
              <a:pPr>
                <a:defRPr/>
              </a:pPr>
              <a:t>14</a:t>
            </a:fld>
            <a:endParaRPr lang="en-US" altLang="zh-CN"/>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704" name="Picture 8" descr="色环电阻"/>
          <p:cNvPicPr>
            <a:picLocks noChangeAspect="1" noChangeArrowheads="1"/>
          </p:cNvPicPr>
          <p:nvPr/>
        </p:nvPicPr>
        <p:blipFill>
          <a:blip r:embed="rId2" cstate="print"/>
          <a:srcRect/>
          <a:stretch>
            <a:fillRect/>
          </a:stretch>
        </p:blipFill>
        <p:spPr bwMode="auto">
          <a:xfrm>
            <a:off x="575355" y="3728400"/>
            <a:ext cx="4030891" cy="2520000"/>
          </a:xfrm>
          <a:prstGeom prst="rect">
            <a:avLst/>
          </a:prstGeom>
          <a:noFill/>
          <a:ln w="9525">
            <a:noFill/>
            <a:miter lim="800000"/>
            <a:headEnd/>
            <a:tailEnd/>
          </a:ln>
          <a:effectLst/>
        </p:spPr>
      </p:pic>
      <p:pic>
        <p:nvPicPr>
          <p:cNvPr id="29699" name="Picture 3"/>
          <p:cNvPicPr>
            <a:picLocks noGrp="1" noChangeAspect="1" noChangeArrowheads="1"/>
          </p:cNvPicPr>
          <p:nvPr>
            <p:ph type="ctrTitle"/>
          </p:nvPr>
        </p:nvPicPr>
        <p:blipFill>
          <a:blip r:embed="rId3" cstate="print"/>
          <a:srcRect/>
          <a:stretch>
            <a:fillRect/>
          </a:stretch>
        </p:blipFill>
        <p:spPr>
          <a:xfrm>
            <a:off x="970801" y="718200"/>
            <a:ext cx="3240000" cy="2520000"/>
          </a:xfrm>
          <a:noFill/>
          <a:ln w="9525">
            <a:noFill/>
            <a:miter lim="800000"/>
            <a:headEnd/>
            <a:tailEnd/>
          </a:ln>
          <a:effectLst/>
        </p:spPr>
      </p:pic>
      <p:sp>
        <p:nvSpPr>
          <p:cNvPr id="29698" name="Rectangle 2"/>
          <p:cNvSpPr>
            <a:spLocks noGrp="1" noChangeArrowheads="1"/>
          </p:cNvSpPr>
          <p:nvPr>
            <p:ph type="subTitle" idx="1"/>
          </p:nvPr>
        </p:nvSpPr>
        <p:spPr>
          <a:xfrm>
            <a:off x="1676400" y="3276600"/>
            <a:ext cx="1676400" cy="457200"/>
          </a:xfrm>
        </p:spPr>
        <p:txBody>
          <a:bodyPr>
            <a:normAutofit fontScale="92500" lnSpcReduction="20000"/>
          </a:bodyPr>
          <a:lstStyle/>
          <a:p>
            <a:pPr algn="l">
              <a:lnSpc>
                <a:spcPct val="80000"/>
              </a:lnSpc>
              <a:buClr>
                <a:schemeClr val="tx1"/>
              </a:buClr>
            </a:pPr>
            <a:r>
              <a:rPr lang="zh-CN" altLang="en-US" sz="2800" b="1" dirty="0">
                <a:latin typeface="楷体_GB2312" pitchFamily="49" charset="-122"/>
                <a:ea typeface="楷体_GB2312" pitchFamily="49" charset="-122"/>
              </a:rPr>
              <a:t>绕线电阻</a:t>
            </a:r>
          </a:p>
        </p:txBody>
      </p:sp>
      <p:sp>
        <p:nvSpPr>
          <p:cNvPr id="2" name="灯片编号占位符 1">
            <a:extLst>
              <a:ext uri="{FF2B5EF4-FFF2-40B4-BE49-F238E27FC236}">
                <a16:creationId xmlns:a16="http://schemas.microsoft.com/office/drawing/2014/main" id="{2044E5B9-BFE1-564B-5012-9BEA63F06C07}"/>
              </a:ext>
            </a:extLst>
          </p:cNvPr>
          <p:cNvSpPr>
            <a:spLocks noGrp="1"/>
          </p:cNvSpPr>
          <p:nvPr>
            <p:ph type="sldNum" sz="quarter" idx="12"/>
          </p:nvPr>
        </p:nvSpPr>
        <p:spPr/>
        <p:txBody>
          <a:bodyPr/>
          <a:lstStyle/>
          <a:p>
            <a:pPr>
              <a:defRPr/>
            </a:pPr>
            <a:fld id="{47A4CA45-135E-4AE6-A55B-F30C83FDB90E}" type="slidenum">
              <a:rPr lang="zh-CN" altLang="en-US" smtClean="0"/>
              <a:pPr>
                <a:defRPr/>
              </a:pPr>
              <a:t>15</a:t>
            </a:fld>
            <a:endParaRPr lang="en-US" altLang="zh-CN"/>
          </a:p>
        </p:txBody>
      </p:sp>
      <p:pic>
        <p:nvPicPr>
          <p:cNvPr id="29700" name="Picture 4"/>
          <p:cNvPicPr>
            <a:picLocks noChangeAspect="1" noChangeArrowheads="1"/>
          </p:cNvPicPr>
          <p:nvPr/>
        </p:nvPicPr>
        <p:blipFill>
          <a:blip r:embed="rId4" cstate="print"/>
          <a:srcRect/>
          <a:stretch>
            <a:fillRect/>
          </a:stretch>
        </p:blipFill>
        <p:spPr bwMode="auto">
          <a:xfrm>
            <a:off x="5116199" y="729448"/>
            <a:ext cx="3024000" cy="2520000"/>
          </a:xfrm>
          <a:prstGeom prst="rect">
            <a:avLst/>
          </a:prstGeom>
          <a:noFill/>
          <a:ln w="9525">
            <a:noFill/>
            <a:miter lim="800000"/>
            <a:headEnd/>
            <a:tailEnd/>
          </a:ln>
          <a:effectLst/>
        </p:spPr>
      </p:pic>
      <p:sp>
        <p:nvSpPr>
          <p:cNvPr id="29701" name="Rectangle 5"/>
          <p:cNvSpPr>
            <a:spLocks noChangeArrowheads="1"/>
          </p:cNvSpPr>
          <p:nvPr/>
        </p:nvSpPr>
        <p:spPr bwMode="auto">
          <a:xfrm>
            <a:off x="5734799" y="3153816"/>
            <a:ext cx="2438400" cy="457200"/>
          </a:xfrm>
          <a:prstGeom prst="rect">
            <a:avLst/>
          </a:prstGeom>
          <a:noFill/>
          <a:ln w="9525">
            <a:noFill/>
            <a:miter lim="800000"/>
            <a:headEnd/>
            <a:tailEnd/>
          </a:ln>
          <a:effectLst/>
        </p:spPr>
        <p:txBody>
          <a:bodyPr/>
          <a:lstStyle/>
          <a:p>
            <a:pPr>
              <a:spcBef>
                <a:spcPct val="20000"/>
              </a:spcBef>
            </a:pPr>
            <a:r>
              <a:rPr lang="zh-CN" altLang="en-US" sz="2800" b="1" dirty="0">
                <a:latin typeface="Times New Roman" pitchFamily="18" charset="0"/>
                <a:ea typeface="楷体_GB2312" pitchFamily="49" charset="-122"/>
              </a:rPr>
              <a:t>金属膜电阻</a:t>
            </a:r>
          </a:p>
        </p:txBody>
      </p:sp>
      <p:sp>
        <p:nvSpPr>
          <p:cNvPr id="29702" name="Rectangle 6"/>
          <p:cNvSpPr>
            <a:spLocks noChangeArrowheads="1"/>
          </p:cNvSpPr>
          <p:nvPr/>
        </p:nvSpPr>
        <p:spPr bwMode="auto">
          <a:xfrm>
            <a:off x="1524000" y="6266768"/>
            <a:ext cx="1981200" cy="457200"/>
          </a:xfrm>
          <a:prstGeom prst="rect">
            <a:avLst/>
          </a:prstGeom>
          <a:noFill/>
          <a:ln w="9525">
            <a:noFill/>
            <a:miter lim="800000"/>
            <a:headEnd/>
            <a:tailEnd/>
          </a:ln>
          <a:effectLst/>
        </p:spPr>
        <p:txBody>
          <a:bodyPr/>
          <a:lstStyle/>
          <a:p>
            <a:pPr>
              <a:spcBef>
                <a:spcPct val="20000"/>
              </a:spcBef>
            </a:pPr>
            <a:r>
              <a:rPr lang="zh-CN" altLang="en-US" sz="2800" b="1" dirty="0">
                <a:latin typeface="Times New Roman" pitchFamily="18" charset="0"/>
                <a:ea typeface="楷体_GB2312" pitchFamily="49" charset="-122"/>
              </a:rPr>
              <a:t>碳膜电阻</a:t>
            </a:r>
          </a:p>
        </p:txBody>
      </p:sp>
      <p:sp>
        <p:nvSpPr>
          <p:cNvPr id="29703" name="Rectangle 7"/>
          <p:cNvSpPr>
            <a:spLocks noChangeArrowheads="1"/>
          </p:cNvSpPr>
          <p:nvPr/>
        </p:nvSpPr>
        <p:spPr bwMode="auto">
          <a:xfrm>
            <a:off x="5562600" y="5791200"/>
            <a:ext cx="1981200" cy="457200"/>
          </a:xfrm>
          <a:prstGeom prst="rect">
            <a:avLst/>
          </a:prstGeom>
          <a:noFill/>
          <a:ln w="9525">
            <a:noFill/>
            <a:miter lim="800000"/>
            <a:headEnd/>
            <a:tailEnd/>
          </a:ln>
          <a:effectLst/>
        </p:spPr>
        <p:txBody>
          <a:bodyPr/>
          <a:lstStyle/>
          <a:p>
            <a:pPr>
              <a:spcBef>
                <a:spcPct val="20000"/>
              </a:spcBef>
            </a:pPr>
            <a:endParaRPr lang="zh-CN" altLang="en-US" sz="2800" b="1">
              <a:latin typeface="Times New Roman" pitchFamily="18" charset="0"/>
              <a:ea typeface="楷体_GB2312" pitchFamily="49" charset="-122"/>
            </a:endParaRPr>
          </a:p>
        </p:txBody>
      </p:sp>
      <p:pic>
        <p:nvPicPr>
          <p:cNvPr id="29705" name="Picture 9"/>
          <p:cNvPicPr>
            <a:picLocks noChangeAspect="1" noChangeArrowheads="1"/>
          </p:cNvPicPr>
          <p:nvPr/>
        </p:nvPicPr>
        <p:blipFill>
          <a:blip r:embed="rId5" cstate="print"/>
          <a:srcRect/>
          <a:stretch>
            <a:fillRect/>
          </a:stretch>
        </p:blipFill>
        <p:spPr bwMode="auto">
          <a:xfrm>
            <a:off x="4902003" y="3712640"/>
            <a:ext cx="3695754" cy="2520000"/>
          </a:xfrm>
          <a:prstGeom prst="rect">
            <a:avLst/>
          </a:prstGeom>
          <a:noFill/>
          <a:ln w="9525">
            <a:noFill/>
            <a:miter lim="800000"/>
            <a:headEnd/>
            <a:tailEnd/>
          </a:ln>
          <a:effectLst/>
        </p:spPr>
      </p:pic>
      <p:sp>
        <p:nvSpPr>
          <p:cNvPr id="29706" name="Text Box 10"/>
          <p:cNvSpPr txBox="1">
            <a:spLocks noChangeArrowheads="1"/>
          </p:cNvSpPr>
          <p:nvPr/>
        </p:nvSpPr>
        <p:spPr bwMode="auto">
          <a:xfrm>
            <a:off x="6084168" y="6172612"/>
            <a:ext cx="2736850" cy="523220"/>
          </a:xfrm>
          <a:prstGeom prst="rect">
            <a:avLst/>
          </a:prstGeom>
          <a:noFill/>
          <a:ln w="9525">
            <a:noFill/>
            <a:miter lim="800000"/>
            <a:headEnd/>
            <a:tailEnd/>
          </a:ln>
          <a:effectLst/>
        </p:spPr>
        <p:txBody>
          <a:bodyPr>
            <a:spAutoFit/>
          </a:bodyPr>
          <a:lstStyle/>
          <a:p>
            <a:pPr>
              <a:spcBef>
                <a:spcPct val="50000"/>
              </a:spcBef>
            </a:pPr>
            <a:r>
              <a:rPr lang="zh-CN" altLang="en-US" sz="2800" b="1" dirty="0">
                <a:latin typeface="Times New Roman" pitchFamily="18" charset="0"/>
                <a:ea typeface="楷体_GB2312" pitchFamily="49" charset="-122"/>
              </a:rPr>
              <a:t>贴片电阻</a:t>
            </a: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3" name="Picture 3"/>
          <p:cNvPicPr>
            <a:picLocks noGrp="1" noChangeAspect="1" noChangeArrowheads="1"/>
          </p:cNvPicPr>
          <p:nvPr>
            <p:ph type="ctrTitle"/>
          </p:nvPr>
        </p:nvPicPr>
        <p:blipFill>
          <a:blip r:embed="rId2" cstate="print"/>
          <a:srcRect/>
          <a:stretch>
            <a:fillRect/>
          </a:stretch>
        </p:blipFill>
        <p:spPr>
          <a:xfrm>
            <a:off x="467544" y="784927"/>
            <a:ext cx="3152775" cy="1943100"/>
          </a:xfrm>
          <a:noFill/>
          <a:ln/>
        </p:spPr>
      </p:pic>
      <p:sp>
        <p:nvSpPr>
          <p:cNvPr id="30722" name="Rectangle 2"/>
          <p:cNvSpPr>
            <a:spLocks noGrp="1" noChangeArrowheads="1"/>
          </p:cNvSpPr>
          <p:nvPr>
            <p:ph type="subTitle" idx="1"/>
          </p:nvPr>
        </p:nvSpPr>
        <p:spPr>
          <a:xfrm>
            <a:off x="1447800" y="2711408"/>
            <a:ext cx="1752600" cy="533400"/>
          </a:xfrm>
        </p:spPr>
        <p:txBody>
          <a:bodyPr>
            <a:normAutofit lnSpcReduction="10000"/>
          </a:bodyPr>
          <a:lstStyle/>
          <a:p>
            <a:pPr algn="l">
              <a:lnSpc>
                <a:spcPct val="90000"/>
              </a:lnSpc>
              <a:buClr>
                <a:schemeClr val="tx1"/>
              </a:buClr>
            </a:pPr>
            <a:r>
              <a:rPr lang="zh-CN" altLang="en-US" b="1" dirty="0">
                <a:latin typeface="楷体_GB2312" pitchFamily="49" charset="-122"/>
                <a:ea typeface="楷体_GB2312" pitchFamily="49" charset="-122"/>
              </a:rPr>
              <a:t>  </a:t>
            </a:r>
            <a:r>
              <a:rPr lang="zh-CN" altLang="en-US" sz="2800" b="1" dirty="0">
                <a:latin typeface="楷体_GB2312" pitchFamily="49" charset="-122"/>
                <a:ea typeface="楷体_GB2312" pitchFamily="49" charset="-122"/>
              </a:rPr>
              <a:t>排阻</a:t>
            </a:r>
          </a:p>
        </p:txBody>
      </p:sp>
      <p:sp>
        <p:nvSpPr>
          <p:cNvPr id="2" name="灯片编号占位符 1">
            <a:extLst>
              <a:ext uri="{FF2B5EF4-FFF2-40B4-BE49-F238E27FC236}">
                <a16:creationId xmlns:a16="http://schemas.microsoft.com/office/drawing/2014/main" id="{EABBF9AB-A2E8-A845-4895-10A5C9C4D0A6}"/>
              </a:ext>
            </a:extLst>
          </p:cNvPr>
          <p:cNvSpPr>
            <a:spLocks noGrp="1"/>
          </p:cNvSpPr>
          <p:nvPr>
            <p:ph type="sldNum" sz="quarter" idx="12"/>
          </p:nvPr>
        </p:nvSpPr>
        <p:spPr/>
        <p:txBody>
          <a:bodyPr/>
          <a:lstStyle/>
          <a:p>
            <a:pPr>
              <a:defRPr/>
            </a:pPr>
            <a:fld id="{47A4CA45-135E-4AE6-A55B-F30C83FDB90E}" type="slidenum">
              <a:rPr lang="zh-CN" altLang="en-US" smtClean="0"/>
              <a:pPr>
                <a:defRPr/>
              </a:pPr>
              <a:t>16</a:t>
            </a:fld>
            <a:endParaRPr lang="en-US" altLang="zh-CN"/>
          </a:p>
        </p:txBody>
      </p:sp>
      <p:sp>
        <p:nvSpPr>
          <p:cNvPr id="30724" name="Rectangle 4"/>
          <p:cNvSpPr>
            <a:spLocks noChangeArrowheads="1"/>
          </p:cNvSpPr>
          <p:nvPr/>
        </p:nvSpPr>
        <p:spPr bwMode="auto">
          <a:xfrm>
            <a:off x="5580063" y="2924175"/>
            <a:ext cx="1752600" cy="533400"/>
          </a:xfrm>
          <a:prstGeom prst="rect">
            <a:avLst/>
          </a:prstGeom>
          <a:noFill/>
          <a:ln w="9525">
            <a:noFill/>
            <a:miter lim="800000"/>
            <a:headEnd/>
            <a:tailEnd/>
          </a:ln>
          <a:effectLst/>
        </p:spPr>
        <p:txBody>
          <a:bodyPr/>
          <a:lstStyle/>
          <a:p>
            <a:pPr>
              <a:spcBef>
                <a:spcPct val="20000"/>
              </a:spcBef>
            </a:pPr>
            <a:endParaRPr lang="zh-CN" altLang="en-US" sz="2000" b="1">
              <a:latin typeface="Times New Roman" pitchFamily="18" charset="0"/>
            </a:endParaRPr>
          </a:p>
        </p:txBody>
      </p:sp>
      <p:sp>
        <p:nvSpPr>
          <p:cNvPr id="30725" name="Rectangle 5"/>
          <p:cNvSpPr>
            <a:spLocks noChangeArrowheads="1"/>
          </p:cNvSpPr>
          <p:nvPr/>
        </p:nvSpPr>
        <p:spPr bwMode="auto">
          <a:xfrm>
            <a:off x="914400" y="5486400"/>
            <a:ext cx="2819400" cy="533400"/>
          </a:xfrm>
          <a:prstGeom prst="rect">
            <a:avLst/>
          </a:prstGeom>
          <a:noFill/>
          <a:ln w="9525">
            <a:noFill/>
            <a:miter lim="800000"/>
            <a:headEnd/>
            <a:tailEnd/>
          </a:ln>
          <a:effectLst/>
        </p:spPr>
        <p:txBody>
          <a:bodyPr/>
          <a:lstStyle/>
          <a:p>
            <a:pPr>
              <a:spcBef>
                <a:spcPct val="20000"/>
              </a:spcBef>
            </a:pPr>
            <a:endParaRPr lang="zh-CN" altLang="en-US" sz="2800" b="1">
              <a:latin typeface="Times New Roman" pitchFamily="18" charset="0"/>
              <a:ea typeface="楷体_GB2312" pitchFamily="49" charset="-122"/>
            </a:endParaRPr>
          </a:p>
        </p:txBody>
      </p:sp>
      <p:sp>
        <p:nvSpPr>
          <p:cNvPr id="30726" name="Rectangle 6"/>
          <p:cNvSpPr>
            <a:spLocks noChangeArrowheads="1"/>
          </p:cNvSpPr>
          <p:nvPr/>
        </p:nvSpPr>
        <p:spPr bwMode="auto">
          <a:xfrm>
            <a:off x="5410200" y="5638800"/>
            <a:ext cx="2819400" cy="533400"/>
          </a:xfrm>
          <a:prstGeom prst="rect">
            <a:avLst/>
          </a:prstGeom>
          <a:noFill/>
          <a:ln w="9525">
            <a:noFill/>
            <a:miter lim="800000"/>
            <a:headEnd/>
            <a:tailEnd/>
          </a:ln>
          <a:effectLst/>
        </p:spPr>
        <p:txBody>
          <a:bodyPr/>
          <a:lstStyle/>
          <a:p>
            <a:pPr>
              <a:spcBef>
                <a:spcPct val="20000"/>
              </a:spcBef>
            </a:pPr>
            <a:endParaRPr lang="zh-CN" altLang="en-US" sz="2800" b="1">
              <a:latin typeface="Times New Roman" pitchFamily="18" charset="0"/>
              <a:ea typeface="楷体_GB2312" pitchFamily="49" charset="-122"/>
            </a:endParaRPr>
          </a:p>
        </p:txBody>
      </p:sp>
      <p:sp>
        <p:nvSpPr>
          <p:cNvPr id="30727" name="Text Box 7"/>
          <p:cNvSpPr txBox="1">
            <a:spLocks noChangeArrowheads="1"/>
          </p:cNvSpPr>
          <p:nvPr/>
        </p:nvSpPr>
        <p:spPr bwMode="auto">
          <a:xfrm>
            <a:off x="5724128" y="2705904"/>
            <a:ext cx="1871662" cy="511175"/>
          </a:xfrm>
          <a:prstGeom prst="rect">
            <a:avLst/>
          </a:prstGeom>
        </p:spPr>
        <p:txBody>
          <a:bodyPr vert="horz" lIns="91440" tIns="91440" rIns="91440" bIns="91440" rtlCol="0">
            <a:noAutofit/>
          </a:bodyPr>
          <a:lstStyle>
            <a:lvl1pPr indent="0" defTabSz="685800">
              <a:lnSpc>
                <a:spcPct val="90000"/>
              </a:lnSpc>
              <a:spcBef>
                <a:spcPts val="1000"/>
              </a:spcBef>
              <a:buClr>
                <a:schemeClr val="tx1"/>
              </a:buClr>
              <a:buSzPct val="100000"/>
              <a:buFont typeface="Arial" panose="020B0604020202020204" pitchFamily="34" charset="0"/>
              <a:buNone/>
              <a:defRPr sz="1600" b="1" cap="none">
                <a:effectLst/>
                <a:latin typeface="楷体_GB2312" pitchFamily="49" charset="-122"/>
                <a:ea typeface="楷体_GB2312" pitchFamily="49" charset="-122"/>
              </a:defRPr>
            </a:lvl1pPr>
            <a:lvl2pPr marL="342900" indent="0" algn="ctr" defTabSz="685800">
              <a:lnSpc>
                <a:spcPct val="120000"/>
              </a:lnSpc>
              <a:spcBef>
                <a:spcPts val="500"/>
              </a:spcBef>
              <a:buClr>
                <a:schemeClr val="accent1"/>
              </a:buClr>
              <a:buSzPct val="100000"/>
              <a:buFont typeface="Arial" panose="020B0604020202020204" pitchFamily="34" charset="0"/>
              <a:buNone/>
              <a:defRPr sz="1500" cap="none" baseline="0">
                <a:effectLst/>
              </a:defRPr>
            </a:lvl2pPr>
            <a:lvl3pPr marL="685800" indent="0" algn="ctr" defTabSz="685800">
              <a:lnSpc>
                <a:spcPct val="120000"/>
              </a:lnSpc>
              <a:spcBef>
                <a:spcPts val="500"/>
              </a:spcBef>
              <a:buClr>
                <a:schemeClr val="accent1"/>
              </a:buClr>
              <a:buSzPct val="100000"/>
              <a:buFont typeface="Arial" panose="020B0604020202020204" pitchFamily="34" charset="0"/>
              <a:buNone/>
              <a:defRPr sz="1350" cap="none">
                <a:effectLst/>
              </a:defRPr>
            </a:lvl3pPr>
            <a:lvl4pPr marL="1028700" indent="0" algn="ctr" defTabSz="685800">
              <a:lnSpc>
                <a:spcPct val="120000"/>
              </a:lnSpc>
              <a:spcBef>
                <a:spcPts val="500"/>
              </a:spcBef>
              <a:buClr>
                <a:schemeClr val="accent1"/>
              </a:buClr>
              <a:buSzPct val="100000"/>
              <a:buFont typeface="Arial" panose="020B0604020202020204" pitchFamily="34" charset="0"/>
              <a:buNone/>
              <a:defRPr sz="1200" cap="none" baseline="0">
                <a:effectLst/>
              </a:defRPr>
            </a:lvl4pPr>
            <a:lvl5pPr marL="1371600" indent="0" algn="ctr" defTabSz="685800">
              <a:lnSpc>
                <a:spcPct val="120000"/>
              </a:lnSpc>
              <a:spcBef>
                <a:spcPts val="500"/>
              </a:spcBef>
              <a:buClr>
                <a:schemeClr val="accent1"/>
              </a:buClr>
              <a:buSzPct val="100000"/>
              <a:buFont typeface="Arial" panose="020B0604020202020204" pitchFamily="34" charset="0"/>
              <a:buNone/>
              <a:defRPr sz="1200" cap="none">
                <a:effectLst/>
              </a:defRPr>
            </a:lvl5pPr>
            <a:lvl6pPr marL="1714500" indent="0" algn="ctr" defTabSz="914400">
              <a:lnSpc>
                <a:spcPct val="120000"/>
              </a:lnSpc>
              <a:spcBef>
                <a:spcPts val="500"/>
              </a:spcBef>
              <a:buClr>
                <a:schemeClr val="accent1"/>
              </a:buClr>
              <a:buSzPct val="100000"/>
              <a:buFont typeface="Arial" panose="020B0604020202020204" pitchFamily="34" charset="0"/>
              <a:buNone/>
              <a:defRPr sz="1200">
                <a:effectLst/>
              </a:defRPr>
            </a:lvl6pPr>
            <a:lvl7pPr marL="2057400" indent="0" algn="ctr" defTabSz="914400">
              <a:lnSpc>
                <a:spcPct val="120000"/>
              </a:lnSpc>
              <a:spcBef>
                <a:spcPts val="500"/>
              </a:spcBef>
              <a:buClr>
                <a:schemeClr val="accent1"/>
              </a:buClr>
              <a:buSzPct val="100000"/>
              <a:buFont typeface="Arial" panose="020B0604020202020204" pitchFamily="34" charset="0"/>
              <a:buNone/>
              <a:defRPr sz="1200">
                <a:effectLst/>
              </a:defRPr>
            </a:lvl7pPr>
            <a:lvl8pPr marL="2400300" indent="0" algn="ctr" defTabSz="914400">
              <a:lnSpc>
                <a:spcPct val="120000"/>
              </a:lnSpc>
              <a:spcBef>
                <a:spcPts val="500"/>
              </a:spcBef>
              <a:buClr>
                <a:schemeClr val="accent1"/>
              </a:buClr>
              <a:buSzPct val="100000"/>
              <a:buFont typeface="Arial" panose="020B0604020202020204" pitchFamily="34" charset="0"/>
              <a:buNone/>
              <a:defRPr sz="1200" baseline="0">
                <a:effectLst/>
              </a:defRPr>
            </a:lvl8pPr>
            <a:lvl9pPr marL="2743200" indent="0" algn="ctr" defTabSz="914400">
              <a:lnSpc>
                <a:spcPct val="120000"/>
              </a:lnSpc>
              <a:spcBef>
                <a:spcPts val="500"/>
              </a:spcBef>
              <a:buClr>
                <a:schemeClr val="accent1"/>
              </a:buClr>
              <a:buSzPct val="100000"/>
              <a:buFont typeface="Arial" panose="020B0604020202020204" pitchFamily="34" charset="0"/>
              <a:buNone/>
              <a:defRPr sz="1200" baseline="0">
                <a:effectLst/>
              </a:defRPr>
            </a:lvl9pPr>
          </a:lstStyle>
          <a:p>
            <a:r>
              <a:rPr lang="zh-CN" altLang="en-US" sz="2800" dirty="0"/>
              <a:t>水泥电阻</a:t>
            </a:r>
          </a:p>
        </p:txBody>
      </p:sp>
      <p:pic>
        <p:nvPicPr>
          <p:cNvPr id="30728" name="Picture 8" descr="水泥电阻器"/>
          <p:cNvPicPr>
            <a:picLocks noChangeAspect="1" noChangeArrowheads="1"/>
          </p:cNvPicPr>
          <p:nvPr/>
        </p:nvPicPr>
        <p:blipFill>
          <a:blip r:embed="rId3" cstate="print"/>
          <a:srcRect/>
          <a:stretch>
            <a:fillRect/>
          </a:stretch>
        </p:blipFill>
        <p:spPr bwMode="auto">
          <a:xfrm>
            <a:off x="4495800" y="761671"/>
            <a:ext cx="3733800" cy="2016125"/>
          </a:xfrm>
          <a:prstGeom prst="rect">
            <a:avLst/>
          </a:prstGeom>
          <a:noFill/>
          <a:ln w="9525">
            <a:noFill/>
            <a:miter lim="800000"/>
            <a:headEnd/>
            <a:tailEnd/>
          </a:ln>
        </p:spPr>
      </p:pic>
      <p:pic>
        <p:nvPicPr>
          <p:cNvPr id="30729" name="Picture 9"/>
          <p:cNvPicPr>
            <a:picLocks noChangeAspect="1" noChangeArrowheads="1"/>
          </p:cNvPicPr>
          <p:nvPr/>
        </p:nvPicPr>
        <p:blipFill>
          <a:blip r:embed="rId4" cstate="print"/>
          <a:srcRect/>
          <a:stretch>
            <a:fillRect/>
          </a:stretch>
        </p:blipFill>
        <p:spPr bwMode="auto">
          <a:xfrm>
            <a:off x="334616" y="3210240"/>
            <a:ext cx="4753074" cy="2988074"/>
          </a:xfrm>
          <a:prstGeom prst="rect">
            <a:avLst/>
          </a:prstGeom>
          <a:noFill/>
          <a:ln w="9525">
            <a:noFill/>
            <a:miter lim="800000"/>
            <a:headEnd/>
            <a:tailEnd/>
          </a:ln>
          <a:effectLst/>
        </p:spPr>
      </p:pic>
      <p:sp>
        <p:nvSpPr>
          <p:cNvPr id="30730" name="Text Box 10"/>
          <p:cNvSpPr txBox="1">
            <a:spLocks noChangeArrowheads="1"/>
          </p:cNvSpPr>
          <p:nvPr/>
        </p:nvSpPr>
        <p:spPr bwMode="auto">
          <a:xfrm>
            <a:off x="1447800" y="6246562"/>
            <a:ext cx="1803168" cy="867930"/>
          </a:xfrm>
          <a:prstGeom prst="rect">
            <a:avLst/>
          </a:prstGeom>
        </p:spPr>
        <p:txBody>
          <a:bodyPr vert="horz" lIns="91440" tIns="91440" rIns="91440" bIns="91440" rtlCol="0">
            <a:noAutofit/>
          </a:bodyPr>
          <a:lstStyle>
            <a:defPPr>
              <a:defRPr lang="en-US"/>
            </a:defPPr>
            <a:lvl1pPr indent="0" defTabSz="685800">
              <a:lnSpc>
                <a:spcPct val="90000"/>
              </a:lnSpc>
              <a:spcBef>
                <a:spcPts val="1000"/>
              </a:spcBef>
              <a:buClr>
                <a:schemeClr val="tx1"/>
              </a:buClr>
              <a:buSzPct val="100000"/>
              <a:buFont typeface="Arial" panose="020B0604020202020204" pitchFamily="34" charset="0"/>
              <a:buNone/>
              <a:defRPr sz="2800" b="1" cap="none">
                <a:effectLst/>
                <a:latin typeface="楷体_GB2312" pitchFamily="49" charset="-122"/>
                <a:ea typeface="楷体_GB2312" pitchFamily="49" charset="-122"/>
              </a:defRPr>
            </a:lvl1pPr>
            <a:lvl2pPr marL="342900" indent="0" algn="ctr" defTabSz="685800">
              <a:lnSpc>
                <a:spcPct val="120000"/>
              </a:lnSpc>
              <a:spcBef>
                <a:spcPts val="500"/>
              </a:spcBef>
              <a:buClr>
                <a:schemeClr val="accent1"/>
              </a:buClr>
              <a:buSzPct val="100000"/>
              <a:buFont typeface="Arial" panose="020B0604020202020204" pitchFamily="34" charset="0"/>
              <a:buNone/>
              <a:defRPr sz="1500" cap="none" baseline="0">
                <a:effectLst/>
              </a:defRPr>
            </a:lvl2pPr>
            <a:lvl3pPr marL="685800" indent="0" algn="ctr" defTabSz="685800">
              <a:lnSpc>
                <a:spcPct val="120000"/>
              </a:lnSpc>
              <a:spcBef>
                <a:spcPts val="500"/>
              </a:spcBef>
              <a:buClr>
                <a:schemeClr val="accent1"/>
              </a:buClr>
              <a:buSzPct val="100000"/>
              <a:buFont typeface="Arial" panose="020B0604020202020204" pitchFamily="34" charset="0"/>
              <a:buNone/>
              <a:defRPr sz="1350" cap="none">
                <a:effectLst/>
              </a:defRPr>
            </a:lvl3pPr>
            <a:lvl4pPr marL="1028700" indent="0" algn="ctr" defTabSz="685800">
              <a:lnSpc>
                <a:spcPct val="120000"/>
              </a:lnSpc>
              <a:spcBef>
                <a:spcPts val="500"/>
              </a:spcBef>
              <a:buClr>
                <a:schemeClr val="accent1"/>
              </a:buClr>
              <a:buSzPct val="100000"/>
              <a:buFont typeface="Arial" panose="020B0604020202020204" pitchFamily="34" charset="0"/>
              <a:buNone/>
              <a:defRPr sz="1200" cap="none" baseline="0">
                <a:effectLst/>
              </a:defRPr>
            </a:lvl4pPr>
            <a:lvl5pPr marL="1371600" indent="0" algn="ctr" defTabSz="685800">
              <a:lnSpc>
                <a:spcPct val="120000"/>
              </a:lnSpc>
              <a:spcBef>
                <a:spcPts val="500"/>
              </a:spcBef>
              <a:buClr>
                <a:schemeClr val="accent1"/>
              </a:buClr>
              <a:buSzPct val="100000"/>
              <a:buFont typeface="Arial" panose="020B0604020202020204" pitchFamily="34" charset="0"/>
              <a:buNone/>
              <a:defRPr sz="1200" cap="none">
                <a:effectLst/>
              </a:defRPr>
            </a:lvl5pPr>
            <a:lvl6pPr marL="1714500" indent="0" algn="ctr" defTabSz="914400">
              <a:lnSpc>
                <a:spcPct val="120000"/>
              </a:lnSpc>
              <a:spcBef>
                <a:spcPts val="500"/>
              </a:spcBef>
              <a:buClr>
                <a:schemeClr val="accent1"/>
              </a:buClr>
              <a:buSzPct val="100000"/>
              <a:buFont typeface="Arial" panose="020B0604020202020204" pitchFamily="34" charset="0"/>
              <a:buNone/>
              <a:defRPr sz="1200">
                <a:effectLst/>
              </a:defRPr>
            </a:lvl6pPr>
            <a:lvl7pPr marL="2057400" indent="0" algn="ctr" defTabSz="914400">
              <a:lnSpc>
                <a:spcPct val="120000"/>
              </a:lnSpc>
              <a:spcBef>
                <a:spcPts val="500"/>
              </a:spcBef>
              <a:buClr>
                <a:schemeClr val="accent1"/>
              </a:buClr>
              <a:buSzPct val="100000"/>
              <a:buFont typeface="Arial" panose="020B0604020202020204" pitchFamily="34" charset="0"/>
              <a:buNone/>
              <a:defRPr sz="1200">
                <a:effectLst/>
              </a:defRPr>
            </a:lvl7pPr>
            <a:lvl8pPr marL="2400300" indent="0" algn="ctr" defTabSz="914400">
              <a:lnSpc>
                <a:spcPct val="120000"/>
              </a:lnSpc>
              <a:spcBef>
                <a:spcPts val="500"/>
              </a:spcBef>
              <a:buClr>
                <a:schemeClr val="accent1"/>
              </a:buClr>
              <a:buSzPct val="100000"/>
              <a:buFont typeface="Arial" panose="020B0604020202020204" pitchFamily="34" charset="0"/>
              <a:buNone/>
              <a:defRPr sz="1200" baseline="0">
                <a:effectLst/>
              </a:defRPr>
            </a:lvl8pPr>
            <a:lvl9pPr marL="2743200" indent="0" algn="ctr" defTabSz="914400">
              <a:lnSpc>
                <a:spcPct val="120000"/>
              </a:lnSpc>
              <a:spcBef>
                <a:spcPts val="500"/>
              </a:spcBef>
              <a:buClr>
                <a:schemeClr val="accent1"/>
              </a:buClr>
              <a:buSzPct val="100000"/>
              <a:buFont typeface="Arial" panose="020B0604020202020204" pitchFamily="34" charset="0"/>
              <a:buNone/>
              <a:defRPr sz="1200" baseline="0">
                <a:effectLst/>
              </a:defRPr>
            </a:lvl9pPr>
          </a:lstStyle>
          <a:p>
            <a:r>
              <a:rPr lang="zh-CN" altLang="en-US" dirty="0"/>
              <a:t>可变电阻</a:t>
            </a:r>
          </a:p>
        </p:txBody>
      </p:sp>
      <p:pic>
        <p:nvPicPr>
          <p:cNvPr id="4" name="图片 3">
            <a:extLst>
              <a:ext uri="{FF2B5EF4-FFF2-40B4-BE49-F238E27FC236}">
                <a16:creationId xmlns:a16="http://schemas.microsoft.com/office/drawing/2014/main" id="{209DB74B-80E5-3A96-7D08-DBDC80877161}"/>
              </a:ext>
            </a:extLst>
          </p:cNvPr>
          <p:cNvPicPr>
            <a:picLocks noChangeAspect="1"/>
          </p:cNvPicPr>
          <p:nvPr/>
        </p:nvPicPr>
        <p:blipFill>
          <a:blip r:embed="rId5"/>
          <a:stretch>
            <a:fillRect/>
          </a:stretch>
        </p:blipFill>
        <p:spPr>
          <a:xfrm>
            <a:off x="5080330" y="3456120"/>
            <a:ext cx="2017751" cy="1440000"/>
          </a:xfrm>
          <a:prstGeom prst="rect">
            <a:avLst/>
          </a:prstGeom>
        </p:spPr>
      </p:pic>
      <p:pic>
        <p:nvPicPr>
          <p:cNvPr id="6" name="图片 5">
            <a:extLst>
              <a:ext uri="{FF2B5EF4-FFF2-40B4-BE49-F238E27FC236}">
                <a16:creationId xmlns:a16="http://schemas.microsoft.com/office/drawing/2014/main" id="{07AE51EF-E813-1E74-F553-80BDDF0FE74D}"/>
              </a:ext>
            </a:extLst>
          </p:cNvPr>
          <p:cNvPicPr>
            <a:picLocks noChangeAspect="1"/>
          </p:cNvPicPr>
          <p:nvPr/>
        </p:nvPicPr>
        <p:blipFill>
          <a:blip r:embed="rId6"/>
          <a:stretch>
            <a:fillRect/>
          </a:stretch>
        </p:blipFill>
        <p:spPr>
          <a:xfrm>
            <a:off x="6948264" y="3457575"/>
            <a:ext cx="2001429" cy="1440000"/>
          </a:xfrm>
          <a:prstGeom prst="rect">
            <a:avLst/>
          </a:prstGeom>
        </p:spPr>
      </p:pic>
      <p:sp>
        <p:nvSpPr>
          <p:cNvPr id="7" name="Text Box 10">
            <a:extLst>
              <a:ext uri="{FF2B5EF4-FFF2-40B4-BE49-F238E27FC236}">
                <a16:creationId xmlns:a16="http://schemas.microsoft.com/office/drawing/2014/main" id="{18B97FAD-D965-73BA-E1EA-4815E4669376}"/>
              </a:ext>
            </a:extLst>
          </p:cNvPr>
          <p:cNvSpPr txBox="1">
            <a:spLocks noChangeArrowheads="1"/>
          </p:cNvSpPr>
          <p:nvPr/>
        </p:nvSpPr>
        <p:spPr bwMode="auto">
          <a:xfrm>
            <a:off x="6046680" y="5330384"/>
            <a:ext cx="1803168" cy="867930"/>
          </a:xfrm>
          <a:prstGeom prst="rect">
            <a:avLst/>
          </a:prstGeom>
        </p:spPr>
        <p:txBody>
          <a:bodyPr vert="horz" lIns="91440" tIns="91440" rIns="91440" bIns="91440" rtlCol="0">
            <a:noAutofit/>
          </a:bodyPr>
          <a:lstStyle>
            <a:defPPr>
              <a:defRPr lang="en-US"/>
            </a:defPPr>
            <a:lvl1pPr indent="0" defTabSz="685800">
              <a:lnSpc>
                <a:spcPct val="90000"/>
              </a:lnSpc>
              <a:spcBef>
                <a:spcPts val="1000"/>
              </a:spcBef>
              <a:buClr>
                <a:schemeClr val="tx1"/>
              </a:buClr>
              <a:buSzPct val="100000"/>
              <a:buFont typeface="Arial" panose="020B0604020202020204" pitchFamily="34" charset="0"/>
              <a:buNone/>
              <a:defRPr sz="2800" b="1" cap="none">
                <a:effectLst/>
                <a:latin typeface="楷体_GB2312" pitchFamily="49" charset="-122"/>
                <a:ea typeface="楷体_GB2312" pitchFamily="49" charset="-122"/>
              </a:defRPr>
            </a:lvl1pPr>
            <a:lvl2pPr marL="342900" indent="0" algn="ctr" defTabSz="685800">
              <a:lnSpc>
                <a:spcPct val="120000"/>
              </a:lnSpc>
              <a:spcBef>
                <a:spcPts val="500"/>
              </a:spcBef>
              <a:buClr>
                <a:schemeClr val="accent1"/>
              </a:buClr>
              <a:buSzPct val="100000"/>
              <a:buFont typeface="Arial" panose="020B0604020202020204" pitchFamily="34" charset="0"/>
              <a:buNone/>
              <a:defRPr sz="1500" cap="none" baseline="0">
                <a:effectLst/>
              </a:defRPr>
            </a:lvl2pPr>
            <a:lvl3pPr marL="685800" indent="0" algn="ctr" defTabSz="685800">
              <a:lnSpc>
                <a:spcPct val="120000"/>
              </a:lnSpc>
              <a:spcBef>
                <a:spcPts val="500"/>
              </a:spcBef>
              <a:buClr>
                <a:schemeClr val="accent1"/>
              </a:buClr>
              <a:buSzPct val="100000"/>
              <a:buFont typeface="Arial" panose="020B0604020202020204" pitchFamily="34" charset="0"/>
              <a:buNone/>
              <a:defRPr sz="1350" cap="none">
                <a:effectLst/>
              </a:defRPr>
            </a:lvl3pPr>
            <a:lvl4pPr marL="1028700" indent="0" algn="ctr" defTabSz="685800">
              <a:lnSpc>
                <a:spcPct val="120000"/>
              </a:lnSpc>
              <a:spcBef>
                <a:spcPts val="500"/>
              </a:spcBef>
              <a:buClr>
                <a:schemeClr val="accent1"/>
              </a:buClr>
              <a:buSzPct val="100000"/>
              <a:buFont typeface="Arial" panose="020B0604020202020204" pitchFamily="34" charset="0"/>
              <a:buNone/>
              <a:defRPr sz="1200" cap="none" baseline="0">
                <a:effectLst/>
              </a:defRPr>
            </a:lvl4pPr>
            <a:lvl5pPr marL="1371600" indent="0" algn="ctr" defTabSz="685800">
              <a:lnSpc>
                <a:spcPct val="120000"/>
              </a:lnSpc>
              <a:spcBef>
                <a:spcPts val="500"/>
              </a:spcBef>
              <a:buClr>
                <a:schemeClr val="accent1"/>
              </a:buClr>
              <a:buSzPct val="100000"/>
              <a:buFont typeface="Arial" panose="020B0604020202020204" pitchFamily="34" charset="0"/>
              <a:buNone/>
              <a:defRPr sz="1200" cap="none">
                <a:effectLst/>
              </a:defRPr>
            </a:lvl5pPr>
            <a:lvl6pPr marL="1714500" indent="0" algn="ctr" defTabSz="914400">
              <a:lnSpc>
                <a:spcPct val="120000"/>
              </a:lnSpc>
              <a:spcBef>
                <a:spcPts val="500"/>
              </a:spcBef>
              <a:buClr>
                <a:schemeClr val="accent1"/>
              </a:buClr>
              <a:buSzPct val="100000"/>
              <a:buFont typeface="Arial" panose="020B0604020202020204" pitchFamily="34" charset="0"/>
              <a:buNone/>
              <a:defRPr sz="1200">
                <a:effectLst/>
              </a:defRPr>
            </a:lvl6pPr>
            <a:lvl7pPr marL="2057400" indent="0" algn="ctr" defTabSz="914400">
              <a:lnSpc>
                <a:spcPct val="120000"/>
              </a:lnSpc>
              <a:spcBef>
                <a:spcPts val="500"/>
              </a:spcBef>
              <a:buClr>
                <a:schemeClr val="accent1"/>
              </a:buClr>
              <a:buSzPct val="100000"/>
              <a:buFont typeface="Arial" panose="020B0604020202020204" pitchFamily="34" charset="0"/>
              <a:buNone/>
              <a:defRPr sz="1200">
                <a:effectLst/>
              </a:defRPr>
            </a:lvl7pPr>
            <a:lvl8pPr marL="2400300" indent="0" algn="ctr" defTabSz="914400">
              <a:lnSpc>
                <a:spcPct val="120000"/>
              </a:lnSpc>
              <a:spcBef>
                <a:spcPts val="500"/>
              </a:spcBef>
              <a:buClr>
                <a:schemeClr val="accent1"/>
              </a:buClr>
              <a:buSzPct val="100000"/>
              <a:buFont typeface="Arial" panose="020B0604020202020204" pitchFamily="34" charset="0"/>
              <a:buNone/>
              <a:defRPr sz="1200" baseline="0">
                <a:effectLst/>
              </a:defRPr>
            </a:lvl8pPr>
            <a:lvl9pPr marL="2743200" indent="0" algn="ctr" defTabSz="914400">
              <a:lnSpc>
                <a:spcPct val="120000"/>
              </a:lnSpc>
              <a:spcBef>
                <a:spcPts val="500"/>
              </a:spcBef>
              <a:buClr>
                <a:schemeClr val="accent1"/>
              </a:buClr>
              <a:buSzPct val="100000"/>
              <a:buFont typeface="Arial" panose="020B0604020202020204" pitchFamily="34" charset="0"/>
              <a:buNone/>
              <a:defRPr sz="1200" baseline="0">
                <a:effectLst/>
              </a:defRPr>
            </a:lvl9pPr>
          </a:lstStyle>
          <a:p>
            <a:r>
              <a:rPr lang="zh-CN" altLang="en-US" dirty="0"/>
              <a:t>可调电阻</a:t>
            </a: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ChangeArrowheads="1"/>
          </p:cNvSpPr>
          <p:nvPr/>
        </p:nvSpPr>
        <p:spPr bwMode="auto">
          <a:xfrm>
            <a:off x="1066800" y="4876800"/>
            <a:ext cx="7543800" cy="838200"/>
          </a:xfrm>
          <a:prstGeom prst="rect">
            <a:avLst/>
          </a:prstGeom>
          <a:noFill/>
          <a:ln w="9525">
            <a:noFill/>
            <a:miter lim="800000"/>
            <a:headEnd/>
            <a:tailEnd/>
          </a:ln>
          <a:effectLst/>
        </p:spPr>
        <p:txBody>
          <a:bodyPr/>
          <a:lstStyle/>
          <a:p>
            <a:pPr lvl="1">
              <a:spcBef>
                <a:spcPct val="20000"/>
              </a:spcBef>
              <a:buFontTx/>
              <a:buChar char="•"/>
            </a:pPr>
            <a:endParaRPr lang="zh-CN" altLang="en-US">
              <a:latin typeface="华文行楷" pitchFamily="2" charset="-122"/>
              <a:ea typeface="华文行楷" pitchFamily="2" charset="-122"/>
            </a:endParaRPr>
          </a:p>
        </p:txBody>
      </p:sp>
      <p:pic>
        <p:nvPicPr>
          <p:cNvPr id="32772" name="Picture 4"/>
          <p:cNvPicPr>
            <a:picLocks noGrp="1" noChangeAspect="1" noChangeArrowheads="1"/>
          </p:cNvPicPr>
          <p:nvPr>
            <p:ph type="ctrTitle"/>
          </p:nvPr>
        </p:nvPicPr>
        <p:blipFill>
          <a:blip r:embed="rId2" cstate="print"/>
          <a:srcRect/>
          <a:stretch>
            <a:fillRect/>
          </a:stretch>
        </p:blipFill>
        <p:spPr>
          <a:xfrm>
            <a:off x="395535" y="832916"/>
            <a:ext cx="2468443" cy="2452068"/>
          </a:xfrm>
          <a:noFill/>
          <a:ln/>
        </p:spPr>
      </p:pic>
      <p:sp>
        <p:nvSpPr>
          <p:cNvPr id="32771" name="Rectangle 3"/>
          <p:cNvSpPr>
            <a:spLocks noGrp="1" noChangeArrowheads="1"/>
          </p:cNvSpPr>
          <p:nvPr>
            <p:ph type="subTitle" idx="1"/>
          </p:nvPr>
        </p:nvSpPr>
        <p:spPr>
          <a:xfrm>
            <a:off x="728791" y="6198600"/>
            <a:ext cx="2135187" cy="531813"/>
          </a:xfrm>
          <a:noFill/>
          <a:ln w="9525">
            <a:noFill/>
            <a:miter lim="800000"/>
            <a:headEnd/>
            <a:tailEnd/>
          </a:ln>
          <a:effectLst/>
        </p:spPr>
        <p:txBody>
          <a:bodyPr>
            <a:noAutofit/>
          </a:bodyPr>
          <a:lstStyle/>
          <a:p>
            <a:pPr defTabSz="457200">
              <a:spcBef>
                <a:spcPct val="20000"/>
              </a:spcBef>
            </a:pPr>
            <a:r>
              <a:rPr lang="zh-CN" altLang="en-US" sz="2800" b="1" dirty="0">
                <a:ea typeface="楷体_GB2312" pitchFamily="49" charset="-122"/>
              </a:rPr>
              <a:t>压敏电阻</a:t>
            </a:r>
          </a:p>
        </p:txBody>
      </p:sp>
      <p:sp>
        <p:nvSpPr>
          <p:cNvPr id="2" name="灯片编号占位符 1">
            <a:extLst>
              <a:ext uri="{FF2B5EF4-FFF2-40B4-BE49-F238E27FC236}">
                <a16:creationId xmlns:a16="http://schemas.microsoft.com/office/drawing/2014/main" id="{9BBD6297-ACF4-FB84-7611-60D67E2B3528}"/>
              </a:ext>
            </a:extLst>
          </p:cNvPr>
          <p:cNvSpPr>
            <a:spLocks noGrp="1"/>
          </p:cNvSpPr>
          <p:nvPr>
            <p:ph type="sldNum" sz="quarter" idx="12"/>
          </p:nvPr>
        </p:nvSpPr>
        <p:spPr/>
        <p:txBody>
          <a:bodyPr/>
          <a:lstStyle/>
          <a:p>
            <a:pPr>
              <a:defRPr/>
            </a:pPr>
            <a:fld id="{47A4CA45-135E-4AE6-A55B-F30C83FDB90E}" type="slidenum">
              <a:rPr lang="zh-CN" altLang="en-US" smtClean="0"/>
              <a:pPr>
                <a:defRPr/>
              </a:pPr>
              <a:t>17</a:t>
            </a:fld>
            <a:endParaRPr lang="en-US" altLang="zh-CN"/>
          </a:p>
        </p:txBody>
      </p:sp>
      <p:sp>
        <p:nvSpPr>
          <p:cNvPr id="32773" name="Rectangle 5"/>
          <p:cNvSpPr>
            <a:spLocks noChangeArrowheads="1"/>
          </p:cNvSpPr>
          <p:nvPr/>
        </p:nvSpPr>
        <p:spPr bwMode="auto">
          <a:xfrm>
            <a:off x="5791200" y="4419600"/>
            <a:ext cx="1295400" cy="381000"/>
          </a:xfrm>
          <a:prstGeom prst="rect">
            <a:avLst/>
          </a:prstGeom>
          <a:noFill/>
          <a:ln w="9525">
            <a:noFill/>
            <a:miter lim="800000"/>
            <a:headEnd/>
            <a:tailEnd/>
          </a:ln>
          <a:effectLst/>
        </p:spPr>
        <p:txBody>
          <a:bodyPr/>
          <a:lstStyle/>
          <a:p>
            <a:endParaRPr lang="zh-CN" altLang="en-US" sz="2000" b="1">
              <a:solidFill>
                <a:srgbClr val="0000CC"/>
              </a:solidFill>
              <a:latin typeface="Times New Roman" pitchFamily="18" charset="0"/>
            </a:endParaRPr>
          </a:p>
        </p:txBody>
      </p:sp>
      <p:pic>
        <p:nvPicPr>
          <p:cNvPr id="32774" name="Picture 6" descr="压敏电阻"/>
          <p:cNvPicPr>
            <a:picLocks noChangeAspect="1" noChangeArrowheads="1"/>
          </p:cNvPicPr>
          <p:nvPr/>
        </p:nvPicPr>
        <p:blipFill>
          <a:blip r:embed="rId3" cstate="print"/>
          <a:srcRect/>
          <a:stretch>
            <a:fillRect/>
          </a:stretch>
        </p:blipFill>
        <p:spPr bwMode="auto">
          <a:xfrm>
            <a:off x="395535" y="3637388"/>
            <a:ext cx="2468443" cy="2239884"/>
          </a:xfrm>
          <a:prstGeom prst="rect">
            <a:avLst/>
          </a:prstGeom>
          <a:noFill/>
          <a:ln w="9525">
            <a:noFill/>
            <a:miter lim="800000"/>
            <a:headEnd/>
            <a:tailEnd/>
          </a:ln>
        </p:spPr>
      </p:pic>
      <p:pic>
        <p:nvPicPr>
          <p:cNvPr id="33795" name="Picture 3"/>
          <p:cNvPicPr>
            <a:picLocks noChangeAspect="1" noChangeArrowheads="1"/>
          </p:cNvPicPr>
          <p:nvPr/>
        </p:nvPicPr>
        <p:blipFill>
          <a:blip r:embed="rId4" cstate="print"/>
          <a:srcRect/>
          <a:stretch>
            <a:fillRect/>
          </a:stretch>
        </p:blipFill>
        <p:spPr bwMode="auto">
          <a:xfrm>
            <a:off x="3661506" y="830516"/>
            <a:ext cx="2417664" cy="2452068"/>
          </a:xfrm>
          <a:prstGeom prst="rect">
            <a:avLst/>
          </a:prstGeom>
          <a:noFill/>
          <a:ln w="9525">
            <a:noFill/>
            <a:miter lim="800000"/>
            <a:headEnd/>
            <a:tailEnd/>
          </a:ln>
          <a:effectLst/>
        </p:spPr>
      </p:pic>
      <p:pic>
        <p:nvPicPr>
          <p:cNvPr id="33797" name="Picture 5" descr="热敏电阻"/>
          <p:cNvPicPr>
            <a:picLocks noChangeAspect="1" noChangeArrowheads="1"/>
          </p:cNvPicPr>
          <p:nvPr/>
        </p:nvPicPr>
        <p:blipFill>
          <a:blip r:embed="rId5" cstate="print"/>
          <a:srcRect/>
          <a:stretch>
            <a:fillRect/>
          </a:stretch>
        </p:blipFill>
        <p:spPr bwMode="auto">
          <a:xfrm>
            <a:off x="3661506" y="3632076"/>
            <a:ext cx="2417664" cy="2239884"/>
          </a:xfrm>
          <a:prstGeom prst="rect">
            <a:avLst/>
          </a:prstGeom>
          <a:noFill/>
          <a:ln w="9525">
            <a:noFill/>
            <a:miter lim="800000"/>
            <a:headEnd/>
            <a:tailEnd/>
          </a:ln>
        </p:spPr>
      </p:pic>
      <p:sp>
        <p:nvSpPr>
          <p:cNvPr id="3" name="Rectangle 4">
            <a:extLst>
              <a:ext uri="{FF2B5EF4-FFF2-40B4-BE49-F238E27FC236}">
                <a16:creationId xmlns:a16="http://schemas.microsoft.com/office/drawing/2014/main" id="{83E164A4-D785-D205-8582-1A500797E2AA}"/>
              </a:ext>
            </a:extLst>
          </p:cNvPr>
          <p:cNvSpPr>
            <a:spLocks noChangeArrowheads="1"/>
          </p:cNvSpPr>
          <p:nvPr/>
        </p:nvSpPr>
        <p:spPr bwMode="auto">
          <a:xfrm>
            <a:off x="3923928" y="6157118"/>
            <a:ext cx="2743200" cy="614776"/>
          </a:xfrm>
          <a:prstGeom prst="rect">
            <a:avLst/>
          </a:prstGeom>
          <a:noFill/>
          <a:ln w="9525">
            <a:noFill/>
            <a:miter lim="800000"/>
            <a:headEnd/>
            <a:tailEnd/>
          </a:ln>
          <a:effectLst/>
        </p:spPr>
        <p:txBody>
          <a:bodyPr vert="horz" lIns="91440" tIns="91440" rIns="91440" bIns="91440" rtlCol="0">
            <a:noAutofit/>
          </a:bodyPr>
          <a:lstStyle/>
          <a:p>
            <a:pPr>
              <a:lnSpc>
                <a:spcPct val="120000"/>
              </a:lnSpc>
              <a:spcBef>
                <a:spcPct val="20000"/>
              </a:spcBef>
              <a:buClr>
                <a:schemeClr val="accent1"/>
              </a:buClr>
              <a:buSzPct val="100000"/>
            </a:pPr>
            <a:r>
              <a:rPr lang="zh-CN" altLang="en-US" sz="2800" b="1" dirty="0">
                <a:ea typeface="楷体_GB2312" pitchFamily="49" charset="-122"/>
              </a:rPr>
              <a:t>热敏电阻</a:t>
            </a:r>
          </a:p>
        </p:txBody>
      </p:sp>
      <p:pic>
        <p:nvPicPr>
          <p:cNvPr id="2050" name="Picture 2">
            <a:extLst>
              <a:ext uri="{FF2B5EF4-FFF2-40B4-BE49-F238E27FC236}">
                <a16:creationId xmlns:a16="http://schemas.microsoft.com/office/drawing/2014/main" id="{DBD08F9E-15C0-7087-7440-7172E9487117}"/>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b="9211"/>
          <a:stretch/>
        </p:blipFill>
        <p:spPr bwMode="auto">
          <a:xfrm>
            <a:off x="6589390" y="834639"/>
            <a:ext cx="2021210" cy="2447945"/>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4">
            <a:extLst>
              <a:ext uri="{FF2B5EF4-FFF2-40B4-BE49-F238E27FC236}">
                <a16:creationId xmlns:a16="http://schemas.microsoft.com/office/drawing/2014/main" id="{E03D12CD-7732-2EB8-2B97-5AB830FC0D13}"/>
              </a:ext>
            </a:extLst>
          </p:cNvPr>
          <p:cNvSpPr>
            <a:spLocks noChangeArrowheads="1"/>
          </p:cNvSpPr>
          <p:nvPr/>
        </p:nvSpPr>
        <p:spPr bwMode="auto">
          <a:xfrm>
            <a:off x="6931800" y="6157118"/>
            <a:ext cx="2021210" cy="614776"/>
          </a:xfrm>
          <a:prstGeom prst="rect">
            <a:avLst/>
          </a:prstGeom>
          <a:noFill/>
          <a:ln w="9525">
            <a:noFill/>
            <a:miter lim="800000"/>
            <a:headEnd/>
            <a:tailEnd/>
          </a:ln>
          <a:effectLst/>
        </p:spPr>
        <p:txBody>
          <a:bodyPr vert="horz" lIns="91440" tIns="91440" rIns="91440" bIns="91440" rtlCol="0">
            <a:noAutofit/>
          </a:bodyPr>
          <a:lstStyle/>
          <a:p>
            <a:pPr>
              <a:lnSpc>
                <a:spcPct val="120000"/>
              </a:lnSpc>
              <a:spcBef>
                <a:spcPct val="20000"/>
              </a:spcBef>
              <a:buClr>
                <a:schemeClr val="accent1"/>
              </a:buClr>
              <a:buSzPct val="100000"/>
            </a:pPr>
            <a:r>
              <a:rPr lang="zh-CN" altLang="en-US" sz="2800" b="1" dirty="0">
                <a:ea typeface="楷体_GB2312" pitchFamily="49" charset="-122"/>
              </a:rPr>
              <a:t>贴片电阻</a:t>
            </a:r>
          </a:p>
        </p:txBody>
      </p:sp>
      <p:pic>
        <p:nvPicPr>
          <p:cNvPr id="2054" name="Picture 6">
            <a:extLst>
              <a:ext uri="{FF2B5EF4-FFF2-40B4-BE49-F238E27FC236}">
                <a16:creationId xmlns:a16="http://schemas.microsoft.com/office/drawing/2014/main" id="{7AABC006-EE99-CACB-C619-A6D411C3F74C}"/>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589390" y="3632076"/>
            <a:ext cx="2087066" cy="223988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subTitle" idx="1"/>
          </p:nvPr>
        </p:nvSpPr>
        <p:spPr>
          <a:xfrm>
            <a:off x="1981200" y="2133600"/>
            <a:ext cx="6324600" cy="3276600"/>
          </a:xfrm>
        </p:spPr>
        <p:txBody>
          <a:bodyPr/>
          <a:lstStyle/>
          <a:p>
            <a:pPr algn="l">
              <a:buClr>
                <a:schemeClr val="tx1"/>
              </a:buClr>
              <a:buFont typeface="Wingdings" pitchFamily="2" charset="2"/>
              <a:buBlip>
                <a:blip r:embed="rId2"/>
              </a:buBlip>
            </a:pPr>
            <a:endParaRPr lang="zh-CN" altLang="en-US">
              <a:latin typeface="华文行楷" pitchFamily="2" charset="-122"/>
              <a:ea typeface="华文行楷" pitchFamily="2" charset="-122"/>
            </a:endParaRPr>
          </a:p>
          <a:p>
            <a:pPr algn="l">
              <a:buClr>
                <a:schemeClr val="tx1"/>
              </a:buClr>
              <a:buFont typeface="Wingdings" pitchFamily="2" charset="2"/>
              <a:buBlip>
                <a:blip r:embed="rId2"/>
              </a:buBlip>
            </a:pPr>
            <a:endParaRPr lang="zh-CN" altLang="en-US">
              <a:latin typeface="华文行楷" pitchFamily="2" charset="-122"/>
              <a:ea typeface="华文行楷" pitchFamily="2" charset="-122"/>
            </a:endParaRPr>
          </a:p>
          <a:p>
            <a:pPr algn="l">
              <a:buClr>
                <a:schemeClr val="tx1"/>
              </a:buClr>
              <a:buFont typeface="Wingdings" pitchFamily="2" charset="2"/>
              <a:buBlip>
                <a:blip r:embed="rId2"/>
              </a:buBlip>
            </a:pPr>
            <a:endParaRPr lang="zh-CN" altLang="en-US">
              <a:latin typeface="华文行楷" pitchFamily="2" charset="-122"/>
              <a:ea typeface="华文行楷" pitchFamily="2" charset="-122"/>
            </a:endParaRPr>
          </a:p>
          <a:p>
            <a:pPr algn="l">
              <a:buClr>
                <a:schemeClr val="tx1"/>
              </a:buClr>
              <a:buFont typeface="Wingdings" pitchFamily="2" charset="2"/>
              <a:buBlip>
                <a:blip r:embed="rId2"/>
              </a:buBlip>
            </a:pPr>
            <a:endParaRPr lang="zh-CN" altLang="en-US">
              <a:latin typeface="华文行楷" pitchFamily="2" charset="-122"/>
              <a:ea typeface="华文行楷" pitchFamily="2" charset="-122"/>
            </a:endParaRPr>
          </a:p>
        </p:txBody>
      </p:sp>
      <p:sp>
        <p:nvSpPr>
          <p:cNvPr id="2" name="灯片编号占位符 1">
            <a:extLst>
              <a:ext uri="{FF2B5EF4-FFF2-40B4-BE49-F238E27FC236}">
                <a16:creationId xmlns:a16="http://schemas.microsoft.com/office/drawing/2014/main" id="{3EFAD7CD-B7A3-6347-627F-3C0307A0F1F2}"/>
              </a:ext>
            </a:extLst>
          </p:cNvPr>
          <p:cNvSpPr>
            <a:spLocks noGrp="1"/>
          </p:cNvSpPr>
          <p:nvPr>
            <p:ph type="sldNum" sz="quarter" idx="12"/>
          </p:nvPr>
        </p:nvSpPr>
        <p:spPr/>
        <p:txBody>
          <a:bodyPr/>
          <a:lstStyle/>
          <a:p>
            <a:pPr>
              <a:defRPr/>
            </a:pPr>
            <a:fld id="{47A4CA45-135E-4AE6-A55B-F30C83FDB90E}" type="slidenum">
              <a:rPr lang="zh-CN" altLang="en-US" smtClean="0"/>
              <a:pPr>
                <a:defRPr/>
              </a:pPr>
              <a:t>18</a:t>
            </a:fld>
            <a:endParaRPr lang="en-US" altLang="zh-CN"/>
          </a:p>
        </p:txBody>
      </p:sp>
      <p:sp>
        <p:nvSpPr>
          <p:cNvPr id="31747" name="Rectangle 3"/>
          <p:cNvSpPr>
            <a:spLocks noChangeArrowheads="1"/>
          </p:cNvSpPr>
          <p:nvPr/>
        </p:nvSpPr>
        <p:spPr bwMode="auto">
          <a:xfrm>
            <a:off x="3491880" y="6093296"/>
            <a:ext cx="2460476" cy="533400"/>
          </a:xfrm>
          <a:prstGeom prst="rect">
            <a:avLst/>
          </a:prstGeom>
          <a:noFill/>
          <a:ln w="9525">
            <a:noFill/>
            <a:miter lim="800000"/>
            <a:headEnd/>
            <a:tailEnd/>
          </a:ln>
          <a:effectLst/>
        </p:spPr>
        <p:txBody>
          <a:bodyPr/>
          <a:lstStyle/>
          <a:p>
            <a:pPr>
              <a:spcBef>
                <a:spcPct val="20000"/>
              </a:spcBef>
            </a:pPr>
            <a:r>
              <a:rPr lang="zh-CN" altLang="en-US" sz="2800" b="1" dirty="0">
                <a:latin typeface="楷体_GB2312" pitchFamily="49" charset="-122"/>
                <a:ea typeface="楷体_GB2312" pitchFamily="49" charset="-122"/>
              </a:rPr>
              <a:t>贴片元件焊接</a:t>
            </a:r>
          </a:p>
        </p:txBody>
      </p:sp>
      <p:pic>
        <p:nvPicPr>
          <p:cNvPr id="4" name="图片 3">
            <a:extLst>
              <a:ext uri="{FF2B5EF4-FFF2-40B4-BE49-F238E27FC236}">
                <a16:creationId xmlns:a16="http://schemas.microsoft.com/office/drawing/2014/main" id="{D0B9D307-0CE9-A675-76F6-CA1346B85CFA}"/>
              </a:ext>
            </a:extLst>
          </p:cNvPr>
          <p:cNvPicPr>
            <a:picLocks noChangeAspect="1"/>
          </p:cNvPicPr>
          <p:nvPr/>
        </p:nvPicPr>
        <p:blipFill>
          <a:blip r:embed="rId3"/>
          <a:stretch>
            <a:fillRect/>
          </a:stretch>
        </p:blipFill>
        <p:spPr>
          <a:xfrm>
            <a:off x="0" y="977946"/>
            <a:ext cx="9144000" cy="4902108"/>
          </a:xfrm>
          <a:prstGeom prst="rect">
            <a:avLst/>
          </a:prstGeom>
        </p:spPr>
      </p:pic>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3"/>
          <p:cNvSpPr>
            <a:spLocks noGrp="1" noChangeArrowheads="1"/>
          </p:cNvSpPr>
          <p:nvPr>
            <p:ph idx="1"/>
          </p:nvPr>
        </p:nvSpPr>
        <p:spPr>
          <a:xfrm>
            <a:off x="683568" y="798066"/>
            <a:ext cx="7639606" cy="5040560"/>
          </a:xfrm>
        </p:spPr>
        <p:txBody>
          <a:bodyPr vert="horz" lIns="91440" tIns="45720" rIns="91440" bIns="45720" rtlCol="0" anchor="t">
            <a:normAutofit/>
          </a:bodyPr>
          <a:lstStyle/>
          <a:p>
            <a:pPr>
              <a:buNone/>
            </a:pPr>
            <a:r>
              <a:rPr lang="en-US" altLang="zh-CN" sz="2800" b="1" dirty="0">
                <a:solidFill>
                  <a:srgbClr val="231EF2"/>
                </a:solidFill>
                <a:highlight>
                  <a:srgbClr val="808080"/>
                </a:highlight>
              </a:rPr>
              <a:t>3</a:t>
            </a:r>
            <a:r>
              <a:rPr lang="zh-CN" altLang="en-US" sz="2800" b="1" dirty="0">
                <a:solidFill>
                  <a:srgbClr val="231EF2"/>
                </a:solidFill>
                <a:highlight>
                  <a:srgbClr val="808080"/>
                </a:highlight>
              </a:rPr>
              <a:t>．电阻单位</a:t>
            </a:r>
          </a:p>
          <a:p>
            <a:pPr>
              <a:buNone/>
            </a:pPr>
            <a:r>
              <a:rPr lang="zh-CN" altLang="en-US" sz="2800" b="1" dirty="0"/>
              <a:t>      电阻的单位是欧姆（</a:t>
            </a:r>
            <a:r>
              <a:rPr lang="en-US" altLang="zh-CN" sz="2800" b="1" dirty="0"/>
              <a:t>Ω</a:t>
            </a:r>
            <a:r>
              <a:rPr lang="zh-CN" altLang="en-US" sz="2800" b="1" dirty="0"/>
              <a:t>），千欧（</a:t>
            </a:r>
            <a:r>
              <a:rPr lang="en-US" altLang="zh-CN" sz="2800" b="1" dirty="0"/>
              <a:t>KΩ</a:t>
            </a:r>
            <a:r>
              <a:rPr lang="zh-CN" altLang="en-US" sz="2800" b="1" dirty="0"/>
              <a:t>），兆欧（</a:t>
            </a:r>
            <a:r>
              <a:rPr lang="en-US" altLang="zh-CN" sz="2800" b="1" dirty="0"/>
              <a:t>MΩ</a:t>
            </a:r>
            <a:r>
              <a:rPr lang="zh-CN" altLang="en-US" sz="2800" b="1" dirty="0"/>
              <a:t>）。</a:t>
            </a:r>
          </a:p>
          <a:p>
            <a:pPr>
              <a:buNone/>
            </a:pPr>
            <a:r>
              <a:rPr lang="zh-CN" altLang="en-US" sz="2800" b="1" dirty="0"/>
              <a:t>      它们的换算公式为</a:t>
            </a:r>
          </a:p>
          <a:p>
            <a:pPr>
              <a:buNone/>
            </a:pPr>
            <a:r>
              <a:rPr lang="zh-CN" altLang="en-US" sz="2800" b="1" dirty="0"/>
              <a:t>              </a:t>
            </a:r>
            <a:r>
              <a:rPr lang="en-US" altLang="zh-CN" sz="2800" b="1" dirty="0"/>
              <a:t>10</a:t>
            </a:r>
            <a:r>
              <a:rPr lang="en-US" altLang="zh-CN" sz="2800" b="1" baseline="30000" dirty="0"/>
              <a:t>6</a:t>
            </a:r>
            <a:r>
              <a:rPr lang="en-US" altLang="zh-CN" sz="2800" b="1" dirty="0"/>
              <a:t>Ω=10</a:t>
            </a:r>
            <a:r>
              <a:rPr lang="en-US" altLang="zh-CN" sz="2800" b="1" baseline="30000" dirty="0"/>
              <a:t>3</a:t>
            </a:r>
            <a:r>
              <a:rPr lang="en-US" altLang="zh-CN" sz="2800" b="1" dirty="0"/>
              <a:t>KΩ=1MΩ</a:t>
            </a:r>
          </a:p>
        </p:txBody>
      </p:sp>
      <p:sp>
        <p:nvSpPr>
          <p:cNvPr id="2" name="灯片编号占位符 1">
            <a:extLst>
              <a:ext uri="{FF2B5EF4-FFF2-40B4-BE49-F238E27FC236}">
                <a16:creationId xmlns:a16="http://schemas.microsoft.com/office/drawing/2014/main" id="{0AB2A093-5C4C-ABBC-9B93-33285AF04354}"/>
              </a:ext>
            </a:extLst>
          </p:cNvPr>
          <p:cNvSpPr>
            <a:spLocks noGrp="1"/>
          </p:cNvSpPr>
          <p:nvPr>
            <p:ph type="sldNum" sz="quarter" idx="12"/>
          </p:nvPr>
        </p:nvSpPr>
        <p:spPr/>
        <p:txBody>
          <a:bodyPr/>
          <a:lstStyle/>
          <a:p>
            <a:pPr>
              <a:defRPr/>
            </a:pPr>
            <a:fld id="{5FAFB815-62BA-464E-901C-79D108092E38}" type="slidenum">
              <a:rPr lang="zh-CN" altLang="en-US" smtClean="0"/>
              <a:pPr>
                <a:defRPr/>
              </a:pPr>
              <a:t>19</a:t>
            </a:fld>
            <a:endParaRPr lang="en-US" altLang="zh-CN"/>
          </a:p>
        </p:txBody>
      </p:sp>
      <p:pic>
        <p:nvPicPr>
          <p:cNvPr id="4" name="图片 3">
            <a:extLst>
              <a:ext uri="{FF2B5EF4-FFF2-40B4-BE49-F238E27FC236}">
                <a16:creationId xmlns:a16="http://schemas.microsoft.com/office/drawing/2014/main" id="{79B61082-09FD-6051-7442-76F1238208ED}"/>
              </a:ext>
            </a:extLst>
          </p:cNvPr>
          <p:cNvPicPr>
            <a:picLocks noChangeAspect="1"/>
          </p:cNvPicPr>
          <p:nvPr/>
        </p:nvPicPr>
        <p:blipFill>
          <a:blip r:embed="rId2"/>
          <a:stretch>
            <a:fillRect/>
          </a:stretch>
        </p:blipFill>
        <p:spPr>
          <a:xfrm>
            <a:off x="971600" y="3861048"/>
            <a:ext cx="7200800" cy="2063614"/>
          </a:xfrm>
          <a:prstGeom prst="rect">
            <a:avLst/>
          </a:prstGeom>
        </p:spPr>
      </p:pic>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3"/>
          <p:cNvSpPr>
            <a:spLocks noGrp="1" noChangeArrowheads="1"/>
          </p:cNvSpPr>
          <p:nvPr>
            <p:ph idx="1"/>
          </p:nvPr>
        </p:nvSpPr>
        <p:spPr>
          <a:xfrm>
            <a:off x="539552" y="980728"/>
            <a:ext cx="8136904" cy="5040560"/>
          </a:xfrm>
        </p:spPr>
        <p:txBody>
          <a:bodyPr vert="horz" lIns="91440" tIns="45720" rIns="91440" bIns="45720" rtlCol="0" anchor="t">
            <a:normAutofit fontScale="85000" lnSpcReduction="10000"/>
          </a:bodyPr>
          <a:lstStyle/>
          <a:p>
            <a:pPr>
              <a:buNone/>
            </a:pPr>
            <a:r>
              <a:rPr lang="en-US" altLang="zh-CN" sz="3300" b="1" dirty="0">
                <a:solidFill>
                  <a:srgbClr val="231EF2"/>
                </a:solidFill>
                <a:highlight>
                  <a:srgbClr val="808080"/>
                </a:highlight>
              </a:rPr>
              <a:t>4</a:t>
            </a:r>
            <a:r>
              <a:rPr lang="zh-CN" altLang="en-US" sz="3300" b="1" dirty="0">
                <a:solidFill>
                  <a:srgbClr val="231EF2"/>
                </a:solidFill>
                <a:highlight>
                  <a:srgbClr val="808080"/>
                </a:highlight>
              </a:rPr>
              <a:t>、电阻的参数</a:t>
            </a:r>
            <a:endParaRPr lang="en-US" altLang="zh-CN" sz="3300" b="1" dirty="0">
              <a:solidFill>
                <a:srgbClr val="231EF2"/>
              </a:solidFill>
              <a:highlight>
                <a:srgbClr val="808080"/>
              </a:highlight>
            </a:endParaRPr>
          </a:p>
          <a:p>
            <a:pPr>
              <a:buNone/>
            </a:pPr>
            <a:r>
              <a:rPr lang="zh-CN" altLang="en-US" sz="2800" b="1" dirty="0"/>
              <a:t>   电阻器的主要参数有标称阻值、允许误差（精度等级）、额定功率、温度系数、噪声、最高工作电压、高频特性等。</a:t>
            </a:r>
            <a:endParaRPr lang="en-US" altLang="zh-CN" sz="2800" b="1" dirty="0"/>
          </a:p>
          <a:p>
            <a:pPr>
              <a:buNone/>
            </a:pPr>
            <a:r>
              <a:rPr lang="en-US" altLang="zh-CN" sz="2800" b="1" dirty="0"/>
              <a:t>   </a:t>
            </a:r>
            <a:r>
              <a:rPr lang="zh-CN" altLang="en-US" sz="2800" b="1" dirty="0"/>
              <a:t>在选用电阻器的时候，一般只考虑</a:t>
            </a:r>
            <a:r>
              <a:rPr lang="zh-CN" altLang="en-US" sz="2800" b="1" dirty="0">
                <a:solidFill>
                  <a:srgbClr val="FF0000"/>
                </a:solidFill>
              </a:rPr>
              <a:t>标称阻值、允许误差和额定功率</a:t>
            </a:r>
            <a:r>
              <a:rPr lang="zh-CN" altLang="en-US" sz="2800" b="1" dirty="0"/>
              <a:t>这三项最主要的参数。</a:t>
            </a:r>
          </a:p>
          <a:p>
            <a:pPr>
              <a:buNone/>
            </a:pPr>
            <a:r>
              <a:rPr lang="zh-CN" altLang="en-US" sz="2800" b="1" dirty="0">
                <a:solidFill>
                  <a:schemeClr val="accent1"/>
                </a:solidFill>
              </a:rPr>
              <a:t>标称阻值</a:t>
            </a:r>
            <a:r>
              <a:rPr lang="zh-CN" altLang="en-US" sz="2800" b="1" dirty="0"/>
              <a:t>	 </a:t>
            </a:r>
            <a:r>
              <a:rPr lang="en-US" altLang="zh-CN" sz="2800" b="1" dirty="0"/>
              <a:t>	</a:t>
            </a:r>
          </a:p>
          <a:p>
            <a:pPr>
              <a:buNone/>
            </a:pPr>
            <a:r>
              <a:rPr lang="zh-CN" altLang="en-US" sz="2800" b="1" dirty="0"/>
              <a:t>   电阻器表面所标注的阻值叫标称阻值。不同精密度等级的电阻器，其阻值系列不同。</a:t>
            </a:r>
            <a:endParaRPr lang="en-US" altLang="zh-CN" sz="2800" b="1" dirty="0"/>
          </a:p>
          <a:p>
            <a:pPr>
              <a:buNone/>
            </a:pPr>
            <a:r>
              <a:rPr lang="zh-CN" altLang="en-US" sz="2800" b="1" dirty="0"/>
              <a:t>   标称阻值是按照国家规的电阻器标称阻值系列选定的，其表如下图：</a:t>
            </a:r>
          </a:p>
        </p:txBody>
      </p:sp>
      <p:sp>
        <p:nvSpPr>
          <p:cNvPr id="2" name="灯片编号占位符 1">
            <a:extLst>
              <a:ext uri="{FF2B5EF4-FFF2-40B4-BE49-F238E27FC236}">
                <a16:creationId xmlns:a16="http://schemas.microsoft.com/office/drawing/2014/main" id="{CFCC9CE8-45EA-285F-5756-F4E04A6F8D3B}"/>
              </a:ext>
            </a:extLst>
          </p:cNvPr>
          <p:cNvSpPr>
            <a:spLocks noGrp="1"/>
          </p:cNvSpPr>
          <p:nvPr>
            <p:ph type="sldNum" sz="quarter" idx="12"/>
          </p:nvPr>
        </p:nvSpPr>
        <p:spPr/>
        <p:txBody>
          <a:bodyPr/>
          <a:lstStyle/>
          <a:p>
            <a:pPr>
              <a:defRPr/>
            </a:pPr>
            <a:fld id="{5FAFB815-62BA-464E-901C-79D108092E38}" type="slidenum">
              <a:rPr lang="zh-CN" altLang="en-US" smtClean="0"/>
              <a:pPr>
                <a:defRPr/>
              </a:pPr>
              <a:t>20</a:t>
            </a:fld>
            <a:endParaRPr lang="en-US" altLang="zh-CN"/>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D636138-F953-1838-D122-A026C983B637}"/>
              </a:ext>
            </a:extLst>
          </p:cNvPr>
          <p:cNvSpPr>
            <a:spLocks noGrp="1"/>
          </p:cNvSpPr>
          <p:nvPr>
            <p:ph type="title"/>
          </p:nvPr>
        </p:nvSpPr>
        <p:spPr>
          <a:xfrm>
            <a:off x="1286328" y="1040005"/>
            <a:ext cx="6571343" cy="1049235"/>
          </a:xfrm>
        </p:spPr>
        <p:txBody>
          <a:bodyPr/>
          <a:lstStyle/>
          <a:p>
            <a:pPr algn="ctr"/>
            <a:r>
              <a:rPr lang="zh-CN" altLang="en-US" b="1" dirty="0"/>
              <a:t>电阻器标称阻值系列</a:t>
            </a:r>
          </a:p>
        </p:txBody>
      </p:sp>
      <p:sp>
        <p:nvSpPr>
          <p:cNvPr id="3" name="内容占位符 2">
            <a:extLst>
              <a:ext uri="{FF2B5EF4-FFF2-40B4-BE49-F238E27FC236}">
                <a16:creationId xmlns:a16="http://schemas.microsoft.com/office/drawing/2014/main" id="{06D53133-814C-C89E-4D7E-0E193CA85C69}"/>
              </a:ext>
            </a:extLst>
          </p:cNvPr>
          <p:cNvSpPr>
            <a:spLocks noGrp="1"/>
          </p:cNvSpPr>
          <p:nvPr>
            <p:ph idx="1"/>
          </p:nvPr>
        </p:nvSpPr>
        <p:spPr/>
        <p:txBody>
          <a:bodyPr/>
          <a:lstStyle/>
          <a:p>
            <a:endParaRPr lang="zh-CN" altLang="en-US"/>
          </a:p>
        </p:txBody>
      </p:sp>
      <p:sp>
        <p:nvSpPr>
          <p:cNvPr id="4" name="灯片编号占位符 3">
            <a:extLst>
              <a:ext uri="{FF2B5EF4-FFF2-40B4-BE49-F238E27FC236}">
                <a16:creationId xmlns:a16="http://schemas.microsoft.com/office/drawing/2014/main" id="{5D31038F-1B35-8450-1FDB-827C743DB587}"/>
              </a:ext>
            </a:extLst>
          </p:cNvPr>
          <p:cNvSpPr>
            <a:spLocks noGrp="1"/>
          </p:cNvSpPr>
          <p:nvPr>
            <p:ph type="sldNum" sz="quarter" idx="12"/>
          </p:nvPr>
        </p:nvSpPr>
        <p:spPr/>
        <p:txBody>
          <a:bodyPr/>
          <a:lstStyle/>
          <a:p>
            <a:pPr>
              <a:defRPr/>
            </a:pPr>
            <a:fld id="{5FAFB815-62BA-464E-901C-79D108092E38}" type="slidenum">
              <a:rPr lang="zh-CN" altLang="en-US" smtClean="0"/>
              <a:pPr>
                <a:defRPr/>
              </a:pPr>
              <a:t>21</a:t>
            </a:fld>
            <a:endParaRPr lang="en-US" altLang="zh-CN"/>
          </a:p>
        </p:txBody>
      </p:sp>
      <p:pic>
        <p:nvPicPr>
          <p:cNvPr id="6" name="图片 5">
            <a:extLst>
              <a:ext uri="{FF2B5EF4-FFF2-40B4-BE49-F238E27FC236}">
                <a16:creationId xmlns:a16="http://schemas.microsoft.com/office/drawing/2014/main" id="{A39632ED-9E4B-B1F0-4A0E-A128496B504E}"/>
              </a:ext>
            </a:extLst>
          </p:cNvPr>
          <p:cNvPicPr>
            <a:picLocks noChangeAspect="1"/>
          </p:cNvPicPr>
          <p:nvPr/>
        </p:nvPicPr>
        <p:blipFill>
          <a:blip r:embed="rId2"/>
          <a:stretch>
            <a:fillRect/>
          </a:stretch>
        </p:blipFill>
        <p:spPr>
          <a:xfrm>
            <a:off x="0" y="1762688"/>
            <a:ext cx="9144000" cy="4333002"/>
          </a:xfrm>
          <a:prstGeom prst="rect">
            <a:avLst/>
          </a:prstGeom>
        </p:spPr>
      </p:pic>
      <p:sp>
        <p:nvSpPr>
          <p:cNvPr id="7" name="文本框 6">
            <a:extLst>
              <a:ext uri="{FF2B5EF4-FFF2-40B4-BE49-F238E27FC236}">
                <a16:creationId xmlns:a16="http://schemas.microsoft.com/office/drawing/2014/main" id="{E2BA622C-6434-47A1-021A-8C9A11A411C5}"/>
              </a:ext>
            </a:extLst>
          </p:cNvPr>
          <p:cNvSpPr txBox="1"/>
          <p:nvPr/>
        </p:nvSpPr>
        <p:spPr>
          <a:xfrm>
            <a:off x="467544" y="6230859"/>
            <a:ext cx="4355680" cy="369332"/>
          </a:xfrm>
          <a:prstGeom prst="rect">
            <a:avLst/>
          </a:prstGeom>
          <a:noFill/>
        </p:spPr>
        <p:txBody>
          <a:bodyPr wrap="none" rtlCol="0">
            <a:spAutoFit/>
          </a:bodyPr>
          <a:lstStyle/>
          <a:p>
            <a:r>
              <a:rPr lang="zh-CN" altLang="en-US" b="1" dirty="0">
                <a:solidFill>
                  <a:srgbClr val="C00000"/>
                </a:solidFill>
              </a:rPr>
              <a:t>注：使用时将列表数值乘以</a:t>
            </a:r>
            <a:r>
              <a:rPr lang="en-US" altLang="zh-CN" b="1" dirty="0">
                <a:solidFill>
                  <a:srgbClr val="C00000"/>
                </a:solidFill>
              </a:rPr>
              <a:t>10</a:t>
            </a:r>
            <a:r>
              <a:rPr lang="en-US" altLang="zh-CN" b="1" baseline="30000" dirty="0">
                <a:solidFill>
                  <a:srgbClr val="C00000"/>
                </a:solidFill>
              </a:rPr>
              <a:t>n</a:t>
            </a:r>
            <a:r>
              <a:rPr lang="en-US" altLang="zh-CN" b="1" dirty="0">
                <a:solidFill>
                  <a:srgbClr val="C00000"/>
                </a:solidFill>
              </a:rPr>
              <a:t>(n</a:t>
            </a:r>
            <a:r>
              <a:rPr lang="zh-CN" altLang="en-US" b="1" dirty="0">
                <a:solidFill>
                  <a:srgbClr val="C00000"/>
                </a:solidFill>
              </a:rPr>
              <a:t>为整数</a:t>
            </a:r>
            <a:r>
              <a:rPr lang="en-US" altLang="zh-CN" b="1" dirty="0">
                <a:solidFill>
                  <a:srgbClr val="C00000"/>
                </a:solidFill>
              </a:rPr>
              <a:t>)</a:t>
            </a:r>
            <a:endParaRPr lang="zh-CN" altLang="en-US" b="1" dirty="0">
              <a:solidFill>
                <a:srgbClr val="C00000"/>
              </a:solidFill>
            </a:endParaRPr>
          </a:p>
        </p:txBody>
      </p:sp>
    </p:spTree>
    <p:extLst>
      <p:ext uri="{BB962C8B-B14F-4D97-AF65-F5344CB8AC3E}">
        <p14:creationId xmlns:p14="http://schemas.microsoft.com/office/powerpoint/2010/main" val="22547084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2F17EFF7-8AC4-AD7F-F046-A538E7EF637B}"/>
              </a:ext>
            </a:extLst>
          </p:cNvPr>
          <p:cNvSpPr>
            <a:spLocks noGrp="1"/>
          </p:cNvSpPr>
          <p:nvPr>
            <p:ph type="sldNum" sz="quarter" idx="12"/>
          </p:nvPr>
        </p:nvSpPr>
        <p:spPr/>
        <p:txBody>
          <a:bodyPr/>
          <a:lstStyle/>
          <a:p>
            <a:pPr>
              <a:defRPr/>
            </a:pPr>
            <a:fld id="{5FAFB815-62BA-464E-901C-79D108092E38}" type="slidenum">
              <a:rPr lang="zh-CN" altLang="en-US" smtClean="0"/>
              <a:pPr>
                <a:defRPr/>
              </a:pPr>
              <a:t>22</a:t>
            </a:fld>
            <a:endParaRPr lang="en-US" altLang="zh-CN"/>
          </a:p>
        </p:txBody>
      </p:sp>
      <p:sp>
        <p:nvSpPr>
          <p:cNvPr id="5" name="Rectangle 3">
            <a:extLst>
              <a:ext uri="{FF2B5EF4-FFF2-40B4-BE49-F238E27FC236}">
                <a16:creationId xmlns:a16="http://schemas.microsoft.com/office/drawing/2014/main" id="{5C220D6A-35EE-0E79-DA7D-709034926AC8}"/>
              </a:ext>
            </a:extLst>
          </p:cNvPr>
          <p:cNvSpPr>
            <a:spLocks noGrp="1" noChangeArrowheads="1"/>
          </p:cNvSpPr>
          <p:nvPr>
            <p:ph idx="1"/>
          </p:nvPr>
        </p:nvSpPr>
        <p:spPr>
          <a:xfrm>
            <a:off x="539552" y="980728"/>
            <a:ext cx="8424936" cy="5040560"/>
          </a:xfrm>
        </p:spPr>
        <p:txBody>
          <a:bodyPr vert="horz" lIns="91440" tIns="45720" rIns="91440" bIns="45720" rtlCol="0" anchor="t">
            <a:normAutofit fontScale="92500" lnSpcReduction="20000"/>
          </a:bodyPr>
          <a:lstStyle/>
          <a:p>
            <a:pPr>
              <a:buNone/>
            </a:pPr>
            <a:r>
              <a:rPr lang="zh-CN" altLang="en-US" sz="2600" b="1" dirty="0">
                <a:solidFill>
                  <a:schemeClr val="accent1"/>
                </a:solidFill>
              </a:rPr>
              <a:t>允许误差</a:t>
            </a:r>
          </a:p>
          <a:p>
            <a:pPr marL="0">
              <a:buNone/>
            </a:pPr>
            <a:r>
              <a:rPr lang="zh-CN" altLang="en-US" sz="2800" b="1" dirty="0"/>
              <a:t>       电阻器的允许误差就是指电阻器的实际阻值对于标称阻值的最大范围误差。它标志着电阻器的阻值精度。 允许误差越小，电阻器的精度越高</a:t>
            </a:r>
            <a:endParaRPr lang="en-US" altLang="zh-CN" sz="2800" b="1" dirty="0"/>
          </a:p>
          <a:p>
            <a:pPr marL="0">
              <a:buNone/>
            </a:pPr>
            <a:r>
              <a:rPr lang="zh-CN" altLang="en-US" sz="2800" b="1" dirty="0"/>
              <a:t>        </a:t>
            </a:r>
            <a:r>
              <a:rPr lang="zh-CN" altLang="en-US" sz="2800" b="1" dirty="0">
                <a:solidFill>
                  <a:srgbClr val="C00000"/>
                </a:solidFill>
              </a:rPr>
              <a:t>普通电阻器</a:t>
            </a:r>
            <a:r>
              <a:rPr lang="zh-CN" altLang="en-US" sz="2800" b="1" dirty="0"/>
              <a:t>的允许误差：有</a:t>
            </a:r>
            <a:r>
              <a:rPr lang="en-US" altLang="zh-CN" sz="2800" b="1" dirty="0"/>
              <a:t>±5%</a:t>
            </a:r>
            <a:r>
              <a:rPr lang="zh-CN" altLang="en-US" sz="2800" b="1" dirty="0"/>
              <a:t>、</a:t>
            </a:r>
            <a:r>
              <a:rPr lang="en-US" altLang="zh-CN" sz="2800" b="1" dirty="0"/>
              <a:t> ±10%</a:t>
            </a:r>
            <a:r>
              <a:rPr lang="zh-CN" altLang="en-US" sz="2800" b="1" dirty="0"/>
              <a:t>、</a:t>
            </a:r>
            <a:r>
              <a:rPr lang="en-US" altLang="zh-CN" sz="2800" b="1" dirty="0"/>
              <a:t> ±20% </a:t>
            </a:r>
            <a:r>
              <a:rPr lang="zh-CN" altLang="en-US" sz="2800" b="1" dirty="0"/>
              <a:t>三个等级。</a:t>
            </a:r>
            <a:endParaRPr lang="en-US" altLang="zh-CN" sz="2800" b="1" dirty="0"/>
          </a:p>
          <a:p>
            <a:pPr marL="0">
              <a:buNone/>
            </a:pPr>
            <a:r>
              <a:rPr lang="zh-CN" altLang="en-US" sz="2800" b="1" dirty="0"/>
              <a:t>        </a:t>
            </a:r>
            <a:r>
              <a:rPr lang="zh-CN" altLang="en-US" sz="2800" b="1" dirty="0">
                <a:solidFill>
                  <a:srgbClr val="C00000"/>
                </a:solidFill>
              </a:rPr>
              <a:t>精密电阻器</a:t>
            </a:r>
            <a:r>
              <a:rPr lang="zh-CN" altLang="en-US" sz="2800" b="1" dirty="0"/>
              <a:t>的允许误差：有</a:t>
            </a:r>
            <a:r>
              <a:rPr lang="en-US" altLang="zh-CN" sz="2800" b="1" dirty="0"/>
              <a:t>±2%</a:t>
            </a:r>
            <a:r>
              <a:rPr lang="zh-CN" altLang="en-US" sz="2800" b="1" dirty="0"/>
              <a:t>、</a:t>
            </a:r>
            <a:r>
              <a:rPr lang="en-US" altLang="zh-CN" sz="2800" b="1" dirty="0"/>
              <a:t> ±1%</a:t>
            </a:r>
            <a:r>
              <a:rPr lang="zh-CN" altLang="en-US" sz="2800" b="1" dirty="0"/>
              <a:t>、</a:t>
            </a:r>
            <a:r>
              <a:rPr lang="en-US" altLang="zh-CN" sz="2800" b="1" dirty="0"/>
              <a:t>±0.5%·······±0.001%</a:t>
            </a:r>
            <a:r>
              <a:rPr lang="zh-CN" altLang="en-US" sz="2800" b="1" dirty="0"/>
              <a:t>等十几个等级 。</a:t>
            </a:r>
            <a:endParaRPr lang="en-US" altLang="zh-CN" sz="2800" b="1" dirty="0"/>
          </a:p>
          <a:p>
            <a:pPr marL="0">
              <a:buNone/>
            </a:pPr>
            <a:r>
              <a:rPr lang="zh-CN" altLang="en-US" sz="2800" dirty="0"/>
              <a:t>       </a:t>
            </a:r>
            <a:r>
              <a:rPr lang="zh-CN" altLang="en-US" sz="2800" b="1" dirty="0"/>
              <a:t>色环区分：精密电阻的误差在</a:t>
            </a:r>
            <a:r>
              <a:rPr lang="en-US" altLang="zh-CN" sz="2800" b="1" dirty="0"/>
              <a:t>±2%</a:t>
            </a:r>
            <a:r>
              <a:rPr lang="zh-CN" altLang="en-US" sz="2800" b="1" dirty="0"/>
              <a:t>以下，用</a:t>
            </a:r>
            <a:r>
              <a:rPr lang="zh-CN" altLang="en-US" sz="2800" b="1" dirty="0">
                <a:solidFill>
                  <a:srgbClr val="C00000"/>
                </a:solidFill>
              </a:rPr>
              <a:t>五个色环识别</a:t>
            </a:r>
            <a:r>
              <a:rPr lang="zh-CN" altLang="en-US" sz="2800" b="1" dirty="0"/>
              <a:t>；半精密电阻的误差在</a:t>
            </a:r>
            <a:r>
              <a:rPr lang="en-US" altLang="zh-CN" sz="2800" b="1" dirty="0"/>
              <a:t>±2%</a:t>
            </a:r>
            <a:r>
              <a:rPr lang="zh-CN" altLang="en-US" sz="2800" b="1" dirty="0"/>
              <a:t>以上，用</a:t>
            </a:r>
            <a:r>
              <a:rPr lang="zh-CN" altLang="en-US" sz="2800" b="1" dirty="0">
                <a:solidFill>
                  <a:srgbClr val="C00000"/>
                </a:solidFill>
              </a:rPr>
              <a:t>四个色环</a:t>
            </a:r>
            <a:r>
              <a:rPr lang="zh-CN" altLang="en-US" sz="2800" b="1" dirty="0"/>
              <a:t>识别。</a:t>
            </a:r>
            <a:endParaRPr lang="en-US" altLang="zh-CN" sz="2800" b="1" dirty="0"/>
          </a:p>
          <a:p>
            <a:pPr marL="0">
              <a:buNone/>
            </a:pPr>
            <a:endParaRPr lang="en-US" altLang="zh-CN" sz="2800" b="1" dirty="0"/>
          </a:p>
        </p:txBody>
      </p:sp>
    </p:spTree>
    <p:extLst>
      <p:ext uri="{BB962C8B-B14F-4D97-AF65-F5344CB8AC3E}">
        <p14:creationId xmlns:p14="http://schemas.microsoft.com/office/powerpoint/2010/main" val="39481595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2F17EFF7-8AC4-AD7F-F046-A538E7EF637B}"/>
              </a:ext>
            </a:extLst>
          </p:cNvPr>
          <p:cNvSpPr>
            <a:spLocks noGrp="1"/>
          </p:cNvSpPr>
          <p:nvPr>
            <p:ph type="sldNum" sz="quarter" idx="12"/>
          </p:nvPr>
        </p:nvSpPr>
        <p:spPr/>
        <p:txBody>
          <a:bodyPr/>
          <a:lstStyle/>
          <a:p>
            <a:pPr>
              <a:defRPr/>
            </a:pPr>
            <a:fld id="{5FAFB815-62BA-464E-901C-79D108092E38}" type="slidenum">
              <a:rPr lang="zh-CN" altLang="en-US" smtClean="0"/>
              <a:pPr>
                <a:defRPr/>
              </a:pPr>
              <a:t>23</a:t>
            </a:fld>
            <a:endParaRPr lang="en-US" altLang="zh-CN"/>
          </a:p>
        </p:txBody>
      </p:sp>
      <p:sp>
        <p:nvSpPr>
          <p:cNvPr id="5" name="Rectangle 3">
            <a:extLst>
              <a:ext uri="{FF2B5EF4-FFF2-40B4-BE49-F238E27FC236}">
                <a16:creationId xmlns:a16="http://schemas.microsoft.com/office/drawing/2014/main" id="{5C220D6A-35EE-0E79-DA7D-709034926AC8}"/>
              </a:ext>
            </a:extLst>
          </p:cNvPr>
          <p:cNvSpPr>
            <a:spLocks noGrp="1" noChangeArrowheads="1"/>
          </p:cNvSpPr>
          <p:nvPr>
            <p:ph idx="1"/>
          </p:nvPr>
        </p:nvSpPr>
        <p:spPr>
          <a:xfrm>
            <a:off x="539552" y="980728"/>
            <a:ext cx="8136904" cy="5040560"/>
          </a:xfrm>
        </p:spPr>
        <p:txBody>
          <a:bodyPr vert="horz" lIns="91440" tIns="45720" rIns="91440" bIns="45720" rtlCol="0" anchor="t">
            <a:normAutofit/>
          </a:bodyPr>
          <a:lstStyle/>
          <a:p>
            <a:pPr marL="0">
              <a:buNone/>
            </a:pPr>
            <a:r>
              <a:rPr lang="zh-CN" altLang="en-US" sz="2400" b="1" dirty="0">
                <a:solidFill>
                  <a:schemeClr val="accent1"/>
                </a:solidFill>
              </a:rPr>
              <a:t>额定功率</a:t>
            </a:r>
          </a:p>
          <a:p>
            <a:pPr marL="0" algn="just">
              <a:buNone/>
            </a:pPr>
            <a:r>
              <a:rPr lang="zh-CN" altLang="en-US" sz="2800" b="1" dirty="0"/>
              <a:t>       </a:t>
            </a:r>
            <a:r>
              <a:rPr lang="zh-CN" altLang="en-US" sz="2600" b="1" dirty="0"/>
              <a:t>电阻器通电工作时，本身要发热，如果温度过高就会将电阻器烧毁。在规定的环境温度中允许电阻器承受的最大功率。即在此功率限度下，电阻器可长期稳定的工作，不会显著改变其性能、不会损坏的最大功率限度就是</a:t>
            </a:r>
            <a:r>
              <a:rPr lang="zh-CN" altLang="en-US" sz="2600" b="1" dirty="0">
                <a:solidFill>
                  <a:srgbClr val="C00000"/>
                </a:solidFill>
              </a:rPr>
              <a:t>额定功率</a:t>
            </a:r>
            <a:r>
              <a:rPr lang="zh-CN" altLang="en-US" sz="2600" b="1" dirty="0"/>
              <a:t>。</a:t>
            </a:r>
            <a:endParaRPr lang="en-US" altLang="zh-CN" sz="2600" b="1" dirty="0"/>
          </a:p>
          <a:p>
            <a:pPr marL="0" algn="just">
              <a:buNone/>
            </a:pPr>
            <a:r>
              <a:rPr lang="zh-CN" altLang="en-US" sz="2600" b="1" dirty="0"/>
              <a:t>       功率的单位是瓦特，电阻器的功率能告诉我们它在正常使用情况下能释放多少能量，功率越高，释放的能量越多。</a:t>
            </a:r>
            <a:endParaRPr lang="en-US" altLang="zh-CN" sz="2600" b="1" dirty="0"/>
          </a:p>
        </p:txBody>
      </p:sp>
      <p:sp>
        <p:nvSpPr>
          <p:cNvPr id="10" name="文本框 9">
            <a:extLst>
              <a:ext uri="{FF2B5EF4-FFF2-40B4-BE49-F238E27FC236}">
                <a16:creationId xmlns:a16="http://schemas.microsoft.com/office/drawing/2014/main" id="{5A27E3E2-EEA1-8744-583D-5BF7ABFB9075}"/>
              </a:ext>
            </a:extLst>
          </p:cNvPr>
          <p:cNvSpPr txBox="1"/>
          <p:nvPr/>
        </p:nvSpPr>
        <p:spPr>
          <a:xfrm>
            <a:off x="517600" y="6102966"/>
            <a:ext cx="8352928" cy="757130"/>
          </a:xfrm>
          <a:prstGeom prst="rect">
            <a:avLst/>
          </a:prstGeom>
          <a:noFill/>
        </p:spPr>
        <p:txBody>
          <a:bodyPr wrap="square">
            <a:spAutoFit/>
          </a:bodyPr>
          <a:lstStyle/>
          <a:p>
            <a:pPr>
              <a:lnSpc>
                <a:spcPct val="90000"/>
              </a:lnSpc>
              <a:buNone/>
            </a:pPr>
            <a:r>
              <a:rPr lang="zh-CN" altLang="en-US" sz="2400" b="1" dirty="0">
                <a:solidFill>
                  <a:schemeClr val="accent3">
                    <a:lumMod val="60000"/>
                    <a:lumOff val="40000"/>
                  </a:schemeClr>
                </a:solidFill>
              </a:rPr>
              <a:t>注意：尽管电阻阻值一样，也不可使用低功率的电阻代替高功率的电阻。</a:t>
            </a:r>
          </a:p>
        </p:txBody>
      </p:sp>
    </p:spTree>
    <p:extLst>
      <p:ext uri="{BB962C8B-B14F-4D97-AF65-F5344CB8AC3E}">
        <p14:creationId xmlns:p14="http://schemas.microsoft.com/office/powerpoint/2010/main" val="3664173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F411235F-8DDA-C0A1-E563-0960DA3DD0AB}"/>
              </a:ext>
            </a:extLst>
          </p:cNvPr>
          <p:cNvSpPr>
            <a:spLocks noGrp="1"/>
          </p:cNvSpPr>
          <p:nvPr>
            <p:ph type="sldNum" sz="quarter" idx="12"/>
          </p:nvPr>
        </p:nvSpPr>
        <p:spPr/>
        <p:txBody>
          <a:bodyPr/>
          <a:lstStyle/>
          <a:p>
            <a:pPr>
              <a:defRPr/>
            </a:pPr>
            <a:fld id="{5FAFB815-62BA-464E-901C-79D108092E38}" type="slidenum">
              <a:rPr lang="zh-CN" altLang="en-US" smtClean="0"/>
              <a:pPr>
                <a:defRPr/>
              </a:pPr>
              <a:t>24</a:t>
            </a:fld>
            <a:endParaRPr lang="en-US" altLang="zh-CN"/>
          </a:p>
        </p:txBody>
      </p:sp>
      <p:pic>
        <p:nvPicPr>
          <p:cNvPr id="6" name="图片 5">
            <a:extLst>
              <a:ext uri="{FF2B5EF4-FFF2-40B4-BE49-F238E27FC236}">
                <a16:creationId xmlns:a16="http://schemas.microsoft.com/office/drawing/2014/main" id="{9566D0B0-07CF-701B-D242-50BFE247EE3B}"/>
              </a:ext>
            </a:extLst>
          </p:cNvPr>
          <p:cNvPicPr>
            <a:picLocks noChangeAspect="1"/>
          </p:cNvPicPr>
          <p:nvPr/>
        </p:nvPicPr>
        <p:blipFill>
          <a:blip r:embed="rId2"/>
          <a:stretch>
            <a:fillRect/>
          </a:stretch>
        </p:blipFill>
        <p:spPr>
          <a:xfrm>
            <a:off x="0" y="2132856"/>
            <a:ext cx="9144000" cy="3265203"/>
          </a:xfrm>
          <a:prstGeom prst="rect">
            <a:avLst/>
          </a:prstGeom>
        </p:spPr>
      </p:pic>
      <p:sp>
        <p:nvSpPr>
          <p:cNvPr id="12" name="文本框 11">
            <a:extLst>
              <a:ext uri="{FF2B5EF4-FFF2-40B4-BE49-F238E27FC236}">
                <a16:creationId xmlns:a16="http://schemas.microsoft.com/office/drawing/2014/main" id="{6F5CBFEF-9735-3EC2-EA03-FD5CFE0D6F1C}"/>
              </a:ext>
            </a:extLst>
          </p:cNvPr>
          <p:cNvSpPr txBox="1"/>
          <p:nvPr/>
        </p:nvSpPr>
        <p:spPr>
          <a:xfrm>
            <a:off x="539552" y="980728"/>
            <a:ext cx="7920880" cy="830997"/>
          </a:xfrm>
          <a:prstGeom prst="rect">
            <a:avLst/>
          </a:prstGeom>
          <a:noFill/>
        </p:spPr>
        <p:txBody>
          <a:bodyPr wrap="square">
            <a:spAutoFit/>
          </a:bodyPr>
          <a:lstStyle/>
          <a:p>
            <a:r>
              <a:rPr lang="zh-CN" altLang="en-US" sz="2400" b="1" dirty="0"/>
              <a:t>不同类型的电阻器有不同系列的额定功率，电阻器的额定功率出席列如下表：</a:t>
            </a:r>
            <a:endParaRPr lang="zh-CN" altLang="en-US" sz="2400" dirty="0"/>
          </a:p>
        </p:txBody>
      </p:sp>
    </p:spTree>
    <p:extLst>
      <p:ext uri="{BB962C8B-B14F-4D97-AF65-F5344CB8AC3E}">
        <p14:creationId xmlns:p14="http://schemas.microsoft.com/office/powerpoint/2010/main" val="6180887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3"/>
          <p:cNvSpPr>
            <a:spLocks noGrp="1" noChangeArrowheads="1"/>
          </p:cNvSpPr>
          <p:nvPr>
            <p:ph idx="1"/>
          </p:nvPr>
        </p:nvSpPr>
        <p:spPr>
          <a:xfrm>
            <a:off x="534347" y="836712"/>
            <a:ext cx="7860065" cy="756084"/>
          </a:xfrm>
        </p:spPr>
        <p:txBody>
          <a:bodyPr vert="horz" lIns="91440" tIns="45720" rIns="91440" bIns="45720" rtlCol="0" anchor="t">
            <a:normAutofit/>
          </a:bodyPr>
          <a:lstStyle/>
          <a:p>
            <a:pPr>
              <a:buNone/>
            </a:pPr>
            <a:r>
              <a:rPr lang="en-US" altLang="zh-CN" sz="2800" b="1" dirty="0">
                <a:solidFill>
                  <a:srgbClr val="231EF2"/>
                </a:solidFill>
                <a:highlight>
                  <a:srgbClr val="808080"/>
                </a:highlight>
              </a:rPr>
              <a:t>5</a:t>
            </a:r>
            <a:r>
              <a:rPr lang="zh-CN" altLang="en-US" sz="2800" b="1" dirty="0">
                <a:solidFill>
                  <a:srgbClr val="231EF2"/>
                </a:solidFill>
                <a:highlight>
                  <a:srgbClr val="808080"/>
                </a:highlight>
              </a:rPr>
              <a:t>、电阻的规格标识方法</a:t>
            </a:r>
          </a:p>
        </p:txBody>
      </p:sp>
      <p:sp>
        <p:nvSpPr>
          <p:cNvPr id="2" name="灯片编号占位符 1">
            <a:extLst>
              <a:ext uri="{FF2B5EF4-FFF2-40B4-BE49-F238E27FC236}">
                <a16:creationId xmlns:a16="http://schemas.microsoft.com/office/drawing/2014/main" id="{510BA96F-5F57-BCAD-084F-915C934EAE97}"/>
              </a:ext>
            </a:extLst>
          </p:cNvPr>
          <p:cNvSpPr>
            <a:spLocks noGrp="1"/>
          </p:cNvSpPr>
          <p:nvPr>
            <p:ph type="sldNum" sz="quarter" idx="12"/>
          </p:nvPr>
        </p:nvSpPr>
        <p:spPr/>
        <p:txBody>
          <a:bodyPr/>
          <a:lstStyle/>
          <a:p>
            <a:pPr>
              <a:defRPr/>
            </a:pPr>
            <a:fld id="{5FAFB815-62BA-464E-901C-79D108092E38}" type="slidenum">
              <a:rPr lang="zh-CN" altLang="en-US" smtClean="0"/>
              <a:pPr>
                <a:defRPr/>
              </a:pPr>
              <a:t>25</a:t>
            </a:fld>
            <a:endParaRPr lang="en-US" altLang="zh-CN"/>
          </a:p>
        </p:txBody>
      </p:sp>
      <p:sp>
        <p:nvSpPr>
          <p:cNvPr id="37892" name="Rectangle 4"/>
          <p:cNvSpPr>
            <a:spLocks noChangeArrowheads="1"/>
          </p:cNvSpPr>
          <p:nvPr/>
        </p:nvSpPr>
        <p:spPr bwMode="auto">
          <a:xfrm>
            <a:off x="611560" y="1592796"/>
            <a:ext cx="7992888" cy="4428492"/>
          </a:xfrm>
          <a:prstGeom prst="rect">
            <a:avLst/>
          </a:prstGeom>
          <a:noFill/>
          <a:ln w="9525">
            <a:noFill/>
            <a:miter lim="800000"/>
            <a:headEnd/>
            <a:tailEnd/>
          </a:ln>
          <a:effectLst/>
        </p:spPr>
        <p:txBody>
          <a:bodyPr lIns="92075" tIns="46038" rIns="92075" bIns="46038"/>
          <a:lstStyle/>
          <a:p>
            <a:pPr>
              <a:spcBef>
                <a:spcPct val="20000"/>
              </a:spcBef>
              <a:buClr>
                <a:schemeClr val="tx1"/>
              </a:buClr>
              <a:buSzPct val="80000"/>
              <a:buBlip>
                <a:blip r:embed="rId2"/>
              </a:buBlip>
            </a:pPr>
            <a:r>
              <a:rPr lang="zh-CN" altLang="en-US" sz="3200" dirty="0">
                <a:latin typeface="华文行楷" pitchFamily="2" charset="-122"/>
                <a:ea typeface="华文行楷" pitchFamily="2" charset="-122"/>
              </a:rPr>
              <a:t>直接标识法</a:t>
            </a:r>
            <a:endParaRPr lang="en-US" altLang="zh-CN" sz="3200" dirty="0">
              <a:latin typeface="华文行楷" pitchFamily="2" charset="-122"/>
              <a:ea typeface="华文行楷" pitchFamily="2" charset="-122"/>
            </a:endParaRPr>
          </a:p>
          <a:p>
            <a:pPr>
              <a:spcBef>
                <a:spcPct val="20000"/>
              </a:spcBef>
              <a:buClr>
                <a:schemeClr val="tx1"/>
              </a:buClr>
              <a:buSzPct val="80000"/>
            </a:pPr>
            <a:r>
              <a:rPr lang="zh-CN" altLang="en-US" sz="2000" dirty="0">
                <a:latin typeface="Adobe 黑体 Std R" panose="020B0400000000000000" pitchFamily="34" charset="-122"/>
                <a:ea typeface="Adobe 黑体 Std R" panose="020B0400000000000000" pitchFamily="34" charset="-122"/>
              </a:rPr>
              <a:t>     在电子器表面将电阻器的材料类型和主要参数的数值直接标出</a:t>
            </a:r>
            <a:r>
              <a:rPr lang="en-US" altLang="zh-CN" sz="2000" dirty="0">
                <a:latin typeface="Adobe 黑体 Std R" panose="020B0400000000000000" pitchFamily="34" charset="-122"/>
                <a:ea typeface="Adobe 黑体 Std R" panose="020B0400000000000000" pitchFamily="34" charset="-122"/>
              </a:rPr>
              <a:t>.</a:t>
            </a:r>
            <a:endParaRPr lang="en-US" altLang="zh-CN" sz="3200" dirty="0">
              <a:latin typeface="华文行楷" pitchFamily="2" charset="-122"/>
              <a:ea typeface="华文行楷" pitchFamily="2" charset="-122"/>
            </a:endParaRPr>
          </a:p>
          <a:p>
            <a:pPr>
              <a:spcBef>
                <a:spcPct val="20000"/>
              </a:spcBef>
              <a:buClr>
                <a:schemeClr val="tx1"/>
              </a:buClr>
              <a:buSzPct val="80000"/>
            </a:pPr>
            <a:r>
              <a:rPr lang="en-US" altLang="zh-CN" sz="2400" dirty="0">
                <a:latin typeface="华文行楷" pitchFamily="2" charset="-122"/>
                <a:ea typeface="华文行楷" pitchFamily="2" charset="-122"/>
              </a:rPr>
              <a:t>                               </a:t>
            </a:r>
          </a:p>
          <a:p>
            <a:pPr>
              <a:spcBef>
                <a:spcPct val="20000"/>
              </a:spcBef>
              <a:buClr>
                <a:schemeClr val="tx1"/>
              </a:buClr>
              <a:buSzPct val="80000"/>
              <a:buBlip>
                <a:blip r:embed="rId2"/>
              </a:buBlip>
            </a:pPr>
            <a:r>
              <a:rPr lang="zh-CN" altLang="en-US" sz="3200" dirty="0">
                <a:latin typeface="华文行楷" pitchFamily="2" charset="-122"/>
                <a:ea typeface="华文行楷" pitchFamily="2" charset="-122"/>
              </a:rPr>
              <a:t>文字符号法</a:t>
            </a:r>
            <a:endParaRPr lang="en-US" altLang="zh-CN" sz="3200" dirty="0">
              <a:latin typeface="华文行楷" pitchFamily="2" charset="-122"/>
              <a:ea typeface="华文行楷" pitchFamily="2" charset="-122"/>
            </a:endParaRPr>
          </a:p>
          <a:p>
            <a:pPr marL="342900" marR="0" lvl="0" indent="-342900" algn="l" defTabSz="457200" rtl="0" eaLnBrk="1" fontAlgn="auto" latinLnBrk="0" hangingPunct="1">
              <a:lnSpc>
                <a:spcPct val="100000"/>
              </a:lnSpc>
              <a:spcBef>
                <a:spcPct val="20000"/>
              </a:spcBef>
              <a:spcAft>
                <a:spcPts val="0"/>
              </a:spcAft>
              <a:buClr>
                <a:prstClr val="black"/>
              </a:buClr>
              <a:buSzPct val="80000"/>
              <a:buFont typeface="Wingdings" panose="05000000000000000000" pitchFamily="2" charset="2"/>
              <a:buChar char="u"/>
              <a:tabLst/>
              <a:defRPr/>
            </a:pP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Adobe 黑体 Std R" panose="020B0400000000000000" pitchFamily="34" charset="-122"/>
                <a:cs typeface="Times New Roman" panose="02020603050405020304" pitchFamily="18" charset="0"/>
              </a:rPr>
              <a:t>标称</a:t>
            </a:r>
            <a:r>
              <a:rPr lang="zh-CN" altLang="en-US" sz="2000" dirty="0">
                <a:solidFill>
                  <a:prstClr val="black"/>
                </a:solidFill>
                <a:latin typeface="Times New Roman" panose="02020603050405020304" pitchFamily="18" charset="0"/>
                <a:ea typeface="Adobe 黑体 Std R" panose="020B0400000000000000" pitchFamily="34" charset="-122"/>
                <a:cs typeface="Times New Roman" panose="02020603050405020304" pitchFamily="18" charset="0"/>
              </a:rPr>
              <a:t>阻值：</a:t>
            </a:r>
            <a:endParaRPr lang="en-US" altLang="zh-CN" sz="2000" dirty="0">
              <a:solidFill>
                <a:prstClr val="black"/>
              </a:solidFill>
              <a:latin typeface="Times New Roman" panose="02020603050405020304" pitchFamily="18" charset="0"/>
              <a:ea typeface="Adobe 黑体 Std R" panose="020B0400000000000000" pitchFamily="34" charset="-122"/>
              <a:cs typeface="Times New Roman" panose="02020603050405020304" pitchFamily="18" charset="0"/>
            </a:endParaRPr>
          </a:p>
          <a:p>
            <a:pPr marL="0" marR="0" lvl="0" indent="0" algn="l" defTabSz="457200" rtl="0" eaLnBrk="1" fontAlgn="auto" latinLnBrk="0" hangingPunct="1">
              <a:lnSpc>
                <a:spcPct val="100000"/>
              </a:lnSpc>
              <a:spcBef>
                <a:spcPct val="20000"/>
              </a:spcBef>
              <a:spcAft>
                <a:spcPts val="0"/>
              </a:spcAft>
              <a:buClr>
                <a:prstClr val="black"/>
              </a:buClr>
              <a:buSzPct val="80000"/>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Adobe 黑体 Std R" panose="020B0400000000000000" pitchFamily="34" charset="-122"/>
                <a:cs typeface="Times New Roman" panose="02020603050405020304" pitchFamily="18" charset="0"/>
              </a:rPr>
              <a:t>     </a:t>
            </a: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Adobe 黑体 Std R" panose="020B0400000000000000" pitchFamily="34" charset="-122"/>
                <a:cs typeface="Times New Roman" panose="02020603050405020304" pitchFamily="18" charset="0"/>
              </a:rPr>
              <a:t>遇有小数点时，常以</a:t>
            </a: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Adobe 黑体 Std R" panose="020B0400000000000000" pitchFamily="34" charset="-122"/>
                <a:cs typeface="Times New Roman" panose="02020603050405020304" pitchFamily="18" charset="0"/>
              </a:rPr>
              <a:t>Ω</a:t>
            </a: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Adobe 黑体 Std R" panose="020B0400000000000000" pitchFamily="34" charset="-122"/>
                <a:cs typeface="Times New Roman" panose="02020603050405020304" pitchFamily="18" charset="0"/>
              </a:rPr>
              <a:t>、</a:t>
            </a: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Adobe 黑体 Std R" panose="020B0400000000000000" pitchFamily="34" charset="-122"/>
                <a:cs typeface="Times New Roman" panose="02020603050405020304" pitchFamily="18" charset="0"/>
              </a:rPr>
              <a:t>K</a:t>
            </a: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Adobe 黑体 Std R" panose="020B0400000000000000" pitchFamily="34" charset="-122"/>
                <a:cs typeface="Times New Roman" panose="02020603050405020304" pitchFamily="18" charset="0"/>
              </a:rPr>
              <a:t>、</a:t>
            </a: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Adobe 黑体 Std R" panose="020B0400000000000000" pitchFamily="34" charset="-122"/>
                <a:cs typeface="Times New Roman" panose="02020603050405020304" pitchFamily="18" charset="0"/>
              </a:rPr>
              <a:t>M</a:t>
            </a: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Adobe 黑体 Std R" panose="020B0400000000000000" pitchFamily="34" charset="-122"/>
                <a:cs typeface="Times New Roman" panose="02020603050405020304" pitchFamily="18" charset="0"/>
              </a:rPr>
              <a:t>代替小数点，如</a:t>
            </a: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Adobe 黑体 Std R" panose="020B0400000000000000" pitchFamily="34" charset="-122"/>
                <a:cs typeface="Times New Roman" panose="02020603050405020304" pitchFamily="18" charset="0"/>
              </a:rPr>
              <a:t>0.1Ω</a:t>
            </a: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Adobe 黑体 Std R" panose="020B0400000000000000" pitchFamily="34" charset="-122"/>
                <a:cs typeface="Times New Roman" panose="02020603050405020304" pitchFamily="18" charset="0"/>
              </a:rPr>
              <a:t>，标注</a:t>
            </a: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Adobe 黑体 Std R" panose="020B0400000000000000" pitchFamily="34" charset="-122"/>
                <a:cs typeface="Times New Roman" panose="02020603050405020304" pitchFamily="18" charset="0"/>
              </a:rPr>
              <a:t>Ω1</a:t>
            </a: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Adobe 黑体 Std R" panose="020B0400000000000000" pitchFamily="34" charset="-122"/>
                <a:cs typeface="Times New Roman" panose="02020603050405020304" pitchFamily="18" charset="0"/>
              </a:rPr>
              <a:t>；</a:t>
            </a: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Adobe 黑体 Std R" panose="020B0400000000000000" pitchFamily="34" charset="-122"/>
                <a:cs typeface="Times New Roman" panose="02020603050405020304" pitchFamily="18" charset="0"/>
              </a:rPr>
              <a:t>3.3kΩ</a:t>
            </a: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Adobe 黑体 Std R" panose="020B0400000000000000" pitchFamily="34" charset="-122"/>
                <a:cs typeface="Times New Roman" panose="02020603050405020304" pitchFamily="18" charset="0"/>
              </a:rPr>
              <a:t>标注为</a:t>
            </a: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Adobe 黑体 Std R" panose="020B0400000000000000" pitchFamily="34" charset="-122"/>
                <a:cs typeface="Times New Roman" panose="02020603050405020304" pitchFamily="18" charset="0"/>
              </a:rPr>
              <a:t>3k3;1000M</a:t>
            </a: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Adobe 黑体 Std R" panose="020B0400000000000000" pitchFamily="34" charset="-122"/>
                <a:cs typeface="Times New Roman" panose="02020603050405020304" pitchFamily="18" charset="0"/>
              </a:rPr>
              <a:t>标注</a:t>
            </a: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Adobe 黑体 Std R" panose="020B0400000000000000" pitchFamily="34" charset="-122"/>
                <a:cs typeface="Times New Roman" panose="02020603050405020304" pitchFamily="18" charset="0"/>
              </a:rPr>
              <a:t>1G</a:t>
            </a: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Adobe 黑体 Std R" panose="020B0400000000000000" pitchFamily="34" charset="-122"/>
                <a:cs typeface="Times New Roman" panose="02020603050405020304" pitchFamily="18" charset="0"/>
              </a:rPr>
              <a:t>，即省标注</a:t>
            </a: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Adobe 黑体 Std R" panose="020B0400000000000000" pitchFamily="34" charset="-122"/>
                <a:cs typeface="Times New Roman" panose="02020603050405020304" pitchFamily="18" charset="0"/>
              </a:rPr>
              <a:t>Ω</a:t>
            </a:r>
            <a:r>
              <a:rPr kumimoji="0" lang="zh-CN" altLang="en-US" sz="2000" b="0" i="0" u="none" strike="noStrike" kern="1200" cap="none" spc="0" normalizeH="0" baseline="0" noProof="0" dirty="0">
                <a:ln>
                  <a:noFill/>
                </a:ln>
                <a:solidFill>
                  <a:prstClr val="black"/>
                </a:solidFill>
                <a:effectLst/>
                <a:uLnTx/>
                <a:uFillTx/>
                <a:latin typeface="Times New Roman" panose="02020603050405020304" pitchFamily="18" charset="0"/>
                <a:ea typeface="Adobe 黑体 Std R" panose="020B0400000000000000" pitchFamily="34" charset="-122"/>
                <a:cs typeface="Times New Roman" panose="02020603050405020304" pitchFamily="18" charset="0"/>
              </a:rPr>
              <a:t>。</a:t>
            </a:r>
            <a:endPar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Adobe 黑体 Std R" panose="020B0400000000000000" pitchFamily="34" charset="-122"/>
              <a:cs typeface="Times New Roman" panose="02020603050405020304" pitchFamily="18" charset="0"/>
            </a:endParaRPr>
          </a:p>
          <a:p>
            <a:pPr marL="342900" marR="0" lvl="0" indent="-342900" algn="l" defTabSz="457200" rtl="0" eaLnBrk="1" fontAlgn="auto" latinLnBrk="0" hangingPunct="1">
              <a:lnSpc>
                <a:spcPct val="100000"/>
              </a:lnSpc>
              <a:spcBef>
                <a:spcPct val="20000"/>
              </a:spcBef>
              <a:spcAft>
                <a:spcPts val="0"/>
              </a:spcAft>
              <a:buClr>
                <a:prstClr val="black"/>
              </a:buClr>
              <a:buSzPct val="80000"/>
              <a:buFont typeface="Wingdings" panose="05000000000000000000" pitchFamily="2" charset="2"/>
              <a:buChar char="u"/>
              <a:tabLst/>
              <a:defRPr/>
            </a:pPr>
            <a:r>
              <a:rPr lang="zh-CN" altLang="en-US" sz="2000" dirty="0">
                <a:solidFill>
                  <a:prstClr val="black"/>
                </a:solidFill>
                <a:latin typeface="Times New Roman" panose="02020603050405020304" pitchFamily="18" charset="0"/>
                <a:ea typeface="Adobe 黑体 Std R" panose="020B0400000000000000" pitchFamily="34" charset="-122"/>
                <a:cs typeface="Times New Roman" panose="02020603050405020304" pitchFamily="18" charset="0"/>
              </a:rPr>
              <a:t>允许误差：</a:t>
            </a:r>
            <a:endPar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Adobe 黑体 Std R" panose="020B0400000000000000" pitchFamily="34" charset="-122"/>
              <a:cs typeface="Times New Roman" panose="02020603050405020304" pitchFamily="18" charset="0"/>
            </a:endParaRPr>
          </a:p>
          <a:p>
            <a:pPr marL="0" marR="0" lvl="0" indent="0" algn="l" defTabSz="457200" rtl="0" eaLnBrk="1" fontAlgn="auto" latinLnBrk="0" hangingPunct="1">
              <a:lnSpc>
                <a:spcPct val="100000"/>
              </a:lnSpc>
              <a:spcBef>
                <a:spcPct val="20000"/>
              </a:spcBef>
              <a:spcAft>
                <a:spcPts val="0"/>
              </a:spcAft>
              <a:buClr>
                <a:prstClr val="black"/>
              </a:buClr>
              <a:buSzPct val="80000"/>
              <a:buFontTx/>
              <a:buNone/>
              <a:tabLst/>
              <a:defRPr/>
            </a:pPr>
            <a:r>
              <a:rPr lang="zh-CN" altLang="en-US" sz="2000" dirty="0">
                <a:solidFill>
                  <a:prstClr val="black"/>
                </a:solidFill>
                <a:latin typeface="Times New Roman" panose="02020603050405020304" pitchFamily="18" charset="0"/>
                <a:ea typeface="Adobe 黑体 Std R" panose="020B0400000000000000" pitchFamily="34" charset="-122"/>
                <a:cs typeface="Times New Roman" panose="02020603050405020304" pitchFamily="18" charset="0"/>
              </a:rPr>
              <a:t>    普通电阻允许误差为</a:t>
            </a:r>
            <a:r>
              <a:rPr lang="en-US" altLang="zh-CN" sz="2000" b="1" dirty="0"/>
              <a:t>±5%</a:t>
            </a:r>
            <a:r>
              <a:rPr lang="zh-CN" altLang="en-US" sz="2000" b="1" dirty="0"/>
              <a:t>、</a:t>
            </a:r>
            <a:r>
              <a:rPr lang="en-US" altLang="zh-CN" sz="2000" b="1" dirty="0"/>
              <a:t> ±10%</a:t>
            </a:r>
            <a:r>
              <a:rPr lang="zh-CN" altLang="en-US" sz="2000" b="1" dirty="0"/>
              <a:t>、</a:t>
            </a:r>
            <a:r>
              <a:rPr lang="en-US" altLang="zh-CN" sz="2000" b="1" dirty="0"/>
              <a:t> ±20% </a:t>
            </a:r>
            <a:r>
              <a:rPr lang="zh-CN" altLang="en-US" sz="2000" b="1" dirty="0"/>
              <a:t>三种，在电阻标称值后表明</a:t>
            </a:r>
            <a:r>
              <a:rPr lang="en-US" altLang="zh-CN" sz="2000" dirty="0">
                <a:solidFill>
                  <a:prstClr val="black"/>
                </a:solidFill>
                <a:latin typeface="Times New Roman" panose="02020603050405020304" pitchFamily="18" charset="0"/>
                <a:ea typeface="Adobe 黑体 Std R" panose="020B0400000000000000" pitchFamily="34" charset="-122"/>
                <a:cs typeface="Times New Roman" panose="02020603050405020304" pitchFamily="18" charset="0"/>
              </a:rPr>
              <a:t>Ⅰ</a:t>
            </a:r>
            <a:r>
              <a:rPr lang="zh-CN" altLang="en-US" sz="2000" dirty="0">
                <a:solidFill>
                  <a:prstClr val="black"/>
                </a:solidFill>
                <a:latin typeface="Times New Roman" panose="02020603050405020304" pitchFamily="18" charset="0"/>
                <a:ea typeface="Adobe 黑体 Std R" panose="020B0400000000000000" pitchFamily="34" charset="-122"/>
                <a:cs typeface="Times New Roman" panose="02020603050405020304" pitchFamily="18" charset="0"/>
              </a:rPr>
              <a:t>（</a:t>
            </a:r>
            <a:r>
              <a:rPr lang="en-US" altLang="zh-CN" sz="2000" dirty="0">
                <a:solidFill>
                  <a:prstClr val="black"/>
                </a:solidFill>
                <a:latin typeface="Times New Roman" panose="02020603050405020304" pitchFamily="18" charset="0"/>
                <a:ea typeface="Adobe 黑体 Std R" panose="020B0400000000000000" pitchFamily="34" charset="-122"/>
                <a:cs typeface="Times New Roman" panose="02020603050405020304" pitchFamily="18" charset="0"/>
              </a:rPr>
              <a:t>J</a:t>
            </a:r>
            <a:r>
              <a:rPr lang="zh-CN" altLang="en-US" sz="2000" dirty="0">
                <a:solidFill>
                  <a:prstClr val="black"/>
                </a:solidFill>
                <a:latin typeface="Times New Roman" panose="02020603050405020304" pitchFamily="18" charset="0"/>
                <a:ea typeface="Adobe 黑体 Std R" panose="020B0400000000000000" pitchFamily="34" charset="-122"/>
                <a:cs typeface="Times New Roman" panose="02020603050405020304" pitchFamily="18" charset="0"/>
              </a:rPr>
              <a:t>）、</a:t>
            </a:r>
            <a:r>
              <a:rPr lang="en-US" altLang="zh-CN" sz="2000" dirty="0">
                <a:solidFill>
                  <a:prstClr val="black"/>
                </a:solidFill>
                <a:latin typeface="Times New Roman" panose="02020603050405020304" pitchFamily="18" charset="0"/>
                <a:ea typeface="Adobe 黑体 Std R" panose="020B0400000000000000" pitchFamily="34" charset="-122"/>
                <a:cs typeface="Times New Roman" panose="02020603050405020304" pitchFamily="18" charset="0"/>
              </a:rPr>
              <a:t>Ⅱ</a:t>
            </a:r>
            <a:r>
              <a:rPr lang="zh-CN" altLang="en-US" sz="2000" dirty="0">
                <a:solidFill>
                  <a:prstClr val="black"/>
                </a:solidFill>
                <a:latin typeface="Times New Roman" panose="02020603050405020304" pitchFamily="18" charset="0"/>
                <a:ea typeface="Adobe 黑体 Std R" panose="020B0400000000000000" pitchFamily="34" charset="-122"/>
                <a:cs typeface="Times New Roman" panose="02020603050405020304" pitchFamily="18" charset="0"/>
              </a:rPr>
              <a:t>（</a:t>
            </a:r>
            <a:r>
              <a:rPr lang="en-US" altLang="zh-CN" sz="2000" dirty="0">
                <a:solidFill>
                  <a:prstClr val="black"/>
                </a:solidFill>
                <a:latin typeface="Times New Roman" panose="02020603050405020304" pitchFamily="18" charset="0"/>
                <a:ea typeface="Adobe 黑体 Std R" panose="020B0400000000000000" pitchFamily="34" charset="-122"/>
                <a:cs typeface="Times New Roman" panose="02020603050405020304" pitchFamily="18" charset="0"/>
              </a:rPr>
              <a:t>K</a:t>
            </a:r>
            <a:r>
              <a:rPr lang="zh-CN" altLang="en-US" sz="2000" dirty="0">
                <a:solidFill>
                  <a:prstClr val="black"/>
                </a:solidFill>
                <a:latin typeface="Times New Roman" panose="02020603050405020304" pitchFamily="18" charset="0"/>
                <a:ea typeface="Adobe 黑体 Std R" panose="020B0400000000000000" pitchFamily="34" charset="-122"/>
                <a:cs typeface="Times New Roman" panose="02020603050405020304" pitchFamily="18" charset="0"/>
              </a:rPr>
              <a:t>）、</a:t>
            </a:r>
            <a:r>
              <a:rPr lang="en-US" altLang="zh-CN" sz="2000" dirty="0">
                <a:solidFill>
                  <a:prstClr val="black"/>
                </a:solidFill>
                <a:latin typeface="Times New Roman" panose="02020603050405020304" pitchFamily="18" charset="0"/>
                <a:ea typeface="Adobe 黑体 Std R" panose="020B0400000000000000" pitchFamily="34" charset="-122"/>
                <a:cs typeface="Times New Roman" panose="02020603050405020304" pitchFamily="18" charset="0"/>
              </a:rPr>
              <a:t>Ⅲ</a:t>
            </a:r>
            <a:r>
              <a:rPr lang="zh-CN" altLang="en-US" sz="2000" dirty="0">
                <a:solidFill>
                  <a:prstClr val="black"/>
                </a:solidFill>
                <a:latin typeface="Times New Roman" panose="02020603050405020304" pitchFamily="18" charset="0"/>
                <a:ea typeface="Adobe 黑体 Std R" panose="020B0400000000000000" pitchFamily="34" charset="-122"/>
                <a:cs typeface="Times New Roman" panose="02020603050405020304" pitchFamily="18" charset="0"/>
              </a:rPr>
              <a:t>（</a:t>
            </a:r>
            <a:r>
              <a:rPr lang="en-US" altLang="zh-CN" sz="2000" dirty="0">
                <a:solidFill>
                  <a:prstClr val="black"/>
                </a:solidFill>
                <a:latin typeface="Times New Roman" panose="02020603050405020304" pitchFamily="18" charset="0"/>
                <a:ea typeface="Adobe 黑体 Std R" panose="020B0400000000000000" pitchFamily="34" charset="-122"/>
                <a:cs typeface="Times New Roman" panose="02020603050405020304" pitchFamily="18" charset="0"/>
              </a:rPr>
              <a:t>M</a:t>
            </a:r>
            <a:r>
              <a:rPr lang="zh-CN" altLang="en-US" sz="2000" dirty="0">
                <a:solidFill>
                  <a:prstClr val="black"/>
                </a:solidFill>
                <a:latin typeface="Times New Roman" panose="02020603050405020304" pitchFamily="18" charset="0"/>
                <a:ea typeface="Adobe 黑体 Std R" panose="020B0400000000000000" pitchFamily="34" charset="-122"/>
                <a:cs typeface="Times New Roman" panose="02020603050405020304" pitchFamily="18" charset="0"/>
              </a:rPr>
              <a:t>）</a:t>
            </a:r>
            <a:r>
              <a:rPr lang="zh-CN" altLang="en-US" sz="2000" b="1" dirty="0"/>
              <a:t>符号。</a:t>
            </a:r>
            <a:endParaRPr lang="en-US" altLang="zh-CN" sz="2000" dirty="0">
              <a:solidFill>
                <a:prstClr val="black"/>
              </a:solidFill>
              <a:latin typeface="Times New Roman" panose="02020603050405020304" pitchFamily="18" charset="0"/>
              <a:ea typeface="Adobe 黑体 Std R" panose="020B0400000000000000" pitchFamily="34" charset="-122"/>
              <a:cs typeface="Times New Roman" panose="02020603050405020304" pitchFamily="18" charset="0"/>
            </a:endParaRPr>
          </a:p>
          <a:p>
            <a:pPr marL="0" marR="0" lvl="0" indent="0" algn="l" defTabSz="457200" rtl="0" eaLnBrk="1" fontAlgn="auto" latinLnBrk="0" hangingPunct="1">
              <a:lnSpc>
                <a:spcPct val="100000"/>
              </a:lnSpc>
              <a:spcBef>
                <a:spcPct val="20000"/>
              </a:spcBef>
              <a:spcAft>
                <a:spcPts val="0"/>
              </a:spcAft>
              <a:buClr>
                <a:prstClr val="black"/>
              </a:buClr>
              <a:buSzPct val="80000"/>
              <a:buFontTx/>
              <a:buNone/>
              <a:tabLst/>
              <a:defRPr/>
            </a:pPr>
            <a:endPar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Adobe 黑体 Std R" panose="020B0400000000000000" pitchFamily="34" charset="-122"/>
              <a:cs typeface="Times New Roman" panose="02020603050405020304" pitchFamily="18" charset="0"/>
            </a:endParaRPr>
          </a:p>
          <a:p>
            <a:pPr>
              <a:spcBef>
                <a:spcPct val="20000"/>
              </a:spcBef>
              <a:buClr>
                <a:schemeClr val="tx1"/>
              </a:buClr>
              <a:buSzPct val="80000"/>
              <a:buFont typeface="Wingdings" pitchFamily="2" charset="2"/>
              <a:buBlip>
                <a:blip r:embed="rId2"/>
              </a:buBlip>
            </a:pPr>
            <a:endParaRPr lang="zh-CN" altLang="en-US" sz="3200" dirty="0">
              <a:latin typeface="华文行楷" pitchFamily="2" charset="-122"/>
              <a:ea typeface="华文行楷" pitchFamily="2" charset="-122"/>
            </a:endParaRPr>
          </a:p>
        </p:txBody>
      </p:sp>
      <p:pic>
        <p:nvPicPr>
          <p:cNvPr id="7" name="图片 6">
            <a:extLst>
              <a:ext uri="{FF2B5EF4-FFF2-40B4-BE49-F238E27FC236}">
                <a16:creationId xmlns:a16="http://schemas.microsoft.com/office/drawing/2014/main" id="{5F407621-44F1-D5E8-1613-AE0177B161A1}"/>
              </a:ext>
            </a:extLst>
          </p:cNvPr>
          <p:cNvPicPr>
            <a:picLocks noChangeAspect="1"/>
          </p:cNvPicPr>
          <p:nvPr/>
        </p:nvPicPr>
        <p:blipFill>
          <a:blip r:embed="rId3"/>
          <a:stretch>
            <a:fillRect/>
          </a:stretch>
        </p:blipFill>
        <p:spPr>
          <a:xfrm>
            <a:off x="3059832" y="2564904"/>
            <a:ext cx="2441451" cy="406909"/>
          </a:xfrm>
          <a:prstGeom prst="rect">
            <a:avLst/>
          </a:prstGeom>
        </p:spPr>
      </p:pic>
      <p:pic>
        <p:nvPicPr>
          <p:cNvPr id="9" name="图片 8">
            <a:extLst>
              <a:ext uri="{FF2B5EF4-FFF2-40B4-BE49-F238E27FC236}">
                <a16:creationId xmlns:a16="http://schemas.microsoft.com/office/drawing/2014/main" id="{71C02B06-4F74-3C41-0629-F1F4E74FAFB0}"/>
              </a:ext>
            </a:extLst>
          </p:cNvPr>
          <p:cNvPicPr>
            <a:picLocks noChangeAspect="1"/>
          </p:cNvPicPr>
          <p:nvPr/>
        </p:nvPicPr>
        <p:blipFill>
          <a:blip r:embed="rId4"/>
          <a:stretch>
            <a:fillRect/>
          </a:stretch>
        </p:blipFill>
        <p:spPr>
          <a:xfrm>
            <a:off x="6012160" y="5265204"/>
            <a:ext cx="2208220" cy="833220"/>
          </a:xfrm>
          <a:prstGeom prst="rect">
            <a:avLst/>
          </a:prstGeom>
        </p:spPr>
      </p:pic>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D2B53F04-E529-4B71-CC6D-5876752F499D}"/>
              </a:ext>
            </a:extLst>
          </p:cNvPr>
          <p:cNvSpPr>
            <a:spLocks noGrp="1"/>
          </p:cNvSpPr>
          <p:nvPr>
            <p:ph type="sldNum" sz="quarter" idx="12"/>
          </p:nvPr>
        </p:nvSpPr>
        <p:spPr/>
        <p:txBody>
          <a:bodyPr/>
          <a:lstStyle/>
          <a:p>
            <a:pPr>
              <a:defRPr/>
            </a:pPr>
            <a:fld id="{5FAFB815-62BA-464E-901C-79D108092E38}" type="slidenum">
              <a:rPr lang="zh-CN" altLang="en-US" smtClean="0"/>
              <a:pPr>
                <a:defRPr/>
              </a:pPr>
              <a:t>26</a:t>
            </a:fld>
            <a:endParaRPr lang="en-US" altLang="zh-CN"/>
          </a:p>
        </p:txBody>
      </p:sp>
      <p:sp>
        <p:nvSpPr>
          <p:cNvPr id="6" name="文本框 5">
            <a:extLst>
              <a:ext uri="{FF2B5EF4-FFF2-40B4-BE49-F238E27FC236}">
                <a16:creationId xmlns:a16="http://schemas.microsoft.com/office/drawing/2014/main" id="{448B817A-0C42-60C5-31B3-FC23367F14BF}"/>
              </a:ext>
            </a:extLst>
          </p:cNvPr>
          <p:cNvSpPr txBox="1"/>
          <p:nvPr/>
        </p:nvSpPr>
        <p:spPr>
          <a:xfrm>
            <a:off x="611560" y="1196752"/>
            <a:ext cx="7488832" cy="3933384"/>
          </a:xfrm>
          <a:prstGeom prst="rect">
            <a:avLst/>
          </a:prstGeom>
          <a:noFill/>
        </p:spPr>
        <p:txBody>
          <a:bodyPr wrap="square">
            <a:spAutoFit/>
          </a:bodyPr>
          <a:lstStyle/>
          <a:p>
            <a:pPr marL="342900" indent="-342900">
              <a:spcBef>
                <a:spcPct val="20000"/>
              </a:spcBef>
              <a:buClr>
                <a:prstClr val="black"/>
              </a:buClr>
              <a:buSzPct val="80000"/>
              <a:buFont typeface="Wingdings" panose="05000000000000000000" pitchFamily="2" charset="2"/>
              <a:buChar char="u"/>
              <a:defRPr/>
            </a:pPr>
            <a:r>
              <a:rPr lang="zh-CN" altLang="en-US" sz="2000" dirty="0">
                <a:solidFill>
                  <a:prstClr val="black"/>
                </a:solidFill>
                <a:latin typeface="Times New Roman" panose="02020603050405020304" pitchFamily="18" charset="0"/>
                <a:ea typeface="Adobe 黑体 Std R" panose="020B0400000000000000" pitchFamily="34" charset="-122"/>
                <a:cs typeface="Times New Roman" panose="02020603050405020304" pitchFamily="18" charset="0"/>
              </a:rPr>
              <a:t>额定功率：</a:t>
            </a:r>
            <a:endParaRPr lang="en-US" altLang="zh-CN" sz="2000" dirty="0">
              <a:solidFill>
                <a:prstClr val="black"/>
              </a:solidFill>
              <a:latin typeface="Times New Roman" panose="02020603050405020304" pitchFamily="18" charset="0"/>
              <a:ea typeface="Adobe 黑体 Std R" panose="020B0400000000000000" pitchFamily="34" charset="-122"/>
              <a:cs typeface="Times New Roman" panose="02020603050405020304" pitchFamily="18" charset="0"/>
            </a:endParaRPr>
          </a:p>
          <a:p>
            <a:pPr>
              <a:spcBef>
                <a:spcPct val="20000"/>
              </a:spcBef>
              <a:buClr>
                <a:prstClr val="black"/>
              </a:buClr>
              <a:buSzPct val="80000"/>
              <a:defRPr/>
            </a:pPr>
            <a:r>
              <a:rPr lang="en-US" altLang="zh-CN" sz="2000" dirty="0">
                <a:solidFill>
                  <a:prstClr val="black"/>
                </a:solidFill>
                <a:latin typeface="Times New Roman" panose="02020603050405020304" pitchFamily="18" charset="0"/>
                <a:ea typeface="Adobe 黑体 Std R" panose="020B0400000000000000" pitchFamily="34" charset="-122"/>
                <a:cs typeface="Times New Roman" panose="02020603050405020304" pitchFamily="18" charset="0"/>
              </a:rPr>
              <a:t>    2W</a:t>
            </a:r>
            <a:r>
              <a:rPr lang="zh-CN" altLang="en-US" sz="2000" dirty="0">
                <a:solidFill>
                  <a:prstClr val="black"/>
                </a:solidFill>
                <a:latin typeface="Times New Roman" panose="02020603050405020304" pitchFamily="18" charset="0"/>
                <a:ea typeface="Adobe 黑体 Std R" panose="020B0400000000000000" pitchFamily="34" charset="-122"/>
                <a:cs typeface="Times New Roman" panose="02020603050405020304" pitchFamily="18" charset="0"/>
              </a:rPr>
              <a:t>以下的小型电阻器，其功率通常不标出，通过观察其外形尺寸判定。</a:t>
            </a:r>
            <a:r>
              <a:rPr lang="en-US" altLang="zh-CN" sz="2000" dirty="0">
                <a:solidFill>
                  <a:prstClr val="black"/>
                </a:solidFill>
                <a:latin typeface="Times New Roman" panose="02020603050405020304" pitchFamily="18" charset="0"/>
                <a:ea typeface="Adobe 黑体 Std R" panose="020B0400000000000000" pitchFamily="34" charset="-122"/>
                <a:cs typeface="Times New Roman" panose="02020603050405020304" pitchFamily="18" charset="0"/>
              </a:rPr>
              <a:t>2W</a:t>
            </a:r>
            <a:r>
              <a:rPr lang="zh-CN" altLang="en-US" sz="2000" dirty="0">
                <a:solidFill>
                  <a:prstClr val="black"/>
                </a:solidFill>
                <a:latin typeface="Times New Roman" panose="02020603050405020304" pitchFamily="18" charset="0"/>
                <a:ea typeface="Adobe 黑体 Std R" panose="020B0400000000000000" pitchFamily="34" charset="-122"/>
                <a:cs typeface="Times New Roman" panose="02020603050405020304" pitchFamily="18" charset="0"/>
              </a:rPr>
              <a:t>以上的电阻器其功率数值在电阻器表面上用数字标出。</a:t>
            </a:r>
            <a:endParaRPr lang="en-US" altLang="zh-CN" sz="2000" dirty="0">
              <a:solidFill>
                <a:prstClr val="black"/>
              </a:solidFill>
              <a:latin typeface="Times New Roman" panose="02020603050405020304" pitchFamily="18" charset="0"/>
              <a:ea typeface="Adobe 黑体 Std R" panose="020B0400000000000000" pitchFamily="34" charset="-122"/>
              <a:cs typeface="Times New Roman" panose="02020603050405020304" pitchFamily="18" charset="0"/>
            </a:endParaRPr>
          </a:p>
          <a:p>
            <a:pPr>
              <a:spcBef>
                <a:spcPct val="20000"/>
              </a:spcBef>
              <a:buClr>
                <a:prstClr val="black"/>
              </a:buClr>
              <a:buSzPct val="80000"/>
              <a:defRPr/>
            </a:pPr>
            <a:r>
              <a:rPr lang="zh-CN" altLang="en-US" sz="2000" dirty="0">
                <a:solidFill>
                  <a:prstClr val="black"/>
                </a:solidFill>
                <a:latin typeface="Times New Roman" panose="02020603050405020304" pitchFamily="18" charset="0"/>
                <a:ea typeface="Adobe 黑体 Std R" panose="020B0400000000000000" pitchFamily="34" charset="-122"/>
                <a:cs typeface="Times New Roman" panose="02020603050405020304" pitchFamily="18" charset="0"/>
              </a:rPr>
              <a:t>下表为常用的碳膜电阻器和金属膜电阻器外形尺寸和额定功率的关系。</a:t>
            </a:r>
            <a:endParaRPr lang="en-US" altLang="zh-CN" sz="2000" dirty="0">
              <a:solidFill>
                <a:prstClr val="black"/>
              </a:solidFill>
              <a:latin typeface="Times New Roman" panose="02020603050405020304" pitchFamily="18" charset="0"/>
              <a:ea typeface="Adobe 黑体 Std R" panose="020B0400000000000000" pitchFamily="34" charset="-122"/>
              <a:cs typeface="Times New Roman" panose="02020603050405020304" pitchFamily="18" charset="0"/>
            </a:endParaRPr>
          </a:p>
          <a:p>
            <a:pPr>
              <a:spcBef>
                <a:spcPct val="20000"/>
              </a:spcBef>
              <a:buClr>
                <a:prstClr val="black"/>
              </a:buClr>
              <a:buSzPct val="80000"/>
              <a:defRPr/>
            </a:pPr>
            <a:endParaRPr lang="en-US" altLang="zh-CN" sz="2000" dirty="0">
              <a:solidFill>
                <a:prstClr val="black"/>
              </a:solidFill>
              <a:latin typeface="Times New Roman" panose="02020603050405020304" pitchFamily="18" charset="0"/>
              <a:ea typeface="Adobe 黑体 Std R" panose="020B0400000000000000" pitchFamily="34" charset="-122"/>
              <a:cs typeface="Times New Roman" panose="02020603050405020304" pitchFamily="18" charset="0"/>
            </a:endParaRPr>
          </a:p>
          <a:p>
            <a:pPr>
              <a:spcBef>
                <a:spcPct val="20000"/>
              </a:spcBef>
              <a:buClr>
                <a:prstClr val="black"/>
              </a:buClr>
              <a:buSzPct val="80000"/>
              <a:defRPr/>
            </a:pPr>
            <a:endParaRPr lang="en-US" altLang="zh-CN" sz="2000" dirty="0">
              <a:solidFill>
                <a:prstClr val="black"/>
              </a:solidFill>
              <a:latin typeface="Times New Roman" panose="02020603050405020304" pitchFamily="18" charset="0"/>
              <a:ea typeface="Adobe 黑体 Std R" panose="020B0400000000000000" pitchFamily="34" charset="-122"/>
              <a:cs typeface="Times New Roman" panose="02020603050405020304" pitchFamily="18" charset="0"/>
            </a:endParaRPr>
          </a:p>
          <a:p>
            <a:pPr>
              <a:spcBef>
                <a:spcPct val="20000"/>
              </a:spcBef>
              <a:buClr>
                <a:prstClr val="black"/>
              </a:buClr>
              <a:buSzPct val="80000"/>
              <a:defRPr/>
            </a:pPr>
            <a:endParaRPr lang="en-US" altLang="zh-CN" sz="2000" dirty="0">
              <a:solidFill>
                <a:prstClr val="black"/>
              </a:solidFill>
              <a:latin typeface="Times New Roman" panose="02020603050405020304" pitchFamily="18" charset="0"/>
              <a:ea typeface="Adobe 黑体 Std R" panose="020B0400000000000000" pitchFamily="34" charset="-122"/>
              <a:cs typeface="Times New Roman" panose="02020603050405020304" pitchFamily="18" charset="0"/>
            </a:endParaRPr>
          </a:p>
          <a:p>
            <a:pPr>
              <a:spcBef>
                <a:spcPct val="20000"/>
              </a:spcBef>
              <a:buClr>
                <a:prstClr val="black"/>
              </a:buClr>
              <a:buSzPct val="80000"/>
              <a:defRPr/>
            </a:pPr>
            <a:endParaRPr lang="en-US" altLang="zh-CN" sz="2000" dirty="0">
              <a:solidFill>
                <a:prstClr val="black"/>
              </a:solidFill>
              <a:latin typeface="Times New Roman" panose="02020603050405020304" pitchFamily="18" charset="0"/>
              <a:ea typeface="Adobe 黑体 Std R" panose="020B0400000000000000" pitchFamily="34" charset="-122"/>
              <a:cs typeface="Times New Roman" panose="02020603050405020304" pitchFamily="18" charset="0"/>
            </a:endParaRPr>
          </a:p>
          <a:p>
            <a:pPr>
              <a:spcBef>
                <a:spcPct val="20000"/>
              </a:spcBef>
              <a:buClr>
                <a:prstClr val="black"/>
              </a:buClr>
              <a:buSzPct val="80000"/>
              <a:defRPr/>
            </a:pPr>
            <a:endParaRPr lang="en-US" altLang="zh-CN" sz="2000" dirty="0">
              <a:solidFill>
                <a:prstClr val="black"/>
              </a:solidFill>
              <a:latin typeface="Times New Roman" panose="02020603050405020304" pitchFamily="18" charset="0"/>
              <a:ea typeface="Adobe 黑体 Std R" panose="020B0400000000000000" pitchFamily="34" charset="-122"/>
              <a:cs typeface="Times New Roman" panose="02020603050405020304" pitchFamily="18" charset="0"/>
            </a:endParaRPr>
          </a:p>
          <a:p>
            <a:pPr>
              <a:spcBef>
                <a:spcPct val="20000"/>
              </a:spcBef>
              <a:buClr>
                <a:schemeClr val="tx1"/>
              </a:buClr>
              <a:buSzPct val="80000"/>
            </a:pPr>
            <a:endParaRPr lang="en-US" altLang="zh-CN" dirty="0">
              <a:latin typeface="华文行楷" pitchFamily="2" charset="-122"/>
              <a:ea typeface="华文行楷" pitchFamily="2" charset="-122"/>
            </a:endParaRPr>
          </a:p>
        </p:txBody>
      </p:sp>
      <p:pic>
        <p:nvPicPr>
          <p:cNvPr id="10" name="图片 9">
            <a:extLst>
              <a:ext uri="{FF2B5EF4-FFF2-40B4-BE49-F238E27FC236}">
                <a16:creationId xmlns:a16="http://schemas.microsoft.com/office/drawing/2014/main" id="{62917E5D-6F3A-CB54-85DF-7375589AF4B9}"/>
              </a:ext>
            </a:extLst>
          </p:cNvPr>
          <p:cNvPicPr>
            <a:picLocks noChangeAspect="1"/>
          </p:cNvPicPr>
          <p:nvPr/>
        </p:nvPicPr>
        <p:blipFill>
          <a:blip r:embed="rId2"/>
          <a:stretch>
            <a:fillRect/>
          </a:stretch>
        </p:blipFill>
        <p:spPr>
          <a:xfrm>
            <a:off x="1774320" y="2636912"/>
            <a:ext cx="5148064" cy="2322404"/>
          </a:xfrm>
          <a:prstGeom prst="rect">
            <a:avLst/>
          </a:prstGeom>
        </p:spPr>
      </p:pic>
    </p:spTree>
    <p:extLst>
      <p:ext uri="{BB962C8B-B14F-4D97-AF65-F5344CB8AC3E}">
        <p14:creationId xmlns:p14="http://schemas.microsoft.com/office/powerpoint/2010/main" val="37941399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D2B53F04-E529-4B71-CC6D-5876752F499D}"/>
              </a:ext>
            </a:extLst>
          </p:cNvPr>
          <p:cNvSpPr>
            <a:spLocks noGrp="1"/>
          </p:cNvSpPr>
          <p:nvPr>
            <p:ph type="sldNum" sz="quarter" idx="12"/>
          </p:nvPr>
        </p:nvSpPr>
        <p:spPr/>
        <p:txBody>
          <a:bodyPr/>
          <a:lstStyle/>
          <a:p>
            <a:pPr>
              <a:defRPr/>
            </a:pPr>
            <a:fld id="{5FAFB815-62BA-464E-901C-79D108092E38}" type="slidenum">
              <a:rPr lang="zh-CN" altLang="en-US" smtClean="0"/>
              <a:pPr>
                <a:defRPr/>
              </a:pPr>
              <a:t>27</a:t>
            </a:fld>
            <a:endParaRPr lang="en-US" altLang="zh-CN"/>
          </a:p>
        </p:txBody>
      </p:sp>
      <p:sp>
        <p:nvSpPr>
          <p:cNvPr id="6" name="文本框 5">
            <a:extLst>
              <a:ext uri="{FF2B5EF4-FFF2-40B4-BE49-F238E27FC236}">
                <a16:creationId xmlns:a16="http://schemas.microsoft.com/office/drawing/2014/main" id="{448B817A-0C42-60C5-31B3-FC23367F14BF}"/>
              </a:ext>
            </a:extLst>
          </p:cNvPr>
          <p:cNvSpPr txBox="1"/>
          <p:nvPr/>
        </p:nvSpPr>
        <p:spPr>
          <a:xfrm>
            <a:off x="611560" y="1196752"/>
            <a:ext cx="7488832" cy="3871829"/>
          </a:xfrm>
          <a:prstGeom prst="rect">
            <a:avLst/>
          </a:prstGeom>
          <a:noFill/>
        </p:spPr>
        <p:txBody>
          <a:bodyPr wrap="square">
            <a:spAutoFit/>
          </a:bodyPr>
          <a:lstStyle/>
          <a:p>
            <a:pPr marL="342900" indent="-342900">
              <a:spcBef>
                <a:spcPct val="20000"/>
              </a:spcBef>
              <a:buClr>
                <a:prstClr val="black"/>
              </a:buClr>
              <a:buSzPct val="80000"/>
              <a:buFont typeface="Wingdings" panose="05000000000000000000" pitchFamily="2" charset="2"/>
              <a:buChar char="u"/>
              <a:defRPr/>
            </a:pPr>
            <a:r>
              <a:rPr lang="zh-CN" altLang="en-US" sz="2000" dirty="0">
                <a:solidFill>
                  <a:prstClr val="black"/>
                </a:solidFill>
                <a:latin typeface="Times New Roman" panose="02020603050405020304" pitchFamily="18" charset="0"/>
                <a:ea typeface="Adobe 黑体 Std R" panose="020B0400000000000000" pitchFamily="34" charset="-122"/>
                <a:cs typeface="Times New Roman" panose="02020603050405020304" pitchFamily="18" charset="0"/>
              </a:rPr>
              <a:t>材料类型：</a:t>
            </a:r>
            <a:endParaRPr lang="en-US" altLang="zh-CN" sz="2000" dirty="0">
              <a:solidFill>
                <a:prstClr val="black"/>
              </a:solidFill>
              <a:latin typeface="Times New Roman" panose="02020603050405020304" pitchFamily="18" charset="0"/>
              <a:ea typeface="Adobe 黑体 Std R" panose="020B0400000000000000" pitchFamily="34" charset="-122"/>
              <a:cs typeface="Times New Roman" panose="02020603050405020304" pitchFamily="18" charset="0"/>
            </a:endParaRPr>
          </a:p>
          <a:p>
            <a:pPr>
              <a:spcBef>
                <a:spcPct val="20000"/>
              </a:spcBef>
              <a:buClr>
                <a:prstClr val="black"/>
              </a:buClr>
              <a:buSzPct val="80000"/>
              <a:defRPr/>
            </a:pPr>
            <a:r>
              <a:rPr lang="en-US" altLang="zh-CN" sz="2000" dirty="0">
                <a:solidFill>
                  <a:prstClr val="black"/>
                </a:solidFill>
                <a:latin typeface="Times New Roman" panose="02020603050405020304" pitchFamily="18" charset="0"/>
                <a:ea typeface="Adobe 黑体 Std R" panose="020B0400000000000000" pitchFamily="34" charset="-122"/>
                <a:cs typeface="Times New Roman" panose="02020603050405020304" pitchFamily="18" charset="0"/>
              </a:rPr>
              <a:t>    </a:t>
            </a:r>
            <a:r>
              <a:rPr lang="zh-CN" altLang="en-US" sz="2000" dirty="0">
                <a:solidFill>
                  <a:prstClr val="black"/>
                </a:solidFill>
                <a:latin typeface="Times New Roman" panose="02020603050405020304" pitchFamily="18" charset="0"/>
                <a:ea typeface="Adobe 黑体 Std R" panose="020B0400000000000000" pitchFamily="34" charset="-122"/>
                <a:cs typeface="Times New Roman" panose="02020603050405020304" pitchFamily="18" charset="0"/>
              </a:rPr>
              <a:t>对</a:t>
            </a:r>
            <a:r>
              <a:rPr lang="en-US" altLang="zh-CN" sz="2000" dirty="0">
                <a:solidFill>
                  <a:prstClr val="black"/>
                </a:solidFill>
                <a:latin typeface="Times New Roman" panose="02020603050405020304" pitchFamily="18" charset="0"/>
                <a:ea typeface="Adobe 黑体 Std R" panose="020B0400000000000000" pitchFamily="34" charset="-122"/>
                <a:cs typeface="Times New Roman" panose="02020603050405020304" pitchFamily="18" charset="0"/>
              </a:rPr>
              <a:t>2W</a:t>
            </a:r>
            <a:r>
              <a:rPr lang="zh-CN" altLang="en-US" sz="2000" dirty="0">
                <a:solidFill>
                  <a:prstClr val="black"/>
                </a:solidFill>
                <a:latin typeface="Times New Roman" panose="02020603050405020304" pitchFamily="18" charset="0"/>
                <a:ea typeface="Adobe 黑体 Std R" panose="020B0400000000000000" pitchFamily="34" charset="-122"/>
                <a:cs typeface="Times New Roman" panose="02020603050405020304" pitchFamily="18" charset="0"/>
              </a:rPr>
              <a:t>以下的小功率电阻器，电子器的材料类型通常也不标出。市售最常用的碳膜电阻器外表涂黄色，金属膜电阻器涂红色，绕线电阻器为黑色。</a:t>
            </a:r>
            <a:r>
              <a:rPr lang="en-US" altLang="zh-CN" sz="2000" dirty="0">
                <a:solidFill>
                  <a:prstClr val="black"/>
                </a:solidFill>
                <a:latin typeface="Times New Roman" panose="02020603050405020304" pitchFamily="18" charset="0"/>
                <a:ea typeface="Adobe 黑体 Std R" panose="020B0400000000000000" pitchFamily="34" charset="-122"/>
                <a:cs typeface="Times New Roman" panose="02020603050405020304" pitchFamily="18" charset="0"/>
              </a:rPr>
              <a:t>2W</a:t>
            </a:r>
            <a:r>
              <a:rPr lang="zh-CN" altLang="en-US" sz="2000" dirty="0">
                <a:solidFill>
                  <a:prstClr val="black"/>
                </a:solidFill>
                <a:latin typeface="Times New Roman" panose="02020603050405020304" pitchFamily="18" charset="0"/>
                <a:ea typeface="Adobe 黑体 Std R" panose="020B0400000000000000" pitchFamily="34" charset="-122"/>
                <a:cs typeface="Times New Roman" panose="02020603050405020304" pitchFamily="18" charset="0"/>
              </a:rPr>
              <a:t>以上电阻器大部分在其表面上以符号标注处材料类型。</a:t>
            </a:r>
            <a:endParaRPr lang="en-US" altLang="zh-CN" sz="2000" dirty="0">
              <a:solidFill>
                <a:prstClr val="black"/>
              </a:solidFill>
              <a:latin typeface="Times New Roman" panose="02020603050405020304" pitchFamily="18" charset="0"/>
              <a:ea typeface="Adobe 黑体 Std R" panose="020B0400000000000000" pitchFamily="34" charset="-122"/>
              <a:cs typeface="Times New Roman" panose="02020603050405020304" pitchFamily="18" charset="0"/>
            </a:endParaRPr>
          </a:p>
          <a:p>
            <a:pPr>
              <a:spcBef>
                <a:spcPct val="20000"/>
              </a:spcBef>
              <a:buClr>
                <a:prstClr val="black"/>
              </a:buClr>
              <a:buSzPct val="80000"/>
              <a:defRPr/>
            </a:pPr>
            <a:endParaRPr lang="en-US" altLang="zh-CN" sz="2000" dirty="0">
              <a:solidFill>
                <a:prstClr val="black"/>
              </a:solidFill>
              <a:latin typeface="Times New Roman" panose="02020603050405020304" pitchFamily="18" charset="0"/>
              <a:ea typeface="Adobe 黑体 Std R" panose="020B0400000000000000" pitchFamily="34" charset="-122"/>
              <a:cs typeface="Times New Roman" panose="02020603050405020304" pitchFamily="18" charset="0"/>
            </a:endParaRPr>
          </a:p>
          <a:p>
            <a:pPr>
              <a:spcBef>
                <a:spcPct val="20000"/>
              </a:spcBef>
              <a:buClr>
                <a:prstClr val="black"/>
              </a:buClr>
              <a:buSzPct val="80000"/>
              <a:defRPr/>
            </a:pPr>
            <a:endParaRPr lang="en-US" altLang="zh-CN" sz="2000" dirty="0">
              <a:solidFill>
                <a:prstClr val="black"/>
              </a:solidFill>
              <a:latin typeface="Times New Roman" panose="02020603050405020304" pitchFamily="18" charset="0"/>
              <a:ea typeface="Adobe 黑体 Std R" panose="020B0400000000000000" pitchFamily="34" charset="-122"/>
              <a:cs typeface="Times New Roman" panose="02020603050405020304" pitchFamily="18" charset="0"/>
            </a:endParaRPr>
          </a:p>
          <a:p>
            <a:pPr>
              <a:spcBef>
                <a:spcPct val="20000"/>
              </a:spcBef>
              <a:buClr>
                <a:prstClr val="black"/>
              </a:buClr>
              <a:buSzPct val="80000"/>
              <a:defRPr/>
            </a:pPr>
            <a:endParaRPr lang="en-US" altLang="zh-CN" sz="2000" dirty="0">
              <a:solidFill>
                <a:prstClr val="black"/>
              </a:solidFill>
              <a:latin typeface="Times New Roman" panose="02020603050405020304" pitchFamily="18" charset="0"/>
              <a:ea typeface="Adobe 黑体 Std R" panose="020B0400000000000000" pitchFamily="34" charset="-122"/>
              <a:cs typeface="Times New Roman" panose="02020603050405020304" pitchFamily="18" charset="0"/>
            </a:endParaRPr>
          </a:p>
          <a:p>
            <a:pPr>
              <a:spcBef>
                <a:spcPct val="20000"/>
              </a:spcBef>
              <a:buClr>
                <a:prstClr val="black"/>
              </a:buClr>
              <a:buSzPct val="80000"/>
              <a:defRPr/>
            </a:pPr>
            <a:endParaRPr lang="en-US" altLang="zh-CN" sz="2000" dirty="0">
              <a:solidFill>
                <a:prstClr val="black"/>
              </a:solidFill>
              <a:latin typeface="Times New Roman" panose="02020603050405020304" pitchFamily="18" charset="0"/>
              <a:ea typeface="Adobe 黑体 Std R" panose="020B0400000000000000" pitchFamily="34" charset="-122"/>
              <a:cs typeface="Times New Roman" panose="02020603050405020304" pitchFamily="18" charset="0"/>
            </a:endParaRPr>
          </a:p>
          <a:p>
            <a:pPr>
              <a:spcBef>
                <a:spcPct val="20000"/>
              </a:spcBef>
              <a:buClr>
                <a:prstClr val="black"/>
              </a:buClr>
              <a:buSzPct val="80000"/>
              <a:defRPr/>
            </a:pPr>
            <a:endParaRPr lang="en-US" altLang="zh-CN" sz="2000" dirty="0">
              <a:solidFill>
                <a:prstClr val="black"/>
              </a:solidFill>
              <a:latin typeface="Times New Roman" panose="02020603050405020304" pitchFamily="18" charset="0"/>
              <a:ea typeface="Adobe 黑体 Std R" panose="020B0400000000000000" pitchFamily="34" charset="-122"/>
              <a:cs typeface="Times New Roman" panose="02020603050405020304" pitchFamily="18" charset="0"/>
            </a:endParaRPr>
          </a:p>
          <a:p>
            <a:pPr>
              <a:spcBef>
                <a:spcPct val="20000"/>
              </a:spcBef>
              <a:buClr>
                <a:schemeClr val="tx1"/>
              </a:buClr>
              <a:buSzPct val="80000"/>
            </a:pPr>
            <a:endParaRPr lang="en-US" altLang="zh-CN" dirty="0">
              <a:latin typeface="华文行楷" pitchFamily="2" charset="-122"/>
              <a:ea typeface="华文行楷" pitchFamily="2" charset="-122"/>
            </a:endParaRPr>
          </a:p>
        </p:txBody>
      </p:sp>
      <p:pic>
        <p:nvPicPr>
          <p:cNvPr id="3" name="图片 2">
            <a:extLst>
              <a:ext uri="{FF2B5EF4-FFF2-40B4-BE49-F238E27FC236}">
                <a16:creationId xmlns:a16="http://schemas.microsoft.com/office/drawing/2014/main" id="{1E3D7DF9-E0B4-E74B-C5F3-E7C306E28210}"/>
              </a:ext>
            </a:extLst>
          </p:cNvPr>
          <p:cNvPicPr>
            <a:picLocks noChangeAspect="1"/>
          </p:cNvPicPr>
          <p:nvPr/>
        </p:nvPicPr>
        <p:blipFill>
          <a:blip r:embed="rId2"/>
          <a:stretch>
            <a:fillRect/>
          </a:stretch>
        </p:blipFill>
        <p:spPr>
          <a:xfrm>
            <a:off x="618960" y="3284984"/>
            <a:ext cx="7812360" cy="2133202"/>
          </a:xfrm>
          <a:prstGeom prst="rect">
            <a:avLst/>
          </a:prstGeom>
        </p:spPr>
      </p:pic>
    </p:spTree>
    <p:extLst>
      <p:ext uri="{BB962C8B-B14F-4D97-AF65-F5344CB8AC3E}">
        <p14:creationId xmlns:p14="http://schemas.microsoft.com/office/powerpoint/2010/main" val="9763640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8D350591-01C4-3F0C-E898-A8D3FFBB4DB8}"/>
              </a:ext>
            </a:extLst>
          </p:cNvPr>
          <p:cNvSpPr>
            <a:spLocks noGrp="1"/>
          </p:cNvSpPr>
          <p:nvPr>
            <p:ph type="sldNum" sz="quarter" idx="12"/>
          </p:nvPr>
        </p:nvSpPr>
        <p:spPr/>
        <p:txBody>
          <a:bodyPr/>
          <a:lstStyle/>
          <a:p>
            <a:pPr>
              <a:defRPr/>
            </a:pPr>
            <a:fld id="{5FAFB815-62BA-464E-901C-79D108092E38}" type="slidenum">
              <a:rPr lang="zh-CN" altLang="en-US" smtClean="0"/>
              <a:pPr>
                <a:defRPr/>
              </a:pPr>
              <a:t>28</a:t>
            </a:fld>
            <a:endParaRPr lang="en-US" altLang="zh-CN"/>
          </a:p>
        </p:txBody>
      </p:sp>
      <p:sp>
        <p:nvSpPr>
          <p:cNvPr id="4" name="文本框 3">
            <a:extLst>
              <a:ext uri="{FF2B5EF4-FFF2-40B4-BE49-F238E27FC236}">
                <a16:creationId xmlns:a16="http://schemas.microsoft.com/office/drawing/2014/main" id="{2B2958F4-486A-2373-27DB-1D061A242C86}"/>
              </a:ext>
            </a:extLst>
          </p:cNvPr>
          <p:cNvSpPr txBox="1"/>
          <p:nvPr/>
        </p:nvSpPr>
        <p:spPr>
          <a:xfrm>
            <a:off x="899592" y="1052736"/>
            <a:ext cx="7416824" cy="1803571"/>
          </a:xfrm>
          <a:prstGeom prst="rect">
            <a:avLst/>
          </a:prstGeom>
          <a:noFill/>
        </p:spPr>
        <p:txBody>
          <a:bodyPr wrap="square">
            <a:spAutoFit/>
          </a:bodyPr>
          <a:lstStyle/>
          <a:p>
            <a:pPr indent="-285750">
              <a:spcBef>
                <a:spcPct val="20000"/>
              </a:spcBef>
              <a:buClr>
                <a:schemeClr val="tx1"/>
              </a:buClr>
              <a:buSzPct val="80000"/>
              <a:buBlip>
                <a:blip r:embed="rId2"/>
              </a:buBlip>
            </a:pPr>
            <a:r>
              <a:rPr lang="zh-CN" altLang="en-US" sz="3200" dirty="0">
                <a:latin typeface="华文行楷" pitchFamily="2" charset="-122"/>
                <a:ea typeface="华文行楷" pitchFamily="2" charset="-122"/>
              </a:rPr>
              <a:t>色标法</a:t>
            </a:r>
            <a:endParaRPr lang="en-US" altLang="zh-CN" sz="3200" dirty="0">
              <a:latin typeface="华文行楷" pitchFamily="2" charset="-122"/>
              <a:ea typeface="华文行楷" pitchFamily="2" charset="-122"/>
            </a:endParaRPr>
          </a:p>
          <a:p>
            <a:pPr>
              <a:spcBef>
                <a:spcPct val="20000"/>
              </a:spcBef>
              <a:buClr>
                <a:schemeClr val="tx1"/>
              </a:buClr>
              <a:buSzPct val="80000"/>
            </a:pPr>
            <a:r>
              <a:rPr lang="zh-CN" altLang="en-US" dirty="0"/>
              <a:t>    目前国标上普遍流行色环标识电阻，色环在电阻器上有不同的含义，它具有简单、直观、方便等特点。色环电阻中最常见的是四环电阻和五环电阻。</a:t>
            </a:r>
          </a:p>
          <a:p>
            <a:pPr>
              <a:spcBef>
                <a:spcPct val="20000"/>
              </a:spcBef>
              <a:buClr>
                <a:schemeClr val="tx1"/>
              </a:buClr>
              <a:buSzPct val="80000"/>
              <a:buBlip>
                <a:blip r:embed="rId2"/>
              </a:buBlip>
            </a:pPr>
            <a:endParaRPr lang="en-US" altLang="zh-CN" sz="1800" dirty="0">
              <a:latin typeface="华文行楷" pitchFamily="2" charset="-122"/>
              <a:ea typeface="华文行楷" pitchFamily="2" charset="-122"/>
            </a:endParaRPr>
          </a:p>
        </p:txBody>
      </p:sp>
      <p:pic>
        <p:nvPicPr>
          <p:cNvPr id="5122" name="Picture 2">
            <a:extLst>
              <a:ext uri="{FF2B5EF4-FFF2-40B4-BE49-F238E27FC236}">
                <a16:creationId xmlns:a16="http://schemas.microsoft.com/office/drawing/2014/main" id="{E8DF5EEE-8410-FFAB-5CC5-4211F16B5441}"/>
              </a:ext>
            </a:extLst>
          </p:cNvPr>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9512" y="2636912"/>
            <a:ext cx="4104456" cy="1693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3">
            <a:extLst>
              <a:ext uri="{FF2B5EF4-FFF2-40B4-BE49-F238E27FC236}">
                <a16:creationId xmlns:a16="http://schemas.microsoft.com/office/drawing/2014/main" id="{EFCC3A1F-4FD5-C795-1C09-8212C28CC1FE}"/>
              </a:ext>
            </a:extLst>
          </p:cNvPr>
          <p:cNvSpPr txBox="1">
            <a:spLocks noChangeArrowheads="1"/>
          </p:cNvSpPr>
          <p:nvPr/>
        </p:nvSpPr>
        <p:spPr>
          <a:xfrm>
            <a:off x="4427983" y="2276872"/>
            <a:ext cx="4716017" cy="3672408"/>
          </a:xfrm>
          <a:prstGeom prst="rect">
            <a:avLst/>
          </a:prstGeom>
        </p:spPr>
        <p:txBody>
          <a:bodyPr vert="horz" lIns="91440" tIns="45720" rIns="91440" bIns="45720" rtlCol="0" anchor="t">
            <a:normAutofit/>
          </a:bodyPr>
          <a:lstStyle>
            <a:lvl1pPr marL="228600" indent="-228600" algn="l" defTabSz="685800" rtl="0" eaLnBrk="1" latinLnBrk="0" hangingPunct="1">
              <a:lnSpc>
                <a:spcPct val="120000"/>
              </a:lnSpc>
              <a:spcBef>
                <a:spcPts val="1000"/>
              </a:spcBef>
              <a:buClr>
                <a:schemeClr val="accent1"/>
              </a:buClr>
              <a:buSzPct val="100000"/>
              <a:buFont typeface="Arial" panose="020B0604020202020204" pitchFamily="34" charset="0"/>
              <a:buChar char="•"/>
              <a:defRPr sz="2000" kern="1200" cap="none">
                <a:solidFill>
                  <a:schemeClr val="tx1"/>
                </a:solidFill>
                <a:effectLst/>
                <a:latin typeface="+mn-lt"/>
                <a:ea typeface="+mn-ea"/>
                <a:cs typeface="+mn-cs"/>
              </a:defRPr>
            </a:lvl1pPr>
            <a:lvl2pPr marL="6858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baseline="0">
                <a:solidFill>
                  <a:schemeClr val="tx1"/>
                </a:solidFill>
                <a:effectLst/>
                <a:latin typeface="+mn-lt"/>
                <a:ea typeface="+mn-ea"/>
                <a:cs typeface="+mn-cs"/>
              </a:defRPr>
            </a:lvl2pPr>
            <a:lvl3pPr marL="11430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a:solidFill>
                  <a:schemeClr val="tx1"/>
                </a:solidFill>
                <a:effectLst/>
                <a:latin typeface="+mn-lt"/>
                <a:ea typeface="+mn-ea"/>
                <a:cs typeface="+mn-cs"/>
              </a:defRPr>
            </a:lvl3pPr>
            <a:lvl4pPr marL="16002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200" kern="1200" cap="none">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a:lnSpc>
                <a:spcPct val="90000"/>
              </a:lnSpc>
              <a:buFont typeface="Wingdings" pitchFamily="2" charset="2"/>
              <a:buNone/>
            </a:pPr>
            <a:r>
              <a:rPr lang="zh-CN" altLang="en-US" sz="2400" dirty="0">
                <a:latin typeface="华文行楷" pitchFamily="2" charset="-122"/>
                <a:ea typeface="华文行楷" pitchFamily="2" charset="-122"/>
              </a:rPr>
              <a:t>色环法</a:t>
            </a:r>
            <a:r>
              <a:rPr lang="zh-CN" altLang="en-US" sz="2400" dirty="0">
                <a:ea typeface="华文行楷" pitchFamily="2" charset="-122"/>
              </a:rPr>
              <a:t>规则</a:t>
            </a:r>
            <a:r>
              <a:rPr lang="zh-CN" altLang="en-US" sz="2400" dirty="0">
                <a:ea typeface="楷体_GB2312" pitchFamily="49" charset="-122"/>
              </a:rPr>
              <a:t>：</a:t>
            </a:r>
          </a:p>
          <a:p>
            <a:pPr>
              <a:lnSpc>
                <a:spcPct val="90000"/>
              </a:lnSpc>
              <a:buClr>
                <a:schemeClr val="tx1"/>
              </a:buClr>
              <a:buFont typeface="Wingdings" pitchFamily="2" charset="2"/>
              <a:buNone/>
            </a:pPr>
            <a:r>
              <a:rPr lang="zh-CN" altLang="en-US" sz="1600" dirty="0">
                <a:latin typeface="宋体" pitchFamily="2" charset="-122"/>
              </a:rPr>
              <a:t>  </a:t>
            </a:r>
            <a:r>
              <a:rPr lang="zh-CN" altLang="en-US" dirty="0">
                <a:solidFill>
                  <a:srgbClr val="C00000"/>
                </a:solidFill>
                <a:latin typeface="宋体" pitchFamily="2" charset="-122"/>
              </a:rPr>
              <a:t>四色环表示阻值</a:t>
            </a:r>
            <a:r>
              <a:rPr lang="zh-CN" altLang="en-US" dirty="0">
                <a:latin typeface="宋体" pitchFamily="2" charset="-122"/>
              </a:rPr>
              <a:t>，其中前三条色环（从最靠近引脚的色环数起）标明两位有效数字倍率，第</a:t>
            </a:r>
            <a:r>
              <a:rPr lang="en-US" altLang="zh-CN" dirty="0">
                <a:latin typeface="楷体_GB2312" pitchFamily="49" charset="-122"/>
                <a:ea typeface="楷体_GB2312" pitchFamily="49" charset="-122"/>
              </a:rPr>
              <a:t>4</a:t>
            </a:r>
            <a:r>
              <a:rPr lang="zh-CN" altLang="en-US" dirty="0">
                <a:latin typeface="宋体" pitchFamily="2" charset="-122"/>
              </a:rPr>
              <a:t>位表示误差范围（用金、银色表示），适用于普通电阻。</a:t>
            </a:r>
            <a:endParaRPr lang="en-US" altLang="zh-CN" dirty="0">
              <a:latin typeface="宋体" pitchFamily="2" charset="-122"/>
            </a:endParaRPr>
          </a:p>
          <a:p>
            <a:pPr>
              <a:lnSpc>
                <a:spcPct val="90000"/>
              </a:lnSpc>
              <a:buClr>
                <a:schemeClr val="tx1"/>
              </a:buClr>
              <a:buFont typeface="Wingdings" pitchFamily="2" charset="2"/>
              <a:buNone/>
            </a:pPr>
            <a:endParaRPr lang="en-US" altLang="zh-CN" dirty="0">
              <a:latin typeface="宋体" pitchFamily="2" charset="-122"/>
            </a:endParaRPr>
          </a:p>
          <a:p>
            <a:pPr>
              <a:lnSpc>
                <a:spcPct val="90000"/>
              </a:lnSpc>
              <a:buClr>
                <a:schemeClr val="tx1"/>
              </a:buClr>
              <a:buFont typeface="Wingdings" pitchFamily="2" charset="2"/>
              <a:buNone/>
            </a:pPr>
            <a:r>
              <a:rPr lang="zh-CN" altLang="en-US" sz="2000" b="0" dirty="0">
                <a:latin typeface="宋体" pitchFamily="2" charset="-122"/>
              </a:rPr>
              <a:t>  </a:t>
            </a:r>
            <a:endParaRPr lang="en-US" altLang="zh-CN" sz="2000" b="0" dirty="0">
              <a:latin typeface="宋体" pitchFamily="2" charset="-122"/>
            </a:endParaRPr>
          </a:p>
          <a:p>
            <a:pPr>
              <a:lnSpc>
                <a:spcPct val="90000"/>
              </a:lnSpc>
              <a:buClr>
                <a:schemeClr val="tx1"/>
              </a:buClr>
              <a:buFont typeface="Wingdings" pitchFamily="2" charset="2"/>
              <a:buNone/>
            </a:pPr>
            <a:r>
              <a:rPr lang="en-US" altLang="zh-CN" dirty="0">
                <a:solidFill>
                  <a:srgbClr val="C00000"/>
                </a:solidFill>
                <a:latin typeface="宋体" pitchFamily="2" charset="-122"/>
              </a:rPr>
              <a:t>  </a:t>
            </a:r>
            <a:r>
              <a:rPr lang="zh-CN" altLang="en-US" sz="2000" b="0" dirty="0">
                <a:solidFill>
                  <a:srgbClr val="C00000"/>
                </a:solidFill>
                <a:latin typeface="宋体" pitchFamily="2" charset="-122"/>
              </a:rPr>
              <a:t>精密电阻用五色环表示阻值</a:t>
            </a:r>
            <a:r>
              <a:rPr lang="zh-CN" altLang="en-US" sz="2000" b="0" dirty="0">
                <a:latin typeface="宋体" pitchFamily="2" charset="-122"/>
              </a:rPr>
              <a:t>，前三条表示有效数，第</a:t>
            </a:r>
            <a:r>
              <a:rPr lang="en-US" altLang="zh-CN" sz="2000" b="0" dirty="0">
                <a:latin typeface="楷体_GB2312" pitchFamily="49" charset="-122"/>
                <a:ea typeface="楷体_GB2312" pitchFamily="49" charset="-122"/>
              </a:rPr>
              <a:t>4</a:t>
            </a:r>
            <a:r>
              <a:rPr lang="zh-CN" altLang="en-US" sz="2000" b="0" dirty="0">
                <a:latin typeface="宋体" pitchFamily="2" charset="-122"/>
              </a:rPr>
              <a:t>条表示倍率，第</a:t>
            </a:r>
            <a:r>
              <a:rPr lang="en-US" altLang="zh-CN" sz="2000" b="0" dirty="0">
                <a:latin typeface="楷体_GB2312" pitchFamily="49" charset="-122"/>
                <a:ea typeface="楷体_GB2312" pitchFamily="49" charset="-122"/>
              </a:rPr>
              <a:t>5</a:t>
            </a:r>
            <a:r>
              <a:rPr lang="zh-CN" altLang="en-US" sz="2000" b="0" dirty="0">
                <a:latin typeface="宋体" pitchFamily="2" charset="-122"/>
              </a:rPr>
              <a:t>条表误差范围，适用于精密电阻。</a:t>
            </a:r>
            <a:endParaRPr lang="zh-CN" altLang="en-US" dirty="0">
              <a:latin typeface="宋体" pitchFamily="2" charset="-122"/>
            </a:endParaRPr>
          </a:p>
        </p:txBody>
      </p:sp>
      <p:graphicFrame>
        <p:nvGraphicFramePr>
          <p:cNvPr id="8" name="Object 4">
            <a:extLst>
              <a:ext uri="{FF2B5EF4-FFF2-40B4-BE49-F238E27FC236}">
                <a16:creationId xmlns:a16="http://schemas.microsoft.com/office/drawing/2014/main" id="{D7E7C52C-78DD-CB6B-0325-8724D05A41CD}"/>
              </a:ext>
            </a:extLst>
          </p:cNvPr>
          <p:cNvGraphicFramePr>
            <a:graphicFrameLocks noChangeAspect="1"/>
          </p:cNvGraphicFramePr>
          <p:nvPr>
            <p:extLst>
              <p:ext uri="{D42A27DB-BD31-4B8C-83A1-F6EECF244321}">
                <p14:modId xmlns:p14="http://schemas.microsoft.com/office/powerpoint/2010/main" val="3602579022"/>
              </p:ext>
            </p:extLst>
          </p:nvPr>
        </p:nvGraphicFramePr>
        <p:xfrm>
          <a:off x="5364088" y="3926661"/>
          <a:ext cx="2802020" cy="806931"/>
        </p:xfrm>
        <a:graphic>
          <a:graphicData uri="http://schemas.openxmlformats.org/presentationml/2006/ole">
            <mc:AlternateContent xmlns:mc="http://schemas.openxmlformats.org/markup-compatibility/2006">
              <mc:Choice xmlns:v="urn:schemas-microsoft-com:vml" Requires="v">
                <p:oleObj r:id="rId4" imgW="2448267" imgH="704948" progId="PBrush">
                  <p:embed/>
                </p:oleObj>
              </mc:Choice>
              <mc:Fallback>
                <p:oleObj r:id="rId4" imgW="2448267" imgH="704948" progId="PBrush">
                  <p:embed/>
                  <p:pic>
                    <p:nvPicPr>
                      <p:cNvPr id="3994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64088" y="3926661"/>
                        <a:ext cx="2802020" cy="806931"/>
                      </a:xfrm>
                      <a:prstGeom prst="rect">
                        <a:avLst/>
                      </a:prstGeom>
                      <a:noFill/>
                    </p:spPr>
                  </p:pic>
                </p:oleObj>
              </mc:Fallback>
            </mc:AlternateContent>
          </a:graphicData>
        </a:graphic>
      </p:graphicFrame>
      <p:graphicFrame>
        <p:nvGraphicFramePr>
          <p:cNvPr id="9" name="Object 4">
            <a:extLst>
              <a:ext uri="{FF2B5EF4-FFF2-40B4-BE49-F238E27FC236}">
                <a16:creationId xmlns:a16="http://schemas.microsoft.com/office/drawing/2014/main" id="{E83F1337-6146-D91A-C0B5-27828489EB9A}"/>
              </a:ext>
            </a:extLst>
          </p:cNvPr>
          <p:cNvGraphicFramePr>
            <a:graphicFrameLocks noChangeAspect="1"/>
          </p:cNvGraphicFramePr>
          <p:nvPr>
            <p:extLst>
              <p:ext uri="{D42A27DB-BD31-4B8C-83A1-F6EECF244321}">
                <p14:modId xmlns:p14="http://schemas.microsoft.com/office/powerpoint/2010/main" val="1840800733"/>
              </p:ext>
            </p:extLst>
          </p:nvPr>
        </p:nvGraphicFramePr>
        <p:xfrm>
          <a:off x="899592" y="4941168"/>
          <a:ext cx="2630037" cy="647476"/>
        </p:xfrm>
        <a:graphic>
          <a:graphicData uri="http://schemas.openxmlformats.org/presentationml/2006/ole">
            <mc:AlternateContent xmlns:mc="http://schemas.openxmlformats.org/markup-compatibility/2006">
              <mc:Choice xmlns:v="urn:schemas-microsoft-com:vml" Requires="v">
                <p:oleObj r:id="rId6" imgW="2419048" imgH="714286" progId="PBrush">
                  <p:embed/>
                </p:oleObj>
              </mc:Choice>
              <mc:Fallback>
                <p:oleObj r:id="rId6" imgW="2419048" imgH="714286" progId="PBrush">
                  <p:embed/>
                  <p:pic>
                    <p:nvPicPr>
                      <p:cNvPr id="40964"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99592" y="4941168"/>
                        <a:ext cx="2630037" cy="647476"/>
                      </a:xfrm>
                      <a:prstGeom prst="rect">
                        <a:avLst/>
                      </a:prstGeom>
                      <a:noFill/>
                    </p:spPr>
                  </p:pic>
                </p:oleObj>
              </mc:Fallback>
            </mc:AlternateContent>
          </a:graphicData>
        </a:graphic>
      </p:graphicFrame>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080" name="Rectangle 96"/>
          <p:cNvSpPr>
            <a:spLocks noGrp="1" noChangeArrowheads="1"/>
          </p:cNvSpPr>
          <p:nvPr>
            <p:ph type="ctrTitle"/>
          </p:nvPr>
        </p:nvSpPr>
        <p:spPr>
          <a:xfrm>
            <a:off x="1043607" y="194182"/>
            <a:ext cx="2448272" cy="503578"/>
          </a:xfrm>
          <a:ln/>
        </p:spPr>
        <p:txBody>
          <a:bodyPr>
            <a:normAutofit fontScale="90000"/>
          </a:bodyPr>
          <a:lstStyle/>
          <a:p>
            <a:r>
              <a:rPr lang="zh-CN" altLang="en-US" sz="3200" dirty="0">
                <a:solidFill>
                  <a:schemeClr val="tx1"/>
                </a:solidFill>
                <a:ea typeface="华文行楷" pitchFamily="2" charset="-122"/>
              </a:rPr>
              <a:t>四色环表示法</a:t>
            </a:r>
            <a:endParaRPr lang="zh-CN" altLang="en-US" dirty="0">
              <a:ea typeface="华文行楷" pitchFamily="2" charset="-122"/>
            </a:endParaRPr>
          </a:p>
        </p:txBody>
      </p:sp>
      <p:sp>
        <p:nvSpPr>
          <p:cNvPr id="41986" name="Rectangle 2"/>
          <p:cNvSpPr>
            <a:spLocks noGrp="1" noChangeArrowheads="1"/>
          </p:cNvSpPr>
          <p:nvPr>
            <p:ph type="subTitle" idx="1"/>
          </p:nvPr>
        </p:nvSpPr>
        <p:spPr>
          <a:xfrm>
            <a:off x="914400" y="1219200"/>
            <a:ext cx="7391400" cy="3124200"/>
          </a:xfrm>
        </p:spPr>
        <p:txBody>
          <a:bodyPr/>
          <a:lstStyle/>
          <a:p>
            <a:pPr algn="l">
              <a:buClr>
                <a:schemeClr val="tx1"/>
              </a:buClr>
              <a:buFont typeface="Wingdings" pitchFamily="2" charset="2"/>
              <a:buChar char="Ø"/>
            </a:pPr>
            <a:endParaRPr lang="zh-CN" altLang="en-US" sz="2400">
              <a:latin typeface="宋体" pitchFamily="2" charset="-122"/>
            </a:endParaRPr>
          </a:p>
          <a:p>
            <a:pPr algn="l">
              <a:buClr>
                <a:schemeClr val="tx1"/>
              </a:buClr>
              <a:buFont typeface="Wingdings" pitchFamily="2" charset="2"/>
              <a:buChar char="Ø"/>
            </a:pPr>
            <a:endParaRPr lang="zh-CN" altLang="en-US" sz="2400">
              <a:latin typeface="宋体" pitchFamily="2" charset="-122"/>
            </a:endParaRPr>
          </a:p>
          <a:p>
            <a:pPr algn="l">
              <a:buClr>
                <a:schemeClr val="tx1"/>
              </a:buClr>
              <a:buFont typeface="Wingdings" pitchFamily="2" charset="2"/>
              <a:buChar char="Ø"/>
            </a:pPr>
            <a:endParaRPr lang="zh-CN" altLang="en-US" sz="2400">
              <a:latin typeface="华文行楷" pitchFamily="2" charset="-122"/>
              <a:ea typeface="华文行楷" pitchFamily="2" charset="-122"/>
            </a:endParaRPr>
          </a:p>
          <a:p>
            <a:pPr algn="l">
              <a:buClr>
                <a:schemeClr val="tx1"/>
              </a:buClr>
              <a:buFont typeface="Wingdings" pitchFamily="2" charset="2"/>
              <a:buBlip>
                <a:blip r:embed="rId2"/>
              </a:buBlip>
            </a:pPr>
            <a:endParaRPr lang="zh-CN" altLang="en-US" sz="2400">
              <a:latin typeface="华文行楷" pitchFamily="2" charset="-122"/>
              <a:ea typeface="华文行楷" pitchFamily="2" charset="-122"/>
            </a:endParaRPr>
          </a:p>
          <a:p>
            <a:pPr algn="l">
              <a:buClr>
                <a:schemeClr val="tx1"/>
              </a:buClr>
              <a:buFont typeface="Wingdings" pitchFamily="2" charset="2"/>
              <a:buBlip>
                <a:blip r:embed="rId2"/>
              </a:buBlip>
            </a:pPr>
            <a:endParaRPr lang="zh-CN" altLang="en-US">
              <a:latin typeface="华文行楷" pitchFamily="2" charset="-122"/>
              <a:ea typeface="华文行楷" pitchFamily="2" charset="-122"/>
            </a:endParaRPr>
          </a:p>
          <a:p>
            <a:pPr algn="l">
              <a:buClr>
                <a:schemeClr val="tx1"/>
              </a:buClr>
            </a:pPr>
            <a:endParaRPr lang="zh-CN" altLang="en-US">
              <a:latin typeface="华文行楷" pitchFamily="2" charset="-122"/>
              <a:ea typeface="华文行楷" pitchFamily="2" charset="-122"/>
            </a:endParaRPr>
          </a:p>
        </p:txBody>
      </p:sp>
      <p:sp>
        <p:nvSpPr>
          <p:cNvPr id="2" name="灯片编号占位符 1">
            <a:extLst>
              <a:ext uri="{FF2B5EF4-FFF2-40B4-BE49-F238E27FC236}">
                <a16:creationId xmlns:a16="http://schemas.microsoft.com/office/drawing/2014/main" id="{26B837D9-3D25-A702-F387-1FE4F1907405}"/>
              </a:ext>
            </a:extLst>
          </p:cNvPr>
          <p:cNvSpPr>
            <a:spLocks noGrp="1"/>
          </p:cNvSpPr>
          <p:nvPr>
            <p:ph type="sldNum" sz="quarter" idx="12"/>
          </p:nvPr>
        </p:nvSpPr>
        <p:spPr/>
        <p:txBody>
          <a:bodyPr/>
          <a:lstStyle/>
          <a:p>
            <a:pPr>
              <a:defRPr/>
            </a:pPr>
            <a:fld id="{47A4CA45-135E-4AE6-A55B-F30C83FDB90E}" type="slidenum">
              <a:rPr lang="zh-CN" altLang="en-US" smtClean="0"/>
              <a:pPr>
                <a:defRPr/>
              </a:pPr>
              <a:t>29</a:t>
            </a:fld>
            <a:endParaRPr lang="en-US" altLang="zh-CN"/>
          </a:p>
        </p:txBody>
      </p:sp>
      <p:sp>
        <p:nvSpPr>
          <p:cNvPr id="41987" name="Rectangle 3"/>
          <p:cNvSpPr>
            <a:spLocks noChangeArrowheads="1"/>
          </p:cNvSpPr>
          <p:nvPr/>
        </p:nvSpPr>
        <p:spPr bwMode="auto">
          <a:xfrm>
            <a:off x="1066800" y="4876800"/>
            <a:ext cx="7543800" cy="838200"/>
          </a:xfrm>
          <a:prstGeom prst="rect">
            <a:avLst/>
          </a:prstGeom>
          <a:noFill/>
          <a:ln w="9525">
            <a:noFill/>
            <a:miter lim="800000"/>
            <a:headEnd/>
            <a:tailEnd/>
          </a:ln>
          <a:effectLst/>
        </p:spPr>
        <p:txBody>
          <a:bodyPr/>
          <a:lstStyle/>
          <a:p>
            <a:pPr lvl="1">
              <a:spcBef>
                <a:spcPct val="20000"/>
              </a:spcBef>
              <a:buFontTx/>
              <a:buChar char="•"/>
            </a:pPr>
            <a:endParaRPr lang="zh-CN" altLang="en-US">
              <a:latin typeface="华文行楷" pitchFamily="2" charset="-122"/>
              <a:ea typeface="华文行楷" pitchFamily="2" charset="-122"/>
            </a:endParaRPr>
          </a:p>
        </p:txBody>
      </p:sp>
      <p:graphicFrame>
        <p:nvGraphicFramePr>
          <p:cNvPr id="41988" name="Group 4"/>
          <p:cNvGraphicFramePr>
            <a:graphicFrameLocks noGrp="1"/>
          </p:cNvGraphicFramePr>
          <p:nvPr>
            <p:extLst>
              <p:ext uri="{D42A27DB-BD31-4B8C-83A1-F6EECF244321}">
                <p14:modId xmlns:p14="http://schemas.microsoft.com/office/powerpoint/2010/main" val="1943380101"/>
              </p:ext>
            </p:extLst>
          </p:nvPr>
        </p:nvGraphicFramePr>
        <p:xfrm>
          <a:off x="251520" y="842254"/>
          <a:ext cx="4032447" cy="5017604"/>
        </p:xfrm>
        <a:graphic>
          <a:graphicData uri="http://schemas.openxmlformats.org/drawingml/2006/table">
            <a:tbl>
              <a:tblPr/>
              <a:tblGrid>
                <a:gridCol w="648071">
                  <a:extLst>
                    <a:ext uri="{9D8B030D-6E8A-4147-A177-3AD203B41FA5}">
                      <a16:colId xmlns:a16="http://schemas.microsoft.com/office/drawing/2014/main" val="20000"/>
                    </a:ext>
                  </a:extLst>
                </a:gridCol>
                <a:gridCol w="914502">
                  <a:extLst>
                    <a:ext uri="{9D8B030D-6E8A-4147-A177-3AD203B41FA5}">
                      <a16:colId xmlns:a16="http://schemas.microsoft.com/office/drawing/2014/main" val="20001"/>
                    </a:ext>
                  </a:extLst>
                </a:gridCol>
                <a:gridCol w="1008112">
                  <a:extLst>
                    <a:ext uri="{9D8B030D-6E8A-4147-A177-3AD203B41FA5}">
                      <a16:colId xmlns:a16="http://schemas.microsoft.com/office/drawing/2014/main" val="20002"/>
                    </a:ext>
                  </a:extLst>
                </a:gridCol>
                <a:gridCol w="604867">
                  <a:extLst>
                    <a:ext uri="{9D8B030D-6E8A-4147-A177-3AD203B41FA5}">
                      <a16:colId xmlns:a16="http://schemas.microsoft.com/office/drawing/2014/main" val="20003"/>
                    </a:ext>
                  </a:extLst>
                </a:gridCol>
                <a:gridCol w="856895">
                  <a:extLst>
                    <a:ext uri="{9D8B030D-6E8A-4147-A177-3AD203B41FA5}">
                      <a16:colId xmlns:a16="http://schemas.microsoft.com/office/drawing/2014/main" val="20004"/>
                    </a:ext>
                  </a:extLst>
                </a:gridCol>
              </a:tblGrid>
              <a:tr h="585491">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zh-CN" altLang="en-US" sz="1600" b="0" i="0" u="none" strike="noStrike" cap="none" normalizeH="0" baseline="0">
                          <a:ln>
                            <a:noFill/>
                          </a:ln>
                          <a:solidFill>
                            <a:schemeClr val="tx1"/>
                          </a:solidFill>
                          <a:effectLst/>
                          <a:latin typeface="宋体" pitchFamily="2" charset="-122"/>
                          <a:ea typeface="宋体" pitchFamily="2" charset="-122"/>
                        </a:rPr>
                        <a:t>颜色</a:t>
                      </a:r>
                      <a:r>
                        <a:rPr kumimoji="0" lang="zh-CN" altLang="en-US" sz="1600" b="0" i="0" u="none" strike="noStrike" cap="none" normalizeH="0" baseline="0">
                          <a:ln>
                            <a:noFill/>
                          </a:ln>
                          <a:solidFill>
                            <a:schemeClr val="tx1"/>
                          </a:solidFill>
                          <a:effectLst/>
                          <a:latin typeface="Arial" pitchFamily="34" charset="0"/>
                          <a:ea typeface="宋体" pitchFamily="2" charset="-122"/>
                        </a:rPr>
                        <a:t>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zh-CN" altLang="en-US" sz="1600" b="0" i="0" u="none" strike="noStrike" cap="none" normalizeH="0" baseline="0">
                          <a:ln>
                            <a:noFill/>
                          </a:ln>
                          <a:solidFill>
                            <a:schemeClr val="tx1"/>
                          </a:solidFill>
                          <a:effectLst/>
                          <a:latin typeface="宋体" pitchFamily="2" charset="-122"/>
                          <a:ea typeface="宋体" pitchFamily="2" charset="-122"/>
                        </a:rPr>
                        <a:t>第一有效数</a:t>
                      </a:r>
                      <a:r>
                        <a:rPr kumimoji="0" lang="zh-CN" altLang="en-US" sz="1600" b="0" i="0" u="none" strike="noStrike" cap="none" normalizeH="0" baseline="0">
                          <a:ln>
                            <a:noFill/>
                          </a:ln>
                          <a:solidFill>
                            <a:schemeClr val="tx1"/>
                          </a:solidFill>
                          <a:effectLst/>
                          <a:latin typeface="Arial" pitchFamily="34" charset="0"/>
                          <a:ea typeface="宋体" pitchFamily="2" charset="-122"/>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zh-CN" altLang="en-US" sz="1600" b="0" i="0" u="none" strike="noStrike" cap="none" normalizeH="0" baseline="0">
                          <a:ln>
                            <a:noFill/>
                          </a:ln>
                          <a:solidFill>
                            <a:schemeClr val="tx1"/>
                          </a:solidFill>
                          <a:effectLst/>
                          <a:latin typeface="宋体" pitchFamily="2" charset="-122"/>
                          <a:ea typeface="宋体" pitchFamily="2" charset="-122"/>
                        </a:rPr>
                        <a:t>第二有效数</a:t>
                      </a:r>
                      <a:r>
                        <a:rPr kumimoji="0" lang="zh-CN" altLang="en-US" sz="1600" b="0" i="0" u="none" strike="noStrike" cap="none" normalizeH="0" baseline="0">
                          <a:ln>
                            <a:noFill/>
                          </a:ln>
                          <a:solidFill>
                            <a:schemeClr val="tx1"/>
                          </a:solidFill>
                          <a:effectLst/>
                          <a:latin typeface="Arial" pitchFamily="34" charset="0"/>
                          <a:ea typeface="宋体" pitchFamily="2" charset="-122"/>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zh-CN" altLang="en-US" sz="1600" b="0" i="0" u="none" strike="noStrike" cap="none" normalizeH="0" baseline="0">
                          <a:ln>
                            <a:noFill/>
                          </a:ln>
                          <a:solidFill>
                            <a:schemeClr val="tx1"/>
                          </a:solidFill>
                          <a:effectLst/>
                          <a:latin typeface="宋体" pitchFamily="2" charset="-122"/>
                          <a:ea typeface="宋体" pitchFamily="2" charset="-122"/>
                        </a:rPr>
                        <a:t>倍率</a:t>
                      </a:r>
                      <a:r>
                        <a:rPr kumimoji="0" lang="zh-CN" altLang="en-US" sz="1600" b="0" i="0" u="none" strike="noStrike" cap="none" normalizeH="0" baseline="0">
                          <a:ln>
                            <a:noFill/>
                          </a:ln>
                          <a:solidFill>
                            <a:schemeClr val="tx1"/>
                          </a:solidFill>
                          <a:effectLst/>
                          <a:latin typeface="Arial" pitchFamily="34" charset="0"/>
                          <a:ea typeface="宋体" pitchFamily="2" charset="-122"/>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zh-CN" altLang="en-US" sz="1600" b="0" i="0" u="none" strike="noStrike" cap="none" normalizeH="0" baseline="0" dirty="0">
                          <a:ln>
                            <a:noFill/>
                          </a:ln>
                          <a:solidFill>
                            <a:schemeClr val="tx1"/>
                          </a:solidFill>
                          <a:effectLst/>
                          <a:latin typeface="宋体" pitchFamily="2" charset="-122"/>
                          <a:ea typeface="宋体" pitchFamily="2" charset="-122"/>
                        </a:rPr>
                        <a:t>误差</a:t>
                      </a:r>
                      <a:r>
                        <a:rPr kumimoji="0" lang="zh-CN" altLang="en-US" sz="1600" b="0" i="0" u="none" strike="noStrike" cap="none" normalizeH="0" baseline="0" dirty="0">
                          <a:ln>
                            <a:noFill/>
                          </a:ln>
                          <a:solidFill>
                            <a:schemeClr val="tx1"/>
                          </a:solidFill>
                          <a:effectLst/>
                          <a:latin typeface="Arial" pitchFamily="34" charset="0"/>
                          <a:ea typeface="宋体" pitchFamily="2" charset="-122"/>
                        </a:rPr>
                        <a:t>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38968">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zh-CN" altLang="en-US" sz="1600" b="1" i="0" u="none" strike="noStrike" cap="none" normalizeH="0" baseline="0" dirty="0">
                          <a:ln>
                            <a:noFill/>
                          </a:ln>
                          <a:solidFill>
                            <a:schemeClr val="bg1"/>
                          </a:solidFill>
                          <a:effectLst/>
                          <a:latin typeface="宋体" pitchFamily="2" charset="-122"/>
                          <a:ea typeface="宋体" pitchFamily="2" charset="-122"/>
                        </a:rPr>
                        <a:t>黑</a:t>
                      </a:r>
                      <a:r>
                        <a:rPr kumimoji="0" lang="zh-CN" altLang="en-US" sz="1600" b="0" i="0" u="none" strike="noStrike" cap="none" normalizeH="0" baseline="0" dirty="0">
                          <a:ln>
                            <a:noFill/>
                          </a:ln>
                          <a:solidFill>
                            <a:schemeClr val="bg1"/>
                          </a:solidFill>
                          <a:effectLst/>
                          <a:latin typeface="Arial" pitchFamily="34" charset="0"/>
                          <a:ea typeface="宋体" pitchFamily="2" charset="-122"/>
                        </a:rPr>
                        <a:t>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600" b="1" i="0" u="none" strike="noStrike" cap="none" normalizeH="0" baseline="0">
                          <a:ln>
                            <a:noFill/>
                          </a:ln>
                          <a:solidFill>
                            <a:schemeClr val="tx1"/>
                          </a:solidFill>
                          <a:effectLst/>
                          <a:latin typeface="Arial" pitchFamily="34"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600" b="1" i="0" u="none" strike="noStrike" cap="none" normalizeH="0" baseline="0">
                          <a:ln>
                            <a:noFill/>
                          </a:ln>
                          <a:solidFill>
                            <a:schemeClr val="tx1"/>
                          </a:solidFill>
                          <a:effectLst/>
                          <a:latin typeface="Arial" pitchFamily="34"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600" b="1" i="0" u="none" strike="noStrike" cap="none" normalizeH="0" baseline="0">
                          <a:ln>
                            <a:noFill/>
                          </a:ln>
                          <a:solidFill>
                            <a:schemeClr val="accent2"/>
                          </a:solidFill>
                          <a:effectLst/>
                          <a:latin typeface="Arial" pitchFamily="34" charset="0"/>
                          <a:ea typeface="宋体" pitchFamily="2" charset="-122"/>
                        </a:rPr>
                        <a:t>10</a:t>
                      </a:r>
                      <a:r>
                        <a:rPr kumimoji="0" lang="en-US" sz="1600" b="1" i="0" u="none" strike="noStrike" cap="none" normalizeH="0" baseline="30000">
                          <a:ln>
                            <a:noFill/>
                          </a:ln>
                          <a:solidFill>
                            <a:schemeClr val="accent2"/>
                          </a:solidFill>
                          <a:effectLst/>
                          <a:latin typeface="Arial" pitchFamily="34" charset="0"/>
                          <a:ea typeface="宋体" pitchFamily="2" charset="-122"/>
                        </a:rPr>
                        <a:t>0</a:t>
                      </a:r>
                      <a:r>
                        <a:rPr kumimoji="0" lang="en-US" sz="1600" b="1" i="0" u="none" strike="noStrike" cap="none" normalizeH="0" baseline="0">
                          <a:ln>
                            <a:noFill/>
                          </a:ln>
                          <a:solidFill>
                            <a:schemeClr val="accent2"/>
                          </a:solidFill>
                          <a:effectLst/>
                          <a:latin typeface="Arial" pitchFamily="34" charset="0"/>
                          <a:ea typeface="宋体" pitchFamily="2" charset="-122"/>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altLang="zh-CN" sz="1600" b="1" i="0" u="none" strike="noStrike" cap="none" normalizeH="0" baseline="0" dirty="0">
                          <a:ln>
                            <a:noFill/>
                          </a:ln>
                          <a:solidFill>
                            <a:schemeClr val="tx1"/>
                          </a:solidFill>
                          <a:effectLst/>
                          <a:latin typeface="Arial" pitchFamily="34" charset="0"/>
                          <a:ea typeface="宋体" pitchFamily="2" charset="-122"/>
                        </a:rPr>
                        <a:t>/</a:t>
                      </a:r>
                      <a:endParaRPr kumimoji="0" lang="zh-CN" altLang="en-US" sz="1600" b="1"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38968">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zh-CN" altLang="en-US" sz="1600" b="0" i="0" u="none" strike="noStrike" cap="none" normalizeH="0" baseline="0" dirty="0">
                          <a:ln>
                            <a:noFill/>
                          </a:ln>
                          <a:solidFill>
                            <a:schemeClr val="tx1"/>
                          </a:solidFill>
                          <a:effectLst/>
                          <a:latin typeface="宋体" pitchFamily="2" charset="-122"/>
                          <a:ea typeface="宋体" pitchFamily="2" charset="-122"/>
                        </a:rPr>
                        <a:t>棕</a:t>
                      </a:r>
                      <a:r>
                        <a:rPr kumimoji="0" lang="zh-CN" altLang="en-US" sz="1600" b="0" i="0" u="none" strike="noStrike" cap="none" normalizeH="0" baseline="0" dirty="0">
                          <a:ln>
                            <a:noFill/>
                          </a:ln>
                          <a:solidFill>
                            <a:schemeClr val="tx1"/>
                          </a:solidFill>
                          <a:effectLst/>
                          <a:latin typeface="Arial" pitchFamily="34" charset="0"/>
                          <a:ea typeface="宋体" pitchFamily="2" charset="-122"/>
                        </a:rPr>
                        <a:t>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96600"/>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600" b="1" i="0" u="none" strike="noStrike" cap="none" normalizeH="0" baseline="0">
                          <a:ln>
                            <a:noFill/>
                          </a:ln>
                          <a:solidFill>
                            <a:schemeClr val="tx1"/>
                          </a:solidFill>
                          <a:effectLst/>
                          <a:latin typeface="Arial" pitchFamily="34"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600" b="1" i="0" u="none" strike="noStrike" cap="none" normalizeH="0" baseline="0">
                          <a:ln>
                            <a:noFill/>
                          </a:ln>
                          <a:solidFill>
                            <a:schemeClr val="tx1"/>
                          </a:solidFill>
                          <a:effectLst/>
                          <a:latin typeface="Arial" pitchFamily="34"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600" b="1" i="0" u="none" strike="noStrike" cap="none" normalizeH="0" baseline="0">
                          <a:ln>
                            <a:noFill/>
                          </a:ln>
                          <a:solidFill>
                            <a:schemeClr val="accent2"/>
                          </a:solidFill>
                          <a:effectLst/>
                          <a:latin typeface="Arial" pitchFamily="34" charset="0"/>
                          <a:ea typeface="宋体" pitchFamily="2" charset="-122"/>
                        </a:rPr>
                        <a:t>10</a:t>
                      </a:r>
                      <a:r>
                        <a:rPr kumimoji="0" lang="en-US" sz="1600" b="1" i="0" u="none" strike="noStrike" cap="none" normalizeH="0" baseline="30000">
                          <a:ln>
                            <a:noFill/>
                          </a:ln>
                          <a:solidFill>
                            <a:schemeClr val="accent2"/>
                          </a:solidFill>
                          <a:effectLst/>
                          <a:latin typeface="Arial" pitchFamily="34" charset="0"/>
                          <a:ea typeface="宋体" pitchFamily="2" charset="-122"/>
                        </a:rPr>
                        <a:t>1</a:t>
                      </a:r>
                      <a:endParaRPr kumimoji="0" lang="en-US" sz="1600" b="1" i="0" u="none" strike="noStrike" cap="none" normalizeH="0" baseline="0">
                        <a:ln>
                          <a:noFill/>
                        </a:ln>
                        <a:solidFill>
                          <a:schemeClr val="accent2"/>
                        </a:solidFill>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altLang="zh-CN" sz="1600" b="1" i="0" u="none" strike="noStrike" cap="none" normalizeH="0" baseline="0" dirty="0">
                          <a:ln>
                            <a:noFill/>
                          </a:ln>
                          <a:solidFill>
                            <a:schemeClr val="tx1"/>
                          </a:solidFill>
                          <a:effectLst/>
                          <a:latin typeface="Arial" pitchFamily="34" charset="0"/>
                          <a:ea typeface="宋体" pitchFamily="2" charset="-122"/>
                        </a:rPr>
                        <a:t>±1%</a:t>
                      </a:r>
                      <a:endParaRPr kumimoji="0" lang="zh-CN" altLang="en-US" sz="1600" b="1"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38968">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zh-CN" altLang="en-US" sz="1600" b="0" i="0" u="none" strike="noStrike" cap="none" normalizeH="0" baseline="0" dirty="0">
                          <a:ln>
                            <a:noFill/>
                          </a:ln>
                          <a:solidFill>
                            <a:schemeClr val="tx1"/>
                          </a:solidFill>
                          <a:effectLst/>
                          <a:latin typeface="宋体" pitchFamily="2" charset="-122"/>
                          <a:ea typeface="宋体" pitchFamily="2" charset="-122"/>
                        </a:rPr>
                        <a:t>红</a:t>
                      </a:r>
                      <a:r>
                        <a:rPr kumimoji="0" lang="zh-CN" altLang="en-US" sz="1600" b="0" i="0" u="none" strike="noStrike" cap="none" normalizeH="0" baseline="0" dirty="0">
                          <a:ln>
                            <a:noFill/>
                          </a:ln>
                          <a:solidFill>
                            <a:schemeClr val="tx1"/>
                          </a:solidFill>
                          <a:effectLst/>
                          <a:latin typeface="Arial" pitchFamily="34" charset="0"/>
                          <a:ea typeface="宋体" pitchFamily="2" charset="-122"/>
                        </a:rPr>
                        <a:t>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3300"/>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600" b="1" i="0" u="none" strike="noStrike" cap="none" normalizeH="0" baseline="0">
                          <a:ln>
                            <a:noFill/>
                          </a:ln>
                          <a:solidFill>
                            <a:schemeClr val="tx1"/>
                          </a:solidFill>
                          <a:effectLst/>
                          <a:latin typeface="Arial" pitchFamily="34" charset="0"/>
                          <a:ea typeface="宋体"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600" b="1" i="0" u="none" strike="noStrike" cap="none" normalizeH="0" baseline="0">
                          <a:ln>
                            <a:noFill/>
                          </a:ln>
                          <a:solidFill>
                            <a:schemeClr val="tx1"/>
                          </a:solidFill>
                          <a:effectLst/>
                          <a:latin typeface="Arial" pitchFamily="34" charset="0"/>
                          <a:ea typeface="宋体"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600" b="1" i="0" u="none" strike="noStrike" cap="none" normalizeH="0" baseline="0">
                          <a:ln>
                            <a:noFill/>
                          </a:ln>
                          <a:solidFill>
                            <a:schemeClr val="accent2"/>
                          </a:solidFill>
                          <a:effectLst/>
                          <a:latin typeface="Arial" pitchFamily="34" charset="0"/>
                          <a:ea typeface="宋体" pitchFamily="2" charset="-122"/>
                        </a:rPr>
                        <a:t>10</a:t>
                      </a:r>
                      <a:r>
                        <a:rPr kumimoji="0" lang="en-US" sz="1600" b="1" i="0" u="none" strike="noStrike" cap="none" normalizeH="0" baseline="30000">
                          <a:ln>
                            <a:noFill/>
                          </a:ln>
                          <a:solidFill>
                            <a:schemeClr val="accent2"/>
                          </a:solidFill>
                          <a:effectLst/>
                          <a:latin typeface="Arial" pitchFamily="34" charset="0"/>
                          <a:ea typeface="宋体" pitchFamily="2" charset="-122"/>
                        </a:rPr>
                        <a:t>2</a:t>
                      </a:r>
                      <a:r>
                        <a:rPr kumimoji="0" lang="en-US" sz="1600" b="1" i="0" u="none" strike="noStrike" cap="none" normalizeH="0" baseline="0">
                          <a:ln>
                            <a:noFill/>
                          </a:ln>
                          <a:solidFill>
                            <a:schemeClr val="accent2"/>
                          </a:solidFill>
                          <a:effectLst/>
                          <a:latin typeface="Arial" pitchFamily="34" charset="0"/>
                          <a:ea typeface="宋体" pitchFamily="2" charset="-122"/>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defRPr/>
                      </a:pPr>
                      <a:r>
                        <a:rPr kumimoji="0" lang="en-US" altLang="zh-CN" sz="1600" b="1" i="0" u="none" strike="noStrike" cap="none" normalizeH="0" baseline="0" dirty="0">
                          <a:ln>
                            <a:noFill/>
                          </a:ln>
                          <a:solidFill>
                            <a:schemeClr val="tx1"/>
                          </a:solidFill>
                          <a:effectLst/>
                          <a:latin typeface="Arial" pitchFamily="34" charset="0"/>
                          <a:ea typeface="宋体" pitchFamily="2" charset="-122"/>
                        </a:rPr>
                        <a:t>±2%</a:t>
                      </a:r>
                      <a:endParaRPr kumimoji="0" lang="zh-CN" altLang="en-US" sz="1600" b="1"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38968">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zh-CN" altLang="en-US" sz="1600" b="0" i="0" u="none" strike="noStrike" cap="none" normalizeH="0" baseline="0" dirty="0">
                          <a:ln>
                            <a:noFill/>
                          </a:ln>
                          <a:solidFill>
                            <a:schemeClr val="tx1"/>
                          </a:solidFill>
                          <a:effectLst/>
                          <a:latin typeface="宋体" pitchFamily="2" charset="-122"/>
                          <a:ea typeface="宋体" pitchFamily="2" charset="-122"/>
                        </a:rPr>
                        <a:t>橙</a:t>
                      </a:r>
                      <a:r>
                        <a:rPr kumimoji="0" lang="zh-CN" altLang="en-US" sz="1600" b="0" i="0" u="none" strike="noStrike" cap="none" normalizeH="0" baseline="0" dirty="0">
                          <a:ln>
                            <a:noFill/>
                          </a:ln>
                          <a:solidFill>
                            <a:schemeClr val="tx1"/>
                          </a:solidFill>
                          <a:effectLst/>
                          <a:latin typeface="Arial" pitchFamily="34" charset="0"/>
                          <a:ea typeface="宋体" pitchFamily="2" charset="-122"/>
                        </a:rPr>
                        <a:t>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9900"/>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600" b="1" i="0" u="none" strike="noStrike" cap="none" normalizeH="0" baseline="0">
                          <a:ln>
                            <a:noFill/>
                          </a:ln>
                          <a:solidFill>
                            <a:schemeClr val="tx1"/>
                          </a:solidFill>
                          <a:effectLst/>
                          <a:latin typeface="Arial" pitchFamily="34" charset="0"/>
                          <a:ea typeface="宋体"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600" b="1" i="0" u="none" strike="noStrike" cap="none" normalizeH="0" baseline="0">
                          <a:ln>
                            <a:noFill/>
                          </a:ln>
                          <a:solidFill>
                            <a:schemeClr val="tx1"/>
                          </a:solidFill>
                          <a:effectLst/>
                          <a:latin typeface="Arial" pitchFamily="34" charset="0"/>
                          <a:ea typeface="宋体"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600" b="1" i="0" u="none" strike="noStrike" cap="none" normalizeH="0" baseline="0">
                          <a:ln>
                            <a:noFill/>
                          </a:ln>
                          <a:solidFill>
                            <a:schemeClr val="accent2"/>
                          </a:solidFill>
                          <a:effectLst/>
                          <a:latin typeface="Arial" pitchFamily="34" charset="0"/>
                          <a:ea typeface="宋体" pitchFamily="2" charset="-122"/>
                        </a:rPr>
                        <a:t>10</a:t>
                      </a:r>
                      <a:r>
                        <a:rPr kumimoji="0" lang="en-US" sz="1600" b="1" i="0" u="none" strike="noStrike" cap="none" normalizeH="0" baseline="30000">
                          <a:ln>
                            <a:noFill/>
                          </a:ln>
                          <a:solidFill>
                            <a:schemeClr val="accent2"/>
                          </a:solidFill>
                          <a:effectLst/>
                          <a:latin typeface="Arial" pitchFamily="34" charset="0"/>
                          <a:ea typeface="宋体" pitchFamily="2" charset="-122"/>
                        </a:rPr>
                        <a:t>3</a:t>
                      </a:r>
                      <a:endParaRPr kumimoji="0" lang="en-US" sz="1600" b="1" i="0" u="none" strike="noStrike" cap="none" normalizeH="0" baseline="0">
                        <a:ln>
                          <a:noFill/>
                        </a:ln>
                        <a:solidFill>
                          <a:schemeClr val="accent2"/>
                        </a:solidFill>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defRPr/>
                      </a:pPr>
                      <a:r>
                        <a:rPr kumimoji="0" lang="en-US" altLang="zh-CN" sz="1600" b="1" i="0" u="none" strike="noStrike" cap="none" normalizeH="0" baseline="0" dirty="0">
                          <a:ln>
                            <a:noFill/>
                          </a:ln>
                          <a:solidFill>
                            <a:schemeClr val="tx1"/>
                          </a:solidFill>
                          <a:effectLst/>
                          <a:latin typeface="Arial" pitchFamily="34" charset="0"/>
                          <a:ea typeface="宋体" pitchFamily="2" charset="-122"/>
                        </a:rPr>
                        <a:t>/</a:t>
                      </a:r>
                      <a:endParaRPr kumimoji="0" lang="zh-CN" altLang="en-US" sz="1600" b="1"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38968">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zh-CN" altLang="en-US" sz="1600" b="0" i="0" u="none" strike="noStrike" cap="none" normalizeH="0" baseline="0" dirty="0">
                          <a:ln>
                            <a:noFill/>
                          </a:ln>
                          <a:solidFill>
                            <a:schemeClr val="tx1"/>
                          </a:solidFill>
                          <a:effectLst/>
                          <a:latin typeface="宋体" pitchFamily="2" charset="-122"/>
                          <a:ea typeface="宋体" pitchFamily="2" charset="-122"/>
                        </a:rPr>
                        <a:t>黄</a:t>
                      </a:r>
                      <a:r>
                        <a:rPr kumimoji="0" lang="zh-CN" altLang="en-US" sz="1600" b="0" i="0" u="none" strike="noStrike" cap="none" normalizeH="0" baseline="0" dirty="0">
                          <a:ln>
                            <a:noFill/>
                          </a:ln>
                          <a:solidFill>
                            <a:schemeClr val="tx1"/>
                          </a:solidFill>
                          <a:effectLst/>
                          <a:latin typeface="Arial" pitchFamily="34" charset="0"/>
                          <a:ea typeface="宋体" pitchFamily="2" charset="-122"/>
                        </a:rPr>
                        <a:t>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600" b="1" i="0" u="none" strike="noStrike" cap="none" normalizeH="0" baseline="0" dirty="0">
                          <a:ln>
                            <a:noFill/>
                          </a:ln>
                          <a:solidFill>
                            <a:schemeClr val="tx1"/>
                          </a:solidFill>
                          <a:effectLst/>
                          <a:latin typeface="Arial" pitchFamily="34" charset="0"/>
                          <a:ea typeface="宋体" pitchFamily="2" charset="-12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600" b="1" i="0" u="none" strike="noStrike" cap="none" normalizeH="0" baseline="0">
                          <a:ln>
                            <a:noFill/>
                          </a:ln>
                          <a:solidFill>
                            <a:schemeClr val="tx1"/>
                          </a:solidFill>
                          <a:effectLst/>
                          <a:latin typeface="Arial" pitchFamily="34" charset="0"/>
                          <a:ea typeface="宋体" pitchFamily="2" charset="-12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600" b="1" i="0" u="none" strike="noStrike" cap="none" normalizeH="0" baseline="0">
                          <a:ln>
                            <a:noFill/>
                          </a:ln>
                          <a:solidFill>
                            <a:schemeClr val="accent2"/>
                          </a:solidFill>
                          <a:effectLst/>
                          <a:latin typeface="Arial" pitchFamily="34" charset="0"/>
                          <a:ea typeface="宋体" pitchFamily="2" charset="-122"/>
                        </a:rPr>
                        <a:t>10</a:t>
                      </a:r>
                      <a:r>
                        <a:rPr kumimoji="0" lang="en-US" sz="1600" b="1" i="0" u="none" strike="noStrike" cap="none" normalizeH="0" baseline="30000">
                          <a:ln>
                            <a:noFill/>
                          </a:ln>
                          <a:solidFill>
                            <a:schemeClr val="accent2"/>
                          </a:solidFill>
                          <a:effectLst/>
                          <a:latin typeface="Arial" pitchFamily="34" charset="0"/>
                          <a:ea typeface="宋体" pitchFamily="2" charset="-122"/>
                        </a:rPr>
                        <a:t>4</a:t>
                      </a:r>
                      <a:r>
                        <a:rPr kumimoji="0" lang="en-US" sz="1600" b="1" i="0" u="none" strike="noStrike" cap="none" normalizeH="0" baseline="0">
                          <a:ln>
                            <a:noFill/>
                          </a:ln>
                          <a:solidFill>
                            <a:schemeClr val="accent2"/>
                          </a:solidFill>
                          <a:effectLst/>
                          <a:latin typeface="Arial" pitchFamily="34" charset="0"/>
                          <a:ea typeface="宋体" pitchFamily="2" charset="-122"/>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defRPr/>
                      </a:pPr>
                      <a:r>
                        <a:rPr kumimoji="0" lang="en-US" altLang="zh-CN" sz="1600" b="1" i="0" u="none" strike="noStrike" cap="none" normalizeH="0" baseline="0" dirty="0">
                          <a:ln>
                            <a:noFill/>
                          </a:ln>
                          <a:solidFill>
                            <a:schemeClr val="tx1"/>
                          </a:solidFill>
                          <a:effectLst/>
                          <a:latin typeface="Arial" pitchFamily="34" charset="0"/>
                          <a:ea typeface="宋体" pitchFamily="2" charset="-122"/>
                        </a:rPr>
                        <a:t>/</a:t>
                      </a:r>
                      <a:endParaRPr kumimoji="0" lang="zh-CN" altLang="en-US" sz="1600" b="1"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38968">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zh-CN" altLang="en-US" sz="1600" b="0" i="0" u="none" strike="noStrike" cap="none" normalizeH="0" baseline="0" dirty="0">
                          <a:ln>
                            <a:noFill/>
                          </a:ln>
                          <a:solidFill>
                            <a:schemeClr val="tx1"/>
                          </a:solidFill>
                          <a:effectLst/>
                          <a:latin typeface="宋体" pitchFamily="2" charset="-122"/>
                          <a:ea typeface="宋体" pitchFamily="2" charset="-122"/>
                        </a:rPr>
                        <a:t>绿</a:t>
                      </a:r>
                      <a:r>
                        <a:rPr kumimoji="0" lang="zh-CN" altLang="en-US" sz="1600" b="0" i="0" u="none" strike="noStrike" cap="none" normalizeH="0" baseline="0" dirty="0">
                          <a:ln>
                            <a:noFill/>
                          </a:ln>
                          <a:solidFill>
                            <a:schemeClr val="tx1"/>
                          </a:solidFill>
                          <a:effectLst/>
                          <a:latin typeface="Arial" pitchFamily="34" charset="0"/>
                          <a:ea typeface="宋体" pitchFamily="2" charset="-122"/>
                        </a:rPr>
                        <a:t>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600" b="1" i="0" u="none" strike="noStrike" cap="none" normalizeH="0" baseline="0">
                          <a:ln>
                            <a:noFill/>
                          </a:ln>
                          <a:solidFill>
                            <a:schemeClr val="tx1"/>
                          </a:solidFill>
                          <a:effectLst/>
                          <a:latin typeface="Arial" pitchFamily="34" charset="0"/>
                          <a:ea typeface="宋体" pitchFamily="2" charset="-122"/>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600" b="1" i="0" u="none" strike="noStrike" cap="none" normalizeH="0" baseline="0">
                          <a:ln>
                            <a:noFill/>
                          </a:ln>
                          <a:solidFill>
                            <a:schemeClr val="tx1"/>
                          </a:solidFill>
                          <a:effectLst/>
                          <a:latin typeface="Arial" pitchFamily="34" charset="0"/>
                          <a:ea typeface="宋体" pitchFamily="2" charset="-122"/>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600" b="1" i="0" u="none" strike="noStrike" cap="none" normalizeH="0" baseline="0" dirty="0">
                          <a:ln>
                            <a:noFill/>
                          </a:ln>
                          <a:solidFill>
                            <a:schemeClr val="accent2"/>
                          </a:solidFill>
                          <a:effectLst/>
                          <a:latin typeface="Arial" pitchFamily="34" charset="0"/>
                          <a:ea typeface="宋体" pitchFamily="2" charset="-122"/>
                        </a:rPr>
                        <a:t>10</a:t>
                      </a:r>
                      <a:r>
                        <a:rPr kumimoji="0" lang="en-US" sz="1600" b="1" i="0" u="none" strike="noStrike" cap="none" normalizeH="0" baseline="30000" dirty="0">
                          <a:ln>
                            <a:noFill/>
                          </a:ln>
                          <a:solidFill>
                            <a:schemeClr val="accent2"/>
                          </a:solidFill>
                          <a:effectLst/>
                          <a:latin typeface="Arial" pitchFamily="34" charset="0"/>
                          <a:ea typeface="宋体" pitchFamily="2" charset="-122"/>
                        </a:rPr>
                        <a:t>5</a:t>
                      </a:r>
                      <a:r>
                        <a:rPr kumimoji="0" lang="en-US" sz="1600" b="1" i="0" u="none" strike="noStrike" cap="none" normalizeH="0" baseline="0" dirty="0">
                          <a:ln>
                            <a:noFill/>
                          </a:ln>
                          <a:solidFill>
                            <a:schemeClr val="accent2"/>
                          </a:solidFill>
                          <a:effectLst/>
                          <a:latin typeface="Arial" pitchFamily="34" charset="0"/>
                          <a:ea typeface="宋体" pitchFamily="2" charset="-122"/>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4294B6"/>
                        </a:buClr>
                        <a:buSzPct val="80000"/>
                        <a:buFont typeface="Wingdings" pitchFamily="2" charset="2"/>
                        <a:buNone/>
                        <a:tabLst/>
                        <a:defRPr/>
                      </a:pPr>
                      <a:r>
                        <a:rPr kumimoji="0" lang="en-US" altLang="zh-CN" sz="1600" b="1" i="0" u="none" strike="noStrike" kern="1200" cap="none" spc="0" normalizeH="0" baseline="0" noProof="0" dirty="0">
                          <a:ln>
                            <a:noFill/>
                          </a:ln>
                          <a:solidFill>
                            <a:prstClr val="black"/>
                          </a:solidFill>
                          <a:effectLst/>
                          <a:uLnTx/>
                          <a:uFillTx/>
                          <a:latin typeface="Arial" pitchFamily="34" charset="0"/>
                          <a:ea typeface="宋体" pitchFamily="2" charset="-122"/>
                          <a:cs typeface="+mn-cs"/>
                        </a:rPr>
                        <a:t>±0.5%</a:t>
                      </a:r>
                      <a:endParaRPr kumimoji="0" lang="zh-CN" altLang="en-US" sz="1600" b="1" i="0" u="none" strike="noStrike" kern="1200" cap="none" spc="0" normalizeH="0" baseline="0" noProof="0" dirty="0">
                        <a:ln>
                          <a:noFill/>
                        </a:ln>
                        <a:solidFill>
                          <a:prstClr val="black"/>
                        </a:solidFill>
                        <a:effectLst/>
                        <a:uLnTx/>
                        <a:uFillTx/>
                        <a:latin typeface="Arial" pitchFamily="34" charset="0"/>
                        <a:ea typeface="宋体" pitchFamily="2" charset="-122"/>
                        <a:cs typeface="+mn-cs"/>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38968">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zh-CN" altLang="en-US" sz="1600" b="0" i="0" u="none" strike="noStrike" cap="none" normalizeH="0" baseline="0" dirty="0">
                          <a:ln>
                            <a:noFill/>
                          </a:ln>
                          <a:solidFill>
                            <a:schemeClr val="tx1"/>
                          </a:solidFill>
                          <a:effectLst/>
                          <a:latin typeface="宋体" pitchFamily="2" charset="-122"/>
                          <a:ea typeface="宋体" pitchFamily="2" charset="-122"/>
                        </a:rPr>
                        <a:t>蓝</a:t>
                      </a:r>
                      <a:r>
                        <a:rPr kumimoji="0" lang="zh-CN" altLang="en-US" sz="1600" b="0" i="0" u="none" strike="noStrike" cap="none" normalizeH="0" baseline="0" dirty="0">
                          <a:ln>
                            <a:noFill/>
                          </a:ln>
                          <a:solidFill>
                            <a:schemeClr val="tx1"/>
                          </a:solidFill>
                          <a:effectLst/>
                          <a:latin typeface="Arial" pitchFamily="34" charset="0"/>
                          <a:ea typeface="宋体" pitchFamily="2" charset="-122"/>
                        </a:rPr>
                        <a:t>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227ACB"/>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600" b="1" i="0" u="none" strike="noStrike" cap="none" normalizeH="0" baseline="0">
                          <a:ln>
                            <a:noFill/>
                          </a:ln>
                          <a:solidFill>
                            <a:schemeClr val="tx1"/>
                          </a:solidFill>
                          <a:effectLst/>
                          <a:latin typeface="Arial" pitchFamily="34" charset="0"/>
                          <a:ea typeface="宋体" pitchFamily="2" charset="-122"/>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600" b="1" i="0" u="none" strike="noStrike" cap="none" normalizeH="0" baseline="0">
                          <a:ln>
                            <a:noFill/>
                          </a:ln>
                          <a:solidFill>
                            <a:schemeClr val="tx1"/>
                          </a:solidFill>
                          <a:effectLst/>
                          <a:latin typeface="Arial" pitchFamily="34" charset="0"/>
                          <a:ea typeface="宋体" pitchFamily="2" charset="-122"/>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600" b="1" i="0" u="none" strike="noStrike" cap="none" normalizeH="0" baseline="0">
                          <a:ln>
                            <a:noFill/>
                          </a:ln>
                          <a:solidFill>
                            <a:schemeClr val="accent2"/>
                          </a:solidFill>
                          <a:effectLst/>
                          <a:latin typeface="Arial" pitchFamily="34" charset="0"/>
                          <a:ea typeface="宋体" pitchFamily="2" charset="-122"/>
                        </a:rPr>
                        <a:t>10</a:t>
                      </a:r>
                      <a:r>
                        <a:rPr kumimoji="0" lang="en-US" sz="1600" b="1" i="0" u="none" strike="noStrike" cap="none" normalizeH="0" baseline="30000">
                          <a:ln>
                            <a:noFill/>
                          </a:ln>
                          <a:solidFill>
                            <a:schemeClr val="accent2"/>
                          </a:solidFill>
                          <a:effectLst/>
                          <a:latin typeface="Arial" pitchFamily="34" charset="0"/>
                          <a:ea typeface="宋体" pitchFamily="2" charset="-122"/>
                        </a:rPr>
                        <a:t>6</a:t>
                      </a:r>
                      <a:endParaRPr kumimoji="0" lang="en-US" sz="1600" b="1" i="0" u="none" strike="noStrike" cap="none" normalizeH="0" baseline="0">
                        <a:ln>
                          <a:noFill/>
                        </a:ln>
                        <a:solidFill>
                          <a:schemeClr val="accent2"/>
                        </a:solidFill>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4294B6"/>
                        </a:buClr>
                        <a:buSzPct val="80000"/>
                        <a:buFont typeface="Wingdings" pitchFamily="2" charset="2"/>
                        <a:buNone/>
                        <a:tabLst/>
                        <a:defRPr/>
                      </a:pPr>
                      <a:r>
                        <a:rPr kumimoji="0" lang="en-US" altLang="zh-CN" sz="1200" b="1" i="0" u="none" strike="noStrike" kern="1200" cap="none" spc="0" normalizeH="0" baseline="0" noProof="0" dirty="0">
                          <a:ln>
                            <a:noFill/>
                          </a:ln>
                          <a:solidFill>
                            <a:prstClr val="black"/>
                          </a:solidFill>
                          <a:effectLst/>
                          <a:uLnTx/>
                          <a:uFillTx/>
                          <a:latin typeface="Arial" pitchFamily="34" charset="0"/>
                          <a:ea typeface="宋体" pitchFamily="2" charset="-122"/>
                          <a:cs typeface="+mn-cs"/>
                        </a:rPr>
                        <a:t>±0.25%</a:t>
                      </a:r>
                      <a:endParaRPr kumimoji="0" lang="zh-CN" altLang="en-US" sz="1200" b="1" i="0" u="none" strike="noStrike" kern="1200" cap="none" spc="0" normalizeH="0" baseline="0" noProof="0" dirty="0">
                        <a:ln>
                          <a:noFill/>
                        </a:ln>
                        <a:solidFill>
                          <a:prstClr val="black"/>
                        </a:solidFill>
                        <a:effectLst/>
                        <a:uLnTx/>
                        <a:uFillTx/>
                        <a:latin typeface="Arial" pitchFamily="34" charset="0"/>
                        <a:ea typeface="宋体" pitchFamily="2" charset="-122"/>
                        <a:cs typeface="+mn-cs"/>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38968">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zh-CN" altLang="en-US" sz="1600" b="0" i="0" u="none" strike="noStrike" cap="none" normalizeH="0" baseline="0" dirty="0">
                          <a:ln>
                            <a:noFill/>
                          </a:ln>
                          <a:solidFill>
                            <a:schemeClr val="tx1"/>
                          </a:solidFill>
                          <a:effectLst/>
                          <a:latin typeface="宋体" pitchFamily="2" charset="-122"/>
                          <a:ea typeface="宋体" pitchFamily="2" charset="-122"/>
                        </a:rPr>
                        <a:t>紫</a:t>
                      </a:r>
                      <a:r>
                        <a:rPr kumimoji="0" lang="zh-CN" altLang="en-US" sz="1600" b="0" i="0" u="none" strike="noStrike" cap="none" normalizeH="0" baseline="0" dirty="0">
                          <a:ln>
                            <a:noFill/>
                          </a:ln>
                          <a:solidFill>
                            <a:schemeClr val="tx1"/>
                          </a:solidFill>
                          <a:effectLst/>
                          <a:latin typeface="Arial" pitchFamily="34" charset="0"/>
                          <a:ea typeface="宋体" pitchFamily="2" charset="-122"/>
                        </a:rPr>
                        <a:t>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75CCB"/>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600" b="1" i="0" u="none" strike="noStrike" cap="none" normalizeH="0" baseline="0">
                          <a:ln>
                            <a:noFill/>
                          </a:ln>
                          <a:solidFill>
                            <a:schemeClr val="tx1"/>
                          </a:solidFill>
                          <a:effectLst/>
                          <a:latin typeface="Arial" pitchFamily="34" charset="0"/>
                          <a:ea typeface="宋体" pitchFamily="2" charset="-122"/>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600" b="1" i="0" u="none" strike="noStrike" cap="none" normalizeH="0" baseline="0">
                          <a:ln>
                            <a:noFill/>
                          </a:ln>
                          <a:solidFill>
                            <a:schemeClr val="tx1"/>
                          </a:solidFill>
                          <a:effectLst/>
                          <a:latin typeface="Arial" pitchFamily="34" charset="0"/>
                          <a:ea typeface="宋体" pitchFamily="2" charset="-122"/>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600" b="1" i="0" u="none" strike="noStrike" cap="none" normalizeH="0" baseline="0">
                          <a:ln>
                            <a:noFill/>
                          </a:ln>
                          <a:solidFill>
                            <a:schemeClr val="accent2"/>
                          </a:solidFill>
                          <a:effectLst/>
                          <a:latin typeface="Arial" pitchFamily="34" charset="0"/>
                          <a:ea typeface="宋体" pitchFamily="2" charset="-122"/>
                        </a:rPr>
                        <a:t>10</a:t>
                      </a:r>
                      <a:r>
                        <a:rPr kumimoji="0" lang="en-US" sz="1600" b="1" i="0" u="none" strike="noStrike" cap="none" normalizeH="0" baseline="30000">
                          <a:ln>
                            <a:noFill/>
                          </a:ln>
                          <a:solidFill>
                            <a:schemeClr val="accent2"/>
                          </a:solidFill>
                          <a:effectLst/>
                          <a:latin typeface="Arial" pitchFamily="34" charset="0"/>
                          <a:ea typeface="宋体" pitchFamily="2" charset="-122"/>
                        </a:rPr>
                        <a:t>7</a:t>
                      </a:r>
                      <a:r>
                        <a:rPr kumimoji="0" lang="en-US" sz="1600" b="1" i="0" u="none" strike="noStrike" cap="none" normalizeH="0" baseline="0">
                          <a:ln>
                            <a:noFill/>
                          </a:ln>
                          <a:solidFill>
                            <a:schemeClr val="accent2"/>
                          </a:solidFill>
                          <a:effectLst/>
                          <a:latin typeface="Arial" pitchFamily="34" charset="0"/>
                          <a:ea typeface="宋体" pitchFamily="2" charset="-122"/>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4294B6"/>
                        </a:buClr>
                        <a:buSzPct val="80000"/>
                        <a:buFont typeface="Wingdings" pitchFamily="2" charset="2"/>
                        <a:buNone/>
                        <a:tabLst/>
                        <a:defRPr/>
                      </a:pPr>
                      <a:r>
                        <a:rPr kumimoji="0" lang="en-US" altLang="zh-CN" sz="1600" b="1" i="0" u="none" strike="noStrike" kern="1200" cap="none" spc="0" normalizeH="0" baseline="0" noProof="0" dirty="0">
                          <a:ln>
                            <a:noFill/>
                          </a:ln>
                          <a:solidFill>
                            <a:prstClr val="black"/>
                          </a:solidFill>
                          <a:effectLst/>
                          <a:uLnTx/>
                          <a:uFillTx/>
                          <a:latin typeface="Arial" pitchFamily="34" charset="0"/>
                          <a:ea typeface="宋体" pitchFamily="2" charset="-122"/>
                          <a:cs typeface="+mn-cs"/>
                        </a:rPr>
                        <a:t>±0.1%</a:t>
                      </a:r>
                      <a:endParaRPr kumimoji="0" lang="zh-CN" altLang="en-US" sz="1600" b="1" i="0" u="none" strike="noStrike" kern="1200" cap="none" spc="0" normalizeH="0" baseline="0" noProof="0" dirty="0">
                        <a:ln>
                          <a:noFill/>
                        </a:ln>
                        <a:solidFill>
                          <a:prstClr val="black"/>
                        </a:solidFill>
                        <a:effectLst/>
                        <a:uLnTx/>
                        <a:uFillTx/>
                        <a:latin typeface="Arial" pitchFamily="34" charset="0"/>
                        <a:ea typeface="宋体" pitchFamily="2" charset="-122"/>
                        <a:cs typeface="+mn-cs"/>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38968">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zh-CN" altLang="en-US" sz="1600" b="0" i="0" u="none" strike="noStrike" cap="none" normalizeH="0" baseline="0" dirty="0">
                          <a:ln>
                            <a:noFill/>
                          </a:ln>
                          <a:solidFill>
                            <a:schemeClr val="tx1"/>
                          </a:solidFill>
                          <a:effectLst/>
                          <a:latin typeface="宋体" pitchFamily="2" charset="-122"/>
                          <a:ea typeface="宋体" pitchFamily="2" charset="-122"/>
                        </a:rPr>
                        <a:t>灰</a:t>
                      </a:r>
                      <a:r>
                        <a:rPr kumimoji="0" lang="zh-CN" altLang="en-US" sz="1600" b="0" i="0" u="none" strike="noStrike" cap="none" normalizeH="0" baseline="0" dirty="0">
                          <a:ln>
                            <a:noFill/>
                          </a:ln>
                          <a:solidFill>
                            <a:schemeClr val="tx1"/>
                          </a:solidFill>
                          <a:effectLst/>
                          <a:latin typeface="Arial" pitchFamily="34" charset="0"/>
                          <a:ea typeface="宋体" pitchFamily="2" charset="-122"/>
                        </a:rPr>
                        <a:t>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2">
                        <a:lumMod val="9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600" b="1" i="0" u="none" strike="noStrike" cap="none" normalizeH="0" baseline="0" dirty="0">
                          <a:ln>
                            <a:noFill/>
                          </a:ln>
                          <a:solidFill>
                            <a:schemeClr val="tx1"/>
                          </a:solidFill>
                          <a:effectLst/>
                          <a:latin typeface="Arial" pitchFamily="34" charset="0"/>
                          <a:ea typeface="宋体" pitchFamily="2" charset="-122"/>
                        </a:rPr>
                        <a:t>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600" b="1" i="0" u="none" strike="noStrike" cap="none" normalizeH="0" baseline="0">
                          <a:ln>
                            <a:noFill/>
                          </a:ln>
                          <a:solidFill>
                            <a:schemeClr val="tx1"/>
                          </a:solidFill>
                          <a:effectLst/>
                          <a:latin typeface="Arial" pitchFamily="34" charset="0"/>
                          <a:ea typeface="宋体" pitchFamily="2" charset="-122"/>
                        </a:rPr>
                        <a:t>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600" b="1" i="0" u="none" strike="noStrike" cap="none" normalizeH="0" baseline="0">
                          <a:ln>
                            <a:noFill/>
                          </a:ln>
                          <a:solidFill>
                            <a:schemeClr val="accent2"/>
                          </a:solidFill>
                          <a:effectLst/>
                          <a:latin typeface="Arial" pitchFamily="34" charset="0"/>
                          <a:ea typeface="宋体" pitchFamily="2" charset="-122"/>
                        </a:rPr>
                        <a:t>10</a:t>
                      </a:r>
                      <a:r>
                        <a:rPr kumimoji="0" lang="en-US" sz="1600" b="1" i="0" u="none" strike="noStrike" cap="none" normalizeH="0" baseline="30000">
                          <a:ln>
                            <a:noFill/>
                          </a:ln>
                          <a:solidFill>
                            <a:schemeClr val="accent2"/>
                          </a:solidFill>
                          <a:effectLst/>
                          <a:latin typeface="Arial" pitchFamily="34" charset="0"/>
                          <a:ea typeface="宋体" pitchFamily="2" charset="-122"/>
                        </a:rPr>
                        <a:t>8</a:t>
                      </a:r>
                      <a:endParaRPr kumimoji="0" lang="en-US" sz="1600" b="1" i="0" u="none" strike="noStrike" cap="none" normalizeH="0" baseline="0">
                        <a:ln>
                          <a:noFill/>
                        </a:ln>
                        <a:solidFill>
                          <a:schemeClr val="accent2"/>
                        </a:solidFill>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4294B6"/>
                        </a:buClr>
                        <a:buSzPct val="80000"/>
                        <a:buFont typeface="Wingdings" pitchFamily="2" charset="2"/>
                        <a:buNone/>
                        <a:tabLst/>
                        <a:defRPr/>
                      </a:pPr>
                      <a:r>
                        <a:rPr kumimoji="0" lang="en-US" altLang="zh-CN" sz="1200" b="1" i="0" u="none" strike="noStrike" kern="1200" cap="none" spc="0" normalizeH="0" baseline="0" noProof="0" dirty="0">
                          <a:ln>
                            <a:noFill/>
                          </a:ln>
                          <a:solidFill>
                            <a:prstClr val="black"/>
                          </a:solidFill>
                          <a:effectLst/>
                          <a:uLnTx/>
                          <a:uFillTx/>
                          <a:latin typeface="Arial" pitchFamily="34" charset="0"/>
                          <a:ea typeface="宋体" pitchFamily="2" charset="-122"/>
                          <a:cs typeface="+mn-cs"/>
                        </a:rPr>
                        <a:t>±0.05%</a:t>
                      </a:r>
                      <a:endParaRPr kumimoji="0" lang="zh-CN" altLang="en-US" sz="1200" b="1" i="0" u="none" strike="noStrike" kern="1200" cap="none" spc="0" normalizeH="0" baseline="0" noProof="0" dirty="0">
                        <a:ln>
                          <a:noFill/>
                        </a:ln>
                        <a:solidFill>
                          <a:prstClr val="black"/>
                        </a:solidFill>
                        <a:effectLst/>
                        <a:uLnTx/>
                        <a:uFillTx/>
                        <a:latin typeface="Arial" pitchFamily="34" charset="0"/>
                        <a:ea typeface="宋体" pitchFamily="2" charset="-122"/>
                        <a:cs typeface="+mn-cs"/>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38968">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zh-CN" altLang="en-US" sz="1600" b="0" i="0" u="none" strike="noStrike" cap="none" normalizeH="0" baseline="0" dirty="0">
                          <a:ln>
                            <a:noFill/>
                          </a:ln>
                          <a:solidFill>
                            <a:schemeClr val="tx1"/>
                          </a:solidFill>
                          <a:effectLst/>
                          <a:latin typeface="宋体" pitchFamily="2" charset="-122"/>
                          <a:ea typeface="宋体" pitchFamily="2" charset="-122"/>
                        </a:rPr>
                        <a:t>白</a:t>
                      </a:r>
                      <a:r>
                        <a:rPr kumimoji="0" lang="zh-CN" altLang="en-US" sz="1600" b="0" i="0" u="none" strike="noStrike" cap="none" normalizeH="0" baseline="0" dirty="0">
                          <a:ln>
                            <a:noFill/>
                          </a:ln>
                          <a:solidFill>
                            <a:schemeClr val="tx1"/>
                          </a:solidFill>
                          <a:effectLst/>
                          <a:latin typeface="Arial" pitchFamily="34" charset="0"/>
                          <a:ea typeface="宋体" pitchFamily="2" charset="-122"/>
                        </a:rPr>
                        <a:t>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600" b="1" i="0" u="none" strike="noStrike" cap="none" normalizeH="0" baseline="0">
                          <a:ln>
                            <a:noFill/>
                          </a:ln>
                          <a:solidFill>
                            <a:schemeClr val="tx1"/>
                          </a:solidFill>
                          <a:effectLst/>
                          <a:latin typeface="Arial" pitchFamily="34" charset="0"/>
                          <a:ea typeface="宋体" pitchFamily="2" charset="-122"/>
                        </a:rPr>
                        <a:t>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600" b="1" i="0" u="none" strike="noStrike" cap="none" normalizeH="0" baseline="0">
                          <a:ln>
                            <a:noFill/>
                          </a:ln>
                          <a:solidFill>
                            <a:schemeClr val="tx1"/>
                          </a:solidFill>
                          <a:effectLst/>
                          <a:latin typeface="Arial" pitchFamily="34" charset="0"/>
                          <a:ea typeface="宋体" pitchFamily="2" charset="-122"/>
                        </a:rPr>
                        <a:t>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600" b="1" i="0" u="none" strike="noStrike" cap="none" normalizeH="0" baseline="0">
                          <a:ln>
                            <a:noFill/>
                          </a:ln>
                          <a:solidFill>
                            <a:schemeClr val="accent2"/>
                          </a:solidFill>
                          <a:effectLst/>
                          <a:latin typeface="Arial" pitchFamily="34" charset="0"/>
                          <a:ea typeface="宋体" pitchFamily="2" charset="-122"/>
                        </a:rPr>
                        <a:t>10</a:t>
                      </a:r>
                      <a:r>
                        <a:rPr kumimoji="0" lang="en-US" sz="1600" b="1" i="0" u="none" strike="noStrike" cap="none" normalizeH="0" baseline="30000">
                          <a:ln>
                            <a:noFill/>
                          </a:ln>
                          <a:solidFill>
                            <a:schemeClr val="accent2"/>
                          </a:solidFill>
                          <a:effectLst/>
                          <a:latin typeface="Arial" pitchFamily="34" charset="0"/>
                          <a:ea typeface="宋体" pitchFamily="2" charset="-122"/>
                        </a:rPr>
                        <a:t>9</a:t>
                      </a:r>
                      <a:r>
                        <a:rPr kumimoji="0" lang="en-US" sz="1600" b="1" i="0" u="none" strike="noStrike" cap="none" normalizeH="0" baseline="0">
                          <a:ln>
                            <a:noFill/>
                          </a:ln>
                          <a:solidFill>
                            <a:schemeClr val="accent2"/>
                          </a:solidFill>
                          <a:effectLst/>
                          <a:latin typeface="Arial" pitchFamily="34" charset="0"/>
                          <a:ea typeface="宋体" pitchFamily="2" charset="-122"/>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defRPr/>
                      </a:pPr>
                      <a:r>
                        <a:rPr kumimoji="0" lang="en-US" altLang="zh-CN" sz="1600" b="1" i="0" u="none" strike="noStrike" cap="none" normalizeH="0" baseline="0" dirty="0">
                          <a:ln>
                            <a:noFill/>
                          </a:ln>
                          <a:solidFill>
                            <a:schemeClr val="tx1"/>
                          </a:solidFill>
                          <a:effectLst/>
                          <a:latin typeface="Arial" pitchFamily="34" charset="0"/>
                          <a:ea typeface="宋体" pitchFamily="2" charset="-122"/>
                        </a:rPr>
                        <a:t>/</a:t>
                      </a:r>
                      <a:endParaRPr kumimoji="0" lang="zh-CN" altLang="en-US" sz="1600" b="1"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38968">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zh-CN" altLang="en-US" sz="1600" b="0" i="0" u="none" strike="noStrike" cap="none" normalizeH="0" baseline="0" dirty="0">
                          <a:ln>
                            <a:noFill/>
                          </a:ln>
                          <a:solidFill>
                            <a:schemeClr val="tx1"/>
                          </a:solidFill>
                          <a:effectLst/>
                          <a:latin typeface="宋体" pitchFamily="2" charset="-122"/>
                          <a:ea typeface="宋体" pitchFamily="2" charset="-122"/>
                        </a:rPr>
                        <a:t>金</a:t>
                      </a:r>
                      <a:r>
                        <a:rPr kumimoji="0" lang="zh-CN" altLang="en-US" sz="1600" b="0" i="0" u="none" strike="noStrike" cap="none" normalizeH="0" baseline="0" dirty="0">
                          <a:ln>
                            <a:noFill/>
                          </a:ln>
                          <a:solidFill>
                            <a:schemeClr val="tx1"/>
                          </a:solidFill>
                          <a:effectLst/>
                          <a:latin typeface="Arial" pitchFamily="34" charset="0"/>
                          <a:ea typeface="宋体" pitchFamily="2" charset="-122"/>
                        </a:rPr>
                        <a:t>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4D760"/>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endParaRPr kumimoji="0" lang="zh-CN" altLang="en-US" sz="1600" b="1"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endParaRPr kumimoji="0" lang="zh-CN" altLang="en-US" sz="1600" b="1"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600" b="1" i="0" u="none" strike="noStrike" cap="none" normalizeH="0" baseline="0">
                          <a:ln>
                            <a:noFill/>
                          </a:ln>
                          <a:solidFill>
                            <a:schemeClr val="accent2"/>
                          </a:solidFill>
                          <a:effectLst/>
                          <a:latin typeface="Arial" pitchFamily="34" charset="0"/>
                          <a:ea typeface="宋体" pitchFamily="2" charset="-122"/>
                        </a:rPr>
                        <a:t>10</a:t>
                      </a:r>
                      <a:r>
                        <a:rPr kumimoji="0" lang="en-US" sz="1600" b="1" i="0" u="none" strike="noStrike" cap="none" normalizeH="0" baseline="30000">
                          <a:ln>
                            <a:noFill/>
                          </a:ln>
                          <a:solidFill>
                            <a:schemeClr val="accent2"/>
                          </a:solidFill>
                          <a:effectLst/>
                          <a:latin typeface="Arial" pitchFamily="34" charset="0"/>
                          <a:ea typeface="宋体" pitchFamily="2" charset="-122"/>
                        </a:rPr>
                        <a:t>-1</a:t>
                      </a:r>
                      <a:r>
                        <a:rPr kumimoji="0" lang="en-US" sz="1600" b="1" i="0" u="none" strike="noStrike" cap="none" normalizeH="0" baseline="0">
                          <a:ln>
                            <a:noFill/>
                          </a:ln>
                          <a:solidFill>
                            <a:schemeClr val="accent2"/>
                          </a:solidFill>
                          <a:effectLst/>
                          <a:latin typeface="Arial" pitchFamily="34" charset="0"/>
                          <a:ea typeface="宋体" pitchFamily="2" charset="-122"/>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600" b="1" i="0" u="none" strike="noStrike" cap="none" normalizeH="0" baseline="0" dirty="0">
                          <a:ln>
                            <a:noFill/>
                          </a:ln>
                          <a:solidFill>
                            <a:schemeClr val="accent6">
                              <a:lumMod val="60000"/>
                              <a:lumOff val="40000"/>
                            </a:schemeClr>
                          </a:solidFill>
                          <a:effectLst/>
                          <a:latin typeface="宋体" pitchFamily="2" charset="-122"/>
                          <a:ea typeface="宋体" pitchFamily="2" charset="-122"/>
                        </a:rPr>
                        <a:t>±</a:t>
                      </a:r>
                      <a:r>
                        <a:rPr kumimoji="0" lang="en-US" sz="1600" b="1" i="0" u="none" strike="noStrike" cap="none" normalizeH="0" baseline="0" dirty="0">
                          <a:ln>
                            <a:noFill/>
                          </a:ln>
                          <a:solidFill>
                            <a:schemeClr val="accent6">
                              <a:lumMod val="60000"/>
                              <a:lumOff val="40000"/>
                            </a:schemeClr>
                          </a:solidFill>
                          <a:effectLst/>
                          <a:latin typeface="Arial" pitchFamily="34" charset="0"/>
                          <a:ea typeface="宋体" pitchFamily="2" charset="-122"/>
                        </a:rPr>
                        <a:t>5%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46806">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zh-CN" altLang="en-US" sz="1600" b="0" i="0" u="none" strike="noStrike" cap="none" normalizeH="0" baseline="0" dirty="0">
                          <a:ln>
                            <a:noFill/>
                          </a:ln>
                          <a:solidFill>
                            <a:schemeClr val="tx1"/>
                          </a:solidFill>
                          <a:effectLst/>
                          <a:latin typeface="宋体" pitchFamily="2" charset="-122"/>
                          <a:ea typeface="宋体" pitchFamily="2" charset="-122"/>
                        </a:rPr>
                        <a:t>银</a:t>
                      </a:r>
                      <a:r>
                        <a:rPr kumimoji="0" lang="zh-CN" altLang="en-US" sz="1600" b="0" i="0" u="none" strike="noStrike" cap="none" normalizeH="0" baseline="0" dirty="0">
                          <a:ln>
                            <a:noFill/>
                          </a:ln>
                          <a:solidFill>
                            <a:schemeClr val="tx1"/>
                          </a:solidFill>
                          <a:effectLst/>
                          <a:latin typeface="Arial" pitchFamily="34" charset="0"/>
                          <a:ea typeface="宋体" pitchFamily="2" charset="-122"/>
                        </a:rPr>
                        <a:t>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endParaRPr kumimoji="0" lang="zh-CN" altLang="en-US" sz="1600" b="1"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endParaRPr kumimoji="0" lang="zh-CN" altLang="en-US" sz="1600" b="1"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600" b="1" i="0" u="none" strike="noStrike" cap="none" normalizeH="0" baseline="0">
                          <a:ln>
                            <a:noFill/>
                          </a:ln>
                          <a:solidFill>
                            <a:schemeClr val="accent2"/>
                          </a:solidFill>
                          <a:effectLst/>
                          <a:latin typeface="Arial" pitchFamily="34" charset="0"/>
                          <a:ea typeface="宋体" pitchFamily="2" charset="-122"/>
                        </a:rPr>
                        <a:t>10</a:t>
                      </a:r>
                      <a:r>
                        <a:rPr kumimoji="0" lang="en-US" sz="1600" b="1" i="0" u="none" strike="noStrike" cap="none" normalizeH="0" baseline="30000">
                          <a:ln>
                            <a:noFill/>
                          </a:ln>
                          <a:solidFill>
                            <a:schemeClr val="accent2"/>
                          </a:solidFill>
                          <a:effectLst/>
                          <a:latin typeface="Arial" pitchFamily="34" charset="0"/>
                          <a:ea typeface="宋体" pitchFamily="2" charset="-122"/>
                        </a:rPr>
                        <a:t>-2</a:t>
                      </a:r>
                      <a:endParaRPr kumimoji="0" lang="en-US" sz="1600" b="1" i="0" u="none" strike="noStrike" cap="none" normalizeH="0" baseline="0">
                        <a:ln>
                          <a:noFill/>
                        </a:ln>
                        <a:solidFill>
                          <a:schemeClr val="accent2"/>
                        </a:solidFill>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600" b="1" i="0" u="none" strike="noStrike" cap="none" normalizeH="0" baseline="0" dirty="0">
                          <a:ln>
                            <a:noFill/>
                          </a:ln>
                          <a:solidFill>
                            <a:schemeClr val="accent6">
                              <a:lumMod val="60000"/>
                              <a:lumOff val="40000"/>
                            </a:schemeClr>
                          </a:solidFill>
                          <a:effectLst/>
                          <a:latin typeface="宋体" pitchFamily="2" charset="-122"/>
                          <a:ea typeface="宋体" pitchFamily="2" charset="-122"/>
                        </a:rPr>
                        <a:t>±</a:t>
                      </a:r>
                      <a:r>
                        <a:rPr kumimoji="0" lang="en-US" sz="1600" b="1" i="0" u="none" strike="noStrike" cap="none" normalizeH="0" baseline="0" dirty="0">
                          <a:ln>
                            <a:noFill/>
                          </a:ln>
                          <a:solidFill>
                            <a:schemeClr val="accent6">
                              <a:lumMod val="60000"/>
                              <a:lumOff val="40000"/>
                            </a:schemeClr>
                          </a:solidFill>
                          <a:effectLst/>
                          <a:latin typeface="Arial" pitchFamily="34" charset="0"/>
                          <a:ea typeface="宋体" pitchFamily="2" charset="-122"/>
                        </a:rPr>
                        <a:t>10%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356659">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zh-CN" altLang="en-US" sz="1600" b="0" i="0" u="none" strike="noStrike" cap="none" normalizeH="0" baseline="0" dirty="0">
                          <a:ln>
                            <a:noFill/>
                          </a:ln>
                          <a:solidFill>
                            <a:schemeClr val="tx1"/>
                          </a:solidFill>
                          <a:effectLst/>
                          <a:latin typeface="宋体" pitchFamily="2" charset="-122"/>
                          <a:ea typeface="宋体" pitchFamily="2" charset="-122"/>
                        </a:rPr>
                        <a:t>无色</a:t>
                      </a:r>
                      <a:r>
                        <a:rPr kumimoji="0" lang="zh-CN" altLang="en-US" sz="1600" b="0" i="0" u="none" strike="noStrike" cap="none" normalizeH="0" baseline="0" dirty="0">
                          <a:ln>
                            <a:noFill/>
                          </a:ln>
                          <a:solidFill>
                            <a:schemeClr val="tx1"/>
                          </a:solidFill>
                          <a:effectLst/>
                          <a:latin typeface="Arial" pitchFamily="34" charset="0"/>
                          <a:ea typeface="宋体" pitchFamily="2" charset="-122"/>
                        </a:rPr>
                        <a:t>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endParaRPr kumimoji="0" lang="zh-CN" altLang="en-US" sz="1600" b="1"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endParaRPr kumimoji="0" lang="zh-CN" altLang="en-US" sz="1600" b="1"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endParaRPr kumimoji="0" lang="zh-CN" altLang="en-US" sz="1600" b="1"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600" b="1" i="0" u="none" strike="noStrike" cap="none" normalizeH="0" baseline="0" dirty="0">
                          <a:ln>
                            <a:noFill/>
                          </a:ln>
                          <a:solidFill>
                            <a:schemeClr val="accent6">
                              <a:lumMod val="60000"/>
                              <a:lumOff val="40000"/>
                            </a:schemeClr>
                          </a:solidFill>
                          <a:effectLst/>
                          <a:latin typeface="宋体" pitchFamily="2" charset="-122"/>
                          <a:ea typeface="宋体" pitchFamily="2" charset="-122"/>
                        </a:rPr>
                        <a:t>±</a:t>
                      </a:r>
                      <a:r>
                        <a:rPr kumimoji="0" lang="en-US" sz="1600" b="1" i="0" u="none" strike="noStrike" cap="none" normalizeH="0" baseline="0" dirty="0">
                          <a:ln>
                            <a:noFill/>
                          </a:ln>
                          <a:solidFill>
                            <a:schemeClr val="accent6">
                              <a:lumMod val="60000"/>
                              <a:lumOff val="40000"/>
                            </a:schemeClr>
                          </a:solidFill>
                          <a:effectLst/>
                          <a:latin typeface="Arial" pitchFamily="34" charset="0"/>
                          <a:ea typeface="宋体" pitchFamily="2" charset="-122"/>
                        </a:rPr>
                        <a:t>20%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bl>
          </a:graphicData>
        </a:graphic>
      </p:graphicFrame>
      <p:graphicFrame>
        <p:nvGraphicFramePr>
          <p:cNvPr id="3" name="Group 5">
            <a:extLst>
              <a:ext uri="{FF2B5EF4-FFF2-40B4-BE49-F238E27FC236}">
                <a16:creationId xmlns:a16="http://schemas.microsoft.com/office/drawing/2014/main" id="{5F6EF60A-C2E8-684D-D72D-CC4481E8CFCA}"/>
              </a:ext>
            </a:extLst>
          </p:cNvPr>
          <p:cNvGraphicFramePr>
            <a:graphicFrameLocks noGrp="1"/>
          </p:cNvGraphicFramePr>
          <p:nvPr>
            <p:extLst>
              <p:ext uri="{D42A27DB-BD31-4B8C-83A1-F6EECF244321}">
                <p14:modId xmlns:p14="http://schemas.microsoft.com/office/powerpoint/2010/main" val="890542392"/>
              </p:ext>
            </p:extLst>
          </p:nvPr>
        </p:nvGraphicFramePr>
        <p:xfrm>
          <a:off x="4355976" y="823861"/>
          <a:ext cx="4680520" cy="5035999"/>
        </p:xfrm>
        <a:graphic>
          <a:graphicData uri="http://schemas.openxmlformats.org/drawingml/2006/table">
            <a:tbl>
              <a:tblPr/>
              <a:tblGrid>
                <a:gridCol w="594351">
                  <a:extLst>
                    <a:ext uri="{9D8B030D-6E8A-4147-A177-3AD203B41FA5}">
                      <a16:colId xmlns:a16="http://schemas.microsoft.com/office/drawing/2014/main" val="20000"/>
                    </a:ext>
                  </a:extLst>
                </a:gridCol>
                <a:gridCol w="774481">
                  <a:extLst>
                    <a:ext uri="{9D8B030D-6E8A-4147-A177-3AD203B41FA5}">
                      <a16:colId xmlns:a16="http://schemas.microsoft.com/office/drawing/2014/main" val="20001"/>
                    </a:ext>
                  </a:extLst>
                </a:gridCol>
                <a:gridCol w="1015585">
                  <a:extLst>
                    <a:ext uri="{9D8B030D-6E8A-4147-A177-3AD203B41FA5}">
                      <a16:colId xmlns:a16="http://schemas.microsoft.com/office/drawing/2014/main" val="20002"/>
                    </a:ext>
                  </a:extLst>
                </a:gridCol>
                <a:gridCol w="927272">
                  <a:extLst>
                    <a:ext uri="{9D8B030D-6E8A-4147-A177-3AD203B41FA5}">
                      <a16:colId xmlns:a16="http://schemas.microsoft.com/office/drawing/2014/main" val="20003"/>
                    </a:ext>
                  </a:extLst>
                </a:gridCol>
                <a:gridCol w="576743">
                  <a:extLst>
                    <a:ext uri="{9D8B030D-6E8A-4147-A177-3AD203B41FA5}">
                      <a16:colId xmlns:a16="http://schemas.microsoft.com/office/drawing/2014/main" val="20004"/>
                    </a:ext>
                  </a:extLst>
                </a:gridCol>
                <a:gridCol w="792088">
                  <a:extLst>
                    <a:ext uri="{9D8B030D-6E8A-4147-A177-3AD203B41FA5}">
                      <a16:colId xmlns:a16="http://schemas.microsoft.com/office/drawing/2014/main" val="20005"/>
                    </a:ext>
                  </a:extLst>
                </a:gridCol>
              </a:tblGrid>
              <a:tr h="589495">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zh-CN" altLang="en-US" sz="1500" b="0" i="0" u="none" strike="noStrike" cap="none" normalizeH="0" baseline="0">
                          <a:ln>
                            <a:noFill/>
                          </a:ln>
                          <a:solidFill>
                            <a:schemeClr val="tx1"/>
                          </a:solidFill>
                          <a:effectLst/>
                          <a:latin typeface="宋体" pitchFamily="2" charset="-122"/>
                          <a:ea typeface="宋体" pitchFamily="2" charset="-122"/>
                        </a:rPr>
                        <a:t>颜色</a:t>
                      </a:r>
                      <a:r>
                        <a:rPr kumimoji="0" lang="zh-CN" altLang="en-US" sz="1500" b="0" i="0" u="none" strike="noStrike" cap="none" normalizeH="0" baseline="0">
                          <a:ln>
                            <a:noFill/>
                          </a:ln>
                          <a:solidFill>
                            <a:schemeClr val="tx1"/>
                          </a:solidFill>
                          <a:effectLst/>
                          <a:latin typeface="Arial" pitchFamily="34" charset="0"/>
                          <a:ea typeface="宋体" pitchFamily="2" charset="-122"/>
                        </a:rPr>
                        <a:t>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zh-CN" altLang="en-US" sz="1500" b="0" i="0" u="none" strike="noStrike" cap="none" normalizeH="0" baseline="0">
                          <a:ln>
                            <a:noFill/>
                          </a:ln>
                          <a:solidFill>
                            <a:schemeClr val="tx1"/>
                          </a:solidFill>
                          <a:effectLst/>
                          <a:latin typeface="宋体" pitchFamily="2" charset="-122"/>
                          <a:ea typeface="宋体" pitchFamily="2" charset="-122"/>
                        </a:rPr>
                        <a:t>第一有效数</a:t>
                      </a:r>
                      <a:r>
                        <a:rPr kumimoji="0" lang="zh-CN" altLang="en-US" sz="1500" b="0" i="0" u="none" strike="noStrike" cap="none" normalizeH="0" baseline="0">
                          <a:ln>
                            <a:noFill/>
                          </a:ln>
                          <a:solidFill>
                            <a:schemeClr val="tx1"/>
                          </a:solidFill>
                          <a:effectLst/>
                          <a:latin typeface="Arial" pitchFamily="34" charset="0"/>
                          <a:ea typeface="宋体" pitchFamily="2" charset="-122"/>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zh-CN" altLang="en-US" sz="1500" b="0" i="0" u="none" strike="noStrike" cap="none" normalizeH="0" baseline="0">
                          <a:ln>
                            <a:noFill/>
                          </a:ln>
                          <a:solidFill>
                            <a:schemeClr val="tx1"/>
                          </a:solidFill>
                          <a:effectLst/>
                          <a:latin typeface="宋体" pitchFamily="2" charset="-122"/>
                          <a:ea typeface="宋体" pitchFamily="2" charset="-122"/>
                        </a:rPr>
                        <a:t>第二有效数</a:t>
                      </a:r>
                      <a:r>
                        <a:rPr kumimoji="0" lang="zh-CN" altLang="en-US" sz="1500" b="0" i="0" u="none" strike="noStrike" cap="none" normalizeH="0" baseline="0">
                          <a:ln>
                            <a:noFill/>
                          </a:ln>
                          <a:solidFill>
                            <a:schemeClr val="tx1"/>
                          </a:solidFill>
                          <a:effectLst/>
                          <a:latin typeface="Arial" pitchFamily="34" charset="0"/>
                          <a:ea typeface="宋体" pitchFamily="2" charset="-122"/>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zh-CN" altLang="en-US" sz="1500" b="0" i="0" u="none" strike="noStrike" cap="none" normalizeH="0" baseline="0">
                          <a:ln>
                            <a:noFill/>
                          </a:ln>
                          <a:solidFill>
                            <a:schemeClr val="tx1"/>
                          </a:solidFill>
                          <a:effectLst/>
                          <a:latin typeface="宋体" pitchFamily="2" charset="-122"/>
                          <a:ea typeface="宋体" pitchFamily="2" charset="-122"/>
                        </a:rPr>
                        <a:t>第三有效数</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zh-CN" altLang="en-US" sz="1500" b="0" i="0" u="none" strike="noStrike" cap="none" normalizeH="0" baseline="0">
                          <a:ln>
                            <a:noFill/>
                          </a:ln>
                          <a:solidFill>
                            <a:schemeClr val="tx1"/>
                          </a:solidFill>
                          <a:effectLst/>
                          <a:latin typeface="宋体" pitchFamily="2" charset="-122"/>
                          <a:ea typeface="宋体" pitchFamily="2" charset="-122"/>
                        </a:rPr>
                        <a:t>倍率</a:t>
                      </a:r>
                      <a:r>
                        <a:rPr kumimoji="0" lang="zh-CN" altLang="en-US" sz="1500" b="0" i="0" u="none" strike="noStrike" cap="none" normalizeH="0" baseline="0">
                          <a:ln>
                            <a:noFill/>
                          </a:ln>
                          <a:solidFill>
                            <a:schemeClr val="tx1"/>
                          </a:solidFill>
                          <a:effectLst/>
                          <a:latin typeface="Arial" pitchFamily="34" charset="0"/>
                          <a:ea typeface="宋体" pitchFamily="2" charset="-122"/>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zh-CN" altLang="en-US" sz="1500" b="0" i="0" u="none" strike="noStrike" cap="none" normalizeH="0" baseline="0" dirty="0">
                          <a:ln>
                            <a:noFill/>
                          </a:ln>
                          <a:solidFill>
                            <a:schemeClr val="tx1"/>
                          </a:solidFill>
                          <a:effectLst/>
                          <a:latin typeface="宋体" pitchFamily="2" charset="-122"/>
                          <a:ea typeface="宋体" pitchFamily="2" charset="-122"/>
                        </a:rPr>
                        <a:t>误差</a:t>
                      </a:r>
                      <a:r>
                        <a:rPr kumimoji="0" lang="zh-CN" altLang="en-US" sz="1500" b="0" i="0" u="none" strike="noStrike" cap="none" normalizeH="0" baseline="0" dirty="0">
                          <a:ln>
                            <a:noFill/>
                          </a:ln>
                          <a:solidFill>
                            <a:schemeClr val="tx1"/>
                          </a:solidFill>
                          <a:effectLst/>
                          <a:latin typeface="Arial" pitchFamily="34" charset="0"/>
                          <a:ea typeface="宋体" pitchFamily="2" charset="-122"/>
                        </a:rPr>
                        <a:t>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43872">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zh-CN" altLang="en-US" sz="1500" b="0" i="0" u="none" strike="noStrike" cap="none" normalizeH="0" baseline="0" dirty="0">
                          <a:ln>
                            <a:noFill/>
                          </a:ln>
                          <a:solidFill>
                            <a:schemeClr val="tx1"/>
                          </a:solidFill>
                          <a:effectLst/>
                          <a:latin typeface="宋体" pitchFamily="2" charset="-122"/>
                          <a:ea typeface="宋体" pitchFamily="2" charset="-122"/>
                        </a:rPr>
                        <a:t>黑</a:t>
                      </a:r>
                      <a:r>
                        <a:rPr kumimoji="0" lang="zh-CN" altLang="en-US" sz="1500" b="0" i="0" u="none" strike="noStrike" cap="none" normalizeH="0" baseline="0" dirty="0">
                          <a:ln>
                            <a:noFill/>
                          </a:ln>
                          <a:solidFill>
                            <a:schemeClr val="tx1"/>
                          </a:solidFill>
                          <a:effectLst/>
                          <a:latin typeface="Arial" pitchFamily="34" charset="0"/>
                          <a:ea typeface="宋体" pitchFamily="2" charset="-122"/>
                        </a:rPr>
                        <a:t>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500" b="1" i="0" u="none" strike="noStrike" cap="none" normalizeH="0" baseline="0" dirty="0">
                          <a:ln>
                            <a:noFill/>
                          </a:ln>
                          <a:solidFill>
                            <a:schemeClr val="tx1"/>
                          </a:solidFill>
                          <a:effectLst/>
                          <a:latin typeface="Arial" pitchFamily="34"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500" b="1" i="0" u="none" strike="noStrike" cap="none" normalizeH="0" baseline="0">
                          <a:ln>
                            <a:noFill/>
                          </a:ln>
                          <a:solidFill>
                            <a:schemeClr val="tx1"/>
                          </a:solidFill>
                          <a:effectLst/>
                          <a:latin typeface="Arial" pitchFamily="34"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500" b="1" i="0" u="none" strike="noStrike" cap="none" normalizeH="0" baseline="0" dirty="0">
                          <a:ln>
                            <a:noFill/>
                          </a:ln>
                          <a:solidFill>
                            <a:schemeClr val="tx1"/>
                          </a:solidFill>
                          <a:effectLst/>
                          <a:latin typeface="Arial" pitchFamily="34"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500" b="1" i="0" u="none" strike="noStrike" cap="none" normalizeH="0" baseline="0">
                          <a:ln>
                            <a:noFill/>
                          </a:ln>
                          <a:solidFill>
                            <a:srgbClr val="FF0000"/>
                          </a:solidFill>
                          <a:effectLst/>
                          <a:latin typeface="Arial" pitchFamily="34" charset="0"/>
                          <a:ea typeface="宋体" pitchFamily="2" charset="-122"/>
                        </a:rPr>
                        <a:t>10</a:t>
                      </a:r>
                      <a:r>
                        <a:rPr kumimoji="0" lang="en-US" sz="1500" b="1" i="0" u="none" strike="noStrike" cap="none" normalizeH="0" baseline="30000">
                          <a:ln>
                            <a:noFill/>
                          </a:ln>
                          <a:solidFill>
                            <a:srgbClr val="FF0000"/>
                          </a:solidFill>
                          <a:effectLst/>
                          <a:latin typeface="Arial" pitchFamily="34" charset="0"/>
                          <a:ea typeface="宋体" pitchFamily="2" charset="-122"/>
                        </a:rPr>
                        <a:t>0</a:t>
                      </a:r>
                      <a:r>
                        <a:rPr kumimoji="0" lang="en-US" sz="1500" b="1" i="0" u="none" strike="noStrike" cap="none" normalizeH="0" baseline="0">
                          <a:ln>
                            <a:noFill/>
                          </a:ln>
                          <a:solidFill>
                            <a:srgbClr val="FF0000"/>
                          </a:solidFill>
                          <a:effectLst/>
                          <a:latin typeface="Arial" pitchFamily="34" charset="0"/>
                          <a:ea typeface="宋体" pitchFamily="2" charset="-122"/>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altLang="zh-CN" sz="1600" b="1" i="0" u="none" strike="noStrike" cap="none" normalizeH="0" baseline="0" dirty="0">
                          <a:ln>
                            <a:noFill/>
                          </a:ln>
                          <a:solidFill>
                            <a:schemeClr val="tx1"/>
                          </a:solidFill>
                          <a:effectLst/>
                          <a:latin typeface="Arial" pitchFamily="34" charset="0"/>
                          <a:ea typeface="宋体" pitchFamily="2" charset="-122"/>
                        </a:rPr>
                        <a:t>/</a:t>
                      </a:r>
                      <a:endParaRPr kumimoji="0" lang="zh-CN" altLang="en-US" sz="1600" b="1"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43872">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zh-CN" altLang="en-US" sz="1500" b="0" i="0" u="none" strike="noStrike" cap="none" normalizeH="0" baseline="0" dirty="0">
                          <a:ln>
                            <a:noFill/>
                          </a:ln>
                          <a:solidFill>
                            <a:schemeClr val="tx1"/>
                          </a:solidFill>
                          <a:effectLst/>
                          <a:latin typeface="宋体" pitchFamily="2" charset="-122"/>
                          <a:ea typeface="宋体" pitchFamily="2" charset="-122"/>
                        </a:rPr>
                        <a:t>棕</a:t>
                      </a:r>
                      <a:r>
                        <a:rPr kumimoji="0" lang="zh-CN" altLang="en-US" sz="1500" b="0" i="0" u="none" strike="noStrike" cap="none" normalizeH="0" baseline="0" dirty="0">
                          <a:ln>
                            <a:noFill/>
                          </a:ln>
                          <a:solidFill>
                            <a:schemeClr val="tx1"/>
                          </a:solidFill>
                          <a:effectLst/>
                          <a:latin typeface="Arial" pitchFamily="34" charset="0"/>
                          <a:ea typeface="宋体" pitchFamily="2" charset="-122"/>
                        </a:rPr>
                        <a:t>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75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500" b="1" i="0" u="none" strike="noStrike" cap="none" normalizeH="0" baseline="0" dirty="0">
                          <a:ln>
                            <a:noFill/>
                          </a:ln>
                          <a:solidFill>
                            <a:schemeClr val="tx1"/>
                          </a:solidFill>
                          <a:effectLst/>
                          <a:latin typeface="Arial" pitchFamily="34"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500" b="1" i="0" u="none" strike="noStrike" cap="none" normalizeH="0" baseline="0" dirty="0">
                          <a:ln>
                            <a:noFill/>
                          </a:ln>
                          <a:solidFill>
                            <a:schemeClr val="tx1"/>
                          </a:solidFill>
                          <a:effectLst/>
                          <a:latin typeface="Arial" pitchFamily="34"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500" b="1" i="0" u="none" strike="noStrike" cap="none" normalizeH="0" baseline="0">
                          <a:ln>
                            <a:noFill/>
                          </a:ln>
                          <a:solidFill>
                            <a:schemeClr val="tx1"/>
                          </a:solidFill>
                          <a:effectLst/>
                          <a:latin typeface="Arial" pitchFamily="34"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500" b="1" i="0" u="none" strike="noStrike" cap="none" normalizeH="0" baseline="0">
                          <a:ln>
                            <a:noFill/>
                          </a:ln>
                          <a:solidFill>
                            <a:srgbClr val="FF0000"/>
                          </a:solidFill>
                          <a:effectLst/>
                          <a:latin typeface="Arial" pitchFamily="34" charset="0"/>
                          <a:ea typeface="宋体" pitchFamily="2" charset="-122"/>
                        </a:rPr>
                        <a:t>10</a:t>
                      </a:r>
                      <a:r>
                        <a:rPr kumimoji="0" lang="en-US" sz="1500" b="1" i="0" u="none" strike="noStrike" cap="none" normalizeH="0" baseline="30000">
                          <a:ln>
                            <a:noFill/>
                          </a:ln>
                          <a:solidFill>
                            <a:srgbClr val="FF0000"/>
                          </a:solidFill>
                          <a:effectLst/>
                          <a:latin typeface="Arial" pitchFamily="34" charset="0"/>
                          <a:ea typeface="宋体" pitchFamily="2" charset="-122"/>
                        </a:rPr>
                        <a:t>1</a:t>
                      </a:r>
                      <a:endParaRPr kumimoji="0" lang="en-US" sz="1500" b="1" i="0" u="none" strike="noStrike" cap="none" normalizeH="0" baseline="0">
                        <a:ln>
                          <a:noFill/>
                        </a:ln>
                        <a:solidFill>
                          <a:srgbClr val="FF0000"/>
                        </a:solidFill>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altLang="zh-CN" sz="1600" b="1" i="0" u="none" strike="noStrike" cap="none" normalizeH="0" baseline="0" dirty="0">
                          <a:ln>
                            <a:noFill/>
                          </a:ln>
                          <a:solidFill>
                            <a:schemeClr val="tx1"/>
                          </a:solidFill>
                          <a:effectLst/>
                          <a:latin typeface="Arial" pitchFamily="34" charset="0"/>
                          <a:ea typeface="宋体" pitchFamily="2" charset="-122"/>
                        </a:rPr>
                        <a:t>±1%</a:t>
                      </a:r>
                      <a:endParaRPr kumimoji="0" lang="zh-CN" altLang="en-US" sz="1600" b="1"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43872">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zh-CN" altLang="en-US" sz="1500" b="0" i="0" u="none" strike="noStrike" cap="none" normalizeH="0" baseline="0" dirty="0">
                          <a:ln>
                            <a:noFill/>
                          </a:ln>
                          <a:solidFill>
                            <a:schemeClr val="tx1"/>
                          </a:solidFill>
                          <a:effectLst/>
                          <a:latin typeface="宋体" pitchFamily="2" charset="-122"/>
                          <a:ea typeface="宋体" pitchFamily="2" charset="-122"/>
                        </a:rPr>
                        <a:t>红</a:t>
                      </a:r>
                      <a:r>
                        <a:rPr kumimoji="0" lang="zh-CN" altLang="en-US" sz="1500" b="0" i="0" u="none" strike="noStrike" cap="none" normalizeH="0" baseline="0" dirty="0">
                          <a:ln>
                            <a:noFill/>
                          </a:ln>
                          <a:solidFill>
                            <a:schemeClr val="tx1"/>
                          </a:solidFill>
                          <a:effectLst/>
                          <a:latin typeface="Arial" pitchFamily="34" charset="0"/>
                          <a:ea typeface="宋体" pitchFamily="2" charset="-122"/>
                        </a:rPr>
                        <a:t>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3300"/>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500" b="1" i="0" u="none" strike="noStrike" cap="none" normalizeH="0" baseline="0" dirty="0">
                          <a:ln>
                            <a:noFill/>
                          </a:ln>
                          <a:solidFill>
                            <a:schemeClr val="tx1"/>
                          </a:solidFill>
                          <a:effectLst/>
                          <a:latin typeface="Arial" pitchFamily="34" charset="0"/>
                          <a:ea typeface="宋体"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500" b="1" i="0" u="none" strike="noStrike" cap="none" normalizeH="0" baseline="0" dirty="0">
                          <a:ln>
                            <a:noFill/>
                          </a:ln>
                          <a:solidFill>
                            <a:schemeClr val="tx1"/>
                          </a:solidFill>
                          <a:effectLst/>
                          <a:latin typeface="Arial" pitchFamily="34" charset="0"/>
                          <a:ea typeface="宋体"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500" b="1" i="0" u="none" strike="noStrike" cap="none" normalizeH="0" baseline="0">
                          <a:ln>
                            <a:noFill/>
                          </a:ln>
                          <a:solidFill>
                            <a:schemeClr val="tx1"/>
                          </a:solidFill>
                          <a:effectLst/>
                          <a:latin typeface="Arial" pitchFamily="34" charset="0"/>
                          <a:ea typeface="宋体"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500" b="1" i="0" u="none" strike="noStrike" cap="none" normalizeH="0" baseline="0">
                          <a:ln>
                            <a:noFill/>
                          </a:ln>
                          <a:solidFill>
                            <a:srgbClr val="FF0000"/>
                          </a:solidFill>
                          <a:effectLst/>
                          <a:latin typeface="Arial" pitchFamily="34" charset="0"/>
                          <a:ea typeface="宋体" pitchFamily="2" charset="-122"/>
                        </a:rPr>
                        <a:t>10</a:t>
                      </a:r>
                      <a:r>
                        <a:rPr kumimoji="0" lang="en-US" sz="1500" b="1" i="0" u="none" strike="noStrike" cap="none" normalizeH="0" baseline="30000">
                          <a:ln>
                            <a:noFill/>
                          </a:ln>
                          <a:solidFill>
                            <a:srgbClr val="FF0000"/>
                          </a:solidFill>
                          <a:effectLst/>
                          <a:latin typeface="Arial" pitchFamily="34" charset="0"/>
                          <a:ea typeface="宋体" pitchFamily="2" charset="-122"/>
                        </a:rPr>
                        <a:t>2</a:t>
                      </a:r>
                      <a:r>
                        <a:rPr kumimoji="0" lang="en-US" sz="1500" b="1" i="0" u="none" strike="noStrike" cap="none" normalizeH="0" baseline="0">
                          <a:ln>
                            <a:noFill/>
                          </a:ln>
                          <a:solidFill>
                            <a:srgbClr val="FF0000"/>
                          </a:solidFill>
                          <a:effectLst/>
                          <a:latin typeface="Arial" pitchFamily="34" charset="0"/>
                          <a:ea typeface="宋体" pitchFamily="2" charset="-122"/>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defRPr/>
                      </a:pPr>
                      <a:r>
                        <a:rPr kumimoji="0" lang="en-US" altLang="zh-CN" sz="1600" b="1" i="0" u="none" strike="noStrike" cap="none" normalizeH="0" baseline="0" dirty="0">
                          <a:ln>
                            <a:noFill/>
                          </a:ln>
                          <a:solidFill>
                            <a:schemeClr val="tx1"/>
                          </a:solidFill>
                          <a:effectLst/>
                          <a:latin typeface="Arial" pitchFamily="34" charset="0"/>
                          <a:ea typeface="宋体" pitchFamily="2" charset="-122"/>
                        </a:rPr>
                        <a:t>±2%</a:t>
                      </a:r>
                      <a:endParaRPr kumimoji="0" lang="zh-CN" altLang="en-US" sz="1600" b="1"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43872">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zh-CN" altLang="en-US" sz="1500" b="0" i="0" u="none" strike="noStrike" cap="none" normalizeH="0" baseline="0" dirty="0">
                          <a:ln>
                            <a:noFill/>
                          </a:ln>
                          <a:solidFill>
                            <a:schemeClr val="tx1"/>
                          </a:solidFill>
                          <a:effectLst/>
                          <a:latin typeface="宋体" pitchFamily="2" charset="-122"/>
                          <a:ea typeface="宋体" pitchFamily="2" charset="-122"/>
                        </a:rPr>
                        <a:t>橙</a:t>
                      </a:r>
                      <a:r>
                        <a:rPr kumimoji="0" lang="zh-CN" altLang="en-US" sz="1500" b="0" i="0" u="none" strike="noStrike" cap="none" normalizeH="0" baseline="0" dirty="0">
                          <a:ln>
                            <a:noFill/>
                          </a:ln>
                          <a:solidFill>
                            <a:schemeClr val="tx1"/>
                          </a:solidFill>
                          <a:effectLst/>
                          <a:latin typeface="Arial" pitchFamily="34" charset="0"/>
                          <a:ea typeface="宋体" pitchFamily="2" charset="-122"/>
                        </a:rPr>
                        <a:t>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9900"/>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500" b="1" i="0" u="none" strike="noStrike" cap="none" normalizeH="0" baseline="0">
                          <a:ln>
                            <a:noFill/>
                          </a:ln>
                          <a:solidFill>
                            <a:schemeClr val="tx1"/>
                          </a:solidFill>
                          <a:effectLst/>
                          <a:latin typeface="Arial" pitchFamily="34" charset="0"/>
                          <a:ea typeface="宋体"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500" b="1" i="0" u="none" strike="noStrike" cap="none" normalizeH="0" baseline="0" dirty="0">
                          <a:ln>
                            <a:noFill/>
                          </a:ln>
                          <a:solidFill>
                            <a:schemeClr val="tx1"/>
                          </a:solidFill>
                          <a:effectLst/>
                          <a:latin typeface="Arial" pitchFamily="34" charset="0"/>
                          <a:ea typeface="宋体"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500" b="1" i="0" u="none" strike="noStrike" cap="none" normalizeH="0" baseline="0">
                          <a:ln>
                            <a:noFill/>
                          </a:ln>
                          <a:solidFill>
                            <a:schemeClr val="tx1"/>
                          </a:solidFill>
                          <a:effectLst/>
                          <a:latin typeface="Arial" pitchFamily="34" charset="0"/>
                          <a:ea typeface="宋体" pitchFamily="2" charset="-122"/>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500" b="1" i="0" u="none" strike="noStrike" cap="none" normalizeH="0" baseline="0" dirty="0">
                          <a:ln>
                            <a:noFill/>
                          </a:ln>
                          <a:solidFill>
                            <a:srgbClr val="FF0000"/>
                          </a:solidFill>
                          <a:effectLst/>
                          <a:latin typeface="Arial" pitchFamily="34" charset="0"/>
                          <a:ea typeface="宋体" pitchFamily="2" charset="-122"/>
                        </a:rPr>
                        <a:t>10</a:t>
                      </a:r>
                      <a:r>
                        <a:rPr kumimoji="0" lang="en-US" sz="1500" b="1" i="0" u="none" strike="noStrike" cap="none" normalizeH="0" baseline="30000" dirty="0">
                          <a:ln>
                            <a:noFill/>
                          </a:ln>
                          <a:solidFill>
                            <a:srgbClr val="FF0000"/>
                          </a:solidFill>
                          <a:effectLst/>
                          <a:latin typeface="Arial" pitchFamily="34" charset="0"/>
                          <a:ea typeface="宋体" pitchFamily="2" charset="-122"/>
                        </a:rPr>
                        <a:t>3</a:t>
                      </a:r>
                      <a:endParaRPr kumimoji="0" lang="en-US" sz="1500" b="1" i="0" u="none" strike="noStrike" cap="none" normalizeH="0" baseline="0" dirty="0">
                        <a:ln>
                          <a:noFill/>
                        </a:ln>
                        <a:solidFill>
                          <a:srgbClr val="FF0000"/>
                        </a:solidFill>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defRPr/>
                      </a:pPr>
                      <a:r>
                        <a:rPr kumimoji="0" lang="en-US" altLang="zh-CN" sz="1600" b="1" i="0" u="none" strike="noStrike" cap="none" normalizeH="0" baseline="0" dirty="0">
                          <a:ln>
                            <a:noFill/>
                          </a:ln>
                          <a:solidFill>
                            <a:schemeClr val="tx1"/>
                          </a:solidFill>
                          <a:effectLst/>
                          <a:latin typeface="Arial" pitchFamily="34" charset="0"/>
                          <a:ea typeface="宋体" pitchFamily="2" charset="-122"/>
                        </a:rPr>
                        <a:t>/</a:t>
                      </a:r>
                      <a:endParaRPr kumimoji="0" lang="zh-CN" altLang="en-US" sz="1600" b="1"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43872">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zh-CN" altLang="en-US" sz="1500" b="0" i="0" u="none" strike="noStrike" cap="none" normalizeH="0" baseline="0" dirty="0">
                          <a:ln>
                            <a:noFill/>
                          </a:ln>
                          <a:solidFill>
                            <a:schemeClr val="tx1"/>
                          </a:solidFill>
                          <a:effectLst/>
                          <a:latin typeface="宋体" pitchFamily="2" charset="-122"/>
                          <a:ea typeface="宋体" pitchFamily="2" charset="-122"/>
                        </a:rPr>
                        <a:t>黄</a:t>
                      </a:r>
                      <a:r>
                        <a:rPr kumimoji="0" lang="zh-CN" altLang="en-US" sz="1500" b="0" i="0" u="none" strike="noStrike" cap="none" normalizeH="0" baseline="0" dirty="0">
                          <a:ln>
                            <a:noFill/>
                          </a:ln>
                          <a:solidFill>
                            <a:schemeClr val="tx1"/>
                          </a:solidFill>
                          <a:effectLst/>
                          <a:latin typeface="Arial" pitchFamily="34" charset="0"/>
                          <a:ea typeface="宋体" pitchFamily="2" charset="-122"/>
                        </a:rPr>
                        <a:t>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500" b="1" i="0" u="none" strike="noStrike" cap="none" normalizeH="0" baseline="0" dirty="0">
                          <a:ln>
                            <a:noFill/>
                          </a:ln>
                          <a:solidFill>
                            <a:schemeClr val="tx1"/>
                          </a:solidFill>
                          <a:effectLst/>
                          <a:latin typeface="Arial" pitchFamily="34" charset="0"/>
                          <a:ea typeface="宋体" pitchFamily="2" charset="-12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500" b="1" i="0" u="none" strike="noStrike" cap="none" normalizeH="0" baseline="0">
                          <a:ln>
                            <a:noFill/>
                          </a:ln>
                          <a:solidFill>
                            <a:schemeClr val="tx1"/>
                          </a:solidFill>
                          <a:effectLst/>
                          <a:latin typeface="Arial" pitchFamily="34" charset="0"/>
                          <a:ea typeface="宋体" pitchFamily="2" charset="-12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500" b="1" i="0" u="none" strike="noStrike" cap="none" normalizeH="0" baseline="0" dirty="0">
                          <a:ln>
                            <a:noFill/>
                          </a:ln>
                          <a:solidFill>
                            <a:schemeClr val="tx1"/>
                          </a:solidFill>
                          <a:effectLst/>
                          <a:latin typeface="Arial" pitchFamily="34" charset="0"/>
                          <a:ea typeface="宋体" pitchFamily="2" charset="-12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500" b="1" i="0" u="none" strike="noStrike" cap="none" normalizeH="0" baseline="0">
                          <a:ln>
                            <a:noFill/>
                          </a:ln>
                          <a:solidFill>
                            <a:srgbClr val="FF0000"/>
                          </a:solidFill>
                          <a:effectLst/>
                          <a:latin typeface="Arial" pitchFamily="34" charset="0"/>
                          <a:ea typeface="宋体" pitchFamily="2" charset="-122"/>
                        </a:rPr>
                        <a:t>10</a:t>
                      </a:r>
                      <a:r>
                        <a:rPr kumimoji="0" lang="en-US" sz="1500" b="1" i="0" u="none" strike="noStrike" cap="none" normalizeH="0" baseline="30000">
                          <a:ln>
                            <a:noFill/>
                          </a:ln>
                          <a:solidFill>
                            <a:srgbClr val="FF0000"/>
                          </a:solidFill>
                          <a:effectLst/>
                          <a:latin typeface="Arial" pitchFamily="34" charset="0"/>
                          <a:ea typeface="宋体" pitchFamily="2" charset="-122"/>
                        </a:rPr>
                        <a:t>4</a:t>
                      </a:r>
                      <a:r>
                        <a:rPr kumimoji="0" lang="en-US" sz="1500" b="1" i="0" u="none" strike="noStrike" cap="none" normalizeH="0" baseline="0">
                          <a:ln>
                            <a:noFill/>
                          </a:ln>
                          <a:solidFill>
                            <a:srgbClr val="FF0000"/>
                          </a:solidFill>
                          <a:effectLst/>
                          <a:latin typeface="Arial" pitchFamily="34" charset="0"/>
                          <a:ea typeface="宋体" pitchFamily="2" charset="-122"/>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defRPr/>
                      </a:pPr>
                      <a:r>
                        <a:rPr kumimoji="0" lang="en-US" altLang="zh-CN" sz="1600" b="1" i="0" u="none" strike="noStrike" cap="none" normalizeH="0" baseline="0" dirty="0">
                          <a:ln>
                            <a:noFill/>
                          </a:ln>
                          <a:solidFill>
                            <a:schemeClr val="tx1"/>
                          </a:solidFill>
                          <a:effectLst/>
                          <a:latin typeface="Arial" pitchFamily="34" charset="0"/>
                          <a:ea typeface="宋体" pitchFamily="2" charset="-122"/>
                        </a:rPr>
                        <a:t>/</a:t>
                      </a:r>
                      <a:endParaRPr kumimoji="0" lang="zh-CN" altLang="en-US" sz="1600" b="1"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43872">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zh-CN" altLang="en-US" sz="1500" b="0" i="0" u="none" strike="noStrike" cap="none" normalizeH="0" baseline="0" dirty="0">
                          <a:ln>
                            <a:noFill/>
                          </a:ln>
                          <a:solidFill>
                            <a:schemeClr val="tx1"/>
                          </a:solidFill>
                          <a:effectLst/>
                          <a:latin typeface="宋体" pitchFamily="2" charset="-122"/>
                          <a:ea typeface="宋体" pitchFamily="2" charset="-122"/>
                        </a:rPr>
                        <a:t>绿</a:t>
                      </a:r>
                      <a:r>
                        <a:rPr kumimoji="0" lang="zh-CN" altLang="en-US" sz="1500" b="0" i="0" u="none" strike="noStrike" cap="none" normalizeH="0" baseline="0" dirty="0">
                          <a:ln>
                            <a:noFill/>
                          </a:ln>
                          <a:solidFill>
                            <a:schemeClr val="tx1"/>
                          </a:solidFill>
                          <a:effectLst/>
                          <a:latin typeface="Arial" pitchFamily="34" charset="0"/>
                          <a:ea typeface="宋体" pitchFamily="2" charset="-122"/>
                        </a:rPr>
                        <a:t>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2D050"/>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500" b="1" i="0" u="none" strike="noStrike" cap="none" normalizeH="0" baseline="0">
                          <a:ln>
                            <a:noFill/>
                          </a:ln>
                          <a:solidFill>
                            <a:schemeClr val="tx1"/>
                          </a:solidFill>
                          <a:effectLst/>
                          <a:latin typeface="Arial" pitchFamily="34" charset="0"/>
                          <a:ea typeface="宋体" pitchFamily="2" charset="-122"/>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500" b="1" i="0" u="none" strike="noStrike" cap="none" normalizeH="0" baseline="0">
                          <a:ln>
                            <a:noFill/>
                          </a:ln>
                          <a:solidFill>
                            <a:schemeClr val="tx1"/>
                          </a:solidFill>
                          <a:effectLst/>
                          <a:latin typeface="Arial" pitchFamily="34" charset="0"/>
                          <a:ea typeface="宋体" pitchFamily="2" charset="-122"/>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500" b="1" i="0" u="none" strike="noStrike" cap="none" normalizeH="0" baseline="0" dirty="0">
                          <a:ln>
                            <a:noFill/>
                          </a:ln>
                          <a:solidFill>
                            <a:schemeClr val="tx1"/>
                          </a:solidFill>
                          <a:effectLst/>
                          <a:latin typeface="Arial" pitchFamily="34" charset="0"/>
                          <a:ea typeface="宋体" pitchFamily="2" charset="-122"/>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500" b="1" i="0" u="none" strike="noStrike" cap="none" normalizeH="0" baseline="0">
                          <a:ln>
                            <a:noFill/>
                          </a:ln>
                          <a:solidFill>
                            <a:srgbClr val="FF0000"/>
                          </a:solidFill>
                          <a:effectLst/>
                          <a:latin typeface="Arial" pitchFamily="34" charset="0"/>
                          <a:ea typeface="宋体" pitchFamily="2" charset="-122"/>
                        </a:rPr>
                        <a:t>10</a:t>
                      </a:r>
                      <a:r>
                        <a:rPr kumimoji="0" lang="en-US" sz="1500" b="1" i="0" u="none" strike="noStrike" cap="none" normalizeH="0" baseline="30000">
                          <a:ln>
                            <a:noFill/>
                          </a:ln>
                          <a:solidFill>
                            <a:srgbClr val="FF0000"/>
                          </a:solidFill>
                          <a:effectLst/>
                          <a:latin typeface="Arial" pitchFamily="34" charset="0"/>
                          <a:ea typeface="宋体" pitchFamily="2" charset="-122"/>
                        </a:rPr>
                        <a:t>5</a:t>
                      </a:r>
                      <a:r>
                        <a:rPr kumimoji="0" lang="en-US" sz="1500" b="1" i="0" u="none" strike="noStrike" cap="none" normalizeH="0" baseline="0">
                          <a:ln>
                            <a:noFill/>
                          </a:ln>
                          <a:solidFill>
                            <a:srgbClr val="FF0000"/>
                          </a:solidFill>
                          <a:effectLst/>
                          <a:latin typeface="Arial" pitchFamily="34" charset="0"/>
                          <a:ea typeface="宋体" pitchFamily="2" charset="-122"/>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4294B6"/>
                        </a:buClr>
                        <a:buSzPct val="80000"/>
                        <a:buFont typeface="Wingdings" pitchFamily="2" charset="2"/>
                        <a:buNone/>
                        <a:tabLst/>
                        <a:defRPr/>
                      </a:pPr>
                      <a:r>
                        <a:rPr kumimoji="0" lang="en-US" altLang="zh-CN" sz="1400" b="1" i="0" u="none" strike="noStrike" kern="1200" cap="none" spc="0" normalizeH="0" baseline="0" noProof="0" dirty="0">
                          <a:ln>
                            <a:noFill/>
                          </a:ln>
                          <a:solidFill>
                            <a:prstClr val="black"/>
                          </a:solidFill>
                          <a:effectLst/>
                          <a:uLnTx/>
                          <a:uFillTx/>
                          <a:latin typeface="Arial" pitchFamily="34" charset="0"/>
                          <a:ea typeface="宋体" pitchFamily="2" charset="-122"/>
                          <a:cs typeface="+mn-cs"/>
                        </a:rPr>
                        <a:t>±0.5%</a:t>
                      </a:r>
                      <a:endParaRPr kumimoji="0" lang="zh-CN" altLang="en-US" sz="1400" b="1" i="0" u="none" strike="noStrike" kern="1200" cap="none" spc="0" normalizeH="0" baseline="0" noProof="0" dirty="0">
                        <a:ln>
                          <a:noFill/>
                        </a:ln>
                        <a:solidFill>
                          <a:prstClr val="black"/>
                        </a:solidFill>
                        <a:effectLst/>
                        <a:uLnTx/>
                        <a:uFillTx/>
                        <a:latin typeface="Arial" pitchFamily="34" charset="0"/>
                        <a:ea typeface="宋体" pitchFamily="2" charset="-122"/>
                        <a:cs typeface="+mn-cs"/>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43872">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zh-CN" altLang="en-US" sz="1500" b="0" i="0" u="none" strike="noStrike" cap="none" normalizeH="0" baseline="0" dirty="0">
                          <a:ln>
                            <a:noFill/>
                          </a:ln>
                          <a:solidFill>
                            <a:schemeClr val="tx1"/>
                          </a:solidFill>
                          <a:effectLst/>
                          <a:latin typeface="宋体" pitchFamily="2" charset="-122"/>
                          <a:ea typeface="宋体" pitchFamily="2" charset="-122"/>
                        </a:rPr>
                        <a:t>蓝</a:t>
                      </a:r>
                      <a:r>
                        <a:rPr kumimoji="0" lang="zh-CN" altLang="en-US" sz="1500" b="0" i="0" u="none" strike="noStrike" cap="none" normalizeH="0" baseline="0" dirty="0">
                          <a:ln>
                            <a:noFill/>
                          </a:ln>
                          <a:solidFill>
                            <a:schemeClr val="tx1"/>
                          </a:solidFill>
                          <a:effectLst/>
                          <a:latin typeface="Arial" pitchFamily="34" charset="0"/>
                          <a:ea typeface="宋体" pitchFamily="2" charset="-122"/>
                        </a:rPr>
                        <a:t>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227ACB"/>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500" b="1" i="0" u="none" strike="noStrike" cap="none" normalizeH="0" baseline="0">
                          <a:ln>
                            <a:noFill/>
                          </a:ln>
                          <a:solidFill>
                            <a:schemeClr val="tx1"/>
                          </a:solidFill>
                          <a:effectLst/>
                          <a:latin typeface="Arial" pitchFamily="34" charset="0"/>
                          <a:ea typeface="宋体" pitchFamily="2" charset="-122"/>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500" b="1" i="0" u="none" strike="noStrike" cap="none" normalizeH="0" baseline="0" dirty="0">
                          <a:ln>
                            <a:noFill/>
                          </a:ln>
                          <a:solidFill>
                            <a:schemeClr val="tx1"/>
                          </a:solidFill>
                          <a:effectLst/>
                          <a:latin typeface="Arial" pitchFamily="34" charset="0"/>
                          <a:ea typeface="宋体" pitchFamily="2" charset="-122"/>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500" b="1" i="0" u="none" strike="noStrike" cap="none" normalizeH="0" baseline="0" dirty="0">
                          <a:ln>
                            <a:noFill/>
                          </a:ln>
                          <a:solidFill>
                            <a:schemeClr val="tx1"/>
                          </a:solidFill>
                          <a:effectLst/>
                          <a:latin typeface="Arial" pitchFamily="34" charset="0"/>
                          <a:ea typeface="宋体" pitchFamily="2" charset="-122"/>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500" b="1" i="0" u="none" strike="noStrike" cap="none" normalizeH="0" baseline="0">
                          <a:ln>
                            <a:noFill/>
                          </a:ln>
                          <a:solidFill>
                            <a:srgbClr val="FF0000"/>
                          </a:solidFill>
                          <a:effectLst/>
                          <a:latin typeface="Arial" pitchFamily="34" charset="0"/>
                          <a:ea typeface="宋体" pitchFamily="2" charset="-122"/>
                        </a:rPr>
                        <a:t>10</a:t>
                      </a:r>
                      <a:r>
                        <a:rPr kumimoji="0" lang="en-US" sz="1500" b="1" i="0" u="none" strike="noStrike" cap="none" normalizeH="0" baseline="30000">
                          <a:ln>
                            <a:noFill/>
                          </a:ln>
                          <a:solidFill>
                            <a:srgbClr val="FF0000"/>
                          </a:solidFill>
                          <a:effectLst/>
                          <a:latin typeface="Arial" pitchFamily="34" charset="0"/>
                          <a:ea typeface="宋体" pitchFamily="2" charset="-122"/>
                        </a:rPr>
                        <a:t>6</a:t>
                      </a:r>
                      <a:endParaRPr kumimoji="0" lang="en-US" sz="1500" b="1" i="0" u="none" strike="noStrike" cap="none" normalizeH="0" baseline="0">
                        <a:ln>
                          <a:noFill/>
                        </a:ln>
                        <a:solidFill>
                          <a:srgbClr val="FF0000"/>
                        </a:solidFill>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4294B6"/>
                        </a:buClr>
                        <a:buSzPct val="80000"/>
                        <a:buFont typeface="Wingdings" pitchFamily="2" charset="2"/>
                        <a:buNone/>
                        <a:tabLst/>
                        <a:defRPr/>
                      </a:pPr>
                      <a:r>
                        <a:rPr kumimoji="0" lang="en-US" altLang="zh-CN" sz="1200" b="1" i="0" u="none" strike="noStrike" kern="1200" cap="none" spc="0" normalizeH="0" baseline="0" noProof="0" dirty="0">
                          <a:ln>
                            <a:noFill/>
                          </a:ln>
                          <a:solidFill>
                            <a:prstClr val="black"/>
                          </a:solidFill>
                          <a:effectLst/>
                          <a:uLnTx/>
                          <a:uFillTx/>
                          <a:latin typeface="Arial" pitchFamily="34" charset="0"/>
                          <a:ea typeface="宋体" pitchFamily="2" charset="-122"/>
                          <a:cs typeface="+mn-cs"/>
                        </a:rPr>
                        <a:t>±0.25%</a:t>
                      </a:r>
                      <a:endParaRPr kumimoji="0" lang="zh-CN" altLang="en-US" sz="1200" b="1" i="0" u="none" strike="noStrike" kern="1200" cap="none" spc="0" normalizeH="0" baseline="0" noProof="0" dirty="0">
                        <a:ln>
                          <a:noFill/>
                        </a:ln>
                        <a:solidFill>
                          <a:prstClr val="black"/>
                        </a:solidFill>
                        <a:effectLst/>
                        <a:uLnTx/>
                        <a:uFillTx/>
                        <a:latin typeface="Arial" pitchFamily="34" charset="0"/>
                        <a:ea typeface="宋体" pitchFamily="2" charset="-122"/>
                        <a:cs typeface="+mn-cs"/>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43872">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zh-CN" altLang="en-US" sz="1500" b="0" i="0" u="none" strike="noStrike" cap="none" normalizeH="0" baseline="0" dirty="0">
                          <a:ln>
                            <a:noFill/>
                          </a:ln>
                          <a:solidFill>
                            <a:schemeClr val="tx1"/>
                          </a:solidFill>
                          <a:effectLst/>
                          <a:latin typeface="宋体" pitchFamily="2" charset="-122"/>
                          <a:ea typeface="宋体" pitchFamily="2" charset="-122"/>
                        </a:rPr>
                        <a:t>紫</a:t>
                      </a:r>
                      <a:r>
                        <a:rPr kumimoji="0" lang="zh-CN" altLang="en-US" sz="1500" b="0" i="0" u="none" strike="noStrike" cap="none" normalizeH="0" baseline="0" dirty="0">
                          <a:ln>
                            <a:noFill/>
                          </a:ln>
                          <a:solidFill>
                            <a:schemeClr val="tx1"/>
                          </a:solidFill>
                          <a:effectLst/>
                          <a:latin typeface="Arial" pitchFamily="34" charset="0"/>
                          <a:ea typeface="宋体" pitchFamily="2" charset="-122"/>
                        </a:rPr>
                        <a:t>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975CCB"/>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500" b="1" i="0" u="none" strike="noStrike" cap="none" normalizeH="0" baseline="0" dirty="0">
                          <a:ln>
                            <a:noFill/>
                          </a:ln>
                          <a:solidFill>
                            <a:schemeClr val="tx1"/>
                          </a:solidFill>
                          <a:effectLst/>
                          <a:latin typeface="Arial" pitchFamily="34" charset="0"/>
                          <a:ea typeface="宋体" pitchFamily="2" charset="-122"/>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500" b="1" i="0" u="none" strike="noStrike" cap="none" normalizeH="0" baseline="0" dirty="0">
                          <a:ln>
                            <a:noFill/>
                          </a:ln>
                          <a:solidFill>
                            <a:schemeClr val="tx1"/>
                          </a:solidFill>
                          <a:effectLst/>
                          <a:latin typeface="Arial" pitchFamily="34" charset="0"/>
                          <a:ea typeface="宋体" pitchFamily="2" charset="-122"/>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500" b="1" i="0" u="none" strike="noStrike" cap="none" normalizeH="0" baseline="0" dirty="0">
                          <a:ln>
                            <a:noFill/>
                          </a:ln>
                          <a:solidFill>
                            <a:schemeClr val="tx1"/>
                          </a:solidFill>
                          <a:effectLst/>
                          <a:latin typeface="Arial" pitchFamily="34" charset="0"/>
                          <a:ea typeface="宋体" pitchFamily="2" charset="-122"/>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500" b="1" i="0" u="none" strike="noStrike" cap="none" normalizeH="0" baseline="0">
                          <a:ln>
                            <a:noFill/>
                          </a:ln>
                          <a:solidFill>
                            <a:srgbClr val="FF0000"/>
                          </a:solidFill>
                          <a:effectLst/>
                          <a:latin typeface="Arial" pitchFamily="34" charset="0"/>
                          <a:ea typeface="宋体" pitchFamily="2" charset="-122"/>
                        </a:rPr>
                        <a:t>10</a:t>
                      </a:r>
                      <a:r>
                        <a:rPr kumimoji="0" lang="en-US" sz="1500" b="1" i="0" u="none" strike="noStrike" cap="none" normalizeH="0" baseline="30000">
                          <a:ln>
                            <a:noFill/>
                          </a:ln>
                          <a:solidFill>
                            <a:srgbClr val="FF0000"/>
                          </a:solidFill>
                          <a:effectLst/>
                          <a:latin typeface="Arial" pitchFamily="34" charset="0"/>
                          <a:ea typeface="宋体" pitchFamily="2" charset="-122"/>
                        </a:rPr>
                        <a:t>7</a:t>
                      </a:r>
                      <a:r>
                        <a:rPr kumimoji="0" lang="en-US" sz="1500" b="1" i="0" u="none" strike="noStrike" cap="none" normalizeH="0" baseline="0">
                          <a:ln>
                            <a:noFill/>
                          </a:ln>
                          <a:solidFill>
                            <a:srgbClr val="FF0000"/>
                          </a:solidFill>
                          <a:effectLst/>
                          <a:latin typeface="Arial" pitchFamily="34" charset="0"/>
                          <a:ea typeface="宋体" pitchFamily="2" charset="-122"/>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4294B6"/>
                        </a:buClr>
                        <a:buSzPct val="80000"/>
                        <a:buFont typeface="Wingdings" pitchFamily="2" charset="2"/>
                        <a:buNone/>
                        <a:tabLst/>
                        <a:defRPr/>
                      </a:pPr>
                      <a:r>
                        <a:rPr kumimoji="0" lang="en-US" altLang="zh-CN" sz="1400" b="1" i="0" u="none" strike="noStrike" kern="1200" cap="none" spc="0" normalizeH="0" baseline="0" noProof="0" dirty="0">
                          <a:ln>
                            <a:noFill/>
                          </a:ln>
                          <a:solidFill>
                            <a:prstClr val="black"/>
                          </a:solidFill>
                          <a:effectLst/>
                          <a:uLnTx/>
                          <a:uFillTx/>
                          <a:latin typeface="Arial" pitchFamily="34" charset="0"/>
                          <a:ea typeface="宋体" pitchFamily="2" charset="-122"/>
                          <a:cs typeface="+mn-cs"/>
                        </a:rPr>
                        <a:t>±0.1%</a:t>
                      </a:r>
                      <a:endParaRPr kumimoji="0" lang="zh-CN" altLang="en-US" sz="1400" b="1" i="0" u="none" strike="noStrike" kern="1200" cap="none" spc="0" normalizeH="0" baseline="0" noProof="0" dirty="0">
                        <a:ln>
                          <a:noFill/>
                        </a:ln>
                        <a:solidFill>
                          <a:prstClr val="black"/>
                        </a:solidFill>
                        <a:effectLst/>
                        <a:uLnTx/>
                        <a:uFillTx/>
                        <a:latin typeface="Arial" pitchFamily="34" charset="0"/>
                        <a:ea typeface="宋体" pitchFamily="2" charset="-122"/>
                        <a:cs typeface="+mn-cs"/>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43872">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zh-CN" altLang="en-US" sz="1500" b="0" i="0" u="none" strike="noStrike" cap="none" normalizeH="0" baseline="0" dirty="0">
                          <a:ln>
                            <a:noFill/>
                          </a:ln>
                          <a:solidFill>
                            <a:schemeClr val="tx1"/>
                          </a:solidFill>
                          <a:effectLst/>
                          <a:latin typeface="宋体" pitchFamily="2" charset="-122"/>
                          <a:ea typeface="宋体" pitchFamily="2" charset="-122"/>
                        </a:rPr>
                        <a:t>灰</a:t>
                      </a:r>
                      <a:r>
                        <a:rPr kumimoji="0" lang="zh-CN" altLang="en-US" sz="1500" b="0" i="0" u="none" strike="noStrike" cap="none" normalizeH="0" baseline="0" dirty="0">
                          <a:ln>
                            <a:noFill/>
                          </a:ln>
                          <a:solidFill>
                            <a:schemeClr val="tx1"/>
                          </a:solidFill>
                          <a:effectLst/>
                          <a:latin typeface="Arial" pitchFamily="34" charset="0"/>
                          <a:ea typeface="宋体" pitchFamily="2" charset="-122"/>
                        </a:rPr>
                        <a:t>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2A2A2"/>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500" b="1" i="0" u="none" strike="noStrike" cap="none" normalizeH="0" baseline="0">
                          <a:ln>
                            <a:noFill/>
                          </a:ln>
                          <a:solidFill>
                            <a:schemeClr val="tx1"/>
                          </a:solidFill>
                          <a:effectLst/>
                          <a:latin typeface="Arial" pitchFamily="34" charset="0"/>
                          <a:ea typeface="宋体" pitchFamily="2" charset="-122"/>
                        </a:rPr>
                        <a:t>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500" b="1" i="0" u="none" strike="noStrike" cap="none" normalizeH="0" baseline="0">
                          <a:ln>
                            <a:noFill/>
                          </a:ln>
                          <a:solidFill>
                            <a:schemeClr val="tx1"/>
                          </a:solidFill>
                          <a:effectLst/>
                          <a:latin typeface="Arial" pitchFamily="34" charset="0"/>
                          <a:ea typeface="宋体" pitchFamily="2" charset="-122"/>
                        </a:rPr>
                        <a:t>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500" b="1" i="0" u="none" strike="noStrike" cap="none" normalizeH="0" baseline="0" dirty="0">
                          <a:ln>
                            <a:noFill/>
                          </a:ln>
                          <a:solidFill>
                            <a:schemeClr val="tx1"/>
                          </a:solidFill>
                          <a:effectLst/>
                          <a:latin typeface="Arial" pitchFamily="34" charset="0"/>
                          <a:ea typeface="宋体" pitchFamily="2" charset="-122"/>
                        </a:rPr>
                        <a:t>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500" b="1" i="0" u="none" strike="noStrike" cap="none" normalizeH="0" baseline="0">
                          <a:ln>
                            <a:noFill/>
                          </a:ln>
                          <a:solidFill>
                            <a:srgbClr val="FF0000"/>
                          </a:solidFill>
                          <a:effectLst/>
                          <a:latin typeface="Arial" pitchFamily="34" charset="0"/>
                          <a:ea typeface="宋体" pitchFamily="2" charset="-122"/>
                        </a:rPr>
                        <a:t>10</a:t>
                      </a:r>
                      <a:r>
                        <a:rPr kumimoji="0" lang="en-US" sz="1500" b="1" i="0" u="none" strike="noStrike" cap="none" normalizeH="0" baseline="30000">
                          <a:ln>
                            <a:noFill/>
                          </a:ln>
                          <a:solidFill>
                            <a:srgbClr val="FF0000"/>
                          </a:solidFill>
                          <a:effectLst/>
                          <a:latin typeface="Arial" pitchFamily="34" charset="0"/>
                          <a:ea typeface="宋体" pitchFamily="2" charset="-122"/>
                        </a:rPr>
                        <a:t>8</a:t>
                      </a:r>
                      <a:endParaRPr kumimoji="0" lang="en-US" sz="1500" b="1" i="0" u="none" strike="noStrike" cap="none" normalizeH="0" baseline="0">
                        <a:ln>
                          <a:noFill/>
                        </a:ln>
                        <a:solidFill>
                          <a:srgbClr val="FF0000"/>
                        </a:solidFill>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4294B6"/>
                        </a:buClr>
                        <a:buSzPct val="80000"/>
                        <a:buFont typeface="Wingdings" pitchFamily="2" charset="2"/>
                        <a:buNone/>
                        <a:tabLst/>
                        <a:defRPr/>
                      </a:pPr>
                      <a:r>
                        <a:rPr kumimoji="0" lang="en-US" altLang="zh-CN" sz="1200" b="1" i="0" u="none" strike="noStrike" kern="1200" cap="none" spc="0" normalizeH="0" baseline="0" noProof="0" dirty="0">
                          <a:ln>
                            <a:noFill/>
                          </a:ln>
                          <a:solidFill>
                            <a:prstClr val="black"/>
                          </a:solidFill>
                          <a:effectLst/>
                          <a:uLnTx/>
                          <a:uFillTx/>
                          <a:latin typeface="Arial" pitchFamily="34" charset="0"/>
                          <a:ea typeface="宋体" pitchFamily="2" charset="-122"/>
                          <a:cs typeface="+mn-cs"/>
                        </a:rPr>
                        <a:t>±0.05%</a:t>
                      </a:r>
                      <a:endParaRPr kumimoji="0" lang="zh-CN" altLang="en-US" sz="1200" b="1" i="0" u="none" strike="noStrike" kern="1200" cap="none" spc="0" normalizeH="0" baseline="0" noProof="0" dirty="0">
                        <a:ln>
                          <a:noFill/>
                        </a:ln>
                        <a:solidFill>
                          <a:prstClr val="black"/>
                        </a:solidFill>
                        <a:effectLst/>
                        <a:uLnTx/>
                        <a:uFillTx/>
                        <a:latin typeface="Arial" pitchFamily="34" charset="0"/>
                        <a:ea typeface="宋体" pitchFamily="2" charset="-122"/>
                        <a:cs typeface="+mn-cs"/>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43872">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zh-CN" altLang="en-US" sz="1500" b="0" i="0" u="none" strike="noStrike" cap="none" normalizeH="0" baseline="0" dirty="0">
                          <a:ln>
                            <a:noFill/>
                          </a:ln>
                          <a:solidFill>
                            <a:schemeClr val="tx1"/>
                          </a:solidFill>
                          <a:effectLst/>
                          <a:latin typeface="宋体" pitchFamily="2" charset="-122"/>
                          <a:ea typeface="宋体" pitchFamily="2" charset="-122"/>
                        </a:rPr>
                        <a:t>白</a:t>
                      </a:r>
                      <a:r>
                        <a:rPr kumimoji="0" lang="zh-CN" altLang="en-US" sz="1500" b="0" i="0" u="none" strike="noStrike" cap="none" normalizeH="0" baseline="0" dirty="0">
                          <a:ln>
                            <a:noFill/>
                          </a:ln>
                          <a:solidFill>
                            <a:schemeClr val="tx1"/>
                          </a:solidFill>
                          <a:effectLst/>
                          <a:latin typeface="Arial" pitchFamily="34" charset="0"/>
                          <a:ea typeface="宋体" pitchFamily="2" charset="-122"/>
                        </a:rPr>
                        <a:t>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500" b="1" i="0" u="none" strike="noStrike" cap="none" normalizeH="0" baseline="0">
                          <a:ln>
                            <a:noFill/>
                          </a:ln>
                          <a:solidFill>
                            <a:schemeClr val="tx1"/>
                          </a:solidFill>
                          <a:effectLst/>
                          <a:latin typeface="Arial" pitchFamily="34" charset="0"/>
                          <a:ea typeface="宋体" pitchFamily="2" charset="-122"/>
                        </a:rPr>
                        <a:t>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500" b="1" i="0" u="none" strike="noStrike" cap="none" normalizeH="0" baseline="0" dirty="0">
                          <a:ln>
                            <a:noFill/>
                          </a:ln>
                          <a:solidFill>
                            <a:schemeClr val="tx1"/>
                          </a:solidFill>
                          <a:effectLst/>
                          <a:latin typeface="Arial" pitchFamily="34" charset="0"/>
                          <a:ea typeface="宋体" pitchFamily="2" charset="-122"/>
                        </a:rPr>
                        <a:t>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500" b="1" i="0" u="none" strike="noStrike" cap="none" normalizeH="0" baseline="0" dirty="0">
                          <a:ln>
                            <a:noFill/>
                          </a:ln>
                          <a:solidFill>
                            <a:schemeClr val="tx1"/>
                          </a:solidFill>
                          <a:effectLst/>
                          <a:latin typeface="Arial" pitchFamily="34" charset="0"/>
                          <a:ea typeface="宋体" pitchFamily="2" charset="-122"/>
                        </a:rPr>
                        <a:t>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500" b="1" i="0" u="none" strike="noStrike" cap="none" normalizeH="0" baseline="0">
                          <a:ln>
                            <a:noFill/>
                          </a:ln>
                          <a:solidFill>
                            <a:srgbClr val="FF0000"/>
                          </a:solidFill>
                          <a:effectLst/>
                          <a:latin typeface="Arial" pitchFamily="34" charset="0"/>
                          <a:ea typeface="宋体" pitchFamily="2" charset="-122"/>
                        </a:rPr>
                        <a:t>10</a:t>
                      </a:r>
                      <a:r>
                        <a:rPr kumimoji="0" lang="en-US" sz="1500" b="1" i="0" u="none" strike="noStrike" cap="none" normalizeH="0" baseline="30000">
                          <a:ln>
                            <a:noFill/>
                          </a:ln>
                          <a:solidFill>
                            <a:srgbClr val="FF0000"/>
                          </a:solidFill>
                          <a:effectLst/>
                          <a:latin typeface="Arial" pitchFamily="34" charset="0"/>
                          <a:ea typeface="宋体" pitchFamily="2" charset="-122"/>
                        </a:rPr>
                        <a:t>9</a:t>
                      </a:r>
                      <a:r>
                        <a:rPr kumimoji="0" lang="en-US" sz="1500" b="1" i="0" u="none" strike="noStrike" cap="none" normalizeH="0" baseline="0">
                          <a:ln>
                            <a:noFill/>
                          </a:ln>
                          <a:solidFill>
                            <a:srgbClr val="FF0000"/>
                          </a:solidFill>
                          <a:effectLst/>
                          <a:latin typeface="Arial" pitchFamily="34" charset="0"/>
                          <a:ea typeface="宋体" pitchFamily="2" charset="-122"/>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defRPr/>
                      </a:pPr>
                      <a:r>
                        <a:rPr kumimoji="0" lang="en-US" altLang="zh-CN" sz="1600" b="1" i="0" u="none" strike="noStrike" cap="none" normalizeH="0" baseline="0" dirty="0">
                          <a:ln>
                            <a:noFill/>
                          </a:ln>
                          <a:solidFill>
                            <a:schemeClr val="tx1"/>
                          </a:solidFill>
                          <a:effectLst/>
                          <a:latin typeface="Arial" pitchFamily="34" charset="0"/>
                          <a:ea typeface="宋体" pitchFamily="2" charset="-122"/>
                        </a:rPr>
                        <a:t>/</a:t>
                      </a:r>
                      <a:endParaRPr kumimoji="0" lang="zh-CN" altLang="en-US" sz="1600" b="1"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43872">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zh-CN" altLang="en-US" sz="1500" b="0" i="0" u="none" strike="noStrike" cap="none" normalizeH="0" baseline="0" dirty="0">
                          <a:ln>
                            <a:noFill/>
                          </a:ln>
                          <a:solidFill>
                            <a:schemeClr val="tx1"/>
                          </a:solidFill>
                          <a:effectLst/>
                          <a:latin typeface="宋体" pitchFamily="2" charset="-122"/>
                          <a:ea typeface="宋体" pitchFamily="2" charset="-122"/>
                        </a:rPr>
                        <a:t>金</a:t>
                      </a:r>
                      <a:r>
                        <a:rPr kumimoji="0" lang="zh-CN" altLang="en-US" sz="1500" b="0" i="0" u="none" strike="noStrike" cap="none" normalizeH="0" baseline="0" dirty="0">
                          <a:ln>
                            <a:noFill/>
                          </a:ln>
                          <a:solidFill>
                            <a:schemeClr val="tx1"/>
                          </a:solidFill>
                          <a:effectLst/>
                          <a:latin typeface="Arial" pitchFamily="34" charset="0"/>
                          <a:ea typeface="宋体" pitchFamily="2" charset="-122"/>
                        </a:rPr>
                        <a:t>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4D760"/>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endParaRPr kumimoji="0" lang="zh-CN" altLang="en-US" sz="1500" b="1"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endParaRPr kumimoji="0" lang="zh-CN" altLang="en-US" sz="1500" b="1"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endParaRPr kumimoji="0" lang="zh-CN" altLang="en-US" sz="1500" b="1"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500" b="1" i="0" u="none" strike="noStrike" cap="none" normalizeH="0" baseline="0">
                          <a:ln>
                            <a:noFill/>
                          </a:ln>
                          <a:solidFill>
                            <a:srgbClr val="FF0000"/>
                          </a:solidFill>
                          <a:effectLst/>
                          <a:latin typeface="Arial" pitchFamily="34" charset="0"/>
                          <a:ea typeface="宋体" pitchFamily="2" charset="-122"/>
                        </a:rPr>
                        <a:t>10</a:t>
                      </a:r>
                      <a:r>
                        <a:rPr kumimoji="0" lang="en-US" sz="1500" b="1" i="0" u="none" strike="noStrike" cap="none" normalizeH="0" baseline="30000">
                          <a:ln>
                            <a:noFill/>
                          </a:ln>
                          <a:solidFill>
                            <a:srgbClr val="FF0000"/>
                          </a:solidFill>
                          <a:effectLst/>
                          <a:latin typeface="Arial" pitchFamily="34" charset="0"/>
                          <a:ea typeface="宋体" pitchFamily="2" charset="-122"/>
                        </a:rPr>
                        <a:t>-1</a:t>
                      </a:r>
                      <a:r>
                        <a:rPr kumimoji="0" lang="en-US" sz="1500" b="1" i="0" u="none" strike="noStrike" cap="none" normalizeH="0" baseline="0">
                          <a:ln>
                            <a:noFill/>
                          </a:ln>
                          <a:solidFill>
                            <a:srgbClr val="FF0000"/>
                          </a:solidFill>
                          <a:effectLst/>
                          <a:latin typeface="Arial" pitchFamily="34" charset="0"/>
                          <a:ea typeface="宋体" pitchFamily="2" charset="-122"/>
                        </a:rPr>
                        <a:t>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500" b="1" i="0" u="none" strike="noStrike" cap="none" normalizeH="0" baseline="0">
                          <a:ln>
                            <a:noFill/>
                          </a:ln>
                          <a:solidFill>
                            <a:srgbClr val="008000"/>
                          </a:solidFill>
                          <a:effectLst/>
                          <a:latin typeface="宋体" pitchFamily="2" charset="-122"/>
                          <a:ea typeface="宋体" pitchFamily="2" charset="-122"/>
                        </a:rPr>
                        <a:t>±</a:t>
                      </a:r>
                      <a:r>
                        <a:rPr kumimoji="0" lang="en-US" sz="1500" b="1" i="0" u="none" strike="noStrike" cap="none" normalizeH="0" baseline="0">
                          <a:ln>
                            <a:noFill/>
                          </a:ln>
                          <a:solidFill>
                            <a:srgbClr val="008000"/>
                          </a:solidFill>
                          <a:effectLst/>
                          <a:latin typeface="Arial" pitchFamily="34" charset="0"/>
                          <a:ea typeface="宋体" pitchFamily="2" charset="-122"/>
                        </a:rPr>
                        <a:t>5%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43872">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zh-CN" altLang="en-US" sz="1500" b="0" i="0" u="none" strike="noStrike" cap="none" normalizeH="0" baseline="0" dirty="0">
                          <a:ln>
                            <a:noFill/>
                          </a:ln>
                          <a:solidFill>
                            <a:schemeClr val="tx1"/>
                          </a:solidFill>
                          <a:effectLst/>
                          <a:latin typeface="宋体" pitchFamily="2" charset="-122"/>
                          <a:ea typeface="宋体" pitchFamily="2" charset="-122"/>
                        </a:rPr>
                        <a:t>银</a:t>
                      </a:r>
                      <a:r>
                        <a:rPr kumimoji="0" lang="zh-CN" altLang="en-US" sz="1500" b="0" i="0" u="none" strike="noStrike" cap="none" normalizeH="0" baseline="0" dirty="0">
                          <a:ln>
                            <a:noFill/>
                          </a:ln>
                          <a:solidFill>
                            <a:schemeClr val="tx1"/>
                          </a:solidFill>
                          <a:effectLst/>
                          <a:latin typeface="Arial" pitchFamily="34" charset="0"/>
                          <a:ea typeface="宋体" pitchFamily="2" charset="-122"/>
                        </a:rPr>
                        <a:t>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endParaRPr kumimoji="0" lang="zh-CN" altLang="en-US" sz="1500" b="1"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endParaRPr kumimoji="0" lang="zh-CN" altLang="en-US" sz="1500" b="1"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endParaRPr kumimoji="0" lang="zh-CN" altLang="en-US" sz="1500" b="1"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500" b="1" i="0" u="none" strike="noStrike" cap="none" normalizeH="0" baseline="0">
                          <a:ln>
                            <a:noFill/>
                          </a:ln>
                          <a:solidFill>
                            <a:srgbClr val="FF0000"/>
                          </a:solidFill>
                          <a:effectLst/>
                          <a:latin typeface="Arial" pitchFamily="34" charset="0"/>
                          <a:ea typeface="宋体" pitchFamily="2" charset="-122"/>
                        </a:rPr>
                        <a:t>10</a:t>
                      </a:r>
                      <a:r>
                        <a:rPr kumimoji="0" lang="en-US" sz="1500" b="1" i="0" u="none" strike="noStrike" cap="none" normalizeH="0" baseline="30000">
                          <a:ln>
                            <a:noFill/>
                          </a:ln>
                          <a:solidFill>
                            <a:srgbClr val="FF0000"/>
                          </a:solidFill>
                          <a:effectLst/>
                          <a:latin typeface="Arial" pitchFamily="34" charset="0"/>
                          <a:ea typeface="宋体" pitchFamily="2" charset="-122"/>
                        </a:rPr>
                        <a:t>-2</a:t>
                      </a:r>
                      <a:endParaRPr kumimoji="0" lang="en-US" sz="1500" b="1" i="0" u="none" strike="noStrike" cap="none" normalizeH="0" baseline="0">
                        <a:ln>
                          <a:noFill/>
                        </a:ln>
                        <a:solidFill>
                          <a:srgbClr val="FF0000"/>
                        </a:solidFill>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500" b="1" i="0" u="none" strike="noStrike" cap="none" normalizeH="0" baseline="0">
                          <a:ln>
                            <a:noFill/>
                          </a:ln>
                          <a:solidFill>
                            <a:srgbClr val="008000"/>
                          </a:solidFill>
                          <a:effectLst/>
                          <a:latin typeface="宋体" pitchFamily="2" charset="-122"/>
                          <a:ea typeface="宋体" pitchFamily="2" charset="-122"/>
                        </a:rPr>
                        <a:t>±</a:t>
                      </a:r>
                      <a:r>
                        <a:rPr kumimoji="0" lang="en-US" sz="1500" b="1" i="0" u="none" strike="noStrike" cap="none" normalizeH="0" baseline="0">
                          <a:ln>
                            <a:noFill/>
                          </a:ln>
                          <a:solidFill>
                            <a:srgbClr val="008000"/>
                          </a:solidFill>
                          <a:effectLst/>
                          <a:latin typeface="Arial" pitchFamily="34" charset="0"/>
                          <a:ea typeface="宋体" pitchFamily="2" charset="-122"/>
                        </a:rPr>
                        <a:t>10%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265444">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zh-CN" altLang="en-US" sz="1500" b="0" i="0" u="none" strike="noStrike" cap="none" normalizeH="0" baseline="0" dirty="0">
                          <a:ln>
                            <a:noFill/>
                          </a:ln>
                          <a:solidFill>
                            <a:schemeClr val="tx1"/>
                          </a:solidFill>
                          <a:effectLst/>
                          <a:latin typeface="宋体" pitchFamily="2" charset="-122"/>
                          <a:ea typeface="宋体" pitchFamily="2" charset="-122"/>
                        </a:rPr>
                        <a:t>无色</a:t>
                      </a:r>
                      <a:r>
                        <a:rPr kumimoji="0" lang="zh-CN" altLang="en-US" sz="1500" b="0" i="0" u="none" strike="noStrike" cap="none" normalizeH="0" baseline="0" dirty="0">
                          <a:ln>
                            <a:noFill/>
                          </a:ln>
                          <a:solidFill>
                            <a:schemeClr val="tx1"/>
                          </a:solidFill>
                          <a:effectLst/>
                          <a:latin typeface="Arial" pitchFamily="34" charset="0"/>
                          <a:ea typeface="宋体" pitchFamily="2" charset="-122"/>
                        </a:rPr>
                        <a:t>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endParaRPr kumimoji="0" lang="zh-CN" altLang="en-US" sz="1500" b="1"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endParaRPr kumimoji="0" lang="zh-CN" altLang="en-US" sz="1500" b="1" i="0" u="none" strike="noStrike" cap="none" normalizeH="0" baseline="0" dirty="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endParaRPr kumimoji="0" lang="zh-CN" altLang="en-US" sz="1500" b="1"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endParaRPr kumimoji="0" lang="zh-CN" altLang="en-US" sz="1500" b="1" i="0" u="none" strike="noStrike" cap="none" normalizeH="0" baseline="0">
                        <a:ln>
                          <a:noFill/>
                        </a:ln>
                        <a:solidFill>
                          <a:schemeClr val="tx1"/>
                        </a:solidFill>
                        <a:effectLst/>
                        <a:latin typeface="Arial" pitchFamily="34"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Pct val="80000"/>
                        <a:buFont typeface="Wingdings" pitchFamily="2" charset="2"/>
                        <a:buNone/>
                        <a:tabLst/>
                      </a:pPr>
                      <a:r>
                        <a:rPr kumimoji="0" lang="en-US" sz="1500" b="1" i="0" u="none" strike="noStrike" cap="none" normalizeH="0" baseline="0" dirty="0">
                          <a:ln>
                            <a:noFill/>
                          </a:ln>
                          <a:solidFill>
                            <a:srgbClr val="008000"/>
                          </a:solidFill>
                          <a:effectLst/>
                          <a:latin typeface="宋体" pitchFamily="2" charset="-122"/>
                          <a:ea typeface="宋体" pitchFamily="2" charset="-122"/>
                        </a:rPr>
                        <a:t>±</a:t>
                      </a:r>
                      <a:r>
                        <a:rPr kumimoji="0" lang="en-US" sz="1500" b="1" i="0" u="none" strike="noStrike" cap="none" normalizeH="0" baseline="0" dirty="0">
                          <a:ln>
                            <a:noFill/>
                          </a:ln>
                          <a:solidFill>
                            <a:srgbClr val="008000"/>
                          </a:solidFill>
                          <a:effectLst/>
                          <a:latin typeface="Arial" pitchFamily="34" charset="0"/>
                          <a:ea typeface="宋体" pitchFamily="2" charset="-122"/>
                        </a:rPr>
                        <a:t>20%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bl>
          </a:graphicData>
        </a:graphic>
      </p:graphicFrame>
      <p:sp>
        <p:nvSpPr>
          <p:cNvPr id="43010" name="Rectangle 2"/>
          <p:cNvSpPr txBox="1">
            <a:spLocks noChangeArrowheads="1"/>
          </p:cNvSpPr>
          <p:nvPr/>
        </p:nvSpPr>
        <p:spPr>
          <a:xfrm>
            <a:off x="5004048" y="279894"/>
            <a:ext cx="2518636" cy="432048"/>
          </a:xfrm>
          <a:prstGeom prst="rect">
            <a:avLst/>
          </a:prstGeom>
        </p:spPr>
        <p:txBody>
          <a:bodyPr vert="horz" lIns="91440" tIns="45720" rIns="91440" bIns="0" rtlCol="0" anchor="b">
            <a:normAutofit fontScale="90000" lnSpcReduction="10000"/>
          </a:bodyPr>
          <a:lstStyle>
            <a:lvl1pPr algn="l" defTabSz="685800" rtl="0" eaLnBrk="1" latinLnBrk="0" hangingPunct="1">
              <a:lnSpc>
                <a:spcPct val="90000"/>
              </a:lnSpc>
              <a:spcBef>
                <a:spcPct val="0"/>
              </a:spcBef>
              <a:buNone/>
              <a:defRPr sz="5400" b="0" i="0" kern="1200" cap="none">
                <a:solidFill>
                  <a:schemeClr val="tx1"/>
                </a:solidFill>
                <a:effectLst/>
                <a:latin typeface="+mj-lt"/>
                <a:ea typeface="+mj-ea"/>
                <a:cs typeface="+mj-cs"/>
              </a:defRPr>
            </a:lvl1pPr>
          </a:lstStyle>
          <a:p>
            <a:r>
              <a:rPr lang="zh-CN" altLang="en-US" sz="3200" dirty="0">
                <a:ea typeface="华文行楷" pitchFamily="2" charset="-122"/>
              </a:rPr>
              <a:t>五色环表示法</a:t>
            </a:r>
            <a:endParaRPr lang="zh-CN" altLang="en-US" dirty="0">
              <a:ea typeface="华文行楷" pitchFamily="2" charset="-122"/>
            </a:endParaRPr>
          </a:p>
        </p:txBody>
      </p:sp>
      <p:pic>
        <p:nvPicPr>
          <p:cNvPr id="5" name="图片 4">
            <a:extLst>
              <a:ext uri="{FF2B5EF4-FFF2-40B4-BE49-F238E27FC236}">
                <a16:creationId xmlns:a16="http://schemas.microsoft.com/office/drawing/2014/main" id="{E4AD1ED0-3300-6F4D-3134-0D456C681AFF}"/>
              </a:ext>
            </a:extLst>
          </p:cNvPr>
          <p:cNvPicPr>
            <a:picLocks noChangeAspect="1"/>
          </p:cNvPicPr>
          <p:nvPr/>
        </p:nvPicPr>
        <p:blipFill>
          <a:blip r:embed="rId3"/>
          <a:stretch>
            <a:fillRect/>
          </a:stretch>
        </p:blipFill>
        <p:spPr>
          <a:xfrm>
            <a:off x="4384644" y="6146408"/>
            <a:ext cx="1777549" cy="684122"/>
          </a:xfrm>
          <a:prstGeom prst="rect">
            <a:avLst/>
          </a:prstGeom>
        </p:spPr>
      </p:pic>
      <p:pic>
        <p:nvPicPr>
          <p:cNvPr id="7" name="图片 6">
            <a:extLst>
              <a:ext uri="{FF2B5EF4-FFF2-40B4-BE49-F238E27FC236}">
                <a16:creationId xmlns:a16="http://schemas.microsoft.com/office/drawing/2014/main" id="{28DB2F98-8AAB-A5E7-A665-8C6823A6E122}"/>
              </a:ext>
            </a:extLst>
          </p:cNvPr>
          <p:cNvPicPr>
            <a:picLocks noChangeAspect="1"/>
          </p:cNvPicPr>
          <p:nvPr/>
        </p:nvPicPr>
        <p:blipFill>
          <a:blip r:embed="rId4"/>
          <a:srcRect t="4472"/>
          <a:stretch/>
        </p:blipFill>
        <p:spPr>
          <a:xfrm>
            <a:off x="251520" y="6143807"/>
            <a:ext cx="1656856" cy="602726"/>
          </a:xfrm>
          <a:prstGeom prst="rect">
            <a:avLst/>
          </a:prstGeom>
        </p:spPr>
      </p:pic>
      <p:sp>
        <p:nvSpPr>
          <p:cNvPr id="4" name="文本框 3">
            <a:extLst>
              <a:ext uri="{FF2B5EF4-FFF2-40B4-BE49-F238E27FC236}">
                <a16:creationId xmlns:a16="http://schemas.microsoft.com/office/drawing/2014/main" id="{FA5D17BA-F05E-1D85-4627-AC2A7963D484}"/>
              </a:ext>
            </a:extLst>
          </p:cNvPr>
          <p:cNvSpPr txBox="1"/>
          <p:nvPr/>
        </p:nvSpPr>
        <p:spPr>
          <a:xfrm>
            <a:off x="2195736" y="6165304"/>
            <a:ext cx="1795684" cy="646331"/>
          </a:xfrm>
          <a:prstGeom prst="rect">
            <a:avLst/>
          </a:prstGeom>
          <a:solidFill>
            <a:schemeClr val="accent3">
              <a:lumMod val="40000"/>
              <a:lumOff val="60000"/>
            </a:schemeClr>
          </a:solidFill>
        </p:spPr>
        <p:txBody>
          <a:bodyPr wrap="none" rtlCol="0">
            <a:spAutoFit/>
          </a:bodyPr>
          <a:lstStyle/>
          <a:p>
            <a:r>
              <a:rPr lang="en-US" altLang="zh-CN" dirty="0"/>
              <a:t>1·0·10</a:t>
            </a:r>
            <a:r>
              <a:rPr lang="en-US" altLang="zh-CN" baseline="30000" dirty="0"/>
              <a:t>2</a:t>
            </a:r>
            <a:r>
              <a:rPr lang="en-US" altLang="zh-CN" dirty="0"/>
              <a:t>Ω·±10%</a:t>
            </a:r>
          </a:p>
          <a:p>
            <a:r>
              <a:rPr lang="en-US" altLang="zh-CN" dirty="0"/>
              <a:t>=1kΩ·±10%</a:t>
            </a:r>
          </a:p>
        </p:txBody>
      </p:sp>
      <p:sp>
        <p:nvSpPr>
          <p:cNvPr id="6" name="文本框 5">
            <a:extLst>
              <a:ext uri="{FF2B5EF4-FFF2-40B4-BE49-F238E27FC236}">
                <a16:creationId xmlns:a16="http://schemas.microsoft.com/office/drawing/2014/main" id="{2662199F-13C4-A096-85D1-0C1501DC6906}"/>
              </a:ext>
            </a:extLst>
          </p:cNvPr>
          <p:cNvSpPr txBox="1"/>
          <p:nvPr/>
        </p:nvSpPr>
        <p:spPr>
          <a:xfrm>
            <a:off x="6539542" y="6134070"/>
            <a:ext cx="2286203" cy="646331"/>
          </a:xfrm>
          <a:prstGeom prst="rect">
            <a:avLst/>
          </a:prstGeom>
          <a:solidFill>
            <a:schemeClr val="accent3">
              <a:lumMod val="40000"/>
              <a:lumOff val="60000"/>
            </a:schemeClr>
          </a:solidFill>
        </p:spPr>
        <p:txBody>
          <a:bodyPr wrap="none" rtlCol="0">
            <a:spAutoFit/>
          </a:bodyPr>
          <a:lstStyle/>
          <a:p>
            <a:r>
              <a:rPr lang="en-US" altLang="zh-CN" dirty="0"/>
              <a:t>1·0·2·10</a:t>
            </a:r>
            <a:r>
              <a:rPr lang="en-US" altLang="zh-CN" baseline="30000" dirty="0"/>
              <a:t>4</a:t>
            </a:r>
            <a:r>
              <a:rPr lang="en-US" altLang="zh-CN" dirty="0"/>
              <a:t>Ω·±10%</a:t>
            </a:r>
          </a:p>
          <a:p>
            <a:r>
              <a:rPr lang="en-US" altLang="zh-CN" dirty="0"/>
              <a:t>=1.02×10</a:t>
            </a:r>
            <a:r>
              <a:rPr lang="en-US" altLang="zh-CN" baseline="30000" dirty="0"/>
              <a:t>3</a:t>
            </a:r>
            <a:r>
              <a:rPr lang="en-US" altLang="zh-CN" dirty="0"/>
              <a:t>kΩ·±10%</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570B1DA-142F-EF6A-C1A0-C4651F90E31E}"/>
              </a:ext>
            </a:extLst>
          </p:cNvPr>
          <p:cNvSpPr>
            <a:spLocks noGrp="1"/>
          </p:cNvSpPr>
          <p:nvPr>
            <p:ph type="title"/>
          </p:nvPr>
        </p:nvSpPr>
        <p:spPr>
          <a:xfrm>
            <a:off x="4007756" y="801048"/>
            <a:ext cx="2912003" cy="5508272"/>
          </a:xfrm>
        </p:spPr>
        <p:txBody>
          <a:bodyPr>
            <a:normAutofit/>
          </a:bodyPr>
          <a:lstStyle/>
          <a:p>
            <a:r>
              <a:rPr lang="zh-CN" altLang="en-US" sz="2400" b="1" dirty="0">
                <a:latin typeface="黑体" panose="02010609060101010101" pitchFamily="49" charset="-122"/>
                <a:ea typeface="黑体" panose="02010609060101010101" pitchFamily="49" charset="-122"/>
              </a:rPr>
              <a:t>红紫黑红棕：</a:t>
            </a:r>
            <a:br>
              <a:rPr lang="en-US" altLang="zh-CN" sz="2400" b="1" dirty="0">
                <a:latin typeface="黑体" panose="02010609060101010101" pitchFamily="49" charset="-122"/>
                <a:ea typeface="黑体" panose="02010609060101010101" pitchFamily="49" charset="-122"/>
              </a:rPr>
            </a:br>
            <a:br>
              <a:rPr lang="en-US" altLang="zh-CN" sz="2400" b="1" dirty="0">
                <a:latin typeface="黑体" panose="02010609060101010101" pitchFamily="49" charset="-122"/>
                <a:ea typeface="黑体" panose="02010609060101010101" pitchFamily="49" charset="-122"/>
              </a:rPr>
            </a:br>
            <a:br>
              <a:rPr lang="en-US" altLang="zh-CN" sz="2400" b="1" dirty="0">
                <a:latin typeface="黑体" panose="02010609060101010101" pitchFamily="49" charset="-122"/>
                <a:ea typeface="黑体" panose="02010609060101010101" pitchFamily="49" charset="-122"/>
              </a:rPr>
            </a:br>
            <a:br>
              <a:rPr lang="en-US" altLang="zh-CN" sz="2400" b="1" dirty="0">
                <a:latin typeface="黑体" panose="02010609060101010101" pitchFamily="49" charset="-122"/>
                <a:ea typeface="黑体" panose="02010609060101010101" pitchFamily="49" charset="-122"/>
              </a:rPr>
            </a:br>
            <a:r>
              <a:rPr lang="zh-CN" altLang="en-US" sz="2400" b="1" dirty="0">
                <a:latin typeface="黑体" panose="02010609060101010101" pitchFamily="49" charset="-122"/>
                <a:ea typeface="黑体" panose="02010609060101010101" pitchFamily="49" charset="-122"/>
              </a:rPr>
              <a:t>棕红黑黑棕：</a:t>
            </a:r>
            <a:br>
              <a:rPr lang="en-US" altLang="zh-CN" sz="2400" b="1" dirty="0">
                <a:latin typeface="黑体" panose="02010609060101010101" pitchFamily="49" charset="-122"/>
                <a:ea typeface="黑体" panose="02010609060101010101" pitchFamily="49" charset="-122"/>
              </a:rPr>
            </a:br>
            <a:br>
              <a:rPr lang="en-US" altLang="zh-CN" sz="2400" b="1" dirty="0">
                <a:latin typeface="黑体" panose="02010609060101010101" pitchFamily="49" charset="-122"/>
                <a:ea typeface="黑体" panose="02010609060101010101" pitchFamily="49" charset="-122"/>
              </a:rPr>
            </a:br>
            <a:br>
              <a:rPr lang="en-US" altLang="zh-CN" sz="2400" b="1" dirty="0">
                <a:latin typeface="黑体" panose="02010609060101010101" pitchFamily="49" charset="-122"/>
                <a:ea typeface="黑体" panose="02010609060101010101" pitchFamily="49" charset="-122"/>
              </a:rPr>
            </a:br>
            <a:br>
              <a:rPr lang="en-US" altLang="zh-CN" sz="2400" b="1" dirty="0">
                <a:latin typeface="黑体" panose="02010609060101010101" pitchFamily="49" charset="-122"/>
                <a:ea typeface="黑体" panose="02010609060101010101" pitchFamily="49" charset="-122"/>
              </a:rPr>
            </a:br>
            <a:r>
              <a:rPr lang="zh-CN" altLang="en-US" sz="2400" b="1" dirty="0">
                <a:latin typeface="黑体" panose="02010609060101010101" pitchFamily="49" charset="-122"/>
                <a:ea typeface="黑体" panose="02010609060101010101" pitchFamily="49" charset="-122"/>
              </a:rPr>
              <a:t>棕棕黑紫</a:t>
            </a:r>
            <a:r>
              <a:rPr lang="zh-CN" altLang="en-US" sz="2400" b="1" dirty="0">
                <a:solidFill>
                  <a:srgbClr val="FF0000"/>
                </a:solidFill>
                <a:latin typeface="黑体" panose="02010609060101010101" pitchFamily="49" charset="-122"/>
                <a:ea typeface="黑体" panose="02010609060101010101" pitchFamily="49" charset="-122"/>
              </a:rPr>
              <a:t>红</a:t>
            </a:r>
            <a:r>
              <a:rPr lang="zh-CN" altLang="en-US" sz="2400" b="1" dirty="0">
                <a:latin typeface="黑体" panose="02010609060101010101" pitchFamily="49" charset="-122"/>
                <a:ea typeface="黑体" panose="02010609060101010101" pitchFamily="49" charset="-122"/>
              </a:rPr>
              <a:t>：</a:t>
            </a:r>
            <a:br>
              <a:rPr lang="en-US" altLang="zh-CN" sz="2400" b="1" dirty="0">
                <a:latin typeface="黑体" panose="02010609060101010101" pitchFamily="49" charset="-122"/>
                <a:ea typeface="黑体" panose="02010609060101010101" pitchFamily="49" charset="-122"/>
              </a:rPr>
            </a:br>
            <a:br>
              <a:rPr lang="en-US" altLang="zh-CN" sz="2400" b="1" dirty="0">
                <a:latin typeface="黑体" panose="02010609060101010101" pitchFamily="49" charset="-122"/>
                <a:ea typeface="黑体" panose="02010609060101010101" pitchFamily="49" charset="-122"/>
              </a:rPr>
            </a:br>
            <a:br>
              <a:rPr lang="en-US" altLang="zh-CN" sz="2400" b="1" dirty="0">
                <a:latin typeface="黑体" panose="02010609060101010101" pitchFamily="49" charset="-122"/>
                <a:ea typeface="黑体" panose="02010609060101010101" pitchFamily="49" charset="-122"/>
              </a:rPr>
            </a:br>
            <a:br>
              <a:rPr lang="en-US" altLang="zh-CN" sz="2400" b="1" dirty="0">
                <a:latin typeface="黑体" panose="02010609060101010101" pitchFamily="49" charset="-122"/>
                <a:ea typeface="黑体" panose="02010609060101010101" pitchFamily="49" charset="-122"/>
              </a:rPr>
            </a:br>
            <a:br>
              <a:rPr lang="en-US" altLang="zh-CN" sz="2400" b="1" dirty="0">
                <a:latin typeface="黑体" panose="02010609060101010101" pitchFamily="49" charset="-122"/>
                <a:ea typeface="黑体" panose="02010609060101010101" pitchFamily="49" charset="-122"/>
              </a:rPr>
            </a:br>
            <a:r>
              <a:rPr lang="zh-CN" altLang="en-US" sz="2400" b="1" dirty="0">
                <a:latin typeface="黑体" panose="02010609060101010101" pitchFamily="49" charset="-122"/>
                <a:ea typeface="黑体" panose="02010609060101010101" pitchFamily="49" charset="-122"/>
              </a:rPr>
              <a:t>黄紫黑银</a:t>
            </a:r>
            <a:r>
              <a:rPr lang="zh-CN" altLang="en-US" sz="2400" b="1" dirty="0">
                <a:solidFill>
                  <a:srgbClr val="FF0000"/>
                </a:solidFill>
                <a:latin typeface="黑体" panose="02010609060101010101" pitchFamily="49" charset="-122"/>
                <a:ea typeface="黑体" panose="02010609060101010101" pitchFamily="49" charset="-122"/>
              </a:rPr>
              <a:t>绿</a:t>
            </a:r>
            <a:r>
              <a:rPr lang="zh-CN" altLang="en-US" sz="2400" b="1" dirty="0">
                <a:latin typeface="黑体" panose="02010609060101010101" pitchFamily="49" charset="-122"/>
                <a:ea typeface="黑体" panose="02010609060101010101" pitchFamily="49" charset="-122"/>
              </a:rPr>
              <a:t>：</a:t>
            </a:r>
            <a:br>
              <a:rPr lang="en-US" altLang="zh-CN" sz="2400" b="1" dirty="0">
                <a:latin typeface="黑体" panose="02010609060101010101" pitchFamily="49" charset="-122"/>
                <a:ea typeface="黑体" panose="02010609060101010101" pitchFamily="49" charset="-122"/>
              </a:rPr>
            </a:br>
            <a:br>
              <a:rPr lang="en-US" altLang="zh-CN" sz="2400" b="1" dirty="0">
                <a:latin typeface="黑体" panose="02010609060101010101" pitchFamily="49" charset="-122"/>
                <a:ea typeface="黑体" panose="02010609060101010101" pitchFamily="49" charset="-122"/>
              </a:rPr>
            </a:br>
            <a:endParaRPr lang="zh-CN" altLang="en-US" sz="2400" b="1" dirty="0">
              <a:latin typeface="黑体" panose="02010609060101010101" pitchFamily="49" charset="-122"/>
              <a:ea typeface="黑体" panose="02010609060101010101" pitchFamily="49" charset="-122"/>
            </a:endParaRPr>
          </a:p>
        </p:txBody>
      </p:sp>
      <p:sp>
        <p:nvSpPr>
          <p:cNvPr id="4" name="灯片编号占位符 3">
            <a:extLst>
              <a:ext uri="{FF2B5EF4-FFF2-40B4-BE49-F238E27FC236}">
                <a16:creationId xmlns:a16="http://schemas.microsoft.com/office/drawing/2014/main" id="{C57D0A5E-C33F-5453-0BE2-8D5ACD8B795C}"/>
              </a:ext>
            </a:extLst>
          </p:cNvPr>
          <p:cNvSpPr>
            <a:spLocks noGrp="1"/>
          </p:cNvSpPr>
          <p:nvPr>
            <p:ph type="sldNum" sz="quarter" idx="12"/>
          </p:nvPr>
        </p:nvSpPr>
        <p:spPr/>
        <p:txBody>
          <a:bodyPr/>
          <a:lstStyle/>
          <a:p>
            <a:pPr>
              <a:defRPr/>
            </a:pPr>
            <a:fld id="{5FAFB815-62BA-464E-901C-79D108092E38}" type="slidenum">
              <a:rPr lang="zh-CN" altLang="en-US" smtClean="0"/>
              <a:pPr>
                <a:defRPr/>
              </a:pPr>
              <a:t>30</a:t>
            </a:fld>
            <a:endParaRPr lang="en-US" altLang="zh-CN"/>
          </a:p>
        </p:txBody>
      </p:sp>
      <p:sp>
        <p:nvSpPr>
          <p:cNvPr id="5" name="标题 1">
            <a:extLst>
              <a:ext uri="{FF2B5EF4-FFF2-40B4-BE49-F238E27FC236}">
                <a16:creationId xmlns:a16="http://schemas.microsoft.com/office/drawing/2014/main" id="{718931B6-D0D0-707C-6A7C-F77E764A39DB}"/>
              </a:ext>
            </a:extLst>
          </p:cNvPr>
          <p:cNvSpPr txBox="1">
            <a:spLocks/>
          </p:cNvSpPr>
          <p:nvPr/>
        </p:nvSpPr>
        <p:spPr>
          <a:xfrm>
            <a:off x="827585" y="956172"/>
            <a:ext cx="2376264" cy="5713188"/>
          </a:xfrm>
          <a:prstGeom prst="rect">
            <a:avLst/>
          </a:prstGeom>
        </p:spPr>
        <p:txBody>
          <a:bodyPr vert="horz" lIns="91440" tIns="45720" rIns="91440" bIns="45720" rtlCol="0" anchor="t">
            <a:normAutofit/>
          </a:bodyPr>
          <a:lstStyle>
            <a:lvl1pPr algn="l" defTabSz="685800" rtl="0" eaLnBrk="1" latinLnBrk="0" hangingPunct="1">
              <a:lnSpc>
                <a:spcPct val="90000"/>
              </a:lnSpc>
              <a:spcBef>
                <a:spcPct val="0"/>
              </a:spcBef>
              <a:buNone/>
              <a:defRPr sz="3200" b="0" i="0" kern="1200" cap="none">
                <a:solidFill>
                  <a:schemeClr val="tx1"/>
                </a:solidFill>
                <a:effectLst/>
                <a:latin typeface="+mj-lt"/>
                <a:ea typeface="+mj-ea"/>
                <a:cs typeface="+mj-cs"/>
              </a:defRPr>
            </a:lvl1pPr>
          </a:lstStyle>
          <a:p>
            <a:r>
              <a:rPr lang="zh-CN" altLang="en-US" sz="2400" b="1" dirty="0">
                <a:latin typeface="黑体" panose="02010609060101010101" pitchFamily="49" charset="-122"/>
                <a:ea typeface="黑体" panose="02010609060101010101" pitchFamily="49" charset="-122"/>
              </a:rPr>
              <a:t>红紫橙金：</a:t>
            </a:r>
            <a:br>
              <a:rPr lang="en-US" altLang="zh-CN" sz="2400" b="1" dirty="0">
                <a:latin typeface="黑体" panose="02010609060101010101" pitchFamily="49" charset="-122"/>
                <a:ea typeface="黑体" panose="02010609060101010101" pitchFamily="49" charset="-122"/>
              </a:rPr>
            </a:br>
            <a:endParaRPr lang="en-US" altLang="zh-CN" sz="2400" b="1" dirty="0">
              <a:latin typeface="黑体" panose="02010609060101010101" pitchFamily="49" charset="-122"/>
              <a:ea typeface="黑体" panose="02010609060101010101" pitchFamily="49" charset="-122"/>
            </a:endParaRPr>
          </a:p>
          <a:p>
            <a:endParaRPr lang="en-US" altLang="zh-CN" sz="2400" b="1" dirty="0">
              <a:latin typeface="黑体" panose="02010609060101010101" pitchFamily="49" charset="-122"/>
              <a:ea typeface="黑体" panose="02010609060101010101" pitchFamily="49" charset="-122"/>
            </a:endParaRPr>
          </a:p>
          <a:p>
            <a:endParaRPr lang="en-US" altLang="zh-CN" sz="2400" b="1" dirty="0">
              <a:latin typeface="黑体" panose="02010609060101010101" pitchFamily="49" charset="-122"/>
              <a:ea typeface="黑体" panose="02010609060101010101" pitchFamily="49" charset="-122"/>
            </a:endParaRPr>
          </a:p>
          <a:p>
            <a:r>
              <a:rPr lang="zh-CN" altLang="en-US" sz="2400" b="1" dirty="0">
                <a:latin typeface="黑体" panose="02010609060101010101" pitchFamily="49" charset="-122"/>
                <a:ea typeface="黑体" panose="02010609060101010101" pitchFamily="49" charset="-122"/>
              </a:rPr>
              <a:t>绿蓝棕金：</a:t>
            </a:r>
            <a:br>
              <a:rPr lang="en-US" altLang="zh-CN" sz="2400" b="1" dirty="0">
                <a:latin typeface="黑体" panose="02010609060101010101" pitchFamily="49" charset="-122"/>
                <a:ea typeface="黑体" panose="02010609060101010101" pitchFamily="49" charset="-122"/>
              </a:rPr>
            </a:br>
            <a:endParaRPr lang="en-US" altLang="zh-CN" sz="2400" b="1" dirty="0">
              <a:latin typeface="黑体" panose="02010609060101010101" pitchFamily="49" charset="-122"/>
              <a:ea typeface="黑体" panose="02010609060101010101" pitchFamily="49" charset="-122"/>
            </a:endParaRPr>
          </a:p>
          <a:p>
            <a:endParaRPr lang="en-US" altLang="zh-CN" sz="2400" b="1" dirty="0">
              <a:latin typeface="黑体" panose="02010609060101010101" pitchFamily="49" charset="-122"/>
              <a:ea typeface="黑体" panose="02010609060101010101" pitchFamily="49" charset="-122"/>
            </a:endParaRPr>
          </a:p>
          <a:p>
            <a:endParaRPr lang="en-US" altLang="zh-CN" sz="2400" b="1" dirty="0">
              <a:latin typeface="黑体" panose="02010609060101010101" pitchFamily="49" charset="-122"/>
              <a:ea typeface="黑体" panose="02010609060101010101" pitchFamily="49" charset="-122"/>
            </a:endParaRPr>
          </a:p>
          <a:p>
            <a:r>
              <a:rPr lang="zh-CN" altLang="en-US" sz="2400" b="1" dirty="0">
                <a:latin typeface="黑体" panose="02010609060101010101" pitchFamily="49" charset="-122"/>
                <a:ea typeface="黑体" panose="02010609060101010101" pitchFamily="49" charset="-122"/>
              </a:rPr>
              <a:t>黄紫银金：</a:t>
            </a:r>
            <a:br>
              <a:rPr lang="en-US" altLang="zh-CN" sz="2400" b="1" dirty="0">
                <a:latin typeface="黑体" panose="02010609060101010101" pitchFamily="49" charset="-122"/>
                <a:ea typeface="黑体" panose="02010609060101010101" pitchFamily="49" charset="-122"/>
              </a:rPr>
            </a:br>
            <a:endParaRPr lang="en-US" altLang="zh-CN" sz="2400" b="1" dirty="0">
              <a:latin typeface="黑体" panose="02010609060101010101" pitchFamily="49" charset="-122"/>
              <a:ea typeface="黑体" panose="02010609060101010101" pitchFamily="49" charset="-122"/>
            </a:endParaRPr>
          </a:p>
          <a:p>
            <a:endParaRPr lang="en-US" altLang="zh-CN" sz="2400" b="1" dirty="0">
              <a:latin typeface="黑体" panose="02010609060101010101" pitchFamily="49" charset="-122"/>
              <a:ea typeface="黑体" panose="02010609060101010101" pitchFamily="49" charset="-122"/>
            </a:endParaRPr>
          </a:p>
          <a:p>
            <a:endParaRPr lang="en-US" altLang="zh-CN" sz="2400" b="1" dirty="0">
              <a:latin typeface="黑体" panose="02010609060101010101" pitchFamily="49" charset="-122"/>
              <a:ea typeface="黑体" panose="02010609060101010101" pitchFamily="49" charset="-122"/>
            </a:endParaRPr>
          </a:p>
          <a:p>
            <a:r>
              <a:rPr lang="zh-CN" altLang="en-US" sz="2400" b="1" dirty="0">
                <a:latin typeface="黑体" panose="02010609060101010101" pitchFamily="49" charset="-122"/>
                <a:ea typeface="黑体" panose="02010609060101010101" pitchFamily="49" charset="-122"/>
              </a:rPr>
              <a:t>棕黑绿金：</a:t>
            </a:r>
          </a:p>
        </p:txBody>
      </p:sp>
      <p:pic>
        <p:nvPicPr>
          <p:cNvPr id="13" name="图片 12">
            <a:extLst>
              <a:ext uri="{FF2B5EF4-FFF2-40B4-BE49-F238E27FC236}">
                <a16:creationId xmlns:a16="http://schemas.microsoft.com/office/drawing/2014/main" id="{76AF4358-F002-CAFA-E56F-AAA9B0D4E7AD}"/>
              </a:ext>
            </a:extLst>
          </p:cNvPr>
          <p:cNvPicPr>
            <a:picLocks noChangeAspect="1"/>
          </p:cNvPicPr>
          <p:nvPr/>
        </p:nvPicPr>
        <p:blipFill>
          <a:blip r:embed="rId2"/>
          <a:stretch>
            <a:fillRect/>
          </a:stretch>
        </p:blipFill>
        <p:spPr>
          <a:xfrm>
            <a:off x="945515" y="1412776"/>
            <a:ext cx="1562353" cy="799887"/>
          </a:xfrm>
          <a:prstGeom prst="rect">
            <a:avLst/>
          </a:prstGeom>
        </p:spPr>
      </p:pic>
      <p:pic>
        <p:nvPicPr>
          <p:cNvPr id="15" name="图片 14">
            <a:extLst>
              <a:ext uri="{FF2B5EF4-FFF2-40B4-BE49-F238E27FC236}">
                <a16:creationId xmlns:a16="http://schemas.microsoft.com/office/drawing/2014/main" id="{0829655D-3D1D-0FE8-8C65-F58A8E1A4150}"/>
              </a:ext>
            </a:extLst>
          </p:cNvPr>
          <p:cNvPicPr>
            <a:picLocks noChangeAspect="1"/>
          </p:cNvPicPr>
          <p:nvPr/>
        </p:nvPicPr>
        <p:blipFill>
          <a:blip r:embed="rId3"/>
          <a:stretch>
            <a:fillRect/>
          </a:stretch>
        </p:blipFill>
        <p:spPr>
          <a:xfrm>
            <a:off x="880453" y="2697394"/>
            <a:ext cx="1602674" cy="900000"/>
          </a:xfrm>
          <a:prstGeom prst="rect">
            <a:avLst/>
          </a:prstGeom>
        </p:spPr>
      </p:pic>
      <p:pic>
        <p:nvPicPr>
          <p:cNvPr id="17" name="图片 16">
            <a:extLst>
              <a:ext uri="{FF2B5EF4-FFF2-40B4-BE49-F238E27FC236}">
                <a16:creationId xmlns:a16="http://schemas.microsoft.com/office/drawing/2014/main" id="{354D4CF8-4A49-97B8-445C-34F65C634398}"/>
              </a:ext>
            </a:extLst>
          </p:cNvPr>
          <p:cNvPicPr>
            <a:picLocks noChangeAspect="1"/>
          </p:cNvPicPr>
          <p:nvPr/>
        </p:nvPicPr>
        <p:blipFill>
          <a:blip r:embed="rId4"/>
          <a:stretch>
            <a:fillRect/>
          </a:stretch>
        </p:blipFill>
        <p:spPr>
          <a:xfrm>
            <a:off x="933320" y="4005064"/>
            <a:ext cx="1496939" cy="900000"/>
          </a:xfrm>
          <a:prstGeom prst="rect">
            <a:avLst/>
          </a:prstGeom>
        </p:spPr>
      </p:pic>
      <p:pic>
        <p:nvPicPr>
          <p:cNvPr id="19" name="图片 18">
            <a:extLst>
              <a:ext uri="{FF2B5EF4-FFF2-40B4-BE49-F238E27FC236}">
                <a16:creationId xmlns:a16="http://schemas.microsoft.com/office/drawing/2014/main" id="{5FF50F4E-7D02-AC7F-25E8-16F24F7241C9}"/>
              </a:ext>
            </a:extLst>
          </p:cNvPr>
          <p:cNvPicPr>
            <a:picLocks noChangeAspect="1"/>
          </p:cNvPicPr>
          <p:nvPr/>
        </p:nvPicPr>
        <p:blipFill>
          <a:blip r:embed="rId5"/>
          <a:stretch>
            <a:fillRect/>
          </a:stretch>
        </p:blipFill>
        <p:spPr>
          <a:xfrm>
            <a:off x="912983" y="5312734"/>
            <a:ext cx="1627415" cy="829615"/>
          </a:xfrm>
          <a:prstGeom prst="rect">
            <a:avLst/>
          </a:prstGeom>
        </p:spPr>
      </p:pic>
      <p:sp>
        <p:nvSpPr>
          <p:cNvPr id="20" name="文本框 19">
            <a:extLst>
              <a:ext uri="{FF2B5EF4-FFF2-40B4-BE49-F238E27FC236}">
                <a16:creationId xmlns:a16="http://schemas.microsoft.com/office/drawing/2014/main" id="{FB0E973B-FB9A-A498-A089-571F22FD76CF}"/>
              </a:ext>
            </a:extLst>
          </p:cNvPr>
          <p:cNvSpPr txBox="1"/>
          <p:nvPr/>
        </p:nvSpPr>
        <p:spPr>
          <a:xfrm>
            <a:off x="4093982" y="1228085"/>
            <a:ext cx="2476960" cy="800219"/>
          </a:xfrm>
          <a:prstGeom prst="rect">
            <a:avLst/>
          </a:prstGeom>
          <a:solidFill>
            <a:schemeClr val="accent5">
              <a:lumMod val="20000"/>
              <a:lumOff val="80000"/>
            </a:schemeClr>
          </a:solidFill>
        </p:spPr>
        <p:txBody>
          <a:bodyPr wrap="none" rtlCol="0">
            <a:spAutoFit/>
          </a:bodyPr>
          <a:lstStyle/>
          <a:p>
            <a:r>
              <a:rPr lang="en-US" altLang="zh-CN" sz="1800" b="1" dirty="0">
                <a:latin typeface="黑体" panose="02010609060101010101" pitchFamily="49" charset="-122"/>
                <a:ea typeface="黑体" panose="02010609060101010101" pitchFamily="49" charset="-122"/>
              </a:rPr>
              <a:t>2·7·0·10</a:t>
            </a:r>
            <a:r>
              <a:rPr lang="en-US" altLang="zh-CN" sz="1800" b="1" baseline="30000" dirty="0">
                <a:latin typeface="黑体" panose="02010609060101010101" pitchFamily="49" charset="-122"/>
                <a:ea typeface="黑体" panose="02010609060101010101" pitchFamily="49" charset="-122"/>
              </a:rPr>
              <a:t>2</a:t>
            </a:r>
            <a:r>
              <a:rPr lang="en-US" altLang="zh-CN" sz="1800" b="1" dirty="0">
                <a:latin typeface="黑体" panose="02010609060101010101" pitchFamily="49" charset="-122"/>
                <a:ea typeface="黑体" panose="02010609060101010101" pitchFamily="49" charset="-122"/>
              </a:rPr>
              <a:t>· ±1% </a:t>
            </a:r>
          </a:p>
          <a:p>
            <a:endParaRPr lang="en-US" altLang="zh-CN" sz="1000" b="1" dirty="0">
              <a:latin typeface="黑体" panose="02010609060101010101" pitchFamily="49" charset="-122"/>
              <a:ea typeface="黑体" panose="02010609060101010101" pitchFamily="49" charset="-122"/>
            </a:endParaRPr>
          </a:p>
          <a:p>
            <a:r>
              <a:rPr lang="en-US" altLang="zh-CN" sz="1800" b="1" dirty="0">
                <a:latin typeface="黑体" panose="02010609060101010101" pitchFamily="49" charset="-122"/>
                <a:ea typeface="黑体" panose="02010609060101010101" pitchFamily="49" charset="-122"/>
              </a:rPr>
              <a:t>270×10</a:t>
            </a:r>
            <a:r>
              <a:rPr lang="en-US" altLang="zh-CN" sz="1800" b="1" baseline="30000" dirty="0">
                <a:latin typeface="黑体" panose="02010609060101010101" pitchFamily="49" charset="-122"/>
                <a:ea typeface="黑体" panose="02010609060101010101" pitchFamily="49" charset="-122"/>
              </a:rPr>
              <a:t>2</a:t>
            </a:r>
            <a:r>
              <a:rPr lang="en-US" altLang="zh-CN" sz="1800" b="1" dirty="0">
                <a:latin typeface="黑体" panose="02010609060101010101" pitchFamily="49" charset="-122"/>
                <a:ea typeface="黑体" panose="02010609060101010101" pitchFamily="49" charset="-122"/>
              </a:rPr>
              <a:t>=27kΩ ±1%</a:t>
            </a:r>
            <a:endParaRPr lang="zh-CN" altLang="en-US" dirty="0"/>
          </a:p>
        </p:txBody>
      </p:sp>
      <p:sp>
        <p:nvSpPr>
          <p:cNvPr id="21" name="文本框 20">
            <a:extLst>
              <a:ext uri="{FF2B5EF4-FFF2-40B4-BE49-F238E27FC236}">
                <a16:creationId xmlns:a16="http://schemas.microsoft.com/office/drawing/2014/main" id="{827DA4D9-492D-ED2B-E7FF-31005A407288}"/>
              </a:ext>
            </a:extLst>
          </p:cNvPr>
          <p:cNvSpPr txBox="1"/>
          <p:nvPr/>
        </p:nvSpPr>
        <p:spPr>
          <a:xfrm>
            <a:off x="4079303" y="2538895"/>
            <a:ext cx="2476960" cy="800219"/>
          </a:xfrm>
          <a:prstGeom prst="rect">
            <a:avLst/>
          </a:prstGeom>
          <a:solidFill>
            <a:schemeClr val="accent5">
              <a:lumMod val="20000"/>
              <a:lumOff val="80000"/>
            </a:schemeClr>
          </a:solidFill>
        </p:spPr>
        <p:txBody>
          <a:bodyPr wrap="none" rtlCol="0">
            <a:spAutoFit/>
          </a:bodyPr>
          <a:lstStyle/>
          <a:p>
            <a:r>
              <a:rPr lang="en-US" altLang="zh-CN" sz="1800" b="1" dirty="0">
                <a:latin typeface="黑体" panose="02010609060101010101" pitchFamily="49" charset="-122"/>
                <a:ea typeface="黑体" panose="02010609060101010101" pitchFamily="49" charset="-122"/>
              </a:rPr>
              <a:t>1·2·0·10</a:t>
            </a:r>
            <a:r>
              <a:rPr lang="en-US" altLang="zh-CN" sz="1800" b="1" baseline="30000" dirty="0">
                <a:latin typeface="黑体" panose="02010609060101010101" pitchFamily="49" charset="-122"/>
                <a:ea typeface="黑体" panose="02010609060101010101" pitchFamily="49" charset="-122"/>
              </a:rPr>
              <a:t>0</a:t>
            </a:r>
            <a:r>
              <a:rPr lang="en-US" altLang="zh-CN" sz="1800" b="1" dirty="0">
                <a:latin typeface="黑体" panose="02010609060101010101" pitchFamily="49" charset="-122"/>
                <a:ea typeface="黑体" panose="02010609060101010101" pitchFamily="49" charset="-122"/>
              </a:rPr>
              <a:t>· ±1% </a:t>
            </a:r>
          </a:p>
          <a:p>
            <a:endParaRPr lang="en-US" altLang="zh-CN" sz="1000" b="1" dirty="0">
              <a:latin typeface="黑体" panose="02010609060101010101" pitchFamily="49" charset="-122"/>
              <a:ea typeface="黑体" panose="02010609060101010101" pitchFamily="49" charset="-122"/>
            </a:endParaRPr>
          </a:p>
          <a:p>
            <a:r>
              <a:rPr lang="en-US" altLang="zh-CN" sz="1800" b="1" dirty="0">
                <a:latin typeface="黑体" panose="02010609060101010101" pitchFamily="49" charset="-122"/>
                <a:ea typeface="黑体" panose="02010609060101010101" pitchFamily="49" charset="-122"/>
              </a:rPr>
              <a:t>120×10</a:t>
            </a:r>
            <a:r>
              <a:rPr lang="en-US" altLang="zh-CN" sz="1800" b="1" baseline="30000" dirty="0">
                <a:latin typeface="黑体" panose="02010609060101010101" pitchFamily="49" charset="-122"/>
                <a:ea typeface="黑体" panose="02010609060101010101" pitchFamily="49" charset="-122"/>
              </a:rPr>
              <a:t>0</a:t>
            </a:r>
            <a:r>
              <a:rPr lang="en-US" altLang="zh-CN" sz="1800" b="1" dirty="0">
                <a:latin typeface="黑体" panose="02010609060101010101" pitchFamily="49" charset="-122"/>
                <a:ea typeface="黑体" panose="02010609060101010101" pitchFamily="49" charset="-122"/>
              </a:rPr>
              <a:t>=120Ω ±1%</a:t>
            </a:r>
            <a:endParaRPr lang="zh-CN" altLang="en-US" dirty="0"/>
          </a:p>
        </p:txBody>
      </p:sp>
      <p:sp>
        <p:nvSpPr>
          <p:cNvPr id="3" name="文本框 2">
            <a:extLst>
              <a:ext uri="{FF2B5EF4-FFF2-40B4-BE49-F238E27FC236}">
                <a16:creationId xmlns:a16="http://schemas.microsoft.com/office/drawing/2014/main" id="{DD35FC4A-5087-A1AA-16B3-0713D42D61A7}"/>
              </a:ext>
            </a:extLst>
          </p:cNvPr>
          <p:cNvSpPr txBox="1"/>
          <p:nvPr/>
        </p:nvSpPr>
        <p:spPr>
          <a:xfrm>
            <a:off x="4079303" y="3849705"/>
            <a:ext cx="3084985" cy="1077218"/>
          </a:xfrm>
          <a:prstGeom prst="rect">
            <a:avLst/>
          </a:prstGeom>
          <a:solidFill>
            <a:schemeClr val="accent5">
              <a:lumMod val="20000"/>
              <a:lumOff val="80000"/>
            </a:schemeClr>
          </a:solidFill>
        </p:spPr>
        <p:txBody>
          <a:bodyPr wrap="square" rtlCol="0">
            <a:spAutoFit/>
          </a:bodyPr>
          <a:lstStyle/>
          <a:p>
            <a:r>
              <a:rPr lang="en-US" altLang="zh-CN" sz="1800" b="1" dirty="0">
                <a:latin typeface="黑体" panose="02010609060101010101" pitchFamily="49" charset="-122"/>
                <a:ea typeface="黑体" panose="02010609060101010101" pitchFamily="49" charset="-122"/>
              </a:rPr>
              <a:t>1·1·0·10</a:t>
            </a:r>
            <a:r>
              <a:rPr lang="en-US" altLang="zh-CN" sz="1800" b="1" baseline="30000" dirty="0">
                <a:latin typeface="黑体" panose="02010609060101010101" pitchFamily="49" charset="-122"/>
                <a:ea typeface="黑体" panose="02010609060101010101" pitchFamily="49" charset="-122"/>
              </a:rPr>
              <a:t>7</a:t>
            </a:r>
            <a:r>
              <a:rPr lang="en-US" altLang="zh-CN" sz="1800" b="1" dirty="0">
                <a:latin typeface="黑体" panose="02010609060101010101" pitchFamily="49" charset="-122"/>
                <a:ea typeface="黑体" panose="02010609060101010101" pitchFamily="49" charset="-122"/>
              </a:rPr>
              <a:t>· ±2% </a:t>
            </a:r>
          </a:p>
          <a:p>
            <a:endParaRPr lang="en-US" altLang="zh-CN" sz="1000" b="1" dirty="0">
              <a:latin typeface="黑体" panose="02010609060101010101" pitchFamily="49" charset="-122"/>
              <a:ea typeface="黑体" panose="02010609060101010101" pitchFamily="49" charset="-122"/>
            </a:endParaRPr>
          </a:p>
          <a:p>
            <a:r>
              <a:rPr lang="en-US" altLang="zh-CN" sz="1800" b="1" dirty="0">
                <a:latin typeface="黑体" panose="02010609060101010101" pitchFamily="49" charset="-122"/>
                <a:ea typeface="黑体" panose="02010609060101010101" pitchFamily="49" charset="-122"/>
              </a:rPr>
              <a:t>110×10</a:t>
            </a:r>
            <a:r>
              <a:rPr lang="en-US" altLang="zh-CN" sz="1800" b="1" baseline="30000" dirty="0">
                <a:latin typeface="黑体" panose="02010609060101010101" pitchFamily="49" charset="-122"/>
                <a:ea typeface="黑体" panose="02010609060101010101" pitchFamily="49" charset="-122"/>
              </a:rPr>
              <a:t>7</a:t>
            </a:r>
            <a:r>
              <a:rPr lang="en-US" altLang="zh-CN" sz="1800" b="1" dirty="0">
                <a:latin typeface="黑体" panose="02010609060101010101" pitchFamily="49" charset="-122"/>
                <a:ea typeface="黑体" panose="02010609060101010101" pitchFamily="49" charset="-122"/>
              </a:rPr>
              <a:t>=110</a:t>
            </a:r>
            <a:r>
              <a:rPr lang="en-US" altLang="zh-CN" b="1" dirty="0">
                <a:latin typeface="黑体" panose="02010609060101010101" pitchFamily="49" charset="-122"/>
                <a:ea typeface="黑体" panose="02010609060101010101" pitchFamily="49" charset="-122"/>
              </a:rPr>
              <a:t>×10</a:t>
            </a:r>
            <a:r>
              <a:rPr lang="en-US" altLang="zh-CN" b="1" baseline="30000" dirty="0">
                <a:latin typeface="黑体" panose="02010609060101010101" pitchFamily="49" charset="-122"/>
                <a:ea typeface="黑体" panose="02010609060101010101" pitchFamily="49" charset="-122"/>
              </a:rPr>
              <a:t>7</a:t>
            </a:r>
            <a:r>
              <a:rPr lang="en-US" altLang="zh-CN" sz="1800" b="1" dirty="0">
                <a:latin typeface="黑体" panose="02010609060101010101" pitchFamily="49" charset="-122"/>
                <a:ea typeface="黑体" panose="02010609060101010101" pitchFamily="49" charset="-122"/>
              </a:rPr>
              <a:t>kΩ ±2%</a:t>
            </a:r>
          </a:p>
          <a:p>
            <a:r>
              <a:rPr lang="en-US" altLang="zh-CN" b="1" dirty="0">
                <a:latin typeface="黑体" panose="02010609060101010101" pitchFamily="49" charset="-122"/>
                <a:ea typeface="黑体" panose="02010609060101010101" pitchFamily="49" charset="-122"/>
              </a:rPr>
              <a:t>       =1.1GΩ±2%</a:t>
            </a:r>
          </a:p>
        </p:txBody>
      </p:sp>
      <p:sp>
        <p:nvSpPr>
          <p:cNvPr id="6" name="文本框 5">
            <a:extLst>
              <a:ext uri="{FF2B5EF4-FFF2-40B4-BE49-F238E27FC236}">
                <a16:creationId xmlns:a16="http://schemas.microsoft.com/office/drawing/2014/main" id="{7609D159-8E35-34AC-AAD5-D51DBB31C60E}"/>
              </a:ext>
            </a:extLst>
          </p:cNvPr>
          <p:cNvSpPr txBox="1"/>
          <p:nvPr/>
        </p:nvSpPr>
        <p:spPr>
          <a:xfrm>
            <a:off x="4074604" y="5437514"/>
            <a:ext cx="2787943" cy="800219"/>
          </a:xfrm>
          <a:prstGeom prst="rect">
            <a:avLst/>
          </a:prstGeom>
          <a:solidFill>
            <a:schemeClr val="accent5">
              <a:lumMod val="20000"/>
              <a:lumOff val="80000"/>
            </a:schemeClr>
          </a:solidFill>
        </p:spPr>
        <p:txBody>
          <a:bodyPr wrap="none" rtlCol="0">
            <a:spAutoFit/>
          </a:bodyPr>
          <a:lstStyle/>
          <a:p>
            <a:r>
              <a:rPr lang="en-US" altLang="zh-CN" sz="1800" b="1" dirty="0">
                <a:latin typeface="黑体" panose="02010609060101010101" pitchFamily="49" charset="-122"/>
                <a:ea typeface="黑体" panose="02010609060101010101" pitchFamily="49" charset="-122"/>
              </a:rPr>
              <a:t>4·7·0·10</a:t>
            </a:r>
            <a:r>
              <a:rPr lang="en-US" altLang="zh-CN" sz="1800" b="1" baseline="30000" dirty="0">
                <a:latin typeface="黑体" panose="02010609060101010101" pitchFamily="49" charset="-122"/>
                <a:ea typeface="黑体" panose="02010609060101010101" pitchFamily="49" charset="-122"/>
              </a:rPr>
              <a:t>-2</a:t>
            </a:r>
            <a:r>
              <a:rPr lang="en-US" altLang="zh-CN" sz="1800" b="1" dirty="0">
                <a:latin typeface="黑体" panose="02010609060101010101" pitchFamily="49" charset="-122"/>
                <a:ea typeface="黑体" panose="02010609060101010101" pitchFamily="49" charset="-122"/>
              </a:rPr>
              <a:t>· ±0.5% </a:t>
            </a:r>
          </a:p>
          <a:p>
            <a:endParaRPr lang="en-US" altLang="zh-CN" sz="1000" b="1" dirty="0">
              <a:latin typeface="黑体" panose="02010609060101010101" pitchFamily="49" charset="-122"/>
              <a:ea typeface="黑体" panose="02010609060101010101" pitchFamily="49" charset="-122"/>
            </a:endParaRPr>
          </a:p>
          <a:p>
            <a:r>
              <a:rPr lang="en-US" altLang="zh-CN" b="1" dirty="0">
                <a:latin typeface="黑体" panose="02010609060101010101" pitchFamily="49" charset="-122"/>
                <a:ea typeface="黑体" panose="02010609060101010101" pitchFamily="49" charset="-122"/>
              </a:rPr>
              <a:t>47</a:t>
            </a:r>
            <a:r>
              <a:rPr lang="en-US" altLang="zh-CN" sz="1800" b="1" dirty="0">
                <a:latin typeface="黑体" panose="02010609060101010101" pitchFamily="49" charset="-122"/>
                <a:ea typeface="黑体" panose="02010609060101010101" pitchFamily="49" charset="-122"/>
              </a:rPr>
              <a:t>0×10</a:t>
            </a:r>
            <a:r>
              <a:rPr lang="en-US" altLang="zh-CN" sz="1800" b="1" baseline="30000" dirty="0">
                <a:latin typeface="黑体" panose="02010609060101010101" pitchFamily="49" charset="-122"/>
                <a:ea typeface="黑体" panose="02010609060101010101" pitchFamily="49" charset="-122"/>
              </a:rPr>
              <a:t>-2</a:t>
            </a:r>
            <a:r>
              <a:rPr lang="en-US" altLang="zh-CN" sz="1800" b="1" dirty="0">
                <a:latin typeface="黑体" panose="02010609060101010101" pitchFamily="49" charset="-122"/>
                <a:ea typeface="黑体" panose="02010609060101010101" pitchFamily="49" charset="-122"/>
              </a:rPr>
              <a:t>=4.7Ω ±0.5%</a:t>
            </a:r>
            <a:endParaRPr lang="zh-CN" altLang="en-US" dirty="0"/>
          </a:p>
        </p:txBody>
      </p:sp>
      <p:sp>
        <p:nvSpPr>
          <p:cNvPr id="8" name="文本框 7">
            <a:extLst>
              <a:ext uri="{FF2B5EF4-FFF2-40B4-BE49-F238E27FC236}">
                <a16:creationId xmlns:a16="http://schemas.microsoft.com/office/drawing/2014/main" id="{F69D8C3F-B0E9-03A0-59D7-D8D39F7C8F86}"/>
              </a:ext>
            </a:extLst>
          </p:cNvPr>
          <p:cNvSpPr txBox="1"/>
          <p:nvPr/>
        </p:nvSpPr>
        <p:spPr>
          <a:xfrm>
            <a:off x="742673" y="69458"/>
            <a:ext cx="4575110" cy="455253"/>
          </a:xfrm>
          <a:prstGeom prst="rect">
            <a:avLst/>
          </a:prstGeom>
          <a:noFill/>
        </p:spPr>
        <p:txBody>
          <a:bodyPr wrap="square">
            <a:spAutoFit/>
          </a:bodyPr>
          <a:lstStyle/>
          <a:p>
            <a:pPr marL="285750" lvl="1" indent="-285750">
              <a:lnSpc>
                <a:spcPct val="150000"/>
              </a:lnSpc>
              <a:spcBef>
                <a:spcPct val="20000"/>
              </a:spcBef>
              <a:buFont typeface="Wingdings" panose="05000000000000000000" pitchFamily="2" charset="2"/>
              <a:buChar char="u"/>
            </a:pPr>
            <a:r>
              <a:rPr lang="zh-CN" altLang="en-US" dirty="0">
                <a:latin typeface="Times New Roman" panose="02020603050405020304" pitchFamily="18" charset="0"/>
                <a:ea typeface="黑体" pitchFamily="49" charset="-122"/>
                <a:cs typeface="Times New Roman" panose="02020603050405020304" pitchFamily="18" charset="0"/>
              </a:rPr>
              <a:t>小练习</a:t>
            </a:r>
            <a:endParaRPr lang="zh-CN" altLang="zh-CN" dirty="0">
              <a:latin typeface="Times New Roman" panose="02020603050405020304" pitchFamily="18" charset="0"/>
              <a:ea typeface="黑体" pitchFamily="49" charset="-122"/>
              <a:cs typeface="Times New Roman" panose="02020603050405020304" pitchFamily="18" charset="0"/>
            </a:endParaRPr>
          </a:p>
        </p:txBody>
      </p:sp>
    </p:spTree>
    <p:extLst>
      <p:ext uri="{BB962C8B-B14F-4D97-AF65-F5344CB8AC3E}">
        <p14:creationId xmlns:p14="http://schemas.microsoft.com/office/powerpoint/2010/main" val="27252750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1000"/>
                                        <p:tgtEl>
                                          <p:spTgt spid="13"/>
                                        </p:tgtEl>
                                      </p:cBhvr>
                                    </p:animEffect>
                                    <p:anim calcmode="lin" valueType="num">
                                      <p:cBhvr>
                                        <p:cTn id="12" dur="1000" fill="hold"/>
                                        <p:tgtEl>
                                          <p:spTgt spid="13"/>
                                        </p:tgtEl>
                                        <p:attrNameLst>
                                          <p:attrName>ppt_x</p:attrName>
                                        </p:attrNameLst>
                                      </p:cBhvr>
                                      <p:tavLst>
                                        <p:tav tm="0">
                                          <p:val>
                                            <p:strVal val="#ppt_x"/>
                                          </p:val>
                                        </p:tav>
                                        <p:tav tm="100000">
                                          <p:val>
                                            <p:strVal val="#ppt_x"/>
                                          </p:val>
                                        </p:tav>
                                      </p:tavLst>
                                    </p:anim>
                                    <p:anim calcmode="lin" valueType="num">
                                      <p:cBhvr>
                                        <p:cTn id="13"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15"/>
                                        </p:tgtEl>
                                        <p:attrNameLst>
                                          <p:attrName>style.visibility</p:attrName>
                                        </p:attrNameLst>
                                      </p:cBhvr>
                                      <p:to>
                                        <p:strVal val="visible"/>
                                      </p:to>
                                    </p:set>
                                    <p:anim calcmode="lin" valueType="num">
                                      <p:cBhvr additive="base">
                                        <p:cTn id="18" dur="500" fill="hold"/>
                                        <p:tgtEl>
                                          <p:spTgt spid="15"/>
                                        </p:tgtEl>
                                        <p:attrNameLst>
                                          <p:attrName>ppt_x</p:attrName>
                                        </p:attrNameLst>
                                      </p:cBhvr>
                                      <p:tavLst>
                                        <p:tav tm="0">
                                          <p:val>
                                            <p:strVal val="#ppt_x"/>
                                          </p:val>
                                        </p:tav>
                                        <p:tav tm="100000">
                                          <p:val>
                                            <p:strVal val="#ppt_x"/>
                                          </p:val>
                                        </p:tav>
                                      </p:tavLst>
                                    </p:anim>
                                    <p:anim calcmode="lin" valueType="num">
                                      <p:cBhvr additive="base">
                                        <p:cTn id="19"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17"/>
                                        </p:tgtEl>
                                        <p:attrNameLst>
                                          <p:attrName>style.visibility</p:attrName>
                                        </p:attrNameLst>
                                      </p:cBhvr>
                                      <p:to>
                                        <p:strVal val="visible"/>
                                      </p:to>
                                    </p:set>
                                    <p:anim calcmode="lin" valueType="num">
                                      <p:cBhvr additive="base">
                                        <p:cTn id="24" dur="500" fill="hold"/>
                                        <p:tgtEl>
                                          <p:spTgt spid="17"/>
                                        </p:tgtEl>
                                        <p:attrNameLst>
                                          <p:attrName>ppt_x</p:attrName>
                                        </p:attrNameLst>
                                      </p:cBhvr>
                                      <p:tavLst>
                                        <p:tav tm="0">
                                          <p:val>
                                            <p:strVal val="#ppt_x"/>
                                          </p:val>
                                        </p:tav>
                                        <p:tav tm="100000">
                                          <p:val>
                                            <p:strVal val="#ppt_x"/>
                                          </p:val>
                                        </p:tav>
                                      </p:tavLst>
                                    </p:anim>
                                    <p:anim calcmode="lin" valueType="num">
                                      <p:cBhvr additive="base">
                                        <p:cTn id="25"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19"/>
                                        </p:tgtEl>
                                        <p:attrNameLst>
                                          <p:attrName>style.visibility</p:attrName>
                                        </p:attrNameLst>
                                      </p:cBhvr>
                                      <p:to>
                                        <p:strVal val="visible"/>
                                      </p:to>
                                    </p:set>
                                    <p:anim calcmode="lin" valueType="num">
                                      <p:cBhvr additive="base">
                                        <p:cTn id="30" dur="500" fill="hold"/>
                                        <p:tgtEl>
                                          <p:spTgt spid="19"/>
                                        </p:tgtEl>
                                        <p:attrNameLst>
                                          <p:attrName>ppt_x</p:attrName>
                                        </p:attrNameLst>
                                      </p:cBhvr>
                                      <p:tavLst>
                                        <p:tav tm="0">
                                          <p:val>
                                            <p:strVal val="#ppt_x"/>
                                          </p:val>
                                        </p:tav>
                                        <p:tav tm="100000">
                                          <p:val>
                                            <p:strVal val="#ppt_x"/>
                                          </p:val>
                                        </p:tav>
                                      </p:tavLst>
                                    </p:anim>
                                    <p:anim calcmode="lin" valueType="num">
                                      <p:cBhvr additive="base">
                                        <p:cTn id="31"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20"/>
                                        </p:tgtEl>
                                        <p:attrNameLst>
                                          <p:attrName>style.visibility</p:attrName>
                                        </p:attrNameLst>
                                      </p:cBhvr>
                                      <p:to>
                                        <p:strVal val="visible"/>
                                      </p:to>
                                    </p:set>
                                    <p:anim calcmode="lin" valueType="num">
                                      <p:cBhvr additive="base">
                                        <p:cTn id="36" dur="500" fill="hold"/>
                                        <p:tgtEl>
                                          <p:spTgt spid="20"/>
                                        </p:tgtEl>
                                        <p:attrNameLst>
                                          <p:attrName>ppt_x</p:attrName>
                                        </p:attrNameLst>
                                      </p:cBhvr>
                                      <p:tavLst>
                                        <p:tav tm="0">
                                          <p:val>
                                            <p:strVal val="#ppt_x"/>
                                          </p:val>
                                        </p:tav>
                                        <p:tav tm="100000">
                                          <p:val>
                                            <p:strVal val="#ppt_x"/>
                                          </p:val>
                                        </p:tav>
                                      </p:tavLst>
                                    </p:anim>
                                    <p:anim calcmode="lin" valueType="num">
                                      <p:cBhvr additive="base">
                                        <p:cTn id="37"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grpId="0" nodeType="clickEffect">
                                  <p:stCondLst>
                                    <p:cond delay="0"/>
                                  </p:stCondLst>
                                  <p:childTnLst>
                                    <p:set>
                                      <p:cBhvr>
                                        <p:cTn id="41" dur="1" fill="hold">
                                          <p:stCondLst>
                                            <p:cond delay="0"/>
                                          </p:stCondLst>
                                        </p:cTn>
                                        <p:tgtEl>
                                          <p:spTgt spid="21"/>
                                        </p:tgtEl>
                                        <p:attrNameLst>
                                          <p:attrName>style.visibility</p:attrName>
                                        </p:attrNameLst>
                                      </p:cBhvr>
                                      <p:to>
                                        <p:strVal val="visible"/>
                                      </p:to>
                                    </p:set>
                                    <p:anim calcmode="lin" valueType="num">
                                      <p:cBhvr additive="base">
                                        <p:cTn id="42" dur="500" fill="hold"/>
                                        <p:tgtEl>
                                          <p:spTgt spid="21"/>
                                        </p:tgtEl>
                                        <p:attrNameLst>
                                          <p:attrName>ppt_x</p:attrName>
                                        </p:attrNameLst>
                                      </p:cBhvr>
                                      <p:tavLst>
                                        <p:tav tm="0">
                                          <p:val>
                                            <p:strVal val="#ppt_x"/>
                                          </p:val>
                                        </p:tav>
                                        <p:tav tm="100000">
                                          <p:val>
                                            <p:strVal val="#ppt_x"/>
                                          </p:val>
                                        </p:tav>
                                      </p:tavLst>
                                    </p:anim>
                                    <p:anim calcmode="lin" valueType="num">
                                      <p:cBhvr additive="base">
                                        <p:cTn id="43"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grpId="0" nodeType="clickEffect">
                                  <p:stCondLst>
                                    <p:cond delay="0"/>
                                  </p:stCondLst>
                                  <p:childTnLst>
                                    <p:set>
                                      <p:cBhvr>
                                        <p:cTn id="47" dur="1" fill="hold">
                                          <p:stCondLst>
                                            <p:cond delay="0"/>
                                          </p:stCondLst>
                                        </p:cTn>
                                        <p:tgtEl>
                                          <p:spTgt spid="3"/>
                                        </p:tgtEl>
                                        <p:attrNameLst>
                                          <p:attrName>style.visibility</p:attrName>
                                        </p:attrNameLst>
                                      </p:cBhvr>
                                      <p:to>
                                        <p:strVal val="visible"/>
                                      </p:to>
                                    </p:set>
                                    <p:anim calcmode="lin" valueType="num">
                                      <p:cBhvr additive="base">
                                        <p:cTn id="48" dur="500" fill="hold"/>
                                        <p:tgtEl>
                                          <p:spTgt spid="3"/>
                                        </p:tgtEl>
                                        <p:attrNameLst>
                                          <p:attrName>ppt_x</p:attrName>
                                        </p:attrNameLst>
                                      </p:cBhvr>
                                      <p:tavLst>
                                        <p:tav tm="0">
                                          <p:val>
                                            <p:strVal val="#ppt_x"/>
                                          </p:val>
                                        </p:tav>
                                        <p:tav tm="100000">
                                          <p:val>
                                            <p:strVal val="#ppt_x"/>
                                          </p:val>
                                        </p:tav>
                                      </p:tavLst>
                                    </p:anim>
                                    <p:anim calcmode="lin" valueType="num">
                                      <p:cBhvr additive="base">
                                        <p:cTn id="49"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grpId="0" nodeType="clickEffect">
                                  <p:stCondLst>
                                    <p:cond delay="0"/>
                                  </p:stCondLst>
                                  <p:childTnLst>
                                    <p:set>
                                      <p:cBhvr>
                                        <p:cTn id="53" dur="1" fill="hold">
                                          <p:stCondLst>
                                            <p:cond delay="0"/>
                                          </p:stCondLst>
                                        </p:cTn>
                                        <p:tgtEl>
                                          <p:spTgt spid="6"/>
                                        </p:tgtEl>
                                        <p:attrNameLst>
                                          <p:attrName>style.visibility</p:attrName>
                                        </p:attrNameLst>
                                      </p:cBhvr>
                                      <p:to>
                                        <p:strVal val="visible"/>
                                      </p:to>
                                    </p:set>
                                    <p:anim calcmode="lin" valueType="num">
                                      <p:cBhvr additive="base">
                                        <p:cTn id="54" dur="500" fill="hold"/>
                                        <p:tgtEl>
                                          <p:spTgt spid="6"/>
                                        </p:tgtEl>
                                        <p:attrNameLst>
                                          <p:attrName>ppt_x</p:attrName>
                                        </p:attrNameLst>
                                      </p:cBhvr>
                                      <p:tavLst>
                                        <p:tav tm="0">
                                          <p:val>
                                            <p:strVal val="#ppt_x"/>
                                          </p:val>
                                        </p:tav>
                                        <p:tav tm="100000">
                                          <p:val>
                                            <p:strVal val="#ppt_x"/>
                                          </p:val>
                                        </p:tav>
                                      </p:tavLst>
                                    </p:anim>
                                    <p:anim calcmode="lin" valueType="num">
                                      <p:cBhvr additive="base">
                                        <p:cTn id="55"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0" grpId="0" animBg="1"/>
      <p:bldP spid="21" grpId="0" animBg="1"/>
      <p:bldP spid="3" grpId="0" animBg="1"/>
      <p:bldP spid="6"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ctrTitle"/>
          </p:nvPr>
        </p:nvSpPr>
        <p:spPr>
          <a:xfrm>
            <a:off x="467544" y="649761"/>
            <a:ext cx="5029200" cy="753641"/>
          </a:xfrm>
        </p:spPr>
        <p:txBody>
          <a:bodyPr>
            <a:normAutofit fontScale="90000"/>
          </a:bodyPr>
          <a:lstStyle/>
          <a:p>
            <a:pPr algn="l"/>
            <a:br>
              <a:rPr lang="zh-CN" altLang="en-US" sz="4000" dirty="0">
                <a:ea typeface="华文行楷" pitchFamily="2" charset="-122"/>
              </a:rPr>
            </a:br>
            <a:r>
              <a:rPr lang="zh-CN" altLang="en-US" sz="4000" dirty="0">
                <a:ea typeface="华文行楷" pitchFamily="2" charset="-122"/>
              </a:rPr>
              <a:t>贴片电阻的标注方法</a:t>
            </a:r>
            <a:r>
              <a:rPr lang="zh-CN" altLang="en-US" sz="4000" dirty="0">
                <a:solidFill>
                  <a:schemeClr val="tx1"/>
                </a:solidFill>
                <a:ea typeface="楷体_GB2312" pitchFamily="49" charset="-122"/>
              </a:rPr>
              <a:t>：</a:t>
            </a:r>
            <a:endParaRPr lang="zh-CN" altLang="en-US" sz="4000" dirty="0">
              <a:ea typeface="华文行楷" pitchFamily="2" charset="-122"/>
            </a:endParaRPr>
          </a:p>
        </p:txBody>
      </p:sp>
      <p:sp>
        <p:nvSpPr>
          <p:cNvPr id="2" name="灯片编号占位符 1">
            <a:extLst>
              <a:ext uri="{FF2B5EF4-FFF2-40B4-BE49-F238E27FC236}">
                <a16:creationId xmlns:a16="http://schemas.microsoft.com/office/drawing/2014/main" id="{6F0D3099-16CE-6557-BE76-695AB37B3049}"/>
              </a:ext>
            </a:extLst>
          </p:cNvPr>
          <p:cNvSpPr>
            <a:spLocks noGrp="1"/>
          </p:cNvSpPr>
          <p:nvPr>
            <p:ph type="sldNum" sz="quarter" idx="12"/>
          </p:nvPr>
        </p:nvSpPr>
        <p:spPr/>
        <p:txBody>
          <a:bodyPr/>
          <a:lstStyle/>
          <a:p>
            <a:pPr>
              <a:defRPr/>
            </a:pPr>
            <a:fld id="{47A4CA45-135E-4AE6-A55B-F30C83FDB90E}" type="slidenum">
              <a:rPr lang="zh-CN" altLang="en-US" smtClean="0"/>
              <a:pPr>
                <a:defRPr/>
              </a:pPr>
              <a:t>31</a:t>
            </a:fld>
            <a:endParaRPr lang="en-US" altLang="zh-CN"/>
          </a:p>
        </p:txBody>
      </p:sp>
      <p:sp>
        <p:nvSpPr>
          <p:cNvPr id="44036" name="Rectangle 4"/>
          <p:cNvSpPr>
            <a:spLocks noChangeArrowheads="1"/>
          </p:cNvSpPr>
          <p:nvPr/>
        </p:nvSpPr>
        <p:spPr bwMode="auto">
          <a:xfrm>
            <a:off x="755576" y="1412776"/>
            <a:ext cx="8077200" cy="4468900"/>
          </a:xfrm>
          <a:prstGeom prst="rect">
            <a:avLst/>
          </a:prstGeom>
          <a:noFill/>
          <a:ln w="9525">
            <a:noFill/>
            <a:miter lim="800000"/>
            <a:headEnd/>
            <a:tailEnd/>
          </a:ln>
          <a:effectLst/>
        </p:spPr>
        <p:txBody>
          <a:bodyPr/>
          <a:lstStyle/>
          <a:p>
            <a:pPr marL="285750" lvl="1" indent="-285750">
              <a:lnSpc>
                <a:spcPct val="150000"/>
              </a:lnSpc>
              <a:spcBef>
                <a:spcPct val="20000"/>
              </a:spcBef>
              <a:buFont typeface="Wingdings" panose="05000000000000000000" pitchFamily="2" charset="2"/>
              <a:buChar char="u"/>
            </a:pPr>
            <a:r>
              <a:rPr lang="zh-CN" dirty="0">
                <a:latin typeface="Times New Roman" panose="02020603050405020304" pitchFamily="18" charset="0"/>
                <a:ea typeface="黑体" pitchFamily="49" charset="-122"/>
                <a:cs typeface="Times New Roman" panose="02020603050405020304" pitchFamily="18" charset="0"/>
              </a:rPr>
              <a:t>三位数表示法</a:t>
            </a:r>
          </a:p>
          <a:p>
            <a:pPr marL="0" lvl="1" eaLnBrk="0" hangingPunct="0">
              <a:lnSpc>
                <a:spcPct val="150000"/>
              </a:lnSpc>
              <a:spcBef>
                <a:spcPct val="20000"/>
              </a:spcBef>
              <a:buClr>
                <a:schemeClr val="tx1"/>
              </a:buClr>
              <a:buSzPct val="75000"/>
            </a:pPr>
            <a:r>
              <a:rPr lang="en-US" altLang="zh-TW" dirty="0">
                <a:latin typeface="Times New Roman" panose="02020603050405020304" pitchFamily="18" charset="0"/>
                <a:ea typeface="楷体_GB2312" pitchFamily="49" charset="-122"/>
                <a:cs typeface="Times New Roman" panose="02020603050405020304" pitchFamily="18" charset="0"/>
              </a:rPr>
              <a:t>	</a:t>
            </a:r>
            <a:r>
              <a:rPr lang="zh-TW" dirty="0">
                <a:latin typeface="Times New Roman" panose="02020603050405020304" pitchFamily="18" charset="0"/>
                <a:ea typeface="楷体_GB2312" pitchFamily="49" charset="-122"/>
                <a:cs typeface="Times New Roman" panose="02020603050405020304" pitchFamily="18" charset="0"/>
              </a:rPr>
              <a:t>前二位表示有效</a:t>
            </a:r>
            <a:r>
              <a:rPr lang="zh-CN" dirty="0">
                <a:latin typeface="Times New Roman" panose="02020603050405020304" pitchFamily="18" charset="0"/>
                <a:ea typeface="楷体_GB2312" pitchFamily="49" charset="-122"/>
                <a:cs typeface="Times New Roman" panose="02020603050405020304" pitchFamily="18" charset="0"/>
              </a:rPr>
              <a:t>数</a:t>
            </a:r>
            <a:r>
              <a:rPr lang="zh-TW" dirty="0">
                <a:latin typeface="Times New Roman" panose="02020603050405020304" pitchFamily="18" charset="0"/>
                <a:ea typeface="楷体_GB2312" pitchFamily="49" charset="-122"/>
                <a:cs typeface="Times New Roman" panose="02020603050405020304" pitchFamily="18" charset="0"/>
              </a:rPr>
              <a:t>字，第三位</a:t>
            </a:r>
            <a:r>
              <a:rPr lang="zh-CN" dirty="0">
                <a:latin typeface="Times New Roman" panose="02020603050405020304" pitchFamily="18" charset="0"/>
                <a:ea typeface="楷体_GB2312" pitchFamily="49" charset="-122"/>
                <a:cs typeface="Times New Roman" panose="02020603050405020304" pitchFamily="18" charset="0"/>
              </a:rPr>
              <a:t>数</a:t>
            </a:r>
            <a:r>
              <a:rPr lang="zh-TW" dirty="0">
                <a:latin typeface="Times New Roman" panose="02020603050405020304" pitchFamily="18" charset="0"/>
                <a:ea typeface="楷体_GB2312" pitchFamily="49" charset="-122"/>
                <a:cs typeface="Times New Roman" panose="02020603050405020304" pitchFamily="18" charset="0"/>
              </a:rPr>
              <a:t>表示有效</a:t>
            </a:r>
            <a:r>
              <a:rPr lang="zh-CN" dirty="0">
                <a:latin typeface="Times New Roman" panose="02020603050405020304" pitchFamily="18" charset="0"/>
                <a:ea typeface="楷体_GB2312" pitchFamily="49" charset="-122"/>
                <a:cs typeface="Times New Roman" panose="02020603050405020304" pitchFamily="18" charset="0"/>
              </a:rPr>
              <a:t>数</a:t>
            </a:r>
            <a:r>
              <a:rPr lang="zh-TW" dirty="0">
                <a:latin typeface="Times New Roman" panose="02020603050405020304" pitchFamily="18" charset="0"/>
                <a:ea typeface="楷体_GB2312" pitchFamily="49" charset="-122"/>
                <a:cs typeface="Times New Roman" panose="02020603050405020304" pitchFamily="18" charset="0"/>
              </a:rPr>
              <a:t>字后“0”的</a:t>
            </a:r>
            <a:r>
              <a:rPr lang="zh-CN" dirty="0">
                <a:latin typeface="Times New Roman" panose="02020603050405020304" pitchFamily="18" charset="0"/>
                <a:ea typeface="楷体_GB2312" pitchFamily="49" charset="-122"/>
                <a:cs typeface="Times New Roman" panose="02020603050405020304" pitchFamily="18" charset="0"/>
              </a:rPr>
              <a:t>个数</a:t>
            </a:r>
            <a:r>
              <a:rPr lang="zh-TW" dirty="0">
                <a:latin typeface="Times New Roman" panose="02020603050405020304" pitchFamily="18" charset="0"/>
                <a:ea typeface="楷体_GB2312" pitchFamily="49" charset="-122"/>
                <a:cs typeface="Times New Roman" panose="02020603050405020304" pitchFamily="18" charset="0"/>
              </a:rPr>
              <a:t>，</a:t>
            </a:r>
            <a:r>
              <a:rPr lang="zh-CN" dirty="0">
                <a:latin typeface="Times New Roman" panose="02020603050405020304" pitchFamily="18" charset="0"/>
                <a:ea typeface="楷体_GB2312" pitchFamily="49" charset="-122"/>
                <a:cs typeface="Times New Roman" panose="02020603050405020304" pitchFamily="18" charset="0"/>
              </a:rPr>
              <a:t>这样得</a:t>
            </a:r>
            <a:r>
              <a:rPr lang="zh-TW" dirty="0">
                <a:latin typeface="Times New Roman" panose="02020603050405020304" pitchFamily="18" charset="0"/>
                <a:ea typeface="楷体_GB2312" pitchFamily="49" charset="-122"/>
                <a:cs typeface="Times New Roman" panose="02020603050405020304" pitchFamily="18" charset="0"/>
              </a:rPr>
              <a:t>出的阻值</a:t>
            </a:r>
            <a:r>
              <a:rPr lang="zh-CN" dirty="0">
                <a:latin typeface="Times New Roman" panose="02020603050405020304" pitchFamily="18" charset="0"/>
                <a:ea typeface="楷体_GB2312" pitchFamily="49" charset="-122"/>
                <a:cs typeface="Times New Roman" panose="02020603050405020304" pitchFamily="18" charset="0"/>
              </a:rPr>
              <a:t>单</a:t>
            </a:r>
            <a:r>
              <a:rPr lang="zh-TW" dirty="0">
                <a:latin typeface="Times New Roman" panose="02020603050405020304" pitchFamily="18" charset="0"/>
                <a:ea typeface="楷体_GB2312" pitchFamily="49" charset="-122"/>
                <a:cs typeface="Times New Roman" panose="02020603050405020304" pitchFamily="18" charset="0"/>
              </a:rPr>
              <a:t>位</a:t>
            </a:r>
            <a:r>
              <a:rPr lang="zh-CN" dirty="0">
                <a:latin typeface="Times New Roman" panose="02020603050405020304" pitchFamily="18" charset="0"/>
                <a:ea typeface="楷体_GB2312" pitchFamily="49" charset="-122"/>
                <a:cs typeface="Times New Roman" panose="02020603050405020304" pitchFamily="18" charset="0"/>
              </a:rPr>
              <a:t>为</a:t>
            </a:r>
            <a:r>
              <a:rPr lang="zh-TW" dirty="0">
                <a:latin typeface="Times New Roman" panose="02020603050405020304" pitchFamily="18" charset="0"/>
                <a:ea typeface="楷体_GB2312" pitchFamily="49" charset="-122"/>
                <a:cs typeface="Times New Roman" panose="02020603050405020304" pitchFamily="18" charset="0"/>
              </a:rPr>
              <a:t>其基本</a:t>
            </a:r>
            <a:r>
              <a:rPr lang="zh-CN" dirty="0">
                <a:latin typeface="Times New Roman" panose="02020603050405020304" pitchFamily="18" charset="0"/>
                <a:ea typeface="楷体_GB2312" pitchFamily="49" charset="-122"/>
                <a:cs typeface="Times New Roman" panose="02020603050405020304" pitchFamily="18" charset="0"/>
              </a:rPr>
              <a:t>单</a:t>
            </a:r>
            <a:r>
              <a:rPr lang="zh-TW" dirty="0">
                <a:latin typeface="Times New Roman" panose="02020603050405020304" pitchFamily="18" charset="0"/>
                <a:ea typeface="楷体_GB2312" pitchFamily="49" charset="-122"/>
                <a:cs typeface="Times New Roman" panose="02020603050405020304" pitchFamily="18" charset="0"/>
              </a:rPr>
              <a:t>位</a:t>
            </a:r>
            <a:r>
              <a:rPr lang="zh-CN" dirty="0">
                <a:latin typeface="Times New Roman" panose="02020603050405020304" pitchFamily="18" charset="0"/>
                <a:ea typeface="楷体_GB2312" pitchFamily="49" charset="-122"/>
                <a:cs typeface="Times New Roman" panose="02020603050405020304" pitchFamily="18" charset="0"/>
              </a:rPr>
              <a:t>欧</a:t>
            </a:r>
            <a:r>
              <a:rPr lang="zh-TW" dirty="0">
                <a:latin typeface="Times New Roman" panose="02020603050405020304" pitchFamily="18" charset="0"/>
                <a:ea typeface="楷体_GB2312" pitchFamily="49" charset="-122"/>
                <a:cs typeface="Times New Roman" panose="02020603050405020304" pitchFamily="18" charset="0"/>
              </a:rPr>
              <a:t>姆(</a:t>
            </a:r>
            <a:r>
              <a:rPr lang="en-US" dirty="0">
                <a:latin typeface="Times New Roman" panose="02020603050405020304" pitchFamily="18" charset="0"/>
                <a:ea typeface="楷体_GB2312" pitchFamily="49" charset="-122"/>
                <a:cs typeface="Times New Roman" panose="02020603050405020304" pitchFamily="18" charset="0"/>
              </a:rPr>
              <a:t>Ω)。</a:t>
            </a:r>
            <a:r>
              <a:rPr lang="zh-TW" dirty="0">
                <a:latin typeface="Times New Roman" panose="02020603050405020304" pitchFamily="18" charset="0"/>
                <a:ea typeface="楷体_GB2312" pitchFamily="49" charset="-122"/>
                <a:cs typeface="Times New Roman" panose="02020603050405020304" pitchFamily="18" charset="0"/>
              </a:rPr>
              <a:t>如：</a:t>
            </a:r>
            <a:r>
              <a:rPr lang="zh-TW" dirty="0">
                <a:solidFill>
                  <a:srgbClr val="FF0000"/>
                </a:solidFill>
                <a:latin typeface="Times New Roman" panose="02020603050405020304" pitchFamily="18" charset="0"/>
                <a:ea typeface="楷体_GB2312" pitchFamily="49" charset="-122"/>
                <a:cs typeface="Times New Roman" panose="02020603050405020304" pitchFamily="18" charset="0"/>
              </a:rPr>
              <a:t>“22</a:t>
            </a:r>
            <a:r>
              <a:rPr lang="en-US" altLang="zh-TW" dirty="0">
                <a:solidFill>
                  <a:srgbClr val="FF0000"/>
                </a:solidFill>
                <a:latin typeface="Times New Roman" panose="02020603050405020304" pitchFamily="18" charset="0"/>
                <a:ea typeface="楷体_GB2312" pitchFamily="49" charset="-122"/>
                <a:cs typeface="Times New Roman" panose="02020603050405020304" pitchFamily="18" charset="0"/>
              </a:rPr>
              <a:t>2</a:t>
            </a:r>
            <a:r>
              <a:rPr lang="zh-TW" dirty="0">
                <a:solidFill>
                  <a:srgbClr val="FF0000"/>
                </a:solidFill>
                <a:latin typeface="Times New Roman" panose="02020603050405020304" pitchFamily="18" charset="0"/>
                <a:ea typeface="楷体_GB2312" pitchFamily="49" charset="-122"/>
                <a:cs typeface="Times New Roman" panose="02020603050405020304" pitchFamily="18" charset="0"/>
              </a:rPr>
              <a:t>”表示2200</a:t>
            </a:r>
            <a:r>
              <a:rPr lang="zh-CN" dirty="0">
                <a:solidFill>
                  <a:srgbClr val="FF0000"/>
                </a:solidFill>
                <a:latin typeface="Times New Roman" panose="02020603050405020304" pitchFamily="18" charset="0"/>
                <a:ea typeface="楷体_GB2312" pitchFamily="49" charset="-122"/>
                <a:cs typeface="Times New Roman" panose="02020603050405020304" pitchFamily="18" charset="0"/>
              </a:rPr>
              <a:t>欧</a:t>
            </a:r>
            <a:r>
              <a:rPr lang="zh-TW" dirty="0">
                <a:solidFill>
                  <a:srgbClr val="FF0000"/>
                </a:solidFill>
                <a:latin typeface="Times New Roman" panose="02020603050405020304" pitchFamily="18" charset="0"/>
                <a:ea typeface="楷体_GB2312" pitchFamily="49" charset="-122"/>
                <a:cs typeface="Times New Roman" panose="02020603050405020304" pitchFamily="18" charset="0"/>
              </a:rPr>
              <a:t>姆</a:t>
            </a:r>
            <a:r>
              <a:rPr lang="zh-TW" dirty="0">
                <a:latin typeface="Times New Roman" panose="02020603050405020304" pitchFamily="18" charset="0"/>
                <a:ea typeface="楷体_GB2312" pitchFamily="49" charset="-122"/>
                <a:cs typeface="Times New Roman" panose="02020603050405020304" pitchFamily="18" charset="0"/>
              </a:rPr>
              <a:t>。</a:t>
            </a:r>
            <a:r>
              <a:rPr lang="zh-CN" dirty="0">
                <a:latin typeface="Times New Roman" panose="02020603050405020304" pitchFamily="18" charset="0"/>
                <a:ea typeface="楷体_GB2312" pitchFamily="49" charset="-122"/>
                <a:cs typeface="Times New Roman" panose="02020603050405020304" pitchFamily="18" charset="0"/>
              </a:rPr>
              <a:t>这</a:t>
            </a:r>
            <a:r>
              <a:rPr lang="zh-TW" dirty="0">
                <a:latin typeface="Times New Roman" panose="02020603050405020304" pitchFamily="18" charset="0"/>
                <a:ea typeface="楷体_GB2312" pitchFamily="49" charset="-122"/>
                <a:cs typeface="Times New Roman" panose="02020603050405020304" pitchFamily="18" charset="0"/>
              </a:rPr>
              <a:t>种</a:t>
            </a:r>
            <a:r>
              <a:rPr lang="zh-CN" dirty="0">
                <a:latin typeface="Times New Roman" panose="02020603050405020304" pitchFamily="18" charset="0"/>
                <a:ea typeface="楷体_GB2312" pitchFamily="49" charset="-122"/>
                <a:cs typeface="Times New Roman" panose="02020603050405020304" pitchFamily="18" charset="0"/>
              </a:rPr>
              <a:t>电</a:t>
            </a:r>
            <a:r>
              <a:rPr lang="zh-TW" dirty="0">
                <a:latin typeface="Times New Roman" panose="02020603050405020304" pitchFamily="18" charset="0"/>
                <a:ea typeface="楷体_GB2312" pitchFamily="49" charset="-122"/>
                <a:cs typeface="Times New Roman" panose="02020603050405020304" pitchFamily="18" charset="0"/>
              </a:rPr>
              <a:t>阻的</a:t>
            </a:r>
            <a:r>
              <a:rPr lang="zh-CN" dirty="0">
                <a:latin typeface="Times New Roman" panose="02020603050405020304" pitchFamily="18" charset="0"/>
                <a:ea typeface="楷体_GB2312" pitchFamily="49" charset="-122"/>
                <a:cs typeface="Times New Roman" panose="02020603050405020304" pitchFamily="18" charset="0"/>
              </a:rPr>
              <a:t>误</a:t>
            </a:r>
            <a:r>
              <a:rPr lang="zh-TW" dirty="0">
                <a:latin typeface="Times New Roman" panose="02020603050405020304" pitchFamily="18" charset="0"/>
                <a:ea typeface="楷体_GB2312" pitchFamily="49" charset="-122"/>
                <a:cs typeface="Times New Roman" panose="02020603050405020304" pitchFamily="18" charset="0"/>
              </a:rPr>
              <a:t>差范</a:t>
            </a:r>
            <a:r>
              <a:rPr lang="zh-CN" dirty="0">
                <a:latin typeface="Times New Roman" panose="02020603050405020304" pitchFamily="18" charset="0"/>
                <a:ea typeface="楷体_GB2312" pitchFamily="49" charset="-122"/>
                <a:cs typeface="Times New Roman" panose="02020603050405020304" pitchFamily="18" charset="0"/>
              </a:rPr>
              <a:t>围</a:t>
            </a:r>
            <a:r>
              <a:rPr lang="zh-TW" dirty="0">
                <a:latin typeface="Times New Roman" panose="02020603050405020304" pitchFamily="18" charset="0"/>
                <a:ea typeface="楷体_GB2312" pitchFamily="49" charset="-122"/>
                <a:cs typeface="Times New Roman" panose="02020603050405020304" pitchFamily="18" charset="0"/>
              </a:rPr>
              <a:t>一般是</a:t>
            </a:r>
            <a:r>
              <a:rPr lang="en-US" dirty="0">
                <a:latin typeface="Times New Roman" panose="02020603050405020304" pitchFamily="18" charset="0"/>
                <a:ea typeface="楷体_GB2312" pitchFamily="49" charset="-122"/>
                <a:cs typeface="Times New Roman" panose="02020603050405020304" pitchFamily="18" charset="0"/>
              </a:rPr>
              <a:t>J</a:t>
            </a:r>
            <a:r>
              <a:rPr lang="zh-CN" dirty="0">
                <a:latin typeface="Times New Roman" panose="02020603050405020304" pitchFamily="18" charset="0"/>
                <a:ea typeface="楷体_GB2312" pitchFamily="49" charset="-122"/>
                <a:cs typeface="Times New Roman" panose="02020603050405020304" pitchFamily="18" charset="0"/>
              </a:rPr>
              <a:t>级</a:t>
            </a:r>
            <a:r>
              <a:rPr lang="zh-TW" dirty="0">
                <a:latin typeface="Times New Roman" panose="02020603050405020304" pitchFamily="18" charset="0"/>
                <a:ea typeface="楷体_GB2312" pitchFamily="49" charset="-122"/>
                <a:cs typeface="Times New Roman" panose="02020603050405020304" pitchFamily="18" charset="0"/>
              </a:rPr>
              <a:t>，即+5%</a:t>
            </a:r>
            <a:r>
              <a:rPr lang="zh-CN" dirty="0">
                <a:latin typeface="Times New Roman" panose="02020603050405020304" pitchFamily="18" charset="0"/>
                <a:ea typeface="楷体_GB2312" pitchFamily="49" charset="-122"/>
                <a:cs typeface="Times New Roman" panose="02020603050405020304" pitchFamily="18" charset="0"/>
              </a:rPr>
              <a:t>，这种表示方法一般在</a:t>
            </a:r>
            <a:r>
              <a:rPr lang="zh-CN" dirty="0">
                <a:solidFill>
                  <a:srgbClr val="FF0000"/>
                </a:solidFill>
                <a:latin typeface="Times New Roman" panose="02020603050405020304" pitchFamily="18" charset="0"/>
                <a:ea typeface="楷体_GB2312" pitchFamily="49" charset="-122"/>
                <a:cs typeface="Times New Roman" panose="02020603050405020304" pitchFamily="18" charset="0"/>
              </a:rPr>
              <a:t>0603封装</a:t>
            </a:r>
            <a:r>
              <a:rPr lang="zh-CN" dirty="0">
                <a:latin typeface="Times New Roman" panose="02020603050405020304" pitchFamily="18" charset="0"/>
                <a:ea typeface="楷体_GB2312" pitchFamily="49" charset="-122"/>
                <a:cs typeface="Times New Roman" panose="02020603050405020304" pitchFamily="18" charset="0"/>
              </a:rPr>
              <a:t>的贴片电阻电阻上比较常见。</a:t>
            </a:r>
            <a:endParaRPr lang="en-US" altLang="zh-CN" dirty="0">
              <a:latin typeface="Times New Roman" panose="02020603050405020304" pitchFamily="18" charset="0"/>
              <a:ea typeface="楷体_GB2312" pitchFamily="49" charset="-122"/>
              <a:cs typeface="Times New Roman" panose="02020603050405020304" pitchFamily="18" charset="0"/>
            </a:endParaRPr>
          </a:p>
          <a:p>
            <a:pPr marL="0" lvl="1" eaLnBrk="0" hangingPunct="0">
              <a:lnSpc>
                <a:spcPct val="150000"/>
              </a:lnSpc>
              <a:spcBef>
                <a:spcPct val="20000"/>
              </a:spcBef>
              <a:buClr>
                <a:schemeClr val="tx1"/>
              </a:buClr>
              <a:buSzPct val="75000"/>
            </a:pPr>
            <a:r>
              <a:rPr lang="en-US" altLang="zh-CN" dirty="0">
                <a:latin typeface="Times New Roman" panose="02020603050405020304" pitchFamily="18" charset="0"/>
                <a:ea typeface="楷体_GB2312" pitchFamily="49" charset="-122"/>
                <a:cs typeface="Times New Roman" panose="02020603050405020304" pitchFamily="18" charset="0"/>
              </a:rPr>
              <a:t>  </a:t>
            </a:r>
          </a:p>
          <a:p>
            <a:pPr marL="285750" indent="-285750">
              <a:lnSpc>
                <a:spcPct val="150000"/>
              </a:lnSpc>
              <a:buClr>
                <a:schemeClr val="tx1"/>
              </a:buClr>
              <a:buFont typeface="Wingdings" panose="05000000000000000000" pitchFamily="2" charset="2"/>
              <a:buChar char="u"/>
            </a:pPr>
            <a:r>
              <a:rPr lang="zh-CN" altLang="en-US" sz="1800" dirty="0">
                <a:latin typeface="Times New Roman" panose="02020603050405020304" pitchFamily="18" charset="0"/>
                <a:ea typeface="黑体" pitchFamily="49" charset="-122"/>
                <a:cs typeface="Times New Roman" panose="02020603050405020304" pitchFamily="18" charset="0"/>
              </a:rPr>
              <a:t>四位数表示法</a:t>
            </a:r>
            <a:endParaRPr lang="en-US" altLang="zh-CN" sz="1800" dirty="0">
              <a:latin typeface="Times New Roman" panose="02020603050405020304" pitchFamily="18" charset="0"/>
              <a:ea typeface="黑体" pitchFamily="49" charset="-122"/>
              <a:cs typeface="Times New Roman" panose="02020603050405020304" pitchFamily="18" charset="0"/>
            </a:endParaRPr>
          </a:p>
          <a:p>
            <a:pPr>
              <a:lnSpc>
                <a:spcPct val="150000"/>
              </a:lnSpc>
              <a:buClr>
                <a:schemeClr val="tx1"/>
              </a:buClr>
            </a:pPr>
            <a:r>
              <a:rPr lang="zh-TW" altLang="en-US" sz="1800" dirty="0">
                <a:latin typeface="Times New Roman" panose="02020603050405020304" pitchFamily="18" charset="0"/>
                <a:ea typeface="黑体" pitchFamily="49" charset="-122"/>
                <a:cs typeface="Times New Roman" panose="02020603050405020304" pitchFamily="18" charset="0"/>
              </a:rPr>
              <a:t>    前三位表示有效</a:t>
            </a:r>
            <a:r>
              <a:rPr lang="zh-CN" altLang="en-US" sz="1800" dirty="0">
                <a:latin typeface="Times New Roman" panose="02020603050405020304" pitchFamily="18" charset="0"/>
                <a:ea typeface="黑体" pitchFamily="49" charset="-122"/>
                <a:cs typeface="Times New Roman" panose="02020603050405020304" pitchFamily="18" charset="0"/>
              </a:rPr>
              <a:t>数</a:t>
            </a:r>
            <a:r>
              <a:rPr lang="zh-TW" altLang="en-US" sz="1800" dirty="0">
                <a:latin typeface="Times New Roman" panose="02020603050405020304" pitchFamily="18" charset="0"/>
                <a:ea typeface="黑体" pitchFamily="49" charset="-122"/>
                <a:cs typeface="Times New Roman" panose="02020603050405020304" pitchFamily="18" charset="0"/>
              </a:rPr>
              <a:t>字，第四位</a:t>
            </a:r>
            <a:r>
              <a:rPr lang="zh-CN" altLang="en-US" sz="1800" dirty="0">
                <a:latin typeface="Times New Roman" panose="02020603050405020304" pitchFamily="18" charset="0"/>
                <a:ea typeface="黑体" pitchFamily="49" charset="-122"/>
                <a:cs typeface="Times New Roman" panose="02020603050405020304" pitchFamily="18" charset="0"/>
              </a:rPr>
              <a:t>数</a:t>
            </a:r>
            <a:r>
              <a:rPr lang="zh-TW" altLang="en-US" sz="1800" dirty="0">
                <a:latin typeface="Times New Roman" panose="02020603050405020304" pitchFamily="18" charset="0"/>
                <a:ea typeface="黑体" pitchFamily="49" charset="-122"/>
                <a:cs typeface="Times New Roman" panose="02020603050405020304" pitchFamily="18" charset="0"/>
              </a:rPr>
              <a:t>表示有效</a:t>
            </a:r>
            <a:r>
              <a:rPr lang="zh-CN" altLang="en-US" sz="1800" dirty="0">
                <a:latin typeface="Times New Roman" panose="02020603050405020304" pitchFamily="18" charset="0"/>
                <a:ea typeface="黑体" pitchFamily="49" charset="-122"/>
                <a:cs typeface="Times New Roman" panose="02020603050405020304" pitchFamily="18" charset="0"/>
              </a:rPr>
              <a:t>数</a:t>
            </a:r>
            <a:r>
              <a:rPr lang="zh-TW" altLang="en-US" sz="1800" dirty="0">
                <a:latin typeface="Times New Roman" panose="02020603050405020304" pitchFamily="18" charset="0"/>
                <a:ea typeface="黑体" pitchFamily="49" charset="-122"/>
                <a:cs typeface="Times New Roman" panose="02020603050405020304" pitchFamily="18" charset="0"/>
              </a:rPr>
              <a:t>字后“</a:t>
            </a:r>
            <a:r>
              <a:rPr lang="en-US" altLang="zh-TW" sz="1800" dirty="0">
                <a:latin typeface="Times New Roman" panose="02020603050405020304" pitchFamily="18" charset="0"/>
                <a:ea typeface="黑体" pitchFamily="49" charset="-122"/>
                <a:cs typeface="Times New Roman" panose="02020603050405020304" pitchFamily="18" charset="0"/>
              </a:rPr>
              <a:t>0”</a:t>
            </a:r>
            <a:r>
              <a:rPr lang="zh-TW" altLang="en-US" sz="1800" dirty="0">
                <a:latin typeface="Times New Roman" panose="02020603050405020304" pitchFamily="18" charset="0"/>
                <a:ea typeface="黑体" pitchFamily="49" charset="-122"/>
                <a:cs typeface="Times New Roman" panose="02020603050405020304" pitchFamily="18" charset="0"/>
              </a:rPr>
              <a:t>的個</a:t>
            </a:r>
            <a:r>
              <a:rPr lang="zh-CN" altLang="en-US" sz="1800" dirty="0">
                <a:latin typeface="Times New Roman" panose="02020603050405020304" pitchFamily="18" charset="0"/>
                <a:ea typeface="黑体" pitchFamily="49" charset="-122"/>
                <a:cs typeface="Times New Roman" panose="02020603050405020304" pitchFamily="18" charset="0"/>
              </a:rPr>
              <a:t>数</a:t>
            </a:r>
            <a:r>
              <a:rPr lang="zh-TW" altLang="en-US" sz="1800" dirty="0">
                <a:latin typeface="Times New Roman" panose="02020603050405020304" pitchFamily="18" charset="0"/>
                <a:ea typeface="黑体" pitchFamily="49" charset="-122"/>
                <a:cs typeface="Times New Roman" panose="02020603050405020304" pitchFamily="18" charset="0"/>
              </a:rPr>
              <a:t>，</a:t>
            </a:r>
            <a:r>
              <a:rPr lang="zh-CN" altLang="en-US" sz="1800" dirty="0">
                <a:latin typeface="Times New Roman" panose="02020603050405020304" pitchFamily="18" charset="0"/>
                <a:ea typeface="黑体" pitchFamily="49" charset="-122"/>
                <a:cs typeface="Times New Roman" panose="02020603050405020304" pitchFamily="18" charset="0"/>
              </a:rPr>
              <a:t>这样</a:t>
            </a:r>
            <a:r>
              <a:rPr lang="zh-TW" altLang="en-US" sz="1800" dirty="0">
                <a:latin typeface="Times New Roman" panose="02020603050405020304" pitchFamily="18" charset="0"/>
                <a:ea typeface="黑体" pitchFamily="49" charset="-122"/>
                <a:cs typeface="Times New Roman" panose="02020603050405020304" pitchFamily="18" charset="0"/>
              </a:rPr>
              <a:t>得出的阻值</a:t>
            </a:r>
            <a:r>
              <a:rPr lang="zh-CN" altLang="en-US" sz="1800" dirty="0">
                <a:latin typeface="Times New Roman" panose="02020603050405020304" pitchFamily="18" charset="0"/>
                <a:ea typeface="黑体" pitchFamily="49" charset="-122"/>
                <a:cs typeface="Times New Roman" panose="02020603050405020304" pitchFamily="18" charset="0"/>
              </a:rPr>
              <a:t>单</a:t>
            </a:r>
            <a:r>
              <a:rPr lang="zh-TW" altLang="en-US" sz="1800" dirty="0">
                <a:latin typeface="Times New Roman" panose="02020603050405020304" pitchFamily="18" charset="0"/>
                <a:ea typeface="黑体" pitchFamily="49" charset="-122"/>
                <a:cs typeface="Times New Roman" panose="02020603050405020304" pitchFamily="18" charset="0"/>
              </a:rPr>
              <a:t>位也</a:t>
            </a:r>
            <a:r>
              <a:rPr lang="zh-CN" altLang="en-US" sz="1800" dirty="0">
                <a:latin typeface="Times New Roman" panose="02020603050405020304" pitchFamily="18" charset="0"/>
                <a:ea typeface="黑体" pitchFamily="49" charset="-122"/>
                <a:cs typeface="Times New Roman" panose="02020603050405020304" pitchFamily="18" charset="0"/>
              </a:rPr>
              <a:t>为</a:t>
            </a:r>
            <a:r>
              <a:rPr lang="zh-TW" altLang="en-US" sz="1800" dirty="0">
                <a:latin typeface="Times New Roman" panose="02020603050405020304" pitchFamily="18" charset="0"/>
                <a:ea typeface="黑体" pitchFamily="49" charset="-122"/>
                <a:cs typeface="Times New Roman" panose="02020603050405020304" pitchFamily="18" charset="0"/>
              </a:rPr>
              <a:t>其基本</a:t>
            </a:r>
            <a:r>
              <a:rPr lang="zh-CN" altLang="en-US" sz="1800" dirty="0">
                <a:latin typeface="Times New Roman" panose="02020603050405020304" pitchFamily="18" charset="0"/>
                <a:ea typeface="黑体" pitchFamily="49" charset="-122"/>
                <a:cs typeface="Times New Roman" panose="02020603050405020304" pitchFamily="18" charset="0"/>
              </a:rPr>
              <a:t>单</a:t>
            </a:r>
            <a:r>
              <a:rPr lang="zh-TW" altLang="en-US" sz="1800" dirty="0">
                <a:latin typeface="Times New Roman" panose="02020603050405020304" pitchFamily="18" charset="0"/>
                <a:ea typeface="黑体" pitchFamily="49" charset="-122"/>
                <a:cs typeface="Times New Roman" panose="02020603050405020304" pitchFamily="18" charset="0"/>
              </a:rPr>
              <a:t>位</a:t>
            </a:r>
            <a:r>
              <a:rPr lang="zh-CN" altLang="en-US" sz="1800" dirty="0">
                <a:latin typeface="Times New Roman" panose="02020603050405020304" pitchFamily="18" charset="0"/>
                <a:ea typeface="黑体" pitchFamily="49" charset="-122"/>
                <a:cs typeface="Times New Roman" panose="02020603050405020304" pitchFamily="18" charset="0"/>
              </a:rPr>
              <a:t>欧</a:t>
            </a:r>
            <a:r>
              <a:rPr lang="zh-TW" altLang="en-US" sz="1800" dirty="0">
                <a:latin typeface="Times New Roman" panose="02020603050405020304" pitchFamily="18" charset="0"/>
                <a:ea typeface="黑体" pitchFamily="49" charset="-122"/>
                <a:cs typeface="Times New Roman" panose="02020603050405020304" pitchFamily="18" charset="0"/>
              </a:rPr>
              <a:t>姆</a:t>
            </a:r>
            <a:r>
              <a:rPr lang="en-US" altLang="zh-TW" sz="1800" dirty="0">
                <a:latin typeface="Times New Roman" panose="02020603050405020304" pitchFamily="18" charset="0"/>
                <a:ea typeface="黑体" pitchFamily="49" charset="-122"/>
                <a:cs typeface="Times New Roman" panose="02020603050405020304" pitchFamily="18" charset="0"/>
              </a:rPr>
              <a:t>(</a:t>
            </a:r>
            <a:r>
              <a:rPr lang="en-US" altLang="zh-CN" sz="1800" dirty="0">
                <a:latin typeface="Times New Roman" panose="02020603050405020304" pitchFamily="18" charset="0"/>
                <a:ea typeface="黑体" pitchFamily="49" charset="-122"/>
                <a:cs typeface="Times New Roman" panose="02020603050405020304" pitchFamily="18" charset="0"/>
              </a:rPr>
              <a:t>Ω)。</a:t>
            </a:r>
            <a:r>
              <a:rPr lang="zh-TW" altLang="en-US" sz="1800" dirty="0">
                <a:latin typeface="Times New Roman" panose="02020603050405020304" pitchFamily="18" charset="0"/>
                <a:ea typeface="黑体" pitchFamily="49" charset="-122"/>
                <a:cs typeface="Times New Roman" panose="02020603050405020304" pitchFamily="18" charset="0"/>
              </a:rPr>
              <a:t>如：</a:t>
            </a:r>
            <a:r>
              <a:rPr lang="zh-TW" altLang="en-US" sz="1800" dirty="0">
                <a:solidFill>
                  <a:srgbClr val="FF0000"/>
                </a:solidFill>
                <a:latin typeface="Times New Roman" panose="02020603050405020304" pitchFamily="18" charset="0"/>
                <a:ea typeface="黑体" pitchFamily="49" charset="-122"/>
                <a:cs typeface="Times New Roman" panose="02020603050405020304" pitchFamily="18" charset="0"/>
              </a:rPr>
              <a:t>“</a:t>
            </a:r>
            <a:r>
              <a:rPr lang="en-US" altLang="zh-TW" sz="1800" dirty="0">
                <a:solidFill>
                  <a:srgbClr val="FF0000"/>
                </a:solidFill>
                <a:latin typeface="Times New Roman" panose="02020603050405020304" pitchFamily="18" charset="0"/>
                <a:ea typeface="黑体" pitchFamily="49" charset="-122"/>
                <a:cs typeface="Times New Roman" panose="02020603050405020304" pitchFamily="18" charset="0"/>
              </a:rPr>
              <a:t>1001”</a:t>
            </a:r>
            <a:r>
              <a:rPr lang="zh-TW" altLang="en-US" sz="1800" dirty="0">
                <a:solidFill>
                  <a:srgbClr val="FF0000"/>
                </a:solidFill>
                <a:latin typeface="Times New Roman" panose="02020603050405020304" pitchFamily="18" charset="0"/>
                <a:ea typeface="黑体" pitchFamily="49" charset="-122"/>
                <a:cs typeface="Times New Roman" panose="02020603050405020304" pitchFamily="18" charset="0"/>
              </a:rPr>
              <a:t>表示</a:t>
            </a:r>
            <a:r>
              <a:rPr lang="en-US" altLang="zh-TW" sz="1800" dirty="0">
                <a:solidFill>
                  <a:srgbClr val="FF0000"/>
                </a:solidFill>
                <a:latin typeface="Times New Roman" panose="02020603050405020304" pitchFamily="18" charset="0"/>
                <a:ea typeface="黑体" pitchFamily="49" charset="-122"/>
                <a:cs typeface="Times New Roman" panose="02020603050405020304" pitchFamily="18" charset="0"/>
              </a:rPr>
              <a:t>1000</a:t>
            </a:r>
            <a:r>
              <a:rPr lang="zh-CN" altLang="en-US" sz="1800" dirty="0">
                <a:solidFill>
                  <a:srgbClr val="FF0000"/>
                </a:solidFill>
                <a:latin typeface="Times New Roman" panose="02020603050405020304" pitchFamily="18" charset="0"/>
                <a:ea typeface="黑体" pitchFamily="49" charset="-122"/>
                <a:cs typeface="Times New Roman" panose="02020603050405020304" pitchFamily="18" charset="0"/>
              </a:rPr>
              <a:t>欧</a:t>
            </a:r>
            <a:r>
              <a:rPr lang="zh-TW" altLang="en-US" sz="1800" dirty="0">
                <a:solidFill>
                  <a:srgbClr val="FF0000"/>
                </a:solidFill>
                <a:latin typeface="Times New Roman" panose="02020603050405020304" pitchFamily="18" charset="0"/>
                <a:ea typeface="黑体" pitchFamily="49" charset="-122"/>
                <a:cs typeface="Times New Roman" panose="02020603050405020304" pitchFamily="18" charset="0"/>
              </a:rPr>
              <a:t>姆</a:t>
            </a:r>
            <a:r>
              <a:rPr lang="zh-TW" altLang="en-US" sz="1800" dirty="0">
                <a:latin typeface="Times New Roman" panose="02020603050405020304" pitchFamily="18" charset="0"/>
                <a:ea typeface="黑体" pitchFamily="49" charset="-122"/>
                <a:cs typeface="Times New Roman" panose="02020603050405020304" pitchFamily="18" charset="0"/>
              </a:rPr>
              <a:t>。</a:t>
            </a:r>
            <a:r>
              <a:rPr lang="zh-CN" altLang="en-US" sz="1800" dirty="0">
                <a:latin typeface="Times New Roman" panose="02020603050405020304" pitchFamily="18" charset="0"/>
                <a:ea typeface="黑体" pitchFamily="49" charset="-122"/>
                <a:cs typeface="Times New Roman" panose="02020603050405020304" pitchFamily="18" charset="0"/>
              </a:rPr>
              <a:t>这种电</a:t>
            </a:r>
            <a:r>
              <a:rPr lang="zh-TW" altLang="en-US" sz="1800" dirty="0">
                <a:latin typeface="Times New Roman" panose="02020603050405020304" pitchFamily="18" charset="0"/>
                <a:ea typeface="黑体" pitchFamily="49" charset="-122"/>
                <a:cs typeface="Times New Roman" panose="02020603050405020304" pitchFamily="18" charset="0"/>
              </a:rPr>
              <a:t>阻的</a:t>
            </a:r>
            <a:r>
              <a:rPr lang="zh-CN" altLang="en-US" sz="1800" dirty="0">
                <a:latin typeface="Times New Roman" panose="02020603050405020304" pitchFamily="18" charset="0"/>
                <a:ea typeface="黑体" pitchFamily="49" charset="-122"/>
                <a:cs typeface="Times New Roman" panose="02020603050405020304" pitchFamily="18" charset="0"/>
              </a:rPr>
              <a:t>误</a:t>
            </a:r>
            <a:r>
              <a:rPr lang="zh-TW" altLang="en-US" sz="1800" dirty="0">
                <a:latin typeface="Times New Roman" panose="02020603050405020304" pitchFamily="18" charset="0"/>
                <a:ea typeface="黑体" pitchFamily="49" charset="-122"/>
                <a:cs typeface="Times New Roman" panose="02020603050405020304" pitchFamily="18" charset="0"/>
              </a:rPr>
              <a:t>差范</a:t>
            </a:r>
            <a:r>
              <a:rPr lang="zh-CN" altLang="en-US" sz="1800" dirty="0">
                <a:latin typeface="Times New Roman" panose="02020603050405020304" pitchFamily="18" charset="0"/>
                <a:ea typeface="黑体" pitchFamily="49" charset="-122"/>
                <a:cs typeface="Times New Roman" panose="02020603050405020304" pitchFamily="18" charset="0"/>
              </a:rPr>
              <a:t>围</a:t>
            </a:r>
            <a:r>
              <a:rPr lang="zh-TW" altLang="en-US" sz="1800" dirty="0">
                <a:latin typeface="Times New Roman" panose="02020603050405020304" pitchFamily="18" charset="0"/>
                <a:ea typeface="黑体" pitchFamily="49" charset="-122"/>
                <a:cs typeface="Times New Roman" panose="02020603050405020304" pitchFamily="18" charset="0"/>
              </a:rPr>
              <a:t>一般</a:t>
            </a:r>
            <a:r>
              <a:rPr lang="zh-CN" altLang="en-US" sz="1800" dirty="0">
                <a:latin typeface="Times New Roman" panose="02020603050405020304" pitchFamily="18" charset="0"/>
                <a:ea typeface="黑体" pitchFamily="49" charset="-122"/>
                <a:cs typeface="Times New Roman" panose="02020603050405020304" pitchFamily="18" charset="0"/>
              </a:rPr>
              <a:t>为</a:t>
            </a:r>
            <a:r>
              <a:rPr lang="en-US" altLang="zh-TW" sz="1800" dirty="0">
                <a:latin typeface="Times New Roman" panose="02020603050405020304" pitchFamily="18" charset="0"/>
                <a:ea typeface="黑体" pitchFamily="49" charset="-122"/>
                <a:cs typeface="Times New Roman" panose="02020603050405020304" pitchFamily="18" charset="0"/>
              </a:rPr>
              <a:t>+1%</a:t>
            </a:r>
            <a:r>
              <a:rPr lang="zh-CN" altLang="en-US" sz="1800" dirty="0">
                <a:latin typeface="Times New Roman" panose="02020603050405020304" pitchFamily="18" charset="0"/>
                <a:ea typeface="黑体" pitchFamily="49" charset="-122"/>
                <a:cs typeface="Times New Roman" panose="02020603050405020304" pitchFamily="18" charset="0"/>
              </a:rPr>
              <a:t>，一般在</a:t>
            </a:r>
            <a:r>
              <a:rPr lang="en-US" altLang="zh-CN" sz="1800" dirty="0">
                <a:solidFill>
                  <a:srgbClr val="FF0000"/>
                </a:solidFill>
                <a:latin typeface="Times New Roman" panose="02020603050405020304" pitchFamily="18" charset="0"/>
                <a:ea typeface="黑体" pitchFamily="49" charset="-122"/>
                <a:cs typeface="Times New Roman" panose="02020603050405020304" pitchFamily="18" charset="0"/>
              </a:rPr>
              <a:t>0805</a:t>
            </a:r>
            <a:r>
              <a:rPr lang="zh-CN" altLang="en-US" sz="1800" dirty="0">
                <a:solidFill>
                  <a:srgbClr val="FF0000"/>
                </a:solidFill>
                <a:latin typeface="Times New Roman" panose="02020603050405020304" pitchFamily="18" charset="0"/>
                <a:ea typeface="黑体" pitchFamily="49" charset="-122"/>
                <a:cs typeface="Times New Roman" panose="02020603050405020304" pitchFamily="18" charset="0"/>
              </a:rPr>
              <a:t>封装</a:t>
            </a:r>
            <a:r>
              <a:rPr lang="zh-CN" altLang="en-US" sz="1800" dirty="0">
                <a:latin typeface="Times New Roman" panose="02020603050405020304" pitchFamily="18" charset="0"/>
                <a:ea typeface="黑体" pitchFamily="49" charset="-122"/>
                <a:cs typeface="Times New Roman" panose="02020603050405020304" pitchFamily="18" charset="0"/>
              </a:rPr>
              <a:t>的贴片电阻上比较常见。</a:t>
            </a:r>
          </a:p>
          <a:p>
            <a:pPr marL="0" lvl="1" eaLnBrk="0" hangingPunct="0">
              <a:lnSpc>
                <a:spcPct val="150000"/>
              </a:lnSpc>
              <a:spcBef>
                <a:spcPct val="20000"/>
              </a:spcBef>
              <a:buClr>
                <a:schemeClr val="tx1"/>
              </a:buClr>
              <a:buSzPct val="75000"/>
            </a:pPr>
            <a:endParaRPr lang="zh-TW" dirty="0">
              <a:latin typeface="Times New Roman" panose="02020603050405020304" pitchFamily="18" charset="0"/>
              <a:ea typeface="楷体_GB2312" pitchFamily="49" charset="-122"/>
              <a:cs typeface="Times New Roman" panose="02020603050405020304" pitchFamily="18" charset="0"/>
            </a:endParaRPr>
          </a:p>
        </p:txBody>
      </p:sp>
      <p:graphicFrame>
        <p:nvGraphicFramePr>
          <p:cNvPr id="3" name="Object 5">
            <a:extLst>
              <a:ext uri="{FF2B5EF4-FFF2-40B4-BE49-F238E27FC236}">
                <a16:creationId xmlns:a16="http://schemas.microsoft.com/office/drawing/2014/main" id="{284EE615-DCA5-9937-E108-DD0713CD0344}"/>
              </a:ext>
            </a:extLst>
          </p:cNvPr>
          <p:cNvGraphicFramePr>
            <a:graphicFrameLocks noChangeAspect="1"/>
          </p:cNvGraphicFramePr>
          <p:nvPr>
            <p:extLst>
              <p:ext uri="{D42A27DB-BD31-4B8C-83A1-F6EECF244321}">
                <p14:modId xmlns:p14="http://schemas.microsoft.com/office/powerpoint/2010/main" val="3975109306"/>
              </p:ext>
            </p:extLst>
          </p:nvPr>
        </p:nvGraphicFramePr>
        <p:xfrm>
          <a:off x="2824993" y="3356992"/>
          <a:ext cx="1512168" cy="766989"/>
        </p:xfrm>
        <a:graphic>
          <a:graphicData uri="http://schemas.openxmlformats.org/presentationml/2006/ole">
            <mc:AlternateContent xmlns:mc="http://schemas.openxmlformats.org/markup-compatibility/2006">
              <mc:Choice xmlns:v="urn:schemas-microsoft-com:vml" Requires="v">
                <p:oleObj r:id="rId2" imgW="847843" imgH="428798" progId="PBrush">
                  <p:embed/>
                </p:oleObj>
              </mc:Choice>
              <mc:Fallback>
                <p:oleObj r:id="rId2" imgW="847843" imgH="428798" progId="PBrush">
                  <p:embed/>
                  <p:pic>
                    <p:nvPicPr>
                      <p:cNvPr id="45061"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24993" y="3356992"/>
                        <a:ext cx="1512168" cy="766989"/>
                      </a:xfrm>
                      <a:prstGeom prst="rect">
                        <a:avLst/>
                      </a:prstGeom>
                      <a:noFill/>
                    </p:spPr>
                  </p:pic>
                </p:oleObj>
              </mc:Fallback>
            </mc:AlternateContent>
          </a:graphicData>
        </a:graphic>
      </p:graphicFrame>
      <p:sp>
        <p:nvSpPr>
          <p:cNvPr id="4" name="Rectangle 3">
            <a:extLst>
              <a:ext uri="{FF2B5EF4-FFF2-40B4-BE49-F238E27FC236}">
                <a16:creationId xmlns:a16="http://schemas.microsoft.com/office/drawing/2014/main" id="{D0D34075-400F-0ACF-2EDD-43693126A21A}"/>
              </a:ext>
            </a:extLst>
          </p:cNvPr>
          <p:cNvSpPr>
            <a:spLocks noGrp="1" noChangeArrowheads="1"/>
          </p:cNvSpPr>
          <p:nvPr>
            <p:ph type="subTitle" idx="1"/>
          </p:nvPr>
        </p:nvSpPr>
        <p:spPr>
          <a:xfrm>
            <a:off x="4644008" y="3254009"/>
            <a:ext cx="4032448" cy="504056"/>
          </a:xfrm>
        </p:spPr>
        <p:txBody>
          <a:bodyPr/>
          <a:lstStyle/>
          <a:p>
            <a:pPr algn="l">
              <a:buClr>
                <a:schemeClr val="tx1"/>
              </a:buClr>
            </a:pPr>
            <a:r>
              <a:rPr lang="zh-TW" b="1" dirty="0">
                <a:latin typeface="Times New Roman"/>
                <a:ea typeface="楷体_GB2312" pitchFamily="49" charset="-122"/>
              </a:rPr>
              <a:t>“</a:t>
            </a:r>
            <a:r>
              <a:rPr lang="zh-TW" b="1" dirty="0">
                <a:latin typeface="楷体_GB2312" pitchFamily="49" charset="-122"/>
                <a:ea typeface="楷体_GB2312" pitchFamily="49" charset="-122"/>
              </a:rPr>
              <a:t>222</a:t>
            </a:r>
            <a:r>
              <a:rPr lang="zh-TW" b="1" dirty="0">
                <a:latin typeface="Times New Roman"/>
                <a:ea typeface="楷体_GB2312" pitchFamily="49" charset="-122"/>
              </a:rPr>
              <a:t>”</a:t>
            </a:r>
            <a:r>
              <a:rPr lang="zh-TW" b="1" dirty="0">
                <a:latin typeface="楷体_GB2312" pitchFamily="49" charset="-122"/>
                <a:ea typeface="楷体_GB2312" pitchFamily="49" charset="-122"/>
              </a:rPr>
              <a:t>表示22</a:t>
            </a:r>
            <a:r>
              <a:rPr lang="en-US" b="1" dirty="0">
                <a:latin typeface="楷体_GB2312" pitchFamily="49" charset="-122"/>
                <a:ea typeface="楷体_GB2312" pitchFamily="49" charset="-122"/>
              </a:rPr>
              <a:t>X10</a:t>
            </a:r>
            <a:r>
              <a:rPr lang="en-US" b="1" baseline="30000" dirty="0">
                <a:latin typeface="楷体_GB2312" pitchFamily="49" charset="-122"/>
                <a:ea typeface="楷体_GB2312" pitchFamily="49" charset="-122"/>
              </a:rPr>
              <a:t>2</a:t>
            </a:r>
            <a:r>
              <a:rPr lang="en-US" b="1" dirty="0">
                <a:latin typeface="楷体_GB2312" pitchFamily="49" charset="-122"/>
                <a:ea typeface="楷体_GB2312" pitchFamily="49" charset="-122"/>
              </a:rPr>
              <a:t>=2200</a:t>
            </a:r>
            <a:r>
              <a:rPr lang="en-US" b="1" dirty="0">
                <a:latin typeface="MingLiU" pitchFamily="49" charset="-120"/>
                <a:ea typeface="MingLiU" pitchFamily="49" charset="-120"/>
              </a:rPr>
              <a:t>Ω，</a:t>
            </a:r>
            <a:r>
              <a:rPr lang="zh-CN" b="1" dirty="0">
                <a:latin typeface="MingLiU" pitchFamily="49" charset="-120"/>
              </a:rPr>
              <a:t>即2.2k</a:t>
            </a:r>
            <a:r>
              <a:rPr lang="en-US" b="1" dirty="0">
                <a:latin typeface="MingLiU" pitchFamily="49" charset="-120"/>
                <a:cs typeface="Times New Roman" pitchFamily="18" charset="0"/>
              </a:rPr>
              <a:t>Ω</a:t>
            </a:r>
            <a:r>
              <a:rPr lang="zh-CN" b="1" dirty="0">
                <a:latin typeface="MingLiU" pitchFamily="49" charset="-120"/>
              </a:rPr>
              <a:t> </a:t>
            </a:r>
            <a:r>
              <a:rPr lang="zh-CN" b="1" dirty="0">
                <a:latin typeface="楷体_GB2312" pitchFamily="49" charset="-122"/>
                <a:ea typeface="楷体_GB2312" pitchFamily="49" charset="-122"/>
              </a:rPr>
              <a:t>  </a:t>
            </a:r>
          </a:p>
        </p:txBody>
      </p:sp>
      <p:pic>
        <p:nvPicPr>
          <p:cNvPr id="5" name="Picture 7" descr="RN1">
            <a:extLst>
              <a:ext uri="{FF2B5EF4-FFF2-40B4-BE49-F238E27FC236}">
                <a16:creationId xmlns:a16="http://schemas.microsoft.com/office/drawing/2014/main" id="{0248E99F-92A0-E875-6750-0940A9913E55}"/>
              </a:ext>
            </a:extLst>
          </p:cNvPr>
          <p:cNvPicPr>
            <a:picLocks noChangeAspect="1" noChangeArrowheads="1"/>
          </p:cNvPicPr>
          <p:nvPr/>
        </p:nvPicPr>
        <p:blipFill>
          <a:blip r:embed="rId4" cstate="print"/>
          <a:srcRect/>
          <a:stretch>
            <a:fillRect/>
          </a:stretch>
        </p:blipFill>
        <p:spPr bwMode="auto">
          <a:xfrm>
            <a:off x="5661149" y="3746639"/>
            <a:ext cx="1886585" cy="648072"/>
          </a:xfrm>
          <a:prstGeom prst="rect">
            <a:avLst/>
          </a:prstGeom>
          <a:noFill/>
          <a:ln w="9525">
            <a:noFill/>
            <a:miter lim="800000"/>
            <a:headEnd/>
            <a:tailEnd/>
          </a:ln>
        </p:spPr>
      </p:pic>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ChangeArrowheads="1"/>
          </p:cNvSpPr>
          <p:nvPr>
            <p:ph type="title"/>
          </p:nvPr>
        </p:nvSpPr>
        <p:spPr>
          <a:xfrm>
            <a:off x="251520" y="635308"/>
            <a:ext cx="7992888" cy="816644"/>
          </a:xfrm>
        </p:spPr>
        <p:txBody>
          <a:bodyPr vert="horz" lIns="91440" tIns="45720" rIns="91440" bIns="0" rtlCol="0" anchor="b">
            <a:normAutofit fontScale="90000"/>
          </a:bodyPr>
          <a:lstStyle/>
          <a:p>
            <a:r>
              <a:rPr lang="zh-CN" altLang="en-US" sz="4000" dirty="0">
                <a:ea typeface="华文行楷" pitchFamily="2" charset="-122"/>
              </a:rPr>
              <a:t>贴片电阻、贴片电容规格、封装、尺寸 </a:t>
            </a:r>
          </a:p>
        </p:txBody>
      </p:sp>
      <p:pic>
        <p:nvPicPr>
          <p:cNvPr id="116740" name="Picture 4" descr="mcr_01"/>
          <p:cNvPicPr>
            <a:picLocks noGrp="1" noChangeAspect="1" noChangeArrowheads="1"/>
          </p:cNvPicPr>
          <p:nvPr>
            <p:ph idx="1"/>
          </p:nvPr>
        </p:nvPicPr>
        <p:blipFill>
          <a:blip r:embed="rId2" cstate="print"/>
          <a:srcRect/>
          <a:stretch>
            <a:fillRect/>
          </a:stretch>
        </p:blipFill>
        <p:spPr>
          <a:xfrm>
            <a:off x="515455" y="1881187"/>
            <a:ext cx="3898900" cy="4103687"/>
          </a:xfrm>
          <a:noFill/>
          <a:ln/>
        </p:spPr>
      </p:pic>
      <p:sp>
        <p:nvSpPr>
          <p:cNvPr id="2" name="灯片编号占位符 1">
            <a:extLst>
              <a:ext uri="{FF2B5EF4-FFF2-40B4-BE49-F238E27FC236}">
                <a16:creationId xmlns:a16="http://schemas.microsoft.com/office/drawing/2014/main" id="{5896E4AA-A707-EDDB-5516-3D1EE9BD2C0D}"/>
              </a:ext>
            </a:extLst>
          </p:cNvPr>
          <p:cNvSpPr>
            <a:spLocks noGrp="1"/>
          </p:cNvSpPr>
          <p:nvPr>
            <p:ph type="sldNum" sz="quarter" idx="12"/>
          </p:nvPr>
        </p:nvSpPr>
        <p:spPr/>
        <p:txBody>
          <a:bodyPr/>
          <a:lstStyle/>
          <a:p>
            <a:pPr>
              <a:defRPr/>
            </a:pPr>
            <a:fld id="{5FAFB815-62BA-464E-901C-79D108092E38}" type="slidenum">
              <a:rPr lang="zh-CN" altLang="en-US" smtClean="0"/>
              <a:pPr>
                <a:defRPr/>
              </a:pPr>
              <a:t>32</a:t>
            </a:fld>
            <a:endParaRPr lang="en-US" altLang="zh-CN"/>
          </a:p>
        </p:txBody>
      </p:sp>
      <p:sp>
        <p:nvSpPr>
          <p:cNvPr id="116741" name="Rectangle 5"/>
          <p:cNvSpPr>
            <a:spLocks noChangeArrowheads="1"/>
          </p:cNvSpPr>
          <p:nvPr/>
        </p:nvSpPr>
        <p:spPr bwMode="auto">
          <a:xfrm>
            <a:off x="4653428" y="1628800"/>
            <a:ext cx="3960813" cy="4465637"/>
          </a:xfrm>
          <a:prstGeom prst="rect">
            <a:avLst/>
          </a:prstGeom>
          <a:noFill/>
          <a:ln w="9525">
            <a:noFill/>
            <a:miter lim="800000"/>
            <a:headEnd/>
            <a:tailEnd/>
          </a:ln>
          <a:effectLst/>
        </p:spPr>
        <p:txBody>
          <a:bodyPr lIns="92075" tIns="46038" rIns="92075" bIns="46038" anchor="ctr"/>
          <a:lstStyle/>
          <a:p>
            <a:r>
              <a:rPr lang="zh-CN" altLang="en-US" sz="2000" dirty="0">
                <a:latin typeface="Adobe 黑体 Std R" panose="020B0400000000000000" pitchFamily="34" charset="-122"/>
                <a:ea typeface="Adobe 黑体 Std R" panose="020B0400000000000000" pitchFamily="34" charset="-122"/>
              </a:rPr>
              <a:t>贴片电阻常见封装有</a:t>
            </a:r>
            <a:r>
              <a:rPr lang="en-US" altLang="zh-CN" sz="2000" b="1" dirty="0">
                <a:solidFill>
                  <a:srgbClr val="FF0000"/>
                </a:solidFill>
                <a:latin typeface="Adobe 黑体 Std R" panose="020B0400000000000000" pitchFamily="34" charset="-122"/>
                <a:ea typeface="Adobe 黑体 Std R" panose="020B0400000000000000" pitchFamily="34" charset="-122"/>
              </a:rPr>
              <a:t>9</a:t>
            </a:r>
            <a:r>
              <a:rPr lang="zh-CN" altLang="en-US" sz="2000" dirty="0">
                <a:latin typeface="Adobe 黑体 Std R" panose="020B0400000000000000" pitchFamily="34" charset="-122"/>
                <a:ea typeface="Adobe 黑体 Std R" panose="020B0400000000000000" pitchFamily="34" charset="-122"/>
              </a:rPr>
              <a:t>种，用两种尺寸代码来表示。一种尺寸代码是</a:t>
            </a:r>
            <a:r>
              <a:rPr lang="zh-CN" altLang="en-US" sz="2000" dirty="0">
                <a:solidFill>
                  <a:srgbClr val="FF0000"/>
                </a:solidFill>
                <a:latin typeface="Adobe 黑体 Std R" panose="020B0400000000000000" pitchFamily="34" charset="-122"/>
                <a:ea typeface="Adobe 黑体 Std R" panose="020B0400000000000000" pitchFamily="34" charset="-122"/>
              </a:rPr>
              <a:t>由</a:t>
            </a:r>
            <a:r>
              <a:rPr lang="en-US" altLang="zh-CN" sz="2000" dirty="0">
                <a:solidFill>
                  <a:srgbClr val="FF0000"/>
                </a:solidFill>
                <a:latin typeface="Adobe 黑体 Std R" panose="020B0400000000000000" pitchFamily="34" charset="-122"/>
                <a:ea typeface="Adobe 黑体 Std R" panose="020B0400000000000000" pitchFamily="34" charset="-122"/>
              </a:rPr>
              <a:t>4</a:t>
            </a:r>
            <a:r>
              <a:rPr lang="zh-CN" altLang="en-US" sz="2000" dirty="0">
                <a:solidFill>
                  <a:srgbClr val="FF0000"/>
                </a:solidFill>
                <a:latin typeface="Adobe 黑体 Std R" panose="020B0400000000000000" pitchFamily="34" charset="-122"/>
                <a:ea typeface="Adobe 黑体 Std R" panose="020B0400000000000000" pitchFamily="34" charset="-122"/>
              </a:rPr>
              <a:t>位数字表示</a:t>
            </a:r>
            <a:r>
              <a:rPr lang="zh-CN" altLang="en-US" sz="2000" dirty="0">
                <a:latin typeface="Adobe 黑体 Std R" panose="020B0400000000000000" pitchFamily="34" charset="-122"/>
                <a:ea typeface="Adobe 黑体 Std R" panose="020B0400000000000000" pitchFamily="34" charset="-122"/>
              </a:rPr>
              <a:t>的</a:t>
            </a:r>
            <a:r>
              <a:rPr lang="en-US" altLang="zh-CN" sz="2000" dirty="0">
                <a:latin typeface="Adobe 黑体 Std R" panose="020B0400000000000000" pitchFamily="34" charset="-122"/>
                <a:ea typeface="Adobe 黑体 Std R" panose="020B0400000000000000" pitchFamily="34" charset="-122"/>
              </a:rPr>
              <a:t>EIA(</a:t>
            </a:r>
            <a:r>
              <a:rPr lang="zh-CN" altLang="en-US" sz="2000" dirty="0">
                <a:latin typeface="Adobe 黑体 Std R" panose="020B0400000000000000" pitchFamily="34" charset="-122"/>
                <a:ea typeface="Adobe 黑体 Std R" panose="020B0400000000000000" pitchFamily="34" charset="-122"/>
              </a:rPr>
              <a:t>美国电子工业协会</a:t>
            </a:r>
            <a:r>
              <a:rPr lang="en-US" altLang="zh-CN" sz="2000" dirty="0">
                <a:latin typeface="Adobe 黑体 Std R" panose="020B0400000000000000" pitchFamily="34" charset="-122"/>
                <a:ea typeface="Adobe 黑体 Std R" panose="020B0400000000000000" pitchFamily="34" charset="-122"/>
              </a:rPr>
              <a:t>)</a:t>
            </a:r>
            <a:r>
              <a:rPr lang="zh-CN" altLang="en-US" sz="2000" dirty="0">
                <a:latin typeface="Adobe 黑体 Std R" panose="020B0400000000000000" pitchFamily="34" charset="-122"/>
                <a:ea typeface="Adobe 黑体 Std R" panose="020B0400000000000000" pitchFamily="34" charset="-122"/>
              </a:rPr>
              <a:t>代码，前两位与后两位分别表示电阻的长与宽，以英寸为单位。我们常说的</a:t>
            </a:r>
            <a:r>
              <a:rPr lang="en-US" altLang="zh-CN" sz="2000" dirty="0">
                <a:latin typeface="Adobe 黑体 Std R" panose="020B0400000000000000" pitchFamily="34" charset="-122"/>
                <a:ea typeface="Adobe 黑体 Std R" panose="020B0400000000000000" pitchFamily="34" charset="-122"/>
              </a:rPr>
              <a:t>0603</a:t>
            </a:r>
            <a:r>
              <a:rPr lang="zh-CN" altLang="en-US" sz="2000" dirty="0">
                <a:latin typeface="Adobe 黑体 Std R" panose="020B0400000000000000" pitchFamily="34" charset="-122"/>
                <a:ea typeface="Adobe 黑体 Std R" panose="020B0400000000000000" pitchFamily="34" charset="-122"/>
              </a:rPr>
              <a:t>封装就是指英制代码。另一种是米制代码，也由</a:t>
            </a:r>
            <a:r>
              <a:rPr lang="en-US" altLang="zh-CN" sz="2000" dirty="0">
                <a:latin typeface="Adobe 黑体 Std R" panose="020B0400000000000000" pitchFamily="34" charset="-122"/>
                <a:ea typeface="Adobe 黑体 Std R" panose="020B0400000000000000" pitchFamily="34" charset="-122"/>
              </a:rPr>
              <a:t>4</a:t>
            </a:r>
            <a:r>
              <a:rPr lang="zh-CN" altLang="en-US" sz="2000" dirty="0">
                <a:latin typeface="Adobe 黑体 Std R" panose="020B0400000000000000" pitchFamily="34" charset="-122"/>
                <a:ea typeface="Adobe 黑体 Std R" panose="020B0400000000000000" pitchFamily="34" charset="-122"/>
              </a:rPr>
              <a:t>位数字表示，其单位为毫米。下表列出贴片电阻封装英制和公制的关系及详细的尺寸：</a:t>
            </a:r>
            <a:r>
              <a:rPr lang="zh-CN" altLang="en-US" sz="4400" dirty="0">
                <a:latin typeface="Adobe 黑体 Std R" panose="020B0400000000000000" pitchFamily="34" charset="-122"/>
                <a:ea typeface="Adobe 黑体 Std R" panose="020B0400000000000000" pitchFamily="34" charset="-122"/>
              </a:rPr>
              <a:t> </a:t>
            </a: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p:cNvSpPr>
            <a:spLocks noGrp="1" noChangeArrowheads="1"/>
          </p:cNvSpPr>
          <p:nvPr>
            <p:ph type="title"/>
          </p:nvPr>
        </p:nvSpPr>
        <p:spPr>
          <a:xfrm>
            <a:off x="971600" y="834964"/>
            <a:ext cx="6571343" cy="1049235"/>
          </a:xfrm>
        </p:spPr>
        <p:txBody>
          <a:bodyPr/>
          <a:lstStyle/>
          <a:p>
            <a:r>
              <a:rPr lang="en-US" altLang="zh-CN" sz="3200" b="1" dirty="0">
                <a:latin typeface="Times New Roman" panose="02020603050405020304" pitchFamily="18" charset="0"/>
                <a:ea typeface="华文宋体" panose="02010600040101010101" pitchFamily="2" charset="-122"/>
                <a:cs typeface="Times New Roman" panose="02020603050405020304" pitchFamily="18" charset="0"/>
              </a:rPr>
              <a:t>9</a:t>
            </a:r>
            <a:r>
              <a:rPr lang="zh-CN" altLang="en-US" sz="3200" b="1" dirty="0">
                <a:latin typeface="Times New Roman" panose="02020603050405020304" pitchFamily="18" charset="0"/>
                <a:ea typeface="华文宋体" panose="02010600040101010101" pitchFamily="2" charset="-122"/>
                <a:cs typeface="Times New Roman" panose="02020603050405020304" pitchFamily="18" charset="0"/>
              </a:rPr>
              <a:t>种封装尺寸 </a:t>
            </a:r>
            <a:r>
              <a:rPr lang="zh-CN" altLang="en-US" sz="3200" b="1" dirty="0">
                <a:latin typeface="Times New Roman" panose="02020603050405020304" pitchFamily="18" charset="0"/>
                <a:cs typeface="Times New Roman" panose="02020603050405020304" pitchFamily="18" charset="0"/>
              </a:rPr>
              <a:t>：</a:t>
            </a:r>
          </a:p>
        </p:txBody>
      </p:sp>
      <p:sp>
        <p:nvSpPr>
          <p:cNvPr id="117763" name="Rectangle 3"/>
          <p:cNvSpPr>
            <a:spLocks noGrp="1" noChangeArrowheads="1"/>
          </p:cNvSpPr>
          <p:nvPr>
            <p:ph idx="1"/>
          </p:nvPr>
        </p:nvSpPr>
        <p:spPr/>
        <p:txBody>
          <a:bodyPr/>
          <a:lstStyle/>
          <a:p>
            <a:endParaRPr lang="zh-CN" altLang="en-US"/>
          </a:p>
        </p:txBody>
      </p:sp>
      <p:sp>
        <p:nvSpPr>
          <p:cNvPr id="2" name="灯片编号占位符 1">
            <a:extLst>
              <a:ext uri="{FF2B5EF4-FFF2-40B4-BE49-F238E27FC236}">
                <a16:creationId xmlns:a16="http://schemas.microsoft.com/office/drawing/2014/main" id="{996CE745-BAD4-12E2-B1DF-A2E0760B6754}"/>
              </a:ext>
            </a:extLst>
          </p:cNvPr>
          <p:cNvSpPr>
            <a:spLocks noGrp="1"/>
          </p:cNvSpPr>
          <p:nvPr>
            <p:ph type="sldNum" sz="quarter" idx="12"/>
          </p:nvPr>
        </p:nvSpPr>
        <p:spPr/>
        <p:txBody>
          <a:bodyPr/>
          <a:lstStyle/>
          <a:p>
            <a:pPr>
              <a:defRPr/>
            </a:pPr>
            <a:fld id="{5FAFB815-62BA-464E-901C-79D108092E38}" type="slidenum">
              <a:rPr lang="zh-CN" altLang="en-US" smtClean="0"/>
              <a:pPr>
                <a:defRPr/>
              </a:pPr>
              <a:t>33</a:t>
            </a:fld>
            <a:endParaRPr lang="en-US" altLang="zh-CN"/>
          </a:p>
        </p:txBody>
      </p:sp>
      <p:pic>
        <p:nvPicPr>
          <p:cNvPr id="117764" name="Picture 4"/>
          <p:cNvPicPr>
            <a:picLocks noChangeAspect="1" noChangeArrowheads="1"/>
          </p:cNvPicPr>
          <p:nvPr/>
        </p:nvPicPr>
        <p:blipFill>
          <a:blip r:embed="rId2" cstate="print"/>
          <a:srcRect/>
          <a:stretch>
            <a:fillRect/>
          </a:stretch>
        </p:blipFill>
        <p:spPr bwMode="auto">
          <a:xfrm>
            <a:off x="791368" y="1601014"/>
            <a:ext cx="7561263" cy="3808413"/>
          </a:xfrm>
          <a:prstGeom prst="rect">
            <a:avLst/>
          </a:prstGeom>
          <a:noFill/>
        </p:spPr>
      </p:pic>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noChangeArrowheads="1"/>
          </p:cNvSpPr>
          <p:nvPr>
            <p:ph type="title"/>
          </p:nvPr>
        </p:nvSpPr>
        <p:spPr>
          <a:xfrm>
            <a:off x="841905" y="334628"/>
            <a:ext cx="7187732" cy="1049235"/>
          </a:xfrm>
        </p:spPr>
        <p:txBody>
          <a:bodyPr vert="horz" lIns="91440" tIns="45720" rIns="91440" bIns="0" rtlCol="0" anchor="b">
            <a:normAutofit fontScale="90000"/>
          </a:bodyPr>
          <a:lstStyle/>
          <a:p>
            <a:r>
              <a:rPr lang="zh-CN" altLang="en-US" sz="4000" dirty="0">
                <a:ea typeface="华文行楷" pitchFamily="2" charset="-122"/>
              </a:rPr>
              <a:t>贴片电阻电容功率与尺寸对应表 </a:t>
            </a:r>
          </a:p>
        </p:txBody>
      </p:sp>
      <p:sp>
        <p:nvSpPr>
          <p:cNvPr id="118787" name="Rectangle 3"/>
          <p:cNvSpPr>
            <a:spLocks noGrp="1" noChangeArrowheads="1"/>
          </p:cNvSpPr>
          <p:nvPr>
            <p:ph idx="1"/>
          </p:nvPr>
        </p:nvSpPr>
        <p:spPr>
          <a:xfrm>
            <a:off x="-29867" y="1916832"/>
            <a:ext cx="4465638" cy="4114800"/>
          </a:xfrm>
        </p:spPr>
        <p:txBody>
          <a:bodyPr>
            <a:normAutofit/>
          </a:bodyPr>
          <a:lstStyle/>
          <a:p>
            <a:pPr>
              <a:lnSpc>
                <a:spcPct val="80000"/>
              </a:lnSpc>
            </a:pPr>
            <a:r>
              <a:rPr lang="zh-CN" altLang="en-US" sz="1800" b="1" dirty="0"/>
              <a:t>电阻封装尺寸与功率关系</a:t>
            </a:r>
            <a:r>
              <a:rPr lang="en-US" altLang="zh-CN" sz="1800" b="1" dirty="0"/>
              <a:t>,</a:t>
            </a:r>
            <a:r>
              <a:rPr lang="zh-CN" altLang="en-US" sz="1800" b="1" dirty="0"/>
              <a:t>通常来说</a:t>
            </a:r>
            <a:r>
              <a:rPr lang="en-US" altLang="zh-CN" sz="1800" b="1" dirty="0"/>
              <a:t>: </a:t>
            </a:r>
            <a:br>
              <a:rPr lang="en-US" altLang="zh-CN" sz="1800" b="1" dirty="0"/>
            </a:br>
            <a:r>
              <a:rPr lang="en-US" altLang="zh-CN" sz="1800" b="1" dirty="0"/>
              <a:t>    0201   1/20W </a:t>
            </a:r>
            <a:br>
              <a:rPr lang="en-US" altLang="zh-CN" sz="1800" b="1" dirty="0"/>
            </a:br>
            <a:r>
              <a:rPr lang="en-US" altLang="zh-CN" sz="1800" b="1" dirty="0"/>
              <a:t>    0402   1/16W </a:t>
            </a:r>
            <a:br>
              <a:rPr lang="en-US" altLang="zh-CN" sz="1800" b="1" dirty="0"/>
            </a:br>
            <a:r>
              <a:rPr lang="en-US" altLang="zh-CN" sz="1800" b="1" dirty="0"/>
              <a:t>    0603   1/10W </a:t>
            </a:r>
            <a:br>
              <a:rPr lang="en-US" altLang="zh-CN" sz="1800" b="1" dirty="0"/>
            </a:br>
            <a:r>
              <a:rPr lang="en-US" altLang="zh-CN" sz="1800" b="1" dirty="0"/>
              <a:t>    0805   1/8W </a:t>
            </a:r>
            <a:br>
              <a:rPr lang="en-US" altLang="zh-CN" sz="1800" b="1" dirty="0"/>
            </a:br>
            <a:r>
              <a:rPr lang="en-US" altLang="zh-CN" sz="1800" b="1" dirty="0"/>
              <a:t>    1206   1/4W </a:t>
            </a:r>
            <a:br>
              <a:rPr lang="en-US" altLang="zh-CN" sz="1800" b="1" dirty="0"/>
            </a:br>
            <a:endParaRPr lang="en-US" altLang="zh-CN" sz="1800" b="1" dirty="0"/>
          </a:p>
          <a:p>
            <a:pPr>
              <a:lnSpc>
                <a:spcPct val="80000"/>
              </a:lnSpc>
            </a:pPr>
            <a:r>
              <a:rPr lang="zh-CN" altLang="en-US" sz="1800" b="1" dirty="0"/>
              <a:t>电容电阻外形尺寸与封装的对应关系是</a:t>
            </a:r>
            <a:r>
              <a:rPr lang="en-US" altLang="zh-CN" sz="1800" b="1" dirty="0"/>
              <a:t>: </a:t>
            </a:r>
            <a:br>
              <a:rPr lang="en-US" altLang="zh-CN" sz="1800" b="1" dirty="0"/>
            </a:br>
            <a:r>
              <a:rPr lang="en-US" altLang="zh-CN" sz="1800" b="1" dirty="0"/>
              <a:t>    0402=1.0x0.5 </a:t>
            </a:r>
            <a:br>
              <a:rPr lang="en-US" altLang="zh-CN" sz="1800" b="1" dirty="0"/>
            </a:br>
            <a:r>
              <a:rPr lang="en-US" altLang="zh-CN" sz="1800" b="1" dirty="0"/>
              <a:t>    0603=1.6x0.8 </a:t>
            </a:r>
            <a:br>
              <a:rPr lang="en-US" altLang="zh-CN" sz="1800" b="1" dirty="0"/>
            </a:br>
            <a:r>
              <a:rPr lang="en-US" altLang="zh-CN" sz="1800" b="1" dirty="0"/>
              <a:t>    0805=2.0x1.2 </a:t>
            </a:r>
            <a:br>
              <a:rPr lang="en-US" altLang="zh-CN" sz="1800" b="1" dirty="0"/>
            </a:br>
            <a:r>
              <a:rPr lang="en-US" altLang="zh-CN" sz="1800" b="1" dirty="0"/>
              <a:t>    1206=3.2x1.6 </a:t>
            </a:r>
            <a:br>
              <a:rPr lang="en-US" altLang="zh-CN" sz="1800" b="1" dirty="0"/>
            </a:br>
            <a:r>
              <a:rPr lang="en-US" altLang="zh-CN" sz="1800" b="1" dirty="0"/>
              <a:t>    1210=3.2x2.5 </a:t>
            </a:r>
            <a:br>
              <a:rPr lang="en-US" altLang="zh-CN" sz="1800" b="1" dirty="0"/>
            </a:br>
            <a:r>
              <a:rPr lang="en-US" altLang="zh-CN" sz="1800" b="1" dirty="0"/>
              <a:t>    1812=4.5x3.2 </a:t>
            </a:r>
            <a:br>
              <a:rPr lang="en-US" altLang="zh-CN" sz="1800" b="1" dirty="0"/>
            </a:br>
            <a:r>
              <a:rPr lang="en-US" altLang="zh-CN" sz="1800" b="1" dirty="0"/>
              <a:t>    2225=5.6x6.5</a:t>
            </a:r>
          </a:p>
          <a:p>
            <a:pPr>
              <a:lnSpc>
                <a:spcPct val="80000"/>
              </a:lnSpc>
              <a:buFont typeface="Wingdings" pitchFamily="2" charset="2"/>
              <a:buNone/>
            </a:pPr>
            <a:br>
              <a:rPr lang="en-US" altLang="zh-CN" sz="1800" b="1" dirty="0"/>
            </a:br>
            <a:endParaRPr lang="zh-CN" altLang="en-US" sz="1800" b="1" dirty="0"/>
          </a:p>
        </p:txBody>
      </p:sp>
      <p:sp>
        <p:nvSpPr>
          <p:cNvPr id="2" name="灯片编号占位符 1">
            <a:extLst>
              <a:ext uri="{FF2B5EF4-FFF2-40B4-BE49-F238E27FC236}">
                <a16:creationId xmlns:a16="http://schemas.microsoft.com/office/drawing/2014/main" id="{9E7FC1C0-9C5B-8DC7-4441-A13ED26FDF01}"/>
              </a:ext>
            </a:extLst>
          </p:cNvPr>
          <p:cNvSpPr>
            <a:spLocks noGrp="1"/>
          </p:cNvSpPr>
          <p:nvPr>
            <p:ph type="sldNum" sz="quarter" idx="12"/>
          </p:nvPr>
        </p:nvSpPr>
        <p:spPr/>
        <p:txBody>
          <a:bodyPr/>
          <a:lstStyle/>
          <a:p>
            <a:pPr>
              <a:defRPr/>
            </a:pPr>
            <a:fld id="{5FAFB815-62BA-464E-901C-79D108092E38}" type="slidenum">
              <a:rPr lang="zh-CN" altLang="en-US" smtClean="0"/>
              <a:pPr>
                <a:defRPr/>
              </a:pPr>
              <a:t>34</a:t>
            </a:fld>
            <a:endParaRPr lang="en-US" altLang="zh-CN"/>
          </a:p>
        </p:txBody>
      </p:sp>
      <p:sp>
        <p:nvSpPr>
          <p:cNvPr id="118788" name="Rectangle 4"/>
          <p:cNvSpPr>
            <a:spLocks noChangeArrowheads="1"/>
          </p:cNvSpPr>
          <p:nvPr/>
        </p:nvSpPr>
        <p:spPr bwMode="auto">
          <a:xfrm>
            <a:off x="4132674" y="1911264"/>
            <a:ext cx="5119846" cy="4608512"/>
          </a:xfrm>
          <a:prstGeom prst="rect">
            <a:avLst/>
          </a:prstGeom>
          <a:noFill/>
          <a:ln w="9525">
            <a:noFill/>
            <a:miter lim="800000"/>
            <a:headEnd/>
            <a:tailEnd/>
          </a:ln>
          <a:effectLst/>
        </p:spPr>
        <p:txBody>
          <a:bodyPr lIns="92075" tIns="46038" rIns="92075" bIns="46038"/>
          <a:lstStyle/>
          <a:p>
            <a:pPr marL="342900" indent="-342900"/>
            <a:r>
              <a:rPr lang="zh-CN" altLang="en-US" sz="1800" b="1" dirty="0">
                <a:latin typeface="Arial" pitchFamily="34" charset="0"/>
              </a:rPr>
              <a:t>     常规贴片电阻</a:t>
            </a:r>
            <a:r>
              <a:rPr lang="en-US" altLang="zh-CN" sz="1800" b="1" dirty="0">
                <a:latin typeface="Arial" pitchFamily="34" charset="0"/>
              </a:rPr>
              <a:t>(</a:t>
            </a:r>
            <a:r>
              <a:rPr lang="zh-CN" altLang="en-US" sz="1800" b="1" dirty="0">
                <a:latin typeface="Arial" pitchFamily="34" charset="0"/>
              </a:rPr>
              <a:t>部分</a:t>
            </a:r>
            <a:r>
              <a:rPr lang="en-US" altLang="zh-CN" sz="1800" b="1" dirty="0">
                <a:latin typeface="Arial" pitchFamily="34" charset="0"/>
              </a:rPr>
              <a:t>) </a:t>
            </a:r>
            <a:br>
              <a:rPr lang="en-US" altLang="zh-CN" sz="1800" b="1" dirty="0">
                <a:latin typeface="Arial" pitchFamily="34" charset="0"/>
              </a:rPr>
            </a:br>
            <a:r>
              <a:rPr lang="zh-CN" altLang="en-US" sz="1800" b="1" dirty="0">
                <a:latin typeface="Arial" pitchFamily="34" charset="0"/>
              </a:rPr>
              <a:t>常规的贴片电阻的标准封装及额定功率如下表： </a:t>
            </a:r>
            <a:br>
              <a:rPr lang="zh-CN" altLang="en-US" sz="1800" b="1" dirty="0">
                <a:latin typeface="Arial" pitchFamily="34" charset="0"/>
              </a:rPr>
            </a:br>
            <a:r>
              <a:rPr lang="zh-CN" altLang="en-US" sz="1800" b="1" dirty="0">
                <a:latin typeface="Arial" pitchFamily="34" charset="0"/>
              </a:rPr>
              <a:t>英制</a:t>
            </a:r>
            <a:r>
              <a:rPr lang="en-US" altLang="zh-CN" sz="1800" b="1" dirty="0">
                <a:latin typeface="Arial" pitchFamily="34" charset="0"/>
              </a:rPr>
              <a:t>(mil) </a:t>
            </a:r>
            <a:r>
              <a:rPr lang="zh-CN" altLang="en-US" sz="1800" b="1" dirty="0">
                <a:latin typeface="Arial" pitchFamily="34" charset="0"/>
              </a:rPr>
              <a:t>公制</a:t>
            </a:r>
            <a:r>
              <a:rPr lang="en-US" altLang="zh-CN" sz="1800" b="1" dirty="0">
                <a:latin typeface="Arial" pitchFamily="34" charset="0"/>
              </a:rPr>
              <a:t>(mm) </a:t>
            </a:r>
            <a:r>
              <a:rPr lang="zh-CN" altLang="en-US" sz="1800" b="1" dirty="0">
                <a:latin typeface="Arial" pitchFamily="34" charset="0"/>
              </a:rPr>
              <a:t>额定功率</a:t>
            </a:r>
            <a:r>
              <a:rPr lang="en-US" altLang="zh-CN" sz="1800" b="1" dirty="0">
                <a:latin typeface="Arial" pitchFamily="34" charset="0"/>
              </a:rPr>
              <a:t>(W)@ 70°C </a:t>
            </a:r>
            <a:br>
              <a:rPr lang="en-US" altLang="zh-CN" sz="1800" b="1" dirty="0">
                <a:latin typeface="Arial" pitchFamily="34" charset="0"/>
              </a:rPr>
            </a:br>
            <a:r>
              <a:rPr lang="en-US" altLang="zh-CN" sz="1800" b="1" dirty="0">
                <a:latin typeface="Arial" pitchFamily="34" charset="0"/>
              </a:rPr>
              <a:t>  0201        0503         1/20 </a:t>
            </a:r>
            <a:br>
              <a:rPr lang="en-US" altLang="zh-CN" sz="1800" b="1" dirty="0">
                <a:latin typeface="Arial" pitchFamily="34" charset="0"/>
              </a:rPr>
            </a:br>
            <a:r>
              <a:rPr lang="en-US" altLang="zh-CN" sz="1800" b="1" dirty="0">
                <a:latin typeface="Arial" pitchFamily="34" charset="0"/>
              </a:rPr>
              <a:t>  0402        1005         1/16 </a:t>
            </a:r>
            <a:br>
              <a:rPr lang="en-US" altLang="zh-CN" sz="1800" b="1" dirty="0">
                <a:latin typeface="Arial" pitchFamily="34" charset="0"/>
              </a:rPr>
            </a:br>
            <a:r>
              <a:rPr lang="en-US" altLang="zh-CN" sz="1800" b="1" dirty="0">
                <a:latin typeface="Arial" pitchFamily="34" charset="0"/>
              </a:rPr>
              <a:t>  0603        1608         1/10 </a:t>
            </a:r>
            <a:br>
              <a:rPr lang="en-US" altLang="zh-CN" sz="1800" b="1" dirty="0">
                <a:latin typeface="Arial" pitchFamily="34" charset="0"/>
              </a:rPr>
            </a:br>
            <a:r>
              <a:rPr lang="en-US" altLang="zh-CN" sz="1800" b="1" dirty="0">
                <a:latin typeface="Arial" pitchFamily="34" charset="0"/>
              </a:rPr>
              <a:t>  0805        2012         1/8 </a:t>
            </a:r>
            <a:br>
              <a:rPr lang="en-US" altLang="zh-CN" sz="1800" b="1" dirty="0">
                <a:latin typeface="Arial" pitchFamily="34" charset="0"/>
              </a:rPr>
            </a:br>
            <a:r>
              <a:rPr lang="en-US" altLang="zh-CN" sz="1800" b="1" dirty="0">
                <a:latin typeface="Arial" pitchFamily="34" charset="0"/>
              </a:rPr>
              <a:t>  1206        3216         1/4 </a:t>
            </a:r>
            <a:br>
              <a:rPr lang="en-US" altLang="zh-CN" sz="1800" b="1" dirty="0">
                <a:latin typeface="Arial" pitchFamily="34" charset="0"/>
              </a:rPr>
            </a:br>
            <a:r>
              <a:rPr lang="en-US" altLang="zh-CN" sz="1800" b="1" dirty="0">
                <a:latin typeface="Arial" pitchFamily="34" charset="0"/>
              </a:rPr>
              <a:t>  1210        3225         1/3 </a:t>
            </a:r>
            <a:br>
              <a:rPr lang="en-US" altLang="zh-CN" sz="1800" b="1" dirty="0">
                <a:latin typeface="Arial" pitchFamily="34" charset="0"/>
              </a:rPr>
            </a:br>
            <a:r>
              <a:rPr lang="en-US" altLang="zh-CN" sz="1800" b="1" dirty="0">
                <a:latin typeface="Arial" pitchFamily="34" charset="0"/>
              </a:rPr>
              <a:t>  1812        4832         1/2 </a:t>
            </a:r>
            <a:br>
              <a:rPr lang="en-US" altLang="zh-CN" sz="1800" b="1" dirty="0">
                <a:latin typeface="Arial" pitchFamily="34" charset="0"/>
              </a:rPr>
            </a:br>
            <a:r>
              <a:rPr lang="en-US" altLang="zh-CN" sz="1800" b="1" dirty="0">
                <a:latin typeface="Arial" pitchFamily="34" charset="0"/>
              </a:rPr>
              <a:t>  2010        5025         3/4 </a:t>
            </a:r>
            <a:br>
              <a:rPr lang="en-US" altLang="zh-CN" sz="1800" b="1" dirty="0">
                <a:latin typeface="Arial" pitchFamily="34" charset="0"/>
              </a:rPr>
            </a:br>
            <a:r>
              <a:rPr lang="en-US" altLang="zh-CN" sz="1800" b="1" dirty="0">
                <a:latin typeface="Arial" pitchFamily="34" charset="0"/>
              </a:rPr>
              <a:t>  2512        6432         1 </a:t>
            </a:r>
            <a:endParaRPr lang="zh-CN" altLang="en-US" sz="1800" b="1" dirty="0">
              <a:latin typeface="Arial" pitchFamily="34" charset="0"/>
            </a:endParaRP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FBB955B3-0D2D-FC97-65FE-59FB5CB7AF5F}"/>
              </a:ext>
            </a:extLst>
          </p:cNvPr>
          <p:cNvSpPr>
            <a:spLocks noGrp="1"/>
          </p:cNvSpPr>
          <p:nvPr>
            <p:ph type="sldNum" sz="quarter" idx="12"/>
          </p:nvPr>
        </p:nvSpPr>
        <p:spPr/>
        <p:txBody>
          <a:bodyPr/>
          <a:lstStyle/>
          <a:p>
            <a:pPr>
              <a:defRPr/>
            </a:pPr>
            <a:fld id="{47A4CA45-135E-4AE6-A55B-F30C83FDB90E}" type="slidenum">
              <a:rPr lang="zh-CN" altLang="en-US" smtClean="0"/>
              <a:pPr>
                <a:defRPr/>
              </a:pPr>
              <a:t>35</a:t>
            </a:fld>
            <a:endParaRPr lang="en-US" altLang="zh-CN"/>
          </a:p>
        </p:txBody>
      </p:sp>
      <p:sp>
        <p:nvSpPr>
          <p:cNvPr id="45060" name="Rectangle 4"/>
          <p:cNvSpPr>
            <a:spLocks noChangeArrowheads="1"/>
          </p:cNvSpPr>
          <p:nvPr/>
        </p:nvSpPr>
        <p:spPr bwMode="auto">
          <a:xfrm>
            <a:off x="762000" y="1905000"/>
            <a:ext cx="8077200" cy="1219200"/>
          </a:xfrm>
          <a:prstGeom prst="rect">
            <a:avLst/>
          </a:prstGeom>
          <a:noFill/>
          <a:ln w="9525">
            <a:noFill/>
            <a:miter lim="800000"/>
            <a:headEnd/>
            <a:tailEnd/>
          </a:ln>
          <a:effectLst/>
        </p:spPr>
        <p:txBody>
          <a:bodyPr/>
          <a:lstStyle/>
          <a:p>
            <a:pPr lvl="1">
              <a:spcBef>
                <a:spcPct val="20000"/>
              </a:spcBef>
              <a:buFontTx/>
              <a:buBlip>
                <a:blip r:embed="rId2"/>
              </a:buBlip>
            </a:pPr>
            <a:endParaRPr lang="zh-CN">
              <a:latin typeface="MingLiU" pitchFamily="49" charset="-120"/>
              <a:ea typeface="黑体" pitchFamily="49" charset="-122"/>
            </a:endParaRPr>
          </a:p>
          <a:p>
            <a:pPr lvl="1">
              <a:spcBef>
                <a:spcPct val="20000"/>
              </a:spcBef>
            </a:pPr>
            <a:endParaRPr lang="zh-TW" sz="2400">
              <a:latin typeface="楷体_GB2312" pitchFamily="49" charset="-122"/>
              <a:ea typeface="楷体_GB2312" pitchFamily="49" charset="-122"/>
            </a:endParaRPr>
          </a:p>
        </p:txBody>
      </p:sp>
      <p:sp>
        <p:nvSpPr>
          <p:cNvPr id="45062" name="Rectangle 6"/>
          <p:cNvSpPr>
            <a:spLocks noChangeArrowheads="1"/>
          </p:cNvSpPr>
          <p:nvPr/>
        </p:nvSpPr>
        <p:spPr bwMode="auto">
          <a:xfrm>
            <a:off x="395536" y="836712"/>
            <a:ext cx="7620000" cy="3024336"/>
          </a:xfrm>
          <a:prstGeom prst="rect">
            <a:avLst/>
          </a:prstGeom>
          <a:noFill/>
          <a:ln w="9525">
            <a:noFill/>
            <a:miter lim="800000"/>
            <a:headEnd/>
            <a:tailEnd/>
          </a:ln>
          <a:effectLst/>
        </p:spPr>
        <p:txBody>
          <a:bodyPr/>
          <a:lstStyle/>
          <a:p>
            <a:pPr algn="just">
              <a:spcBef>
                <a:spcPct val="20000"/>
              </a:spcBef>
              <a:buFont typeface="Wingdings" pitchFamily="2" charset="2"/>
              <a:buNone/>
            </a:pPr>
            <a:r>
              <a:rPr lang="zh-CN" altLang="en-US" sz="2400" b="1" dirty="0">
                <a:latin typeface="楷体_GB2312" pitchFamily="49" charset="-122"/>
                <a:ea typeface="楷体_GB2312" pitchFamily="49" charset="-122"/>
              </a:rPr>
              <a:t>另外：</a:t>
            </a:r>
            <a:endParaRPr lang="en-US" altLang="zh-CN" sz="2400" b="1" dirty="0">
              <a:latin typeface="楷体_GB2312" pitchFamily="49" charset="-122"/>
              <a:ea typeface="楷体_GB2312" pitchFamily="49" charset="-122"/>
            </a:endParaRPr>
          </a:p>
          <a:p>
            <a:pPr algn="just">
              <a:spcBef>
                <a:spcPct val="20000"/>
              </a:spcBef>
              <a:buFont typeface="Wingdings" pitchFamily="2" charset="2"/>
              <a:buNone/>
            </a:pPr>
            <a:r>
              <a:rPr lang="en-US" altLang="zh-TW" sz="2400" b="1" dirty="0">
                <a:latin typeface="Times New Roman" panose="02020603050405020304" pitchFamily="18" charset="0"/>
                <a:ea typeface="楷体_GB2312" pitchFamily="49" charset="-122"/>
                <a:cs typeface="Times New Roman" panose="02020603050405020304" pitchFamily="18" charset="0"/>
              </a:rPr>
              <a:t>      </a:t>
            </a:r>
            <a:r>
              <a:rPr lang="zh-TW" altLang="en-US" dirty="0">
                <a:latin typeface="Times New Roman" panose="02020603050405020304" pitchFamily="18" charset="0"/>
                <a:ea typeface="黑体" pitchFamily="49" charset="-122"/>
                <a:cs typeface="Times New Roman" panose="02020603050405020304" pitchFamily="18" charset="0"/>
              </a:rPr>
              <a:t>片</a:t>
            </a:r>
            <a:r>
              <a:rPr lang="zh-CN" altLang="en-US" dirty="0">
                <a:latin typeface="Times New Roman" panose="02020603050405020304" pitchFamily="18" charset="0"/>
                <a:ea typeface="黑体" pitchFamily="49" charset="-122"/>
                <a:cs typeface="Times New Roman" panose="02020603050405020304" pitchFamily="18" charset="0"/>
              </a:rPr>
              <a:t>状电</a:t>
            </a:r>
            <a:r>
              <a:rPr lang="zh-TW" altLang="en-US" dirty="0">
                <a:latin typeface="Times New Roman" panose="02020603050405020304" pitchFamily="18" charset="0"/>
                <a:ea typeface="黑体" pitchFamily="49" charset="-122"/>
                <a:cs typeface="Times New Roman" panose="02020603050405020304" pitchFamily="18" charset="0"/>
              </a:rPr>
              <a:t>阻除了阻值与</a:t>
            </a:r>
            <a:r>
              <a:rPr lang="zh-CN" altLang="en-US" dirty="0">
                <a:latin typeface="Times New Roman" panose="02020603050405020304" pitchFamily="18" charset="0"/>
                <a:ea typeface="黑体" pitchFamily="49" charset="-122"/>
                <a:cs typeface="Times New Roman" panose="02020603050405020304" pitchFamily="18" charset="0"/>
              </a:rPr>
              <a:t>误</a:t>
            </a:r>
            <a:r>
              <a:rPr lang="zh-TW" altLang="en-US" dirty="0">
                <a:latin typeface="Times New Roman" panose="02020603050405020304" pitchFamily="18" charset="0"/>
                <a:ea typeface="黑体" pitchFamily="49" charset="-122"/>
                <a:cs typeface="Times New Roman" panose="02020603050405020304" pitchFamily="18" charset="0"/>
              </a:rPr>
              <a:t>差等</a:t>
            </a:r>
            <a:r>
              <a:rPr lang="zh-CN" altLang="en-US" dirty="0">
                <a:latin typeface="Times New Roman" panose="02020603050405020304" pitchFamily="18" charset="0"/>
                <a:ea typeface="黑体" pitchFamily="49" charset="-122"/>
                <a:cs typeface="Times New Roman" panose="02020603050405020304" pitchFamily="18" charset="0"/>
              </a:rPr>
              <a:t>级这两个参数</a:t>
            </a:r>
            <a:r>
              <a:rPr lang="zh-TW" altLang="en-US" dirty="0">
                <a:latin typeface="Times New Roman" panose="02020603050405020304" pitchFamily="18" charset="0"/>
                <a:ea typeface="黑体" pitchFamily="49" charset="-122"/>
                <a:cs typeface="Times New Roman" panose="02020603050405020304" pitchFamily="18" charset="0"/>
              </a:rPr>
              <a:t>外</a:t>
            </a:r>
            <a:r>
              <a:rPr lang="en-US" altLang="zh-TW" dirty="0">
                <a:latin typeface="Times New Roman" panose="02020603050405020304" pitchFamily="18" charset="0"/>
                <a:ea typeface="黑体" pitchFamily="49" charset="-122"/>
                <a:cs typeface="Times New Roman" panose="02020603050405020304" pitchFamily="18" charset="0"/>
              </a:rPr>
              <a:t>﹐</a:t>
            </a:r>
            <a:r>
              <a:rPr lang="zh-CN" altLang="en-US" dirty="0">
                <a:latin typeface="Times New Roman" panose="02020603050405020304" pitchFamily="18" charset="0"/>
                <a:ea typeface="黑体" pitchFamily="49" charset="-122"/>
                <a:cs typeface="Times New Roman" panose="02020603050405020304" pitchFamily="18" charset="0"/>
              </a:rPr>
              <a:t>还</a:t>
            </a:r>
            <a:r>
              <a:rPr lang="zh-TW" altLang="en-US" dirty="0">
                <a:latin typeface="Times New Roman" panose="02020603050405020304" pitchFamily="18" charset="0"/>
                <a:ea typeface="黑体" pitchFamily="49" charset="-122"/>
                <a:cs typeface="Times New Roman" panose="02020603050405020304" pitchFamily="18" charset="0"/>
              </a:rPr>
              <a:t>有承受功率和体</a:t>
            </a:r>
            <a:r>
              <a:rPr lang="zh-CN" altLang="en-US" dirty="0">
                <a:latin typeface="Times New Roman" panose="02020603050405020304" pitchFamily="18" charset="0"/>
                <a:ea typeface="黑体" pitchFamily="49" charset="-122"/>
                <a:cs typeface="Times New Roman" panose="02020603050405020304" pitchFamily="18" charset="0"/>
              </a:rPr>
              <a:t>积</a:t>
            </a:r>
            <a:r>
              <a:rPr lang="zh-TW" altLang="en-US" dirty="0">
                <a:latin typeface="Times New Roman" panose="02020603050405020304" pitchFamily="18" charset="0"/>
                <a:ea typeface="黑体" pitchFamily="49" charset="-122"/>
                <a:cs typeface="Times New Roman" panose="02020603050405020304" pitchFamily="18" charset="0"/>
              </a:rPr>
              <a:t>二</a:t>
            </a:r>
            <a:r>
              <a:rPr lang="zh-CN" altLang="en-US" dirty="0">
                <a:latin typeface="Times New Roman" panose="02020603050405020304" pitchFamily="18" charset="0"/>
                <a:ea typeface="黑体" pitchFamily="49" charset="-122"/>
                <a:cs typeface="Times New Roman" panose="02020603050405020304" pitchFamily="18" charset="0"/>
              </a:rPr>
              <a:t>个参数</a:t>
            </a:r>
            <a:r>
              <a:rPr lang="en-US" altLang="zh-TW" dirty="0">
                <a:latin typeface="Times New Roman" panose="02020603050405020304" pitchFamily="18" charset="0"/>
                <a:ea typeface="黑体" pitchFamily="49" charset="-122"/>
                <a:cs typeface="Times New Roman" panose="02020603050405020304" pitchFamily="18" charset="0"/>
              </a:rPr>
              <a:t>﹐</a:t>
            </a:r>
            <a:r>
              <a:rPr lang="zh-TW" altLang="en-US" dirty="0">
                <a:latin typeface="Times New Roman" panose="02020603050405020304" pitchFamily="18" charset="0"/>
                <a:ea typeface="黑体" pitchFamily="49" charset="-122"/>
                <a:cs typeface="Times New Roman" panose="02020603050405020304" pitchFamily="18" charset="0"/>
              </a:rPr>
              <a:t>常用的</a:t>
            </a:r>
            <a:r>
              <a:rPr lang="zh-CN" altLang="en-US" dirty="0">
                <a:latin typeface="Times New Roman" panose="02020603050405020304" pitchFamily="18" charset="0"/>
                <a:ea typeface="黑体" pitchFamily="49" charset="-122"/>
                <a:cs typeface="Times New Roman" panose="02020603050405020304" pitchFamily="18" charset="0"/>
              </a:rPr>
              <a:t>电</a:t>
            </a:r>
            <a:r>
              <a:rPr lang="zh-TW" altLang="en-US" dirty="0">
                <a:latin typeface="Times New Roman" panose="02020603050405020304" pitchFamily="18" charset="0"/>
                <a:ea typeface="黑体" pitchFamily="49" charset="-122"/>
                <a:cs typeface="Times New Roman" panose="02020603050405020304" pitchFamily="18" charset="0"/>
              </a:rPr>
              <a:t>阻所能承受的功率有</a:t>
            </a:r>
            <a:r>
              <a:rPr lang="en-US" altLang="zh-TW" dirty="0">
                <a:latin typeface="Times New Roman" panose="02020603050405020304" pitchFamily="18" charset="0"/>
                <a:ea typeface="黑体" pitchFamily="49" charset="-122"/>
                <a:cs typeface="Times New Roman" panose="02020603050405020304" pitchFamily="18" charset="0"/>
              </a:rPr>
              <a:t>1/10</a:t>
            </a:r>
            <a:r>
              <a:rPr lang="en-US" dirty="0">
                <a:latin typeface="Times New Roman" panose="02020603050405020304" pitchFamily="18" charset="0"/>
                <a:ea typeface="黑体" pitchFamily="49" charset="-122"/>
                <a:cs typeface="Times New Roman" panose="02020603050405020304" pitchFamily="18" charset="0"/>
              </a:rPr>
              <a:t>W,1/8W,1/4W</a:t>
            </a:r>
            <a:r>
              <a:rPr lang="zh-TW" altLang="en-US" dirty="0">
                <a:latin typeface="Times New Roman" panose="02020603050405020304" pitchFamily="18" charset="0"/>
                <a:ea typeface="黑体" pitchFamily="49" charset="-122"/>
                <a:cs typeface="Times New Roman" panose="02020603050405020304" pitchFamily="18" charset="0"/>
              </a:rPr>
              <a:t>等</a:t>
            </a:r>
            <a:r>
              <a:rPr lang="en-US" altLang="zh-TW" dirty="0">
                <a:latin typeface="Times New Roman" panose="02020603050405020304" pitchFamily="18" charset="0"/>
                <a:ea typeface="黑体" pitchFamily="49" charset="-122"/>
                <a:cs typeface="Times New Roman" panose="02020603050405020304" pitchFamily="18" charset="0"/>
              </a:rPr>
              <a:t>.</a:t>
            </a:r>
          </a:p>
          <a:p>
            <a:pPr algn="just">
              <a:spcBef>
                <a:spcPct val="20000"/>
              </a:spcBef>
              <a:buFont typeface="Wingdings" pitchFamily="2" charset="2"/>
              <a:buNone/>
            </a:pPr>
            <a:r>
              <a:rPr lang="en-US" altLang="zh-TW" dirty="0">
                <a:latin typeface="Times New Roman" panose="02020603050405020304" pitchFamily="18" charset="0"/>
                <a:ea typeface="黑体" pitchFamily="49" charset="-122"/>
                <a:cs typeface="Times New Roman" panose="02020603050405020304" pitchFamily="18" charset="0"/>
              </a:rPr>
              <a:t>        </a:t>
            </a:r>
            <a:r>
              <a:rPr lang="zh-TW" altLang="en-US" dirty="0">
                <a:latin typeface="Times New Roman" panose="02020603050405020304" pitchFamily="18" charset="0"/>
                <a:ea typeface="黑体" pitchFamily="49" charset="-122"/>
                <a:cs typeface="Times New Roman" panose="02020603050405020304" pitchFamily="18" charset="0"/>
              </a:rPr>
              <a:t>常用的</a:t>
            </a:r>
            <a:r>
              <a:rPr lang="zh-CN" altLang="en-US" dirty="0">
                <a:latin typeface="Times New Roman" panose="02020603050405020304" pitchFamily="18" charset="0"/>
                <a:ea typeface="黑体" pitchFamily="49" charset="-122"/>
                <a:cs typeface="Times New Roman" panose="02020603050405020304" pitchFamily="18" charset="0"/>
              </a:rPr>
              <a:t>电</a:t>
            </a:r>
            <a:r>
              <a:rPr lang="zh-TW" altLang="en-US" dirty="0">
                <a:latin typeface="Times New Roman" panose="02020603050405020304" pitchFamily="18" charset="0"/>
                <a:ea typeface="黑体" pitchFamily="49" charset="-122"/>
                <a:cs typeface="Times New Roman" panose="02020603050405020304" pitchFamily="18" charset="0"/>
              </a:rPr>
              <a:t>阻的</a:t>
            </a:r>
            <a:r>
              <a:rPr lang="zh-CN" altLang="en-US" dirty="0">
                <a:latin typeface="Times New Roman" panose="02020603050405020304" pitchFamily="18" charset="0"/>
                <a:ea typeface="黑体" pitchFamily="49" charset="-122"/>
                <a:cs typeface="Times New Roman" panose="02020603050405020304" pitchFamily="18" charset="0"/>
              </a:rPr>
              <a:t>尺寸</a:t>
            </a:r>
            <a:r>
              <a:rPr lang="zh-TW" altLang="en-US" dirty="0">
                <a:latin typeface="Times New Roman" panose="02020603050405020304" pitchFamily="18" charset="0"/>
                <a:ea typeface="黑体" pitchFamily="49" charset="-122"/>
                <a:cs typeface="Times New Roman" panose="02020603050405020304" pitchFamily="18" charset="0"/>
              </a:rPr>
              <a:t>有</a:t>
            </a:r>
            <a:r>
              <a:rPr lang="en-US" altLang="zh-TW" b="1" dirty="0">
                <a:solidFill>
                  <a:srgbClr val="C00000"/>
                </a:solidFill>
                <a:latin typeface="Times New Roman" panose="02020603050405020304" pitchFamily="18" charset="0"/>
                <a:ea typeface="黑体" pitchFamily="49" charset="-122"/>
                <a:cs typeface="Times New Roman" panose="02020603050405020304" pitchFamily="18" charset="0"/>
              </a:rPr>
              <a:t>0603﹑0805﹑1206</a:t>
            </a:r>
            <a:r>
              <a:rPr lang="zh-TW" altLang="en-US" dirty="0">
                <a:latin typeface="Times New Roman" panose="02020603050405020304" pitchFamily="18" charset="0"/>
                <a:ea typeface="黑体" pitchFamily="49" charset="-122"/>
                <a:cs typeface="Times New Roman" panose="02020603050405020304" pitchFamily="18" charset="0"/>
              </a:rPr>
              <a:t>等</a:t>
            </a:r>
            <a:r>
              <a:rPr lang="zh-CN" altLang="en-US" dirty="0">
                <a:latin typeface="Times New Roman" panose="02020603050405020304" pitchFamily="18" charset="0"/>
                <a:ea typeface="黑体" pitchFamily="49" charset="-122"/>
                <a:cs typeface="Times New Roman" panose="02020603050405020304" pitchFamily="18" charset="0"/>
              </a:rPr>
              <a:t>。电</a:t>
            </a:r>
            <a:r>
              <a:rPr lang="zh-TW" altLang="en-US" dirty="0">
                <a:latin typeface="Times New Roman" panose="02020603050405020304" pitchFamily="18" charset="0"/>
                <a:ea typeface="黑体" pitchFamily="49" charset="-122"/>
                <a:cs typeface="Times New Roman" panose="02020603050405020304" pitchFamily="18" charset="0"/>
              </a:rPr>
              <a:t>阻的</a:t>
            </a:r>
            <a:r>
              <a:rPr lang="zh-CN" altLang="en-US" dirty="0">
                <a:latin typeface="Times New Roman" panose="02020603050405020304" pitchFamily="18" charset="0"/>
                <a:ea typeface="黑体" pitchFamily="49" charset="-122"/>
                <a:cs typeface="Times New Roman" panose="02020603050405020304" pitchFamily="18" charset="0"/>
              </a:rPr>
              <a:t>尺寸</a:t>
            </a:r>
            <a:r>
              <a:rPr lang="zh-TW" altLang="en-US" dirty="0">
                <a:latin typeface="Times New Roman" panose="02020603050405020304" pitchFamily="18" charset="0"/>
                <a:ea typeface="黑体" pitchFamily="49" charset="-122"/>
                <a:cs typeface="Times New Roman" panose="02020603050405020304" pitchFamily="18" charset="0"/>
              </a:rPr>
              <a:t>用英制</a:t>
            </a:r>
            <a:r>
              <a:rPr lang="zh-CN" altLang="en-US" dirty="0">
                <a:latin typeface="Times New Roman" panose="02020603050405020304" pitchFamily="18" charset="0"/>
                <a:ea typeface="黑体" pitchFamily="49" charset="-122"/>
                <a:cs typeface="Times New Roman" panose="02020603050405020304" pitchFamily="18" charset="0"/>
              </a:rPr>
              <a:t>单</a:t>
            </a:r>
            <a:r>
              <a:rPr lang="zh-TW" altLang="en-US" dirty="0">
                <a:latin typeface="Times New Roman" panose="02020603050405020304" pitchFamily="18" charset="0"/>
                <a:ea typeface="黑体" pitchFamily="49" charset="-122"/>
                <a:cs typeface="Times New Roman" panose="02020603050405020304" pitchFamily="18" charset="0"/>
              </a:rPr>
              <a:t>位英寸表示</a:t>
            </a:r>
            <a:r>
              <a:rPr lang="en-US" altLang="zh-TW" dirty="0">
                <a:latin typeface="Times New Roman" panose="02020603050405020304" pitchFamily="18" charset="0"/>
                <a:ea typeface="黑体" pitchFamily="49" charset="-122"/>
                <a:cs typeface="Times New Roman" panose="02020603050405020304" pitchFamily="18" charset="0"/>
              </a:rPr>
              <a:t>﹐</a:t>
            </a:r>
            <a:r>
              <a:rPr lang="zh-TW" altLang="en-US" dirty="0">
                <a:latin typeface="Times New Roman" panose="02020603050405020304" pitchFamily="18" charset="0"/>
                <a:ea typeface="黑体" pitchFamily="49" charset="-122"/>
                <a:cs typeface="Times New Roman" panose="02020603050405020304" pitchFamily="18" charset="0"/>
              </a:rPr>
              <a:t>如</a:t>
            </a:r>
            <a:r>
              <a:rPr lang="en-US" altLang="zh-TW" dirty="0">
                <a:latin typeface="Times New Roman" panose="02020603050405020304" pitchFamily="18" charset="0"/>
                <a:ea typeface="黑体" pitchFamily="49" charset="-122"/>
                <a:cs typeface="Times New Roman" panose="02020603050405020304" pitchFamily="18" charset="0"/>
              </a:rPr>
              <a:t>0603</a:t>
            </a:r>
            <a:r>
              <a:rPr lang="zh-TW" altLang="en-US" dirty="0">
                <a:latin typeface="Times New Roman" panose="02020603050405020304" pitchFamily="18" charset="0"/>
                <a:ea typeface="黑体" pitchFamily="49" charset="-122"/>
                <a:cs typeface="Times New Roman" panose="02020603050405020304" pitchFamily="18" charset="0"/>
              </a:rPr>
              <a:t>表示</a:t>
            </a:r>
            <a:r>
              <a:rPr lang="en-US" altLang="zh-TW" dirty="0">
                <a:latin typeface="Times New Roman" panose="02020603050405020304" pitchFamily="18" charset="0"/>
                <a:ea typeface="黑体" pitchFamily="49" charset="-122"/>
                <a:cs typeface="Times New Roman" panose="02020603050405020304" pitchFamily="18" charset="0"/>
              </a:rPr>
              <a:t>0.06×0.03</a:t>
            </a:r>
            <a:r>
              <a:rPr lang="zh-TW" altLang="en-US" dirty="0">
                <a:latin typeface="Times New Roman" panose="02020603050405020304" pitchFamily="18" charset="0"/>
                <a:ea typeface="黑体" pitchFamily="49" charset="-122"/>
                <a:cs typeface="Times New Roman" panose="02020603050405020304" pitchFamily="18" charset="0"/>
              </a:rPr>
              <a:t>英寸</a:t>
            </a:r>
            <a:r>
              <a:rPr lang="en-US" altLang="zh-TW" dirty="0">
                <a:latin typeface="Times New Roman" panose="02020603050405020304" pitchFamily="18" charset="0"/>
                <a:ea typeface="黑体" pitchFamily="49" charset="-122"/>
                <a:cs typeface="Times New Roman" panose="02020603050405020304" pitchFamily="18" charset="0"/>
              </a:rPr>
              <a:t>﹐</a:t>
            </a:r>
            <a:r>
              <a:rPr lang="zh-TW" altLang="en-US" dirty="0">
                <a:latin typeface="Times New Roman" panose="02020603050405020304" pitchFamily="18" charset="0"/>
                <a:ea typeface="黑体" pitchFamily="49" charset="-122"/>
                <a:cs typeface="Times New Roman" panose="02020603050405020304" pitchFamily="18" charset="0"/>
              </a:rPr>
              <a:t>一般而言</a:t>
            </a:r>
            <a:r>
              <a:rPr lang="en-US" altLang="zh-TW" dirty="0">
                <a:latin typeface="Times New Roman" panose="02020603050405020304" pitchFamily="18" charset="0"/>
                <a:ea typeface="黑体" pitchFamily="49" charset="-122"/>
                <a:cs typeface="Times New Roman" panose="02020603050405020304" pitchFamily="18" charset="0"/>
              </a:rPr>
              <a:t>﹐0805</a:t>
            </a:r>
            <a:r>
              <a:rPr lang="zh-CN" altLang="en-US" dirty="0">
                <a:latin typeface="Times New Roman" panose="02020603050405020304" pitchFamily="18" charset="0"/>
                <a:ea typeface="黑体" pitchFamily="49" charset="-122"/>
                <a:cs typeface="Times New Roman" panose="02020603050405020304" pitchFamily="18" charset="0"/>
              </a:rPr>
              <a:t>规</a:t>
            </a:r>
            <a:r>
              <a:rPr lang="zh-TW" altLang="en-US" dirty="0">
                <a:latin typeface="Times New Roman" panose="02020603050405020304" pitchFamily="18" charset="0"/>
                <a:ea typeface="黑体" pitchFamily="49" charset="-122"/>
                <a:cs typeface="Times New Roman" panose="02020603050405020304" pitchFamily="18" charset="0"/>
              </a:rPr>
              <a:t>格的</a:t>
            </a:r>
            <a:r>
              <a:rPr lang="zh-CN" altLang="en-US" dirty="0">
                <a:latin typeface="Times New Roman" panose="02020603050405020304" pitchFamily="18" charset="0"/>
                <a:ea typeface="黑体" pitchFamily="49" charset="-122"/>
                <a:cs typeface="Times New Roman" panose="02020603050405020304" pitchFamily="18" charset="0"/>
              </a:rPr>
              <a:t>电</a:t>
            </a:r>
            <a:r>
              <a:rPr lang="zh-TW" altLang="en-US" dirty="0">
                <a:latin typeface="Times New Roman" panose="02020603050405020304" pitchFamily="18" charset="0"/>
                <a:ea typeface="黑体" pitchFamily="49" charset="-122"/>
                <a:cs typeface="Times New Roman" panose="02020603050405020304" pitchFamily="18" charset="0"/>
              </a:rPr>
              <a:t>阻承受的功率</a:t>
            </a:r>
            <a:r>
              <a:rPr lang="zh-CN" altLang="en-US" dirty="0">
                <a:latin typeface="Times New Roman" panose="02020603050405020304" pitchFamily="18" charset="0"/>
                <a:ea typeface="黑体" pitchFamily="49" charset="-122"/>
                <a:cs typeface="Times New Roman" panose="02020603050405020304" pitchFamily="18" charset="0"/>
              </a:rPr>
              <a:t>为</a:t>
            </a:r>
            <a:r>
              <a:rPr lang="en-US" altLang="zh-TW" dirty="0">
                <a:latin typeface="Times New Roman" panose="02020603050405020304" pitchFamily="18" charset="0"/>
                <a:ea typeface="黑体" pitchFamily="49" charset="-122"/>
                <a:cs typeface="Times New Roman" panose="02020603050405020304" pitchFamily="18" charset="0"/>
              </a:rPr>
              <a:t>1/10</a:t>
            </a:r>
            <a:r>
              <a:rPr lang="en-US" dirty="0">
                <a:latin typeface="Times New Roman" panose="02020603050405020304" pitchFamily="18" charset="0"/>
                <a:ea typeface="黑体" pitchFamily="49" charset="-122"/>
                <a:cs typeface="Times New Roman" panose="02020603050405020304" pitchFamily="18" charset="0"/>
              </a:rPr>
              <a:t>W﹐</a:t>
            </a:r>
            <a:r>
              <a:rPr lang="zh-TW" altLang="en-US" dirty="0">
                <a:latin typeface="Times New Roman" panose="02020603050405020304" pitchFamily="18" charset="0"/>
                <a:ea typeface="黑体" pitchFamily="49" charset="-122"/>
                <a:cs typeface="Times New Roman" panose="02020603050405020304" pitchFamily="18" charset="0"/>
              </a:rPr>
              <a:t>也有少部分</a:t>
            </a:r>
            <a:r>
              <a:rPr lang="zh-CN" altLang="en-US" dirty="0">
                <a:latin typeface="Times New Roman" panose="02020603050405020304" pitchFamily="18" charset="0"/>
                <a:ea typeface="黑体" pitchFamily="49" charset="-122"/>
                <a:cs typeface="Times New Roman" panose="02020603050405020304" pitchFamily="18" charset="0"/>
              </a:rPr>
              <a:t>为本</a:t>
            </a:r>
            <a:r>
              <a:rPr lang="en-US" altLang="zh-TW" dirty="0">
                <a:latin typeface="Times New Roman" panose="02020603050405020304" pitchFamily="18" charset="0"/>
                <a:ea typeface="黑体" pitchFamily="49" charset="-122"/>
                <a:cs typeface="Times New Roman" panose="02020603050405020304" pitchFamily="18" charset="0"/>
              </a:rPr>
              <a:t>1/8</a:t>
            </a:r>
            <a:r>
              <a:rPr lang="en-US" dirty="0">
                <a:latin typeface="Times New Roman" panose="02020603050405020304" pitchFamily="18" charset="0"/>
                <a:ea typeface="黑体" pitchFamily="49" charset="-122"/>
                <a:cs typeface="Times New Roman" panose="02020603050405020304" pitchFamily="18" charset="0"/>
              </a:rPr>
              <a:t>W, 1206</a:t>
            </a:r>
            <a:r>
              <a:rPr lang="zh-CN" altLang="en-US" dirty="0">
                <a:latin typeface="Times New Roman" panose="02020603050405020304" pitchFamily="18" charset="0"/>
                <a:ea typeface="黑体" pitchFamily="49" charset="-122"/>
                <a:cs typeface="Times New Roman" panose="02020603050405020304" pitchFamily="18" charset="0"/>
              </a:rPr>
              <a:t>规</a:t>
            </a:r>
            <a:r>
              <a:rPr lang="zh-TW" altLang="en-US" dirty="0">
                <a:latin typeface="Times New Roman" panose="02020603050405020304" pitchFamily="18" charset="0"/>
                <a:ea typeface="黑体" pitchFamily="49" charset="-122"/>
                <a:cs typeface="Times New Roman" panose="02020603050405020304" pitchFamily="18" charset="0"/>
              </a:rPr>
              <a:t>格的</a:t>
            </a:r>
            <a:r>
              <a:rPr lang="zh-CN" altLang="en-US" dirty="0">
                <a:latin typeface="Times New Roman" panose="02020603050405020304" pitchFamily="18" charset="0"/>
                <a:ea typeface="黑体" pitchFamily="49" charset="-122"/>
                <a:cs typeface="Times New Roman" panose="02020603050405020304" pitchFamily="18" charset="0"/>
              </a:rPr>
              <a:t>电</a:t>
            </a:r>
            <a:r>
              <a:rPr lang="zh-TW" altLang="en-US" dirty="0">
                <a:latin typeface="Times New Roman" panose="02020603050405020304" pitchFamily="18" charset="0"/>
                <a:ea typeface="黑体" pitchFamily="49" charset="-122"/>
                <a:cs typeface="Times New Roman" panose="02020603050405020304" pitchFamily="18" charset="0"/>
              </a:rPr>
              <a:t>阻承受的功率</a:t>
            </a:r>
            <a:r>
              <a:rPr lang="zh-CN" altLang="en-US" dirty="0">
                <a:latin typeface="Times New Roman" panose="02020603050405020304" pitchFamily="18" charset="0"/>
                <a:ea typeface="黑体" pitchFamily="49" charset="-122"/>
                <a:cs typeface="Times New Roman" panose="02020603050405020304" pitchFamily="18" charset="0"/>
              </a:rPr>
              <a:t>为</a:t>
            </a:r>
            <a:r>
              <a:rPr lang="en-US" altLang="zh-TW" dirty="0">
                <a:latin typeface="Times New Roman" panose="02020603050405020304" pitchFamily="18" charset="0"/>
                <a:ea typeface="黑体" pitchFamily="49" charset="-122"/>
                <a:cs typeface="Times New Roman" panose="02020603050405020304" pitchFamily="18" charset="0"/>
              </a:rPr>
              <a:t>1/8</a:t>
            </a:r>
            <a:r>
              <a:rPr lang="en-US" dirty="0">
                <a:latin typeface="Times New Roman" panose="02020603050405020304" pitchFamily="18" charset="0"/>
                <a:ea typeface="黑体" pitchFamily="49" charset="-122"/>
                <a:cs typeface="Times New Roman" panose="02020603050405020304" pitchFamily="18" charset="0"/>
              </a:rPr>
              <a:t>W。</a:t>
            </a:r>
          </a:p>
          <a:p>
            <a:pPr>
              <a:spcBef>
                <a:spcPct val="20000"/>
              </a:spcBef>
              <a:buFont typeface="Wingdings" panose="05000000000000000000" pitchFamily="2" charset="2"/>
              <a:buNone/>
            </a:pPr>
            <a:endParaRPr lang="zh-CN" sz="2400" dirty="0">
              <a:latin typeface="楷体_GB2312" pitchFamily="49" charset="-122"/>
              <a:ea typeface="楷体_GB2312" pitchFamily="49" charset="-122"/>
            </a:endParaRPr>
          </a:p>
        </p:txBody>
      </p:sp>
      <p:sp>
        <p:nvSpPr>
          <p:cNvPr id="5" name="Rectangle 3">
            <a:extLst>
              <a:ext uri="{FF2B5EF4-FFF2-40B4-BE49-F238E27FC236}">
                <a16:creationId xmlns:a16="http://schemas.microsoft.com/office/drawing/2014/main" id="{B1C23BD2-4788-9A8E-B40B-DB47523D9F4D}"/>
              </a:ext>
            </a:extLst>
          </p:cNvPr>
          <p:cNvSpPr txBox="1">
            <a:spLocks noChangeArrowheads="1"/>
          </p:cNvSpPr>
          <p:nvPr/>
        </p:nvSpPr>
        <p:spPr>
          <a:xfrm>
            <a:off x="387960" y="2996952"/>
            <a:ext cx="8339860" cy="2751184"/>
          </a:xfrm>
          <a:prstGeom prst="rect">
            <a:avLst/>
          </a:prstGeom>
        </p:spPr>
        <p:txBody>
          <a:bodyPr vert="horz" lIns="91440" tIns="91440" rIns="91440" bIns="91440" rtlCol="0">
            <a:normAutofit fontScale="77500" lnSpcReduction="20000"/>
          </a:bodyPr>
          <a:lstStyle>
            <a:lvl1pPr marL="0" indent="0" algn="l" defTabSz="685800" rtl="0" eaLnBrk="1" latinLnBrk="0" hangingPunct="1">
              <a:lnSpc>
                <a:spcPct val="120000"/>
              </a:lnSpc>
              <a:spcBef>
                <a:spcPts val="1000"/>
              </a:spcBef>
              <a:buClr>
                <a:schemeClr val="accent1"/>
              </a:buClr>
              <a:buSzPct val="100000"/>
              <a:buFont typeface="Arial" panose="020B0604020202020204" pitchFamily="34" charset="0"/>
              <a:buNone/>
              <a:defRPr sz="1600" b="0" kern="1200" cap="none">
                <a:solidFill>
                  <a:schemeClr val="tx1"/>
                </a:solidFill>
                <a:effectLst/>
                <a:latin typeface="+mn-lt"/>
                <a:ea typeface="+mn-ea"/>
                <a:cs typeface="+mn-cs"/>
              </a:defRPr>
            </a:lvl1pPr>
            <a:lvl2pPr marL="342900" indent="0" algn="ctr" defTabSz="685800" rtl="0" eaLnBrk="1" latinLnBrk="0" hangingPunct="1">
              <a:lnSpc>
                <a:spcPct val="120000"/>
              </a:lnSpc>
              <a:spcBef>
                <a:spcPts val="500"/>
              </a:spcBef>
              <a:buClr>
                <a:schemeClr val="accent1"/>
              </a:buClr>
              <a:buSzPct val="100000"/>
              <a:buFont typeface="Arial" panose="020B0604020202020204" pitchFamily="34" charset="0"/>
              <a:buNone/>
              <a:defRPr sz="1500" kern="1200" cap="none" baseline="0">
                <a:solidFill>
                  <a:schemeClr val="tx1"/>
                </a:solidFill>
                <a:effectLst/>
                <a:latin typeface="+mn-lt"/>
                <a:ea typeface="+mn-ea"/>
                <a:cs typeface="+mn-cs"/>
              </a:defRPr>
            </a:lvl2pPr>
            <a:lvl3pPr marL="685800" indent="0" algn="ctr" defTabSz="685800" rtl="0" eaLnBrk="1" latinLnBrk="0" hangingPunct="1">
              <a:lnSpc>
                <a:spcPct val="120000"/>
              </a:lnSpc>
              <a:spcBef>
                <a:spcPts val="500"/>
              </a:spcBef>
              <a:buClr>
                <a:schemeClr val="accent1"/>
              </a:buClr>
              <a:buSzPct val="100000"/>
              <a:buFont typeface="Arial" panose="020B0604020202020204" pitchFamily="34" charset="0"/>
              <a:buNone/>
              <a:defRPr sz="1350" kern="1200" cap="none">
                <a:solidFill>
                  <a:schemeClr val="tx1"/>
                </a:solidFill>
                <a:effectLst/>
                <a:latin typeface="+mn-lt"/>
                <a:ea typeface="+mn-ea"/>
                <a:cs typeface="+mn-cs"/>
              </a:defRPr>
            </a:lvl3pPr>
            <a:lvl4pPr marL="1028700" indent="0" algn="ctr" defTabSz="685800" rtl="0" eaLnBrk="1" latinLnBrk="0" hangingPunct="1">
              <a:lnSpc>
                <a:spcPct val="120000"/>
              </a:lnSpc>
              <a:spcBef>
                <a:spcPts val="500"/>
              </a:spcBef>
              <a:buClr>
                <a:schemeClr val="accent1"/>
              </a:buClr>
              <a:buSzPct val="100000"/>
              <a:buFont typeface="Arial" panose="020B0604020202020204" pitchFamily="34" charset="0"/>
              <a:buNone/>
              <a:defRPr sz="1200" kern="1200" cap="none" baseline="0">
                <a:solidFill>
                  <a:schemeClr val="tx1"/>
                </a:solidFill>
                <a:effectLst/>
                <a:latin typeface="+mn-lt"/>
                <a:ea typeface="+mn-ea"/>
                <a:cs typeface="+mn-cs"/>
              </a:defRPr>
            </a:lvl4pPr>
            <a:lvl5pPr marL="1371600" indent="0" algn="ctr" defTabSz="685800" rtl="0" eaLnBrk="1" latinLnBrk="0" hangingPunct="1">
              <a:lnSpc>
                <a:spcPct val="120000"/>
              </a:lnSpc>
              <a:spcBef>
                <a:spcPts val="500"/>
              </a:spcBef>
              <a:buClr>
                <a:schemeClr val="accent1"/>
              </a:buClr>
              <a:buSzPct val="100000"/>
              <a:buFont typeface="Arial" panose="020B0604020202020204" pitchFamily="34" charset="0"/>
              <a:buNone/>
              <a:defRPr sz="1200" kern="1200" cap="none">
                <a:solidFill>
                  <a:schemeClr val="tx1"/>
                </a:solidFill>
                <a:effectLst/>
                <a:latin typeface="+mn-lt"/>
                <a:ea typeface="+mn-ea"/>
                <a:cs typeface="+mn-cs"/>
              </a:defRPr>
            </a:lvl5pPr>
            <a:lvl6pPr marL="1714500" indent="0" algn="ctr" defTabSz="914400" rtl="0" eaLnBrk="1" latinLnBrk="0" hangingPunct="1">
              <a:lnSpc>
                <a:spcPct val="120000"/>
              </a:lnSpc>
              <a:spcBef>
                <a:spcPts val="500"/>
              </a:spcBef>
              <a:buClr>
                <a:schemeClr val="accent1"/>
              </a:buClr>
              <a:buSzPct val="100000"/>
              <a:buFont typeface="Arial" panose="020B0604020202020204" pitchFamily="34" charset="0"/>
              <a:buNone/>
              <a:defRPr sz="1200" kern="1200">
                <a:solidFill>
                  <a:schemeClr val="tx1"/>
                </a:solidFill>
                <a:effectLst/>
                <a:latin typeface="+mn-lt"/>
                <a:ea typeface="+mn-ea"/>
                <a:cs typeface="+mn-cs"/>
              </a:defRPr>
            </a:lvl6pPr>
            <a:lvl7pPr marL="2057400" indent="0" algn="ctr" defTabSz="914400" rtl="0" eaLnBrk="1" latinLnBrk="0" hangingPunct="1">
              <a:lnSpc>
                <a:spcPct val="120000"/>
              </a:lnSpc>
              <a:spcBef>
                <a:spcPts val="500"/>
              </a:spcBef>
              <a:buClr>
                <a:schemeClr val="accent1"/>
              </a:buClr>
              <a:buSzPct val="100000"/>
              <a:buFont typeface="Arial" panose="020B0604020202020204" pitchFamily="34" charset="0"/>
              <a:buNone/>
              <a:defRPr sz="1200" kern="1200">
                <a:solidFill>
                  <a:schemeClr val="tx1"/>
                </a:solidFill>
                <a:effectLst/>
                <a:latin typeface="+mn-lt"/>
                <a:ea typeface="+mn-ea"/>
                <a:cs typeface="+mn-cs"/>
              </a:defRPr>
            </a:lvl7pPr>
            <a:lvl8pPr marL="2400300" indent="0" algn="ctr" defTabSz="914400" rtl="0" eaLnBrk="1" latinLnBrk="0" hangingPunct="1">
              <a:lnSpc>
                <a:spcPct val="120000"/>
              </a:lnSpc>
              <a:spcBef>
                <a:spcPts val="500"/>
              </a:spcBef>
              <a:buClr>
                <a:schemeClr val="accent1"/>
              </a:buClr>
              <a:buSzPct val="100000"/>
              <a:buFont typeface="Arial" panose="020B0604020202020204" pitchFamily="34" charset="0"/>
              <a:buNone/>
              <a:defRPr sz="1200" kern="1200" baseline="0">
                <a:solidFill>
                  <a:schemeClr val="tx1"/>
                </a:solidFill>
                <a:effectLst/>
                <a:latin typeface="+mn-lt"/>
                <a:ea typeface="+mn-ea"/>
                <a:cs typeface="+mn-cs"/>
              </a:defRPr>
            </a:lvl8pPr>
            <a:lvl9pPr marL="2743200" indent="0" algn="ctr" defTabSz="914400" rtl="0" eaLnBrk="1" latinLnBrk="0" hangingPunct="1">
              <a:lnSpc>
                <a:spcPct val="120000"/>
              </a:lnSpc>
              <a:spcBef>
                <a:spcPts val="500"/>
              </a:spcBef>
              <a:buClr>
                <a:schemeClr val="accent1"/>
              </a:buClr>
              <a:buSzPct val="100000"/>
              <a:buFont typeface="Arial" panose="020B0604020202020204" pitchFamily="34" charset="0"/>
              <a:buNone/>
              <a:defRPr sz="1200" kern="1200" baseline="0">
                <a:solidFill>
                  <a:schemeClr val="tx1"/>
                </a:solidFill>
                <a:effectLst/>
                <a:latin typeface="+mn-lt"/>
                <a:ea typeface="+mn-ea"/>
                <a:cs typeface="+mn-cs"/>
              </a:defRPr>
            </a:lvl9pPr>
          </a:lstStyle>
          <a:p>
            <a:pPr>
              <a:lnSpc>
                <a:spcPct val="135000"/>
              </a:lnSpc>
            </a:pPr>
            <a:r>
              <a:rPr lang="en-US" altLang="zh-CN" sz="2100" dirty="0">
                <a:latin typeface="Times New Roman" panose="02020603050405020304" pitchFamily="18" charset="0"/>
                <a:ea typeface="黑体" pitchFamily="49" charset="-122"/>
                <a:cs typeface="Times New Roman" panose="02020603050405020304" pitchFamily="18" charset="0"/>
              </a:rPr>
              <a:t>        1) </a:t>
            </a:r>
            <a:r>
              <a:rPr lang="zh-CN" altLang="en-US" sz="2100" dirty="0">
                <a:latin typeface="Times New Roman" panose="02020603050405020304" pitchFamily="18" charset="0"/>
                <a:ea typeface="黑体" pitchFamily="49" charset="-122"/>
                <a:cs typeface="Times New Roman" panose="02020603050405020304" pitchFamily="18" charset="0"/>
              </a:rPr>
              <a:t>贴片电阻的阻值用数字与“</a:t>
            </a:r>
            <a:r>
              <a:rPr lang="en-US" altLang="zh-CN" sz="2100" dirty="0">
                <a:latin typeface="Times New Roman" panose="02020603050405020304" pitchFamily="18" charset="0"/>
                <a:ea typeface="黑体" pitchFamily="49" charset="-122"/>
                <a:cs typeface="Times New Roman" panose="02020603050405020304" pitchFamily="18" charset="0"/>
              </a:rPr>
              <a:t>R”</a:t>
            </a:r>
            <a:r>
              <a:rPr lang="zh-CN" altLang="en-US" sz="2100" dirty="0">
                <a:latin typeface="Times New Roman" panose="02020603050405020304" pitchFamily="18" charset="0"/>
                <a:ea typeface="黑体" pitchFamily="49" charset="-122"/>
                <a:cs typeface="Times New Roman" panose="02020603050405020304" pitchFamily="18" charset="0"/>
              </a:rPr>
              <a:t>组合表示。譬如：</a:t>
            </a:r>
            <a:r>
              <a:rPr lang="en-US" altLang="zh-CN" sz="2100" dirty="0">
                <a:latin typeface="Times New Roman" panose="02020603050405020304" pitchFamily="18" charset="0"/>
                <a:ea typeface="黑体" pitchFamily="49" charset="-122"/>
                <a:cs typeface="Times New Roman" panose="02020603050405020304" pitchFamily="18" charset="0"/>
              </a:rPr>
              <a:t>3Ω</a:t>
            </a:r>
            <a:r>
              <a:rPr lang="zh-CN" altLang="en-US" sz="2100" dirty="0">
                <a:latin typeface="Times New Roman" panose="02020603050405020304" pitchFamily="18" charset="0"/>
                <a:ea typeface="黑体" pitchFamily="49" charset="-122"/>
                <a:cs typeface="Times New Roman" panose="02020603050405020304" pitchFamily="18" charset="0"/>
              </a:rPr>
              <a:t>用</a:t>
            </a:r>
            <a:r>
              <a:rPr lang="en-US" altLang="zh-CN" sz="2100" dirty="0">
                <a:latin typeface="Times New Roman" panose="02020603050405020304" pitchFamily="18" charset="0"/>
                <a:ea typeface="黑体" pitchFamily="49" charset="-122"/>
                <a:cs typeface="Times New Roman" panose="02020603050405020304" pitchFamily="18" charset="0"/>
              </a:rPr>
              <a:t>3R0</a:t>
            </a:r>
            <a:r>
              <a:rPr lang="zh-CN" altLang="en-US" sz="2100" dirty="0">
                <a:latin typeface="Times New Roman" panose="02020603050405020304" pitchFamily="18" charset="0"/>
                <a:ea typeface="黑体" pitchFamily="49" charset="-122"/>
                <a:cs typeface="Times New Roman" panose="02020603050405020304" pitchFamily="18" charset="0"/>
              </a:rPr>
              <a:t>表示，</a:t>
            </a:r>
            <a:r>
              <a:rPr lang="en-US" altLang="zh-CN" sz="2100" dirty="0">
                <a:latin typeface="Times New Roman" panose="02020603050405020304" pitchFamily="18" charset="0"/>
                <a:ea typeface="黑体" pitchFamily="49" charset="-122"/>
                <a:cs typeface="Times New Roman" panose="02020603050405020304" pitchFamily="18" charset="0"/>
              </a:rPr>
              <a:t>10Ω</a:t>
            </a:r>
            <a:r>
              <a:rPr lang="zh-CN" altLang="en-US" sz="2100" dirty="0">
                <a:latin typeface="Times New Roman" panose="02020603050405020304" pitchFamily="18" charset="0"/>
                <a:ea typeface="黑体" pitchFamily="49" charset="-122"/>
                <a:cs typeface="Times New Roman" panose="02020603050405020304" pitchFamily="18" charset="0"/>
              </a:rPr>
              <a:t>用</a:t>
            </a:r>
            <a:r>
              <a:rPr lang="en-US" altLang="zh-CN" sz="2100" dirty="0">
                <a:latin typeface="Times New Roman" panose="02020603050405020304" pitchFamily="18" charset="0"/>
                <a:ea typeface="黑体" pitchFamily="49" charset="-122"/>
                <a:cs typeface="Times New Roman" panose="02020603050405020304" pitchFamily="18" charset="0"/>
              </a:rPr>
              <a:t>10R</a:t>
            </a:r>
            <a:r>
              <a:rPr lang="zh-CN" altLang="en-US" sz="2100" dirty="0">
                <a:latin typeface="Times New Roman" panose="02020603050405020304" pitchFamily="18" charset="0"/>
                <a:ea typeface="黑体" pitchFamily="49" charset="-122"/>
                <a:cs typeface="Times New Roman" panose="02020603050405020304" pitchFamily="18" charset="0"/>
              </a:rPr>
              <a:t>表示，</a:t>
            </a:r>
            <a:r>
              <a:rPr lang="en-US" altLang="zh-CN" sz="2100" dirty="0">
                <a:latin typeface="Times New Roman" panose="02020603050405020304" pitchFamily="18" charset="0"/>
                <a:ea typeface="黑体" pitchFamily="49" charset="-122"/>
                <a:cs typeface="Times New Roman" panose="02020603050405020304" pitchFamily="18" charset="0"/>
              </a:rPr>
              <a:t>100Ω</a:t>
            </a:r>
            <a:r>
              <a:rPr lang="zh-CN" altLang="en-US" sz="2100" dirty="0">
                <a:latin typeface="Times New Roman" panose="02020603050405020304" pitchFamily="18" charset="0"/>
                <a:ea typeface="黑体" pitchFamily="49" charset="-122"/>
                <a:cs typeface="Times New Roman" panose="02020603050405020304" pitchFamily="18" charset="0"/>
              </a:rPr>
              <a:t>用</a:t>
            </a:r>
            <a:r>
              <a:rPr lang="en-US" altLang="zh-CN" sz="2100" dirty="0">
                <a:latin typeface="Times New Roman" panose="02020603050405020304" pitchFamily="18" charset="0"/>
                <a:ea typeface="黑体" pitchFamily="49" charset="-122"/>
                <a:cs typeface="Times New Roman" panose="02020603050405020304" pitchFamily="18" charset="0"/>
              </a:rPr>
              <a:t>101</a:t>
            </a:r>
            <a:r>
              <a:rPr lang="zh-CN" altLang="en-US" sz="2100" dirty="0">
                <a:latin typeface="Times New Roman" panose="02020603050405020304" pitchFamily="18" charset="0"/>
                <a:ea typeface="黑体" pitchFamily="49" charset="-122"/>
                <a:cs typeface="Times New Roman" panose="02020603050405020304" pitchFamily="18" charset="0"/>
              </a:rPr>
              <a:t>表示，也就是说“</a:t>
            </a:r>
            <a:r>
              <a:rPr lang="en-US" altLang="zh-CN" sz="2100" dirty="0">
                <a:latin typeface="Times New Roman" panose="02020603050405020304" pitchFamily="18" charset="0"/>
                <a:ea typeface="黑体" pitchFamily="49" charset="-122"/>
                <a:cs typeface="Times New Roman" panose="02020603050405020304" pitchFamily="18" charset="0"/>
              </a:rPr>
              <a:t>R”</a:t>
            </a:r>
            <a:r>
              <a:rPr lang="zh-CN" altLang="en-US" sz="2100" dirty="0">
                <a:latin typeface="Times New Roman" panose="02020603050405020304" pitchFamily="18" charset="0"/>
                <a:ea typeface="黑体" pitchFamily="49" charset="-122"/>
                <a:cs typeface="Times New Roman" panose="02020603050405020304" pitchFamily="18" charset="0"/>
              </a:rPr>
              <a:t>表示点“</a:t>
            </a:r>
            <a:r>
              <a:rPr lang="en-US" altLang="zh-CN" sz="2100" dirty="0">
                <a:latin typeface="Times New Roman" panose="02020603050405020304" pitchFamily="18" charset="0"/>
                <a:ea typeface="黑体" pitchFamily="49" charset="-122"/>
                <a:cs typeface="Times New Roman" panose="02020603050405020304" pitchFamily="18" charset="0"/>
              </a:rPr>
              <a:t>.”</a:t>
            </a:r>
            <a:r>
              <a:rPr lang="zh-CN" altLang="en-US" sz="2100" dirty="0">
                <a:latin typeface="Times New Roman" panose="02020603050405020304" pitchFamily="18" charset="0"/>
                <a:ea typeface="黑体" pitchFamily="49" charset="-122"/>
                <a:cs typeface="Times New Roman" panose="02020603050405020304" pitchFamily="18" charset="0"/>
              </a:rPr>
              <a:t>的意思，而</a:t>
            </a:r>
            <a:r>
              <a:rPr lang="en-US" altLang="zh-CN" sz="2100" dirty="0">
                <a:latin typeface="Times New Roman" panose="02020603050405020304" pitchFamily="18" charset="0"/>
                <a:ea typeface="黑体" pitchFamily="49" charset="-122"/>
                <a:cs typeface="Times New Roman" panose="02020603050405020304" pitchFamily="18" charset="0"/>
              </a:rPr>
              <a:t>101</a:t>
            </a:r>
            <a:r>
              <a:rPr lang="zh-CN" altLang="en-US" sz="2100" dirty="0">
                <a:latin typeface="Times New Roman" panose="02020603050405020304" pitchFamily="18" charset="0"/>
                <a:ea typeface="黑体" pitchFamily="49" charset="-122"/>
                <a:cs typeface="Times New Roman" panose="02020603050405020304" pitchFamily="18" charset="0"/>
              </a:rPr>
              <a:t>后面个位数的“</a:t>
            </a:r>
            <a:r>
              <a:rPr lang="en-US" altLang="zh-CN" sz="2100" dirty="0">
                <a:latin typeface="Times New Roman" panose="02020603050405020304" pitchFamily="18" charset="0"/>
                <a:ea typeface="黑体" pitchFamily="49" charset="-122"/>
                <a:cs typeface="Times New Roman" panose="02020603050405020304" pitchFamily="18" charset="0"/>
              </a:rPr>
              <a:t>1”</a:t>
            </a:r>
            <a:r>
              <a:rPr lang="zh-CN" altLang="en-US" sz="2100" dirty="0">
                <a:latin typeface="Times New Roman" panose="02020603050405020304" pitchFamily="18" charset="0"/>
                <a:ea typeface="黑体" pitchFamily="49" charset="-122"/>
                <a:cs typeface="Times New Roman" panose="02020603050405020304" pitchFamily="18" charset="0"/>
              </a:rPr>
              <a:t>表示的是带有</a:t>
            </a:r>
            <a:r>
              <a:rPr lang="en-US" altLang="zh-CN" sz="2100" dirty="0">
                <a:latin typeface="Times New Roman" panose="02020603050405020304" pitchFamily="18" charset="0"/>
                <a:ea typeface="黑体" pitchFamily="49" charset="-122"/>
                <a:cs typeface="Times New Roman" panose="02020603050405020304" pitchFamily="18" charset="0"/>
              </a:rPr>
              <a:t>1</a:t>
            </a:r>
            <a:r>
              <a:rPr lang="zh-CN" altLang="en-US" sz="2100" dirty="0">
                <a:latin typeface="Times New Roman" panose="02020603050405020304" pitchFamily="18" charset="0"/>
                <a:ea typeface="黑体" pitchFamily="49" charset="-122"/>
                <a:cs typeface="Times New Roman" panose="02020603050405020304" pitchFamily="18" charset="0"/>
              </a:rPr>
              <a:t>个</a:t>
            </a:r>
            <a:r>
              <a:rPr lang="en-US" altLang="zh-CN" sz="2100" dirty="0">
                <a:latin typeface="Times New Roman" panose="02020603050405020304" pitchFamily="18" charset="0"/>
                <a:ea typeface="黑体" pitchFamily="49" charset="-122"/>
                <a:cs typeface="Times New Roman" panose="02020603050405020304" pitchFamily="18" charset="0"/>
              </a:rPr>
              <a:t>0</a:t>
            </a:r>
            <a:r>
              <a:rPr lang="zh-CN" altLang="en-US" sz="2100" dirty="0">
                <a:latin typeface="Times New Roman" panose="02020603050405020304" pitchFamily="18" charset="0"/>
                <a:ea typeface="黑体" pitchFamily="49" charset="-122"/>
                <a:cs typeface="Times New Roman" panose="02020603050405020304" pitchFamily="18" charset="0"/>
              </a:rPr>
              <a:t>，例如</a:t>
            </a:r>
            <a:r>
              <a:rPr lang="en-US" altLang="zh-CN" sz="2100" dirty="0">
                <a:latin typeface="Times New Roman" panose="02020603050405020304" pitchFamily="18" charset="0"/>
                <a:ea typeface="黑体" pitchFamily="49" charset="-122"/>
                <a:cs typeface="Times New Roman" panose="02020603050405020304" pitchFamily="18" charset="0"/>
              </a:rPr>
              <a:t>102</a:t>
            </a:r>
            <a:r>
              <a:rPr lang="zh-CN" altLang="en-US" sz="2100" dirty="0">
                <a:latin typeface="Times New Roman" panose="02020603050405020304" pitchFamily="18" charset="0"/>
                <a:ea typeface="黑体" pitchFamily="49" charset="-122"/>
                <a:cs typeface="Times New Roman" panose="02020603050405020304" pitchFamily="18" charset="0"/>
              </a:rPr>
              <a:t>表示</a:t>
            </a:r>
            <a:r>
              <a:rPr lang="en-US" altLang="zh-CN" sz="2100" dirty="0">
                <a:latin typeface="Times New Roman" panose="02020603050405020304" pitchFamily="18" charset="0"/>
                <a:ea typeface="黑体" pitchFamily="49" charset="-122"/>
                <a:cs typeface="Times New Roman" panose="02020603050405020304" pitchFamily="18" charset="0"/>
              </a:rPr>
              <a:t>10000</a:t>
            </a:r>
            <a:r>
              <a:rPr lang="zh-CN" altLang="en-US" sz="2100" dirty="0">
                <a:latin typeface="Times New Roman" panose="02020603050405020304" pitchFamily="18" charset="0"/>
                <a:ea typeface="黑体" pitchFamily="49" charset="-122"/>
                <a:cs typeface="Times New Roman" panose="02020603050405020304" pitchFamily="18" charset="0"/>
              </a:rPr>
              <a:t>。</a:t>
            </a:r>
            <a:endParaRPr lang="en-US" altLang="zh-CN" sz="2100" dirty="0">
              <a:latin typeface="Times New Roman" panose="02020603050405020304" pitchFamily="18" charset="0"/>
              <a:ea typeface="黑体" pitchFamily="49" charset="-122"/>
              <a:cs typeface="Times New Roman" panose="02020603050405020304" pitchFamily="18" charset="0"/>
            </a:endParaRPr>
          </a:p>
          <a:p>
            <a:pPr>
              <a:lnSpc>
                <a:spcPct val="135000"/>
              </a:lnSpc>
            </a:pPr>
            <a:r>
              <a:rPr lang="en-US" altLang="zh-CN" sz="2100" dirty="0">
                <a:latin typeface="Times New Roman" panose="02020603050405020304" pitchFamily="18" charset="0"/>
                <a:ea typeface="黑体" pitchFamily="49" charset="-122"/>
                <a:cs typeface="Times New Roman" panose="02020603050405020304" pitchFamily="18" charset="0"/>
              </a:rPr>
              <a:t>        2) </a:t>
            </a:r>
            <a:r>
              <a:rPr lang="zh-CN" altLang="en-US" sz="2100" dirty="0">
                <a:latin typeface="Times New Roman" panose="02020603050405020304" pitchFamily="18" charset="0"/>
                <a:ea typeface="黑体" pitchFamily="49" charset="-122"/>
                <a:cs typeface="Times New Roman" panose="02020603050405020304" pitchFamily="18" charset="0"/>
              </a:rPr>
              <a:t>电阻上的数字和字母表示的就是阻值，</a:t>
            </a:r>
            <a:r>
              <a:rPr lang="en-US" altLang="zh-CN" sz="2100" dirty="0">
                <a:latin typeface="Times New Roman" panose="02020603050405020304" pitchFamily="18" charset="0"/>
                <a:ea typeface="黑体" pitchFamily="49" charset="-122"/>
                <a:cs typeface="Times New Roman" panose="02020603050405020304" pitchFamily="18" charset="0"/>
              </a:rPr>
              <a:t>R002</a:t>
            </a:r>
            <a:r>
              <a:rPr lang="zh-CN" altLang="en-US" sz="2100" dirty="0">
                <a:latin typeface="Times New Roman" panose="02020603050405020304" pitchFamily="18" charset="0"/>
                <a:ea typeface="黑体" pitchFamily="49" charset="-122"/>
                <a:cs typeface="Times New Roman" panose="02020603050405020304" pitchFamily="18" charset="0"/>
              </a:rPr>
              <a:t>就表示</a:t>
            </a:r>
            <a:r>
              <a:rPr lang="en-US" altLang="zh-CN" sz="2100" dirty="0">
                <a:latin typeface="Times New Roman" panose="02020603050405020304" pitchFamily="18" charset="0"/>
                <a:ea typeface="黑体" pitchFamily="49" charset="-122"/>
                <a:cs typeface="Times New Roman" panose="02020603050405020304" pitchFamily="18" charset="0"/>
              </a:rPr>
              <a:t>0.002Ω</a:t>
            </a:r>
            <a:r>
              <a:rPr lang="zh-CN" altLang="en-US" sz="2100" dirty="0">
                <a:latin typeface="Times New Roman" panose="02020603050405020304" pitchFamily="18" charset="0"/>
                <a:ea typeface="黑体" pitchFamily="49" charset="-122"/>
                <a:cs typeface="Times New Roman" panose="02020603050405020304" pitchFamily="18" charset="0"/>
              </a:rPr>
              <a:t>，</a:t>
            </a:r>
            <a:r>
              <a:rPr lang="en-US" altLang="zh-CN" sz="2100" dirty="0">
                <a:latin typeface="Times New Roman" panose="02020603050405020304" pitchFamily="18" charset="0"/>
                <a:ea typeface="黑体" pitchFamily="49" charset="-122"/>
                <a:cs typeface="Times New Roman" panose="02020603050405020304" pitchFamily="18" charset="0"/>
              </a:rPr>
              <a:t>180</a:t>
            </a:r>
            <a:r>
              <a:rPr lang="zh-CN" altLang="en-US" sz="2100" dirty="0">
                <a:latin typeface="Times New Roman" panose="02020603050405020304" pitchFamily="18" charset="0"/>
                <a:ea typeface="黑体" pitchFamily="49" charset="-122"/>
                <a:cs typeface="Times New Roman" panose="02020603050405020304" pitchFamily="18" charset="0"/>
              </a:rPr>
              <a:t>表示的就是</a:t>
            </a:r>
            <a:r>
              <a:rPr lang="en-US" altLang="zh-CN" sz="2100" dirty="0">
                <a:latin typeface="Times New Roman" panose="02020603050405020304" pitchFamily="18" charset="0"/>
                <a:ea typeface="黑体" pitchFamily="49" charset="-122"/>
                <a:cs typeface="Times New Roman" panose="02020603050405020304" pitchFamily="18" charset="0"/>
              </a:rPr>
              <a:t>18Ω.</a:t>
            </a:r>
          </a:p>
          <a:p>
            <a:pPr>
              <a:lnSpc>
                <a:spcPct val="135000"/>
              </a:lnSpc>
            </a:pPr>
            <a:r>
              <a:rPr lang="en-US" altLang="zh-CN" sz="2100" b="1" dirty="0">
                <a:solidFill>
                  <a:srgbClr val="C00000"/>
                </a:solidFill>
                <a:latin typeface="Times New Roman" panose="02020603050405020304" pitchFamily="18" charset="0"/>
                <a:ea typeface="黑体" pitchFamily="49" charset="-122"/>
                <a:cs typeface="Times New Roman" panose="02020603050405020304" pitchFamily="18" charset="0"/>
              </a:rPr>
              <a:t>        3) </a:t>
            </a:r>
            <a:r>
              <a:rPr lang="zh-CN" altLang="en-US" sz="2100" b="1" dirty="0">
                <a:solidFill>
                  <a:srgbClr val="C00000"/>
                </a:solidFill>
                <a:latin typeface="Times New Roman" panose="02020603050405020304" pitchFamily="18" charset="0"/>
                <a:ea typeface="黑体" pitchFamily="49" charset="-122"/>
                <a:cs typeface="Times New Roman" panose="02020603050405020304" pitchFamily="18" charset="0"/>
              </a:rPr>
              <a:t>怎样区分贴片的电阻与电容</a:t>
            </a:r>
            <a:r>
              <a:rPr lang="zh-CN" altLang="en-US" sz="2100" dirty="0">
                <a:latin typeface="Times New Roman" panose="02020603050405020304" pitchFamily="18" charset="0"/>
                <a:ea typeface="黑体" pitchFamily="49" charset="-122"/>
                <a:cs typeface="Times New Roman" panose="02020603050405020304" pitchFamily="18" charset="0"/>
              </a:rPr>
              <a:t>，由于电阻上面有</a:t>
            </a:r>
            <a:r>
              <a:rPr lang="zh-CN" altLang="en-US" sz="2100" b="1" dirty="0">
                <a:solidFill>
                  <a:srgbClr val="C00000"/>
                </a:solidFill>
                <a:latin typeface="Times New Roman" panose="02020603050405020304" pitchFamily="18" charset="0"/>
                <a:ea typeface="黑体" pitchFamily="49" charset="-122"/>
                <a:cs typeface="Times New Roman" panose="02020603050405020304" pitchFamily="18" charset="0"/>
              </a:rPr>
              <a:t>白色的字体</a:t>
            </a:r>
            <a:r>
              <a:rPr lang="zh-CN" altLang="en-US" sz="2100" dirty="0">
                <a:latin typeface="Times New Roman" panose="02020603050405020304" pitchFamily="18" charset="0"/>
                <a:ea typeface="黑体" pitchFamily="49" charset="-122"/>
                <a:cs typeface="Times New Roman" panose="02020603050405020304" pitchFamily="18" charset="0"/>
              </a:rPr>
              <a:t>表示，所以除端角外背景颜色应该是黑色的，而电容上就没有字体表示，也不会有黑色的颜色，因为有黑色的话容易让人产生误会电容被氧化</a:t>
            </a:r>
            <a:r>
              <a:rPr lang="zh-CN" altLang="en-US" sz="2400" dirty="0"/>
              <a:t>。 </a:t>
            </a: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D7A870F-633D-860E-DFDB-4EE36B7B17B8}"/>
              </a:ext>
            </a:extLst>
          </p:cNvPr>
          <p:cNvSpPr>
            <a:spLocks noGrp="1"/>
          </p:cNvSpPr>
          <p:nvPr>
            <p:ph type="title"/>
          </p:nvPr>
        </p:nvSpPr>
        <p:spPr>
          <a:xfrm>
            <a:off x="0" y="-902"/>
            <a:ext cx="1547664" cy="636210"/>
          </a:xfrm>
          <a:solidFill>
            <a:schemeClr val="bg1">
              <a:lumMod val="95000"/>
            </a:schemeClr>
          </a:solidFill>
        </p:spPr>
        <p:txBody>
          <a:bodyPr vert="horz" lIns="91440" tIns="45720" rIns="91440" bIns="45720" rtlCol="0" anchor="t">
            <a:normAutofit fontScale="90000"/>
          </a:bodyPr>
          <a:lstStyle/>
          <a:p>
            <a:r>
              <a:rPr lang="zh-CN" altLang="en-US" sz="3600" b="1" dirty="0">
                <a:latin typeface="华文行楷" panose="02010800040101010101" pitchFamily="2" charset="-122"/>
                <a:ea typeface="华文行楷" panose="02010800040101010101" pitchFamily="2" charset="-122"/>
              </a:rPr>
              <a:t>电位器</a:t>
            </a:r>
          </a:p>
        </p:txBody>
      </p:sp>
      <p:sp>
        <p:nvSpPr>
          <p:cNvPr id="3" name="内容占位符 2">
            <a:extLst>
              <a:ext uri="{FF2B5EF4-FFF2-40B4-BE49-F238E27FC236}">
                <a16:creationId xmlns:a16="http://schemas.microsoft.com/office/drawing/2014/main" id="{2B6FBFA6-CBD8-6011-A257-422937725AA2}"/>
              </a:ext>
            </a:extLst>
          </p:cNvPr>
          <p:cNvSpPr>
            <a:spLocks noGrp="1"/>
          </p:cNvSpPr>
          <p:nvPr>
            <p:ph idx="1"/>
          </p:nvPr>
        </p:nvSpPr>
        <p:spPr>
          <a:xfrm>
            <a:off x="755576" y="908720"/>
            <a:ext cx="7835804" cy="4680520"/>
          </a:xfrm>
        </p:spPr>
        <p:txBody>
          <a:bodyPr>
            <a:normAutofit/>
          </a:bodyPr>
          <a:lstStyle/>
          <a:p>
            <a:r>
              <a:rPr lang="zh-CN" altLang="en-US" sz="2400" dirty="0">
                <a:latin typeface="黑体" panose="02010609060101010101" pitchFamily="49" charset="-122"/>
                <a:ea typeface="黑体" panose="02010609060101010101" pitchFamily="49" charset="-122"/>
                <a:cs typeface="+mj-cs"/>
              </a:rPr>
              <a:t>电位器是一种连续可调的电子元件，在电路中，电位器常用来调节电阻值或电位。</a:t>
            </a:r>
            <a:endParaRPr lang="en-US" altLang="zh-CN" sz="2400" dirty="0">
              <a:latin typeface="黑体" panose="02010609060101010101" pitchFamily="49" charset="-122"/>
              <a:ea typeface="黑体" panose="02010609060101010101" pitchFamily="49" charset="-122"/>
              <a:cs typeface="+mj-cs"/>
            </a:endParaRPr>
          </a:p>
          <a:p>
            <a:r>
              <a:rPr lang="zh-CN" altLang="en-US" sz="2400" dirty="0">
                <a:latin typeface="黑体" panose="02010609060101010101" pitchFamily="49" charset="-122"/>
                <a:ea typeface="黑体" panose="02010609060101010101" pitchFamily="49" charset="-122"/>
                <a:cs typeface="+mj-cs"/>
              </a:rPr>
              <a:t>电位器是电阻的一个分支，电路上常用符号“</a:t>
            </a:r>
            <a:r>
              <a:rPr lang="en-US" altLang="zh-CN" sz="2400" dirty="0">
                <a:latin typeface="黑体" panose="02010609060101010101" pitchFamily="49" charset="-122"/>
                <a:ea typeface="黑体" panose="02010609060101010101" pitchFamily="49" charset="-122"/>
                <a:cs typeface="+mj-cs"/>
              </a:rPr>
              <a:t>RT”</a:t>
            </a:r>
            <a:r>
              <a:rPr lang="zh-CN" altLang="en-US" sz="2400" dirty="0">
                <a:latin typeface="黑体" panose="02010609060101010101" pitchFamily="49" charset="-122"/>
                <a:ea typeface="黑体" panose="02010609060101010101" pitchFamily="49" charset="-122"/>
                <a:cs typeface="+mj-cs"/>
              </a:rPr>
              <a:t>表示，使用最多的就是碳膜电位器。</a:t>
            </a:r>
            <a:endParaRPr lang="en-US" altLang="zh-CN" sz="2400" dirty="0">
              <a:latin typeface="黑体" panose="02010609060101010101" pitchFamily="49" charset="-122"/>
              <a:ea typeface="黑体" panose="02010609060101010101" pitchFamily="49" charset="-122"/>
              <a:cs typeface="+mj-cs"/>
            </a:endParaRPr>
          </a:p>
          <a:p>
            <a:endParaRPr lang="zh-CN" altLang="en-US" sz="2400" dirty="0">
              <a:latin typeface="黑体" panose="02010609060101010101" pitchFamily="49" charset="-122"/>
              <a:ea typeface="黑体" panose="02010609060101010101" pitchFamily="49" charset="-122"/>
              <a:cs typeface="+mj-cs"/>
            </a:endParaRPr>
          </a:p>
        </p:txBody>
      </p:sp>
      <p:sp>
        <p:nvSpPr>
          <p:cNvPr id="4" name="灯片编号占位符 3">
            <a:extLst>
              <a:ext uri="{FF2B5EF4-FFF2-40B4-BE49-F238E27FC236}">
                <a16:creationId xmlns:a16="http://schemas.microsoft.com/office/drawing/2014/main" id="{C36540E9-0ED6-6AA5-2888-095B56231F8B}"/>
              </a:ext>
            </a:extLst>
          </p:cNvPr>
          <p:cNvSpPr>
            <a:spLocks noGrp="1"/>
          </p:cNvSpPr>
          <p:nvPr>
            <p:ph type="sldNum" sz="quarter" idx="12"/>
          </p:nvPr>
        </p:nvSpPr>
        <p:spPr/>
        <p:txBody>
          <a:bodyPr/>
          <a:lstStyle/>
          <a:p>
            <a:pPr>
              <a:defRPr/>
            </a:pPr>
            <a:fld id="{5FAFB815-62BA-464E-901C-79D108092E38}" type="slidenum">
              <a:rPr lang="zh-CN" altLang="en-US" smtClean="0"/>
              <a:pPr>
                <a:defRPr/>
              </a:pPr>
              <a:t>36</a:t>
            </a:fld>
            <a:endParaRPr lang="en-US" altLang="zh-CN"/>
          </a:p>
        </p:txBody>
      </p:sp>
      <p:sp>
        <p:nvSpPr>
          <p:cNvPr id="7" name="文本框 6">
            <a:extLst>
              <a:ext uri="{FF2B5EF4-FFF2-40B4-BE49-F238E27FC236}">
                <a16:creationId xmlns:a16="http://schemas.microsoft.com/office/drawing/2014/main" id="{2FC0115C-57B1-1EDF-07BE-77EC5B7859E3}"/>
              </a:ext>
            </a:extLst>
          </p:cNvPr>
          <p:cNvSpPr txBox="1"/>
          <p:nvPr/>
        </p:nvSpPr>
        <p:spPr>
          <a:xfrm>
            <a:off x="4499992" y="3554192"/>
            <a:ext cx="4392488" cy="1754326"/>
          </a:xfrm>
          <a:prstGeom prst="rect">
            <a:avLst/>
          </a:prstGeom>
          <a:noFill/>
        </p:spPr>
        <p:txBody>
          <a:bodyPr wrap="square" rtlCol="0">
            <a:spAutoFit/>
          </a:bodyPr>
          <a:lstStyle/>
          <a:p>
            <a:r>
              <a:rPr lang="zh-CN" altLang="en-US" dirty="0">
                <a:latin typeface="Times New Roman" panose="02020603050405020304" pitchFamily="18" charset="0"/>
                <a:cs typeface="Times New Roman" panose="02020603050405020304" pitchFamily="18" charset="0"/>
              </a:rPr>
              <a:t>这种电位器是用碳黑和树脂的混合物涂在马蹄形胶板上制成的电阻片。从两端引出焊片“</a:t>
            </a:r>
            <a:r>
              <a:rPr lang="en-US" altLang="zh-CN" dirty="0">
                <a:latin typeface="Times New Roman" panose="02020603050405020304" pitchFamily="18" charset="0"/>
                <a:cs typeface="Times New Roman" panose="02020603050405020304" pitchFamily="18" charset="0"/>
              </a:rPr>
              <a:t>1</a:t>
            </a:r>
            <a:r>
              <a:rPr lang="zh-CN" altLang="en-US" dirty="0">
                <a:latin typeface="Times New Roman" panose="02020603050405020304" pitchFamily="18" charset="0"/>
                <a:cs typeface="Times New Roman" panose="02020603050405020304" pitchFamily="18" charset="0"/>
              </a:rPr>
              <a:t>”和“</a:t>
            </a:r>
            <a:r>
              <a:rPr lang="en-US" altLang="zh-CN" dirty="0">
                <a:latin typeface="Times New Roman" panose="02020603050405020304" pitchFamily="18" charset="0"/>
                <a:cs typeface="Times New Roman" panose="02020603050405020304" pitchFamily="18" charset="0"/>
              </a:rPr>
              <a:t>3</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电阻片上装有一个可以转动的活动臂，并由焊片“</a:t>
            </a:r>
            <a:r>
              <a:rPr lang="en-US" altLang="zh-CN" dirty="0">
                <a:latin typeface="Times New Roman" panose="02020603050405020304" pitchFamily="18" charset="0"/>
                <a:cs typeface="Times New Roman" panose="02020603050405020304" pitchFamily="18" charset="0"/>
              </a:rPr>
              <a:t>2</a:t>
            </a:r>
            <a:r>
              <a:rPr lang="zh-CN" altLang="en-US" dirty="0">
                <a:latin typeface="Times New Roman" panose="02020603050405020304" pitchFamily="18" charset="0"/>
                <a:cs typeface="Times New Roman" panose="02020603050405020304" pitchFamily="18" charset="0"/>
              </a:rPr>
              <a:t>”引出。</a:t>
            </a:r>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R</a:t>
            </a:r>
            <a:r>
              <a:rPr lang="en-US" altLang="zh-CN" sz="1200" dirty="0">
                <a:latin typeface="Times New Roman" panose="02020603050405020304" pitchFamily="18" charset="0"/>
                <a:cs typeface="Times New Roman" panose="02020603050405020304" pitchFamily="18" charset="0"/>
              </a:rPr>
              <a:t>1-3</a:t>
            </a:r>
            <a:r>
              <a:rPr lang="en-US" altLang="zh-CN" dirty="0">
                <a:latin typeface="Times New Roman" panose="02020603050405020304" pitchFamily="18" charset="0"/>
                <a:cs typeface="Times New Roman" panose="02020603050405020304" pitchFamily="18" charset="0"/>
              </a:rPr>
              <a:t>=R</a:t>
            </a:r>
            <a:r>
              <a:rPr lang="en-US" altLang="zh-CN" sz="1200" dirty="0">
                <a:latin typeface="Times New Roman" panose="02020603050405020304" pitchFamily="18" charset="0"/>
                <a:cs typeface="Times New Roman" panose="02020603050405020304" pitchFamily="18" charset="0"/>
              </a:rPr>
              <a:t>1-2</a:t>
            </a:r>
            <a:r>
              <a:rPr lang="en-US" altLang="zh-CN" dirty="0">
                <a:latin typeface="Times New Roman" panose="02020603050405020304" pitchFamily="18" charset="0"/>
                <a:cs typeface="Times New Roman" panose="02020603050405020304" pitchFamily="18" charset="0"/>
              </a:rPr>
              <a:t>+R</a:t>
            </a:r>
            <a:r>
              <a:rPr lang="en-US" altLang="zh-CN" sz="1200" dirty="0">
                <a:latin typeface="Times New Roman" panose="02020603050405020304" pitchFamily="18" charset="0"/>
                <a:cs typeface="Times New Roman" panose="02020603050405020304" pitchFamily="18" charset="0"/>
              </a:rPr>
              <a:t>2-3</a:t>
            </a:r>
          </a:p>
          <a:p>
            <a:endParaRPr lang="zh-CN" altLang="en-US" dirty="0"/>
          </a:p>
        </p:txBody>
      </p:sp>
      <p:pic>
        <p:nvPicPr>
          <p:cNvPr id="6" name="图片 5">
            <a:extLst>
              <a:ext uri="{FF2B5EF4-FFF2-40B4-BE49-F238E27FC236}">
                <a16:creationId xmlns:a16="http://schemas.microsoft.com/office/drawing/2014/main" id="{4A7B6741-322A-76EB-6E11-9022EE542614}"/>
              </a:ext>
            </a:extLst>
          </p:cNvPr>
          <p:cNvPicPr>
            <a:picLocks noChangeAspect="1"/>
          </p:cNvPicPr>
          <p:nvPr/>
        </p:nvPicPr>
        <p:blipFill>
          <a:blip r:embed="rId2"/>
          <a:stretch>
            <a:fillRect/>
          </a:stretch>
        </p:blipFill>
        <p:spPr>
          <a:xfrm>
            <a:off x="547729" y="3209335"/>
            <a:ext cx="3810742" cy="1820338"/>
          </a:xfrm>
          <a:prstGeom prst="rect">
            <a:avLst/>
          </a:prstGeom>
        </p:spPr>
      </p:pic>
      <p:sp>
        <p:nvSpPr>
          <p:cNvPr id="10" name="文本框 9">
            <a:extLst>
              <a:ext uri="{FF2B5EF4-FFF2-40B4-BE49-F238E27FC236}">
                <a16:creationId xmlns:a16="http://schemas.microsoft.com/office/drawing/2014/main" id="{B99019CD-8D95-F280-E8FB-8E1FF610E164}"/>
              </a:ext>
            </a:extLst>
          </p:cNvPr>
          <p:cNvSpPr txBox="1"/>
          <p:nvPr/>
        </p:nvSpPr>
        <p:spPr>
          <a:xfrm>
            <a:off x="899592" y="5445224"/>
            <a:ext cx="7776865" cy="646331"/>
          </a:xfrm>
          <a:prstGeom prst="rect">
            <a:avLst/>
          </a:prstGeom>
          <a:noFill/>
        </p:spPr>
        <p:txBody>
          <a:bodyPr wrap="square" rtlCol="0">
            <a:spAutoFit/>
          </a:bodyPr>
          <a:lstStyle/>
          <a:p>
            <a:r>
              <a:rPr lang="zh-CN" altLang="en-US" dirty="0"/>
              <a:t>为了适应各种不同用途，电位器的阻值变化规律也不相同，常见的电位器阻值变化规律有</a:t>
            </a:r>
            <a:r>
              <a:rPr lang="en-US" altLang="zh-CN" dirty="0"/>
              <a:t>3</a:t>
            </a:r>
            <a:r>
              <a:rPr lang="zh-CN" altLang="en-US" dirty="0"/>
              <a:t>种，即</a:t>
            </a:r>
            <a:r>
              <a:rPr lang="en-US" altLang="zh-CN" dirty="0"/>
              <a:t>X</a:t>
            </a:r>
            <a:r>
              <a:rPr lang="zh-CN" altLang="en-US" dirty="0"/>
              <a:t>型（直线型）、</a:t>
            </a:r>
            <a:r>
              <a:rPr lang="en-US" altLang="zh-CN" dirty="0"/>
              <a:t>Z</a:t>
            </a:r>
            <a:r>
              <a:rPr lang="zh-CN" altLang="en-US" dirty="0"/>
              <a:t>型（指数型）、</a:t>
            </a:r>
            <a:r>
              <a:rPr lang="en-US" altLang="zh-CN" dirty="0"/>
              <a:t>D</a:t>
            </a:r>
            <a:r>
              <a:rPr lang="zh-CN" altLang="en-US" dirty="0"/>
              <a:t>型（对数型）</a:t>
            </a:r>
          </a:p>
        </p:txBody>
      </p:sp>
      <p:pic>
        <p:nvPicPr>
          <p:cNvPr id="12" name="图片 11">
            <a:extLst>
              <a:ext uri="{FF2B5EF4-FFF2-40B4-BE49-F238E27FC236}">
                <a16:creationId xmlns:a16="http://schemas.microsoft.com/office/drawing/2014/main" id="{0B325624-690F-9E46-BD7F-B7A3156DE4C6}"/>
              </a:ext>
            </a:extLst>
          </p:cNvPr>
          <p:cNvPicPr>
            <a:picLocks noChangeAspect="1"/>
          </p:cNvPicPr>
          <p:nvPr/>
        </p:nvPicPr>
        <p:blipFill>
          <a:blip r:embed="rId3"/>
          <a:stretch>
            <a:fillRect/>
          </a:stretch>
        </p:blipFill>
        <p:spPr>
          <a:xfrm>
            <a:off x="5148064" y="2537532"/>
            <a:ext cx="2801318" cy="814616"/>
          </a:xfrm>
          <a:prstGeom prst="rect">
            <a:avLst/>
          </a:prstGeom>
        </p:spPr>
      </p:pic>
      <p:pic>
        <p:nvPicPr>
          <p:cNvPr id="14" name="图片 13">
            <a:extLst>
              <a:ext uri="{FF2B5EF4-FFF2-40B4-BE49-F238E27FC236}">
                <a16:creationId xmlns:a16="http://schemas.microsoft.com/office/drawing/2014/main" id="{45008623-CBF8-093E-3678-D77CAC83078A}"/>
              </a:ext>
            </a:extLst>
          </p:cNvPr>
          <p:cNvPicPr>
            <a:picLocks noChangeAspect="1"/>
          </p:cNvPicPr>
          <p:nvPr/>
        </p:nvPicPr>
        <p:blipFill>
          <a:blip r:embed="rId4"/>
          <a:stretch>
            <a:fillRect/>
          </a:stretch>
        </p:blipFill>
        <p:spPr>
          <a:xfrm>
            <a:off x="3577148" y="4119504"/>
            <a:ext cx="2192660" cy="2769460"/>
          </a:xfrm>
          <a:prstGeom prst="rect">
            <a:avLst/>
          </a:prstGeom>
        </p:spPr>
      </p:pic>
      <p:sp>
        <p:nvSpPr>
          <p:cNvPr id="15" name="文本框 14">
            <a:extLst>
              <a:ext uri="{FF2B5EF4-FFF2-40B4-BE49-F238E27FC236}">
                <a16:creationId xmlns:a16="http://schemas.microsoft.com/office/drawing/2014/main" id="{7D5BEAF6-2ED0-986E-935A-090560F03DE3}"/>
              </a:ext>
            </a:extLst>
          </p:cNvPr>
          <p:cNvSpPr txBox="1"/>
          <p:nvPr/>
        </p:nvSpPr>
        <p:spPr>
          <a:xfrm>
            <a:off x="1475062" y="5063870"/>
            <a:ext cx="2031325" cy="369332"/>
          </a:xfrm>
          <a:prstGeom prst="rect">
            <a:avLst/>
          </a:prstGeom>
          <a:solidFill>
            <a:schemeClr val="accent3">
              <a:lumMod val="20000"/>
              <a:lumOff val="80000"/>
            </a:schemeClr>
          </a:solidFill>
        </p:spPr>
        <p:txBody>
          <a:bodyPr wrap="none" rtlCol="0">
            <a:spAutoFit/>
          </a:bodyPr>
          <a:lstStyle/>
          <a:p>
            <a:r>
              <a:rPr lang="zh-CN" altLang="en-US" b="1" dirty="0">
                <a:solidFill>
                  <a:srgbClr val="231EF2"/>
                </a:solidFill>
              </a:rPr>
              <a:t>分压、偏流的调整</a:t>
            </a:r>
          </a:p>
        </p:txBody>
      </p:sp>
      <p:sp>
        <p:nvSpPr>
          <p:cNvPr id="16" name="文本框 15">
            <a:extLst>
              <a:ext uri="{FF2B5EF4-FFF2-40B4-BE49-F238E27FC236}">
                <a16:creationId xmlns:a16="http://schemas.microsoft.com/office/drawing/2014/main" id="{E8521C4B-9917-15EC-EE81-D7859C241803}"/>
              </a:ext>
            </a:extLst>
          </p:cNvPr>
          <p:cNvSpPr txBox="1"/>
          <p:nvPr/>
        </p:nvSpPr>
        <p:spPr>
          <a:xfrm>
            <a:off x="6406749" y="4740705"/>
            <a:ext cx="2109362" cy="646331"/>
          </a:xfrm>
          <a:prstGeom prst="rect">
            <a:avLst/>
          </a:prstGeom>
          <a:solidFill>
            <a:srgbClr val="FFC000"/>
          </a:solidFill>
        </p:spPr>
        <p:txBody>
          <a:bodyPr wrap="square" rtlCol="0">
            <a:spAutoFit/>
          </a:bodyPr>
          <a:lstStyle/>
          <a:p>
            <a:r>
              <a:rPr lang="zh-CN" altLang="en-US" b="1" dirty="0">
                <a:solidFill>
                  <a:schemeClr val="accent4">
                    <a:lumMod val="50000"/>
                  </a:schemeClr>
                </a:solidFill>
              </a:rPr>
              <a:t>音调控制和黑白电视机对比度调整</a:t>
            </a:r>
          </a:p>
        </p:txBody>
      </p:sp>
      <p:sp>
        <p:nvSpPr>
          <p:cNvPr id="17" name="文本框 16">
            <a:extLst>
              <a:ext uri="{FF2B5EF4-FFF2-40B4-BE49-F238E27FC236}">
                <a16:creationId xmlns:a16="http://schemas.microsoft.com/office/drawing/2014/main" id="{5CAB21F7-89FC-7E53-7D7E-29C6988F16DB}"/>
              </a:ext>
            </a:extLst>
          </p:cNvPr>
          <p:cNvSpPr txBox="1"/>
          <p:nvPr/>
        </p:nvSpPr>
        <p:spPr>
          <a:xfrm>
            <a:off x="5795989" y="6228261"/>
            <a:ext cx="1800493" cy="369332"/>
          </a:xfrm>
          <a:prstGeom prst="rect">
            <a:avLst/>
          </a:prstGeom>
          <a:solidFill>
            <a:srgbClr val="92D050"/>
          </a:solidFill>
        </p:spPr>
        <p:txBody>
          <a:bodyPr wrap="none" rtlCol="0">
            <a:spAutoFit/>
          </a:bodyPr>
          <a:lstStyle/>
          <a:p>
            <a:r>
              <a:rPr lang="zh-CN" altLang="en-US" b="1" dirty="0">
                <a:solidFill>
                  <a:srgbClr val="C00000"/>
                </a:solidFill>
              </a:rPr>
              <a:t>适用于音量控制</a:t>
            </a:r>
            <a:endParaRPr lang="en-US" altLang="zh-CN" b="1" dirty="0">
              <a:solidFill>
                <a:srgbClr val="C00000"/>
              </a:solidFill>
            </a:endParaRPr>
          </a:p>
        </p:txBody>
      </p:sp>
      <p:cxnSp>
        <p:nvCxnSpPr>
          <p:cNvPr id="19" name="直接箭头连接符 18">
            <a:extLst>
              <a:ext uri="{FF2B5EF4-FFF2-40B4-BE49-F238E27FC236}">
                <a16:creationId xmlns:a16="http://schemas.microsoft.com/office/drawing/2014/main" id="{DFACD7C5-1DFB-E8CA-AC0F-51CB6CEEAB00}"/>
              </a:ext>
            </a:extLst>
          </p:cNvPr>
          <p:cNvCxnSpPr>
            <a:cxnSpLocks/>
            <a:stCxn id="15" idx="3"/>
          </p:cNvCxnSpPr>
          <p:nvPr/>
        </p:nvCxnSpPr>
        <p:spPr>
          <a:xfrm>
            <a:off x="3506387" y="5248536"/>
            <a:ext cx="1425653" cy="36899"/>
          </a:xfrm>
          <a:prstGeom prst="straightConnector1">
            <a:avLst/>
          </a:prstGeom>
          <a:ln w="38100">
            <a:solidFill>
              <a:srgbClr val="231EF2"/>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a:extLst>
              <a:ext uri="{FF2B5EF4-FFF2-40B4-BE49-F238E27FC236}">
                <a16:creationId xmlns:a16="http://schemas.microsoft.com/office/drawing/2014/main" id="{19B67CD1-A3CF-84CA-913D-42F67048E353}"/>
              </a:ext>
            </a:extLst>
          </p:cNvPr>
          <p:cNvCxnSpPr>
            <a:cxnSpLocks/>
            <a:stCxn id="16" idx="1"/>
          </p:cNvCxnSpPr>
          <p:nvPr/>
        </p:nvCxnSpPr>
        <p:spPr>
          <a:xfrm flipH="1" flipV="1">
            <a:off x="4788024" y="4740705"/>
            <a:ext cx="1618725" cy="323166"/>
          </a:xfrm>
          <a:prstGeom prst="straightConnector1">
            <a:avLst/>
          </a:prstGeom>
          <a:ln w="38100">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a:extLst>
              <a:ext uri="{FF2B5EF4-FFF2-40B4-BE49-F238E27FC236}">
                <a16:creationId xmlns:a16="http://schemas.microsoft.com/office/drawing/2014/main" id="{6607697E-C909-4C62-FC65-4D08B7FE90F4}"/>
              </a:ext>
            </a:extLst>
          </p:cNvPr>
          <p:cNvCxnSpPr>
            <a:cxnSpLocks/>
            <a:stCxn id="17" idx="0"/>
          </p:cNvCxnSpPr>
          <p:nvPr/>
        </p:nvCxnSpPr>
        <p:spPr>
          <a:xfrm flipH="1" flipV="1">
            <a:off x="5332415" y="5195553"/>
            <a:ext cx="1363821" cy="103270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778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anim calcmode="lin" valueType="num">
                                      <p:cBhvr additive="base">
                                        <p:cTn id="13" dur="500" fill="hold"/>
                                        <p:tgtEl>
                                          <p:spTgt spid="15"/>
                                        </p:tgtEl>
                                        <p:attrNameLst>
                                          <p:attrName>ppt_x</p:attrName>
                                        </p:attrNameLst>
                                      </p:cBhvr>
                                      <p:tavLst>
                                        <p:tav tm="0">
                                          <p:val>
                                            <p:strVal val="#ppt_x"/>
                                          </p:val>
                                        </p:tav>
                                        <p:tav tm="100000">
                                          <p:val>
                                            <p:strVal val="#ppt_x"/>
                                          </p:val>
                                        </p:tav>
                                      </p:tavLst>
                                    </p:anim>
                                    <p:anim calcmode="lin" valueType="num">
                                      <p:cBhvr additive="base">
                                        <p:cTn id="14" dur="500" fill="hold"/>
                                        <p:tgtEl>
                                          <p:spTgt spid="15"/>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anim calcmode="lin" valueType="num">
                                      <p:cBhvr additive="base">
                                        <p:cTn id="17" dur="500" fill="hold"/>
                                        <p:tgtEl>
                                          <p:spTgt spid="16"/>
                                        </p:tgtEl>
                                        <p:attrNameLst>
                                          <p:attrName>ppt_x</p:attrName>
                                        </p:attrNameLst>
                                      </p:cBhvr>
                                      <p:tavLst>
                                        <p:tav tm="0">
                                          <p:val>
                                            <p:strVal val="#ppt_x"/>
                                          </p:val>
                                        </p:tav>
                                        <p:tav tm="100000">
                                          <p:val>
                                            <p:strVal val="#ppt_x"/>
                                          </p:val>
                                        </p:tav>
                                      </p:tavLst>
                                    </p:anim>
                                    <p:anim calcmode="lin" valueType="num">
                                      <p:cBhvr additive="base">
                                        <p:cTn id="18" dur="500" fill="hold"/>
                                        <p:tgtEl>
                                          <p:spTgt spid="16"/>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anim calcmode="lin" valueType="num">
                                      <p:cBhvr additive="base">
                                        <p:cTn id="21" dur="500" fill="hold"/>
                                        <p:tgtEl>
                                          <p:spTgt spid="17"/>
                                        </p:tgtEl>
                                        <p:attrNameLst>
                                          <p:attrName>ppt_x</p:attrName>
                                        </p:attrNameLst>
                                      </p:cBhvr>
                                      <p:tavLst>
                                        <p:tav tm="0">
                                          <p:val>
                                            <p:strVal val="#ppt_x"/>
                                          </p:val>
                                        </p:tav>
                                        <p:tav tm="100000">
                                          <p:val>
                                            <p:strVal val="#ppt_x"/>
                                          </p:val>
                                        </p:tav>
                                      </p:tavLst>
                                    </p:anim>
                                    <p:anim calcmode="lin" valueType="num">
                                      <p:cBhvr additive="base">
                                        <p:cTn id="22" dur="500" fill="hold"/>
                                        <p:tgtEl>
                                          <p:spTgt spid="17"/>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19"/>
                                        </p:tgtEl>
                                        <p:attrNameLst>
                                          <p:attrName>style.visibility</p:attrName>
                                        </p:attrNameLst>
                                      </p:cBhvr>
                                      <p:to>
                                        <p:strVal val="visible"/>
                                      </p:to>
                                    </p:set>
                                    <p:anim calcmode="lin" valueType="num">
                                      <p:cBhvr additive="base">
                                        <p:cTn id="25" dur="500" fill="hold"/>
                                        <p:tgtEl>
                                          <p:spTgt spid="19"/>
                                        </p:tgtEl>
                                        <p:attrNameLst>
                                          <p:attrName>ppt_x</p:attrName>
                                        </p:attrNameLst>
                                      </p:cBhvr>
                                      <p:tavLst>
                                        <p:tav tm="0">
                                          <p:val>
                                            <p:strVal val="#ppt_x"/>
                                          </p:val>
                                        </p:tav>
                                        <p:tav tm="100000">
                                          <p:val>
                                            <p:strVal val="#ppt_x"/>
                                          </p:val>
                                        </p:tav>
                                      </p:tavLst>
                                    </p:anim>
                                    <p:anim calcmode="lin" valueType="num">
                                      <p:cBhvr additive="base">
                                        <p:cTn id="26" dur="500" fill="hold"/>
                                        <p:tgtEl>
                                          <p:spTgt spid="19"/>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22"/>
                                        </p:tgtEl>
                                        <p:attrNameLst>
                                          <p:attrName>style.visibility</p:attrName>
                                        </p:attrNameLst>
                                      </p:cBhvr>
                                      <p:to>
                                        <p:strVal val="visible"/>
                                      </p:to>
                                    </p:set>
                                    <p:anim calcmode="lin" valueType="num">
                                      <p:cBhvr additive="base">
                                        <p:cTn id="29" dur="500" fill="hold"/>
                                        <p:tgtEl>
                                          <p:spTgt spid="22"/>
                                        </p:tgtEl>
                                        <p:attrNameLst>
                                          <p:attrName>ppt_x</p:attrName>
                                        </p:attrNameLst>
                                      </p:cBhvr>
                                      <p:tavLst>
                                        <p:tav tm="0">
                                          <p:val>
                                            <p:strVal val="#ppt_x"/>
                                          </p:val>
                                        </p:tav>
                                        <p:tav tm="100000">
                                          <p:val>
                                            <p:strVal val="#ppt_x"/>
                                          </p:val>
                                        </p:tav>
                                      </p:tavLst>
                                    </p:anim>
                                    <p:anim calcmode="lin" valueType="num">
                                      <p:cBhvr additive="base">
                                        <p:cTn id="30" dur="500" fill="hold"/>
                                        <p:tgtEl>
                                          <p:spTgt spid="22"/>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24"/>
                                        </p:tgtEl>
                                        <p:attrNameLst>
                                          <p:attrName>style.visibility</p:attrName>
                                        </p:attrNameLst>
                                      </p:cBhvr>
                                      <p:to>
                                        <p:strVal val="visible"/>
                                      </p:to>
                                    </p:set>
                                    <p:anim calcmode="lin" valueType="num">
                                      <p:cBhvr additive="base">
                                        <p:cTn id="33" dur="500" fill="hold"/>
                                        <p:tgtEl>
                                          <p:spTgt spid="24"/>
                                        </p:tgtEl>
                                        <p:attrNameLst>
                                          <p:attrName>ppt_x</p:attrName>
                                        </p:attrNameLst>
                                      </p:cBhvr>
                                      <p:tavLst>
                                        <p:tav tm="0">
                                          <p:val>
                                            <p:strVal val="#ppt_x"/>
                                          </p:val>
                                        </p:tav>
                                        <p:tav tm="100000">
                                          <p:val>
                                            <p:strVal val="#ppt_x"/>
                                          </p:val>
                                        </p:tav>
                                      </p:tavLst>
                                    </p:anim>
                                    <p:anim calcmode="lin" valueType="num">
                                      <p:cBhvr additive="base">
                                        <p:cTn id="34"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111191F-71BB-C502-63ED-6FC380880A10}"/>
              </a:ext>
            </a:extLst>
          </p:cNvPr>
          <p:cNvSpPr>
            <a:spLocks noGrp="1"/>
          </p:cNvSpPr>
          <p:nvPr>
            <p:ph type="title"/>
          </p:nvPr>
        </p:nvSpPr>
        <p:spPr>
          <a:xfrm>
            <a:off x="1118035" y="859132"/>
            <a:ext cx="6571343" cy="600619"/>
          </a:xfrm>
        </p:spPr>
        <p:txBody>
          <a:bodyPr vert="horz" lIns="91440" tIns="91440" rIns="91440" bIns="91440" rtlCol="0">
            <a:normAutofit fontScale="90000"/>
          </a:bodyPr>
          <a:lstStyle/>
          <a:p>
            <a:pPr>
              <a:spcBef>
                <a:spcPts val="1000"/>
              </a:spcBef>
              <a:buClr>
                <a:schemeClr val="tx1"/>
              </a:buClr>
              <a:buSzPct val="100000"/>
              <a:buFont typeface="Arial" panose="020B0604020202020204" pitchFamily="34" charset="0"/>
            </a:pPr>
            <a:r>
              <a:rPr lang="zh-CN" altLang="en-US" sz="4000" b="1" dirty="0">
                <a:latin typeface="华文行楷" pitchFamily="2" charset="-122"/>
                <a:ea typeface="华文行楷" pitchFamily="2" charset="-122"/>
                <a:cs typeface="+mn-cs"/>
              </a:rPr>
              <a:t>电位器参数及规格标注方法</a:t>
            </a:r>
          </a:p>
        </p:txBody>
      </p:sp>
      <p:sp>
        <p:nvSpPr>
          <p:cNvPr id="3" name="内容占位符 2">
            <a:extLst>
              <a:ext uri="{FF2B5EF4-FFF2-40B4-BE49-F238E27FC236}">
                <a16:creationId xmlns:a16="http://schemas.microsoft.com/office/drawing/2014/main" id="{447AA5C9-B42F-81F8-3B39-E615BA2A6D31}"/>
              </a:ext>
            </a:extLst>
          </p:cNvPr>
          <p:cNvSpPr>
            <a:spLocks noGrp="1"/>
          </p:cNvSpPr>
          <p:nvPr>
            <p:ph idx="1"/>
          </p:nvPr>
        </p:nvSpPr>
        <p:spPr>
          <a:xfrm>
            <a:off x="1118035" y="1340768"/>
            <a:ext cx="6571343" cy="4752528"/>
          </a:xfrm>
        </p:spPr>
        <p:txBody>
          <a:bodyPr>
            <a:normAutofit fontScale="92500" lnSpcReduction="10000"/>
          </a:bodyPr>
          <a:lstStyle/>
          <a:p>
            <a:r>
              <a:rPr lang="zh-CN" altLang="en-US" sz="2200" dirty="0">
                <a:solidFill>
                  <a:schemeClr val="accent1"/>
                </a:solidFill>
                <a:latin typeface="黑体" panose="02010609060101010101" pitchFamily="49" charset="-122"/>
                <a:ea typeface="黑体" panose="02010609060101010101" pitchFamily="49" charset="-122"/>
              </a:rPr>
              <a:t>标称阻值</a:t>
            </a:r>
            <a:endParaRPr lang="en-US" altLang="zh-CN" sz="2200" dirty="0">
              <a:solidFill>
                <a:schemeClr val="accent1"/>
              </a:solidFill>
              <a:latin typeface="黑体" panose="02010609060101010101" pitchFamily="49" charset="-122"/>
              <a:ea typeface="黑体" panose="02010609060101010101" pitchFamily="49" charset="-122"/>
            </a:endParaRPr>
          </a:p>
          <a:p>
            <a:pPr marL="0" indent="0">
              <a:buNone/>
            </a:pPr>
            <a:r>
              <a:rPr lang="zh-CN" altLang="en-US" dirty="0">
                <a:latin typeface="黑体" panose="02010609060101010101" pitchFamily="49" charset="-122"/>
                <a:ea typeface="黑体" panose="02010609060101010101" pitchFamily="49" charset="-122"/>
              </a:rPr>
              <a:t>    标注在电位器产品上的名义阻值，其系列与电阻器的组织标称系列相同。允许误差范围</a:t>
            </a:r>
            <a:r>
              <a:rPr lang="en-US" altLang="zh-CN" dirty="0">
                <a:latin typeface="黑体" panose="02010609060101010101" pitchFamily="49" charset="-122"/>
                <a:ea typeface="黑体" panose="02010609060101010101" pitchFamily="49" charset="-122"/>
              </a:rPr>
              <a:t>±20%</a:t>
            </a:r>
            <a:r>
              <a:rPr lang="zh-CN" altLang="en-US" dirty="0">
                <a:latin typeface="黑体" panose="02010609060101010101" pitchFamily="49" charset="-122"/>
                <a:ea typeface="黑体" panose="02010609060101010101" pitchFamily="49" charset="-122"/>
              </a:rPr>
              <a:t>、</a:t>
            </a:r>
            <a:r>
              <a:rPr lang="en-US" altLang="zh-CN" dirty="0">
                <a:latin typeface="黑体" panose="02010609060101010101" pitchFamily="49" charset="-122"/>
                <a:ea typeface="黑体" panose="02010609060101010101" pitchFamily="49" charset="-122"/>
              </a:rPr>
              <a:t>±10%</a:t>
            </a:r>
            <a:r>
              <a:rPr lang="zh-CN" altLang="en-US" dirty="0">
                <a:latin typeface="黑体" panose="02010609060101010101" pitchFamily="49" charset="-122"/>
                <a:ea typeface="黑体" panose="02010609060101010101" pitchFamily="49" charset="-122"/>
              </a:rPr>
              <a:t>、</a:t>
            </a:r>
            <a:r>
              <a:rPr lang="en-US" altLang="zh-CN" dirty="0">
                <a:latin typeface="黑体" panose="02010609060101010101" pitchFamily="49" charset="-122"/>
                <a:ea typeface="黑体" panose="02010609060101010101" pitchFamily="49" charset="-122"/>
              </a:rPr>
              <a:t>±5%</a:t>
            </a:r>
            <a:r>
              <a:rPr lang="zh-CN" altLang="en-US" dirty="0">
                <a:latin typeface="黑体" panose="02010609060101010101" pitchFamily="49" charset="-122"/>
                <a:ea typeface="黑体" panose="02010609060101010101" pitchFamily="49" charset="-122"/>
              </a:rPr>
              <a:t>、</a:t>
            </a:r>
            <a:r>
              <a:rPr lang="en-US" altLang="zh-CN" dirty="0">
                <a:latin typeface="黑体" panose="02010609060101010101" pitchFamily="49" charset="-122"/>
                <a:ea typeface="黑体" panose="02010609060101010101" pitchFamily="49" charset="-122"/>
              </a:rPr>
              <a:t>±2%</a:t>
            </a:r>
            <a:r>
              <a:rPr lang="zh-CN" altLang="en-US" dirty="0">
                <a:latin typeface="黑体" panose="02010609060101010101" pitchFamily="49" charset="-122"/>
                <a:ea typeface="黑体" panose="02010609060101010101" pitchFamily="49" charset="-122"/>
              </a:rPr>
              <a:t>、</a:t>
            </a:r>
            <a:endParaRPr lang="en-US" altLang="zh-CN" dirty="0">
              <a:latin typeface="黑体" panose="02010609060101010101" pitchFamily="49" charset="-122"/>
              <a:ea typeface="黑体" panose="02010609060101010101" pitchFamily="49" charset="-122"/>
            </a:endParaRPr>
          </a:p>
          <a:p>
            <a:pPr marL="0" indent="0">
              <a:buNone/>
            </a:pPr>
            <a:r>
              <a:rPr lang="en-US" altLang="zh-CN" dirty="0">
                <a:latin typeface="黑体" panose="02010609060101010101" pitchFamily="49" charset="-122"/>
                <a:ea typeface="黑体" panose="02010609060101010101" pitchFamily="49" charset="-122"/>
              </a:rPr>
              <a:t>±1%</a:t>
            </a:r>
            <a:r>
              <a:rPr lang="zh-CN" altLang="en-US" dirty="0">
                <a:latin typeface="黑体" panose="02010609060101010101" pitchFamily="49" charset="-122"/>
                <a:ea typeface="黑体" panose="02010609060101010101" pitchFamily="49" charset="-122"/>
              </a:rPr>
              <a:t>，精密度电位器的允许误差可达到</a:t>
            </a:r>
            <a:r>
              <a:rPr lang="en-US" altLang="zh-CN" dirty="0">
                <a:latin typeface="黑体" panose="02010609060101010101" pitchFamily="49" charset="-122"/>
                <a:ea typeface="黑体" panose="02010609060101010101" pitchFamily="49" charset="-122"/>
              </a:rPr>
              <a:t>±0.1%</a:t>
            </a:r>
            <a:r>
              <a:rPr lang="zh-CN" altLang="en-US" dirty="0">
                <a:latin typeface="黑体" panose="02010609060101010101" pitchFamily="49" charset="-122"/>
                <a:ea typeface="黑体" panose="02010609060101010101" pitchFamily="49" charset="-122"/>
              </a:rPr>
              <a:t>。</a:t>
            </a:r>
            <a:endParaRPr lang="en-US" altLang="zh-CN" dirty="0">
              <a:latin typeface="黑体" panose="02010609060101010101" pitchFamily="49" charset="-122"/>
              <a:ea typeface="黑体" panose="02010609060101010101" pitchFamily="49" charset="-122"/>
            </a:endParaRPr>
          </a:p>
          <a:p>
            <a:r>
              <a:rPr lang="zh-CN" altLang="en-US" sz="2200" dirty="0">
                <a:solidFill>
                  <a:schemeClr val="accent1"/>
                </a:solidFill>
                <a:latin typeface="黑体" panose="02010609060101010101" pitchFamily="49" charset="-122"/>
                <a:ea typeface="黑体" panose="02010609060101010101" pitchFamily="49" charset="-122"/>
              </a:rPr>
              <a:t>额定功率</a:t>
            </a:r>
            <a:endParaRPr lang="en-US" altLang="zh-CN" sz="2200" dirty="0">
              <a:solidFill>
                <a:schemeClr val="accent1"/>
              </a:solidFill>
              <a:latin typeface="黑体" panose="02010609060101010101" pitchFamily="49" charset="-122"/>
              <a:ea typeface="黑体" panose="02010609060101010101" pitchFamily="49" charset="-122"/>
            </a:endParaRPr>
          </a:p>
          <a:p>
            <a:pPr marL="0" indent="0">
              <a:buNone/>
            </a:pPr>
            <a:r>
              <a:rPr lang="zh-CN" altLang="en-US" dirty="0">
                <a:latin typeface="黑体" panose="02010609060101010101" pitchFamily="49" charset="-122"/>
                <a:ea typeface="黑体" panose="02010609060101010101" pitchFamily="49" charset="-122"/>
              </a:rPr>
              <a:t>    电位器的额定功率是指两个固定端之间允许耗散的最大功率，滑动头与固定端之间所承受功率要小于这个额定功率。</a:t>
            </a:r>
            <a:endParaRPr lang="en-US" altLang="zh-CN" dirty="0">
              <a:latin typeface="黑体" panose="02010609060101010101" pitchFamily="49" charset="-122"/>
              <a:ea typeface="黑体" panose="02010609060101010101" pitchFamily="49" charset="-122"/>
            </a:endParaRPr>
          </a:p>
          <a:p>
            <a:pPr marL="0" indent="0">
              <a:buNone/>
            </a:pPr>
            <a:endParaRPr lang="en-US" altLang="zh-CN" dirty="0">
              <a:latin typeface="黑体" panose="02010609060101010101" pitchFamily="49" charset="-122"/>
              <a:ea typeface="黑体" panose="02010609060101010101" pitchFamily="49" charset="-122"/>
            </a:endParaRPr>
          </a:p>
          <a:p>
            <a:pPr marL="0" indent="0">
              <a:buNone/>
            </a:pPr>
            <a:r>
              <a:rPr lang="zh-CN" altLang="en-US" dirty="0">
                <a:latin typeface="黑体" panose="02010609060101010101" pitchFamily="49" charset="-122"/>
                <a:ea typeface="黑体" panose="02010609060101010101" pitchFamily="49" charset="-122"/>
              </a:rPr>
              <a:t>   电位器一般都采用</a:t>
            </a:r>
            <a:r>
              <a:rPr lang="zh-CN" altLang="en-US" b="1" dirty="0">
                <a:solidFill>
                  <a:srgbClr val="C00000"/>
                </a:solidFill>
                <a:latin typeface="黑体" panose="02010609060101010101" pitchFamily="49" charset="-122"/>
                <a:ea typeface="黑体" panose="02010609060101010101" pitchFamily="49" charset="-122"/>
              </a:rPr>
              <a:t>直标法</a:t>
            </a:r>
            <a:r>
              <a:rPr lang="zh-CN" altLang="en-US" dirty="0">
                <a:latin typeface="黑体" panose="02010609060101010101" pitchFamily="49" charset="-122"/>
                <a:ea typeface="黑体" panose="02010609060101010101" pitchFamily="49" charset="-122"/>
              </a:rPr>
              <a:t>，其类型、</a:t>
            </a:r>
            <a:endParaRPr lang="en-US" altLang="zh-CN" dirty="0">
              <a:latin typeface="黑体" panose="02010609060101010101" pitchFamily="49" charset="-122"/>
              <a:ea typeface="黑体" panose="02010609060101010101" pitchFamily="49" charset="-122"/>
            </a:endParaRPr>
          </a:p>
          <a:p>
            <a:pPr marL="0" indent="0">
              <a:buNone/>
            </a:pPr>
            <a:r>
              <a:rPr lang="zh-CN" altLang="en-US" dirty="0">
                <a:latin typeface="黑体" panose="02010609060101010101" pitchFamily="49" charset="-122"/>
                <a:ea typeface="黑体" panose="02010609060101010101" pitchFamily="49" charset="-122"/>
              </a:rPr>
              <a:t>阻值、额定功率、误差都直接标注在</a:t>
            </a:r>
            <a:endParaRPr lang="en-US" altLang="zh-CN" dirty="0">
              <a:latin typeface="黑体" panose="02010609060101010101" pitchFamily="49" charset="-122"/>
              <a:ea typeface="黑体" panose="02010609060101010101" pitchFamily="49" charset="-122"/>
            </a:endParaRPr>
          </a:p>
          <a:p>
            <a:pPr marL="0" indent="0">
              <a:buNone/>
            </a:pPr>
            <a:r>
              <a:rPr lang="zh-CN" altLang="en-US" dirty="0">
                <a:latin typeface="黑体" panose="02010609060101010101" pitchFamily="49" charset="-122"/>
                <a:ea typeface="黑体" panose="02010609060101010101" pitchFamily="49" charset="-122"/>
              </a:rPr>
              <a:t>电位器上。如右侧符号所示：</a:t>
            </a:r>
          </a:p>
        </p:txBody>
      </p:sp>
      <p:sp>
        <p:nvSpPr>
          <p:cNvPr id="4" name="灯片编号占位符 3">
            <a:extLst>
              <a:ext uri="{FF2B5EF4-FFF2-40B4-BE49-F238E27FC236}">
                <a16:creationId xmlns:a16="http://schemas.microsoft.com/office/drawing/2014/main" id="{ED2FF3F0-7273-0947-9903-C0F7803B4475}"/>
              </a:ext>
            </a:extLst>
          </p:cNvPr>
          <p:cNvSpPr>
            <a:spLocks noGrp="1"/>
          </p:cNvSpPr>
          <p:nvPr>
            <p:ph type="sldNum" sz="quarter" idx="12"/>
          </p:nvPr>
        </p:nvSpPr>
        <p:spPr/>
        <p:txBody>
          <a:bodyPr/>
          <a:lstStyle/>
          <a:p>
            <a:pPr>
              <a:defRPr/>
            </a:pPr>
            <a:fld id="{5FAFB815-62BA-464E-901C-79D108092E38}" type="slidenum">
              <a:rPr lang="zh-CN" altLang="en-US" smtClean="0"/>
              <a:pPr>
                <a:defRPr/>
              </a:pPr>
              <a:t>37</a:t>
            </a:fld>
            <a:endParaRPr lang="en-US" altLang="zh-CN" dirty="0"/>
          </a:p>
        </p:txBody>
      </p:sp>
      <p:pic>
        <p:nvPicPr>
          <p:cNvPr id="6" name="图片 5">
            <a:extLst>
              <a:ext uri="{FF2B5EF4-FFF2-40B4-BE49-F238E27FC236}">
                <a16:creationId xmlns:a16="http://schemas.microsoft.com/office/drawing/2014/main" id="{9C6B529A-20AF-D2B9-7E1E-D4BE67FD0CE8}"/>
              </a:ext>
            </a:extLst>
          </p:cNvPr>
          <p:cNvPicPr>
            <a:picLocks noChangeAspect="1"/>
          </p:cNvPicPr>
          <p:nvPr/>
        </p:nvPicPr>
        <p:blipFill>
          <a:blip r:embed="rId2"/>
          <a:stretch>
            <a:fillRect/>
          </a:stretch>
        </p:blipFill>
        <p:spPr>
          <a:xfrm>
            <a:off x="5292080" y="4408685"/>
            <a:ext cx="2646636" cy="1638842"/>
          </a:xfrm>
          <a:prstGeom prst="rect">
            <a:avLst/>
          </a:prstGeom>
        </p:spPr>
      </p:pic>
    </p:spTree>
    <p:extLst>
      <p:ext uri="{BB962C8B-B14F-4D97-AF65-F5344CB8AC3E}">
        <p14:creationId xmlns:p14="http://schemas.microsoft.com/office/powerpoint/2010/main" val="169487788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08307A4-EA45-077A-CBE3-3443039BCBA6}"/>
              </a:ext>
            </a:extLst>
          </p:cNvPr>
          <p:cNvSpPr>
            <a:spLocks noGrp="1"/>
          </p:cNvSpPr>
          <p:nvPr>
            <p:ph type="title"/>
          </p:nvPr>
        </p:nvSpPr>
        <p:spPr>
          <a:xfrm>
            <a:off x="1128684" y="956173"/>
            <a:ext cx="6571343" cy="503578"/>
          </a:xfrm>
        </p:spPr>
        <p:txBody>
          <a:bodyPr vert="horz" lIns="91440" tIns="91440" rIns="91440" bIns="91440" rtlCol="0">
            <a:normAutofit fontScale="90000"/>
          </a:bodyPr>
          <a:lstStyle/>
          <a:p>
            <a:pPr>
              <a:spcBef>
                <a:spcPts val="1000"/>
              </a:spcBef>
              <a:buClr>
                <a:schemeClr val="tx1"/>
              </a:buClr>
              <a:buSzPct val="100000"/>
              <a:buFont typeface="Arial" panose="020B0604020202020204" pitchFamily="34" charset="0"/>
            </a:pPr>
            <a:r>
              <a:rPr lang="zh-CN" altLang="en-US" sz="4000" b="1" dirty="0">
                <a:latin typeface="华文行楷" pitchFamily="2" charset="-122"/>
                <a:ea typeface="华文行楷" pitchFamily="2" charset="-122"/>
                <a:cs typeface="+mn-cs"/>
              </a:rPr>
              <a:t>如何选择电位器</a:t>
            </a:r>
          </a:p>
        </p:txBody>
      </p:sp>
      <p:sp>
        <p:nvSpPr>
          <p:cNvPr id="3" name="内容占位符 2">
            <a:extLst>
              <a:ext uri="{FF2B5EF4-FFF2-40B4-BE49-F238E27FC236}">
                <a16:creationId xmlns:a16="http://schemas.microsoft.com/office/drawing/2014/main" id="{71801329-D4E1-FD92-078D-39A3D0B426E9}"/>
              </a:ext>
            </a:extLst>
          </p:cNvPr>
          <p:cNvSpPr>
            <a:spLocks noGrp="1"/>
          </p:cNvSpPr>
          <p:nvPr>
            <p:ph idx="1"/>
          </p:nvPr>
        </p:nvSpPr>
        <p:spPr/>
        <p:txBody>
          <a:bodyPr/>
          <a:lstStyle/>
          <a:p>
            <a:endParaRPr lang="zh-CN" altLang="en-US"/>
          </a:p>
        </p:txBody>
      </p:sp>
      <p:sp>
        <p:nvSpPr>
          <p:cNvPr id="4" name="灯片编号占位符 3">
            <a:extLst>
              <a:ext uri="{FF2B5EF4-FFF2-40B4-BE49-F238E27FC236}">
                <a16:creationId xmlns:a16="http://schemas.microsoft.com/office/drawing/2014/main" id="{620D8706-961B-9E5B-071F-84F77D79C48B}"/>
              </a:ext>
            </a:extLst>
          </p:cNvPr>
          <p:cNvSpPr>
            <a:spLocks noGrp="1"/>
          </p:cNvSpPr>
          <p:nvPr>
            <p:ph type="sldNum" sz="quarter" idx="12"/>
          </p:nvPr>
        </p:nvSpPr>
        <p:spPr/>
        <p:txBody>
          <a:bodyPr/>
          <a:lstStyle/>
          <a:p>
            <a:pPr>
              <a:defRPr/>
            </a:pPr>
            <a:fld id="{5FAFB815-62BA-464E-901C-79D108092E38}" type="slidenum">
              <a:rPr lang="zh-CN" altLang="en-US" smtClean="0"/>
              <a:pPr>
                <a:defRPr/>
              </a:pPr>
              <a:t>38</a:t>
            </a:fld>
            <a:endParaRPr lang="en-US" altLang="zh-CN"/>
          </a:p>
        </p:txBody>
      </p:sp>
      <p:pic>
        <p:nvPicPr>
          <p:cNvPr id="6" name="图片 5">
            <a:extLst>
              <a:ext uri="{FF2B5EF4-FFF2-40B4-BE49-F238E27FC236}">
                <a16:creationId xmlns:a16="http://schemas.microsoft.com/office/drawing/2014/main" id="{5C630404-B98F-C741-09DC-7C60C0363CA5}"/>
              </a:ext>
            </a:extLst>
          </p:cNvPr>
          <p:cNvPicPr>
            <a:picLocks noChangeAspect="1"/>
          </p:cNvPicPr>
          <p:nvPr/>
        </p:nvPicPr>
        <p:blipFill>
          <a:blip r:embed="rId2"/>
          <a:stretch>
            <a:fillRect/>
          </a:stretch>
        </p:blipFill>
        <p:spPr>
          <a:xfrm>
            <a:off x="736324" y="1943804"/>
            <a:ext cx="7278992" cy="3485280"/>
          </a:xfrm>
          <a:prstGeom prst="rect">
            <a:avLst/>
          </a:prstGeom>
        </p:spPr>
      </p:pic>
    </p:spTree>
    <p:extLst>
      <p:ext uri="{BB962C8B-B14F-4D97-AF65-F5344CB8AC3E}">
        <p14:creationId xmlns:p14="http://schemas.microsoft.com/office/powerpoint/2010/main" val="160859610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ctrTitle"/>
          </p:nvPr>
        </p:nvSpPr>
        <p:spPr>
          <a:xfrm>
            <a:off x="533400" y="1066800"/>
            <a:ext cx="5029200" cy="609600"/>
          </a:xfrm>
        </p:spPr>
        <p:txBody>
          <a:bodyPr>
            <a:normAutofit fontScale="90000"/>
          </a:bodyPr>
          <a:lstStyle/>
          <a:p>
            <a:br>
              <a:rPr lang="zh-CN" altLang="en-US">
                <a:ea typeface="华文行楷" pitchFamily="2" charset="-122"/>
              </a:rPr>
            </a:br>
            <a:endParaRPr lang="zh-CN" altLang="en-US">
              <a:ea typeface="华文行楷" pitchFamily="2" charset="-122"/>
            </a:endParaRPr>
          </a:p>
        </p:txBody>
      </p:sp>
      <p:sp>
        <p:nvSpPr>
          <p:cNvPr id="47107" name="Rectangle 3"/>
          <p:cNvSpPr>
            <a:spLocks noGrp="1" noChangeArrowheads="1"/>
          </p:cNvSpPr>
          <p:nvPr>
            <p:ph type="subTitle" idx="1"/>
          </p:nvPr>
        </p:nvSpPr>
        <p:spPr>
          <a:xfrm>
            <a:off x="381000" y="838200"/>
            <a:ext cx="5415136" cy="685800"/>
          </a:xfrm>
        </p:spPr>
        <p:txBody>
          <a:bodyPr>
            <a:normAutofit fontScale="92500" lnSpcReduction="10000"/>
          </a:bodyPr>
          <a:lstStyle/>
          <a:p>
            <a:pPr algn="l">
              <a:lnSpc>
                <a:spcPct val="90000"/>
              </a:lnSpc>
              <a:buClr>
                <a:schemeClr val="tx1"/>
              </a:buClr>
            </a:pPr>
            <a:r>
              <a:rPr lang="zh-CN" altLang="en-US" sz="4000" b="1" dirty="0">
                <a:latin typeface="华文行楷" pitchFamily="2" charset="-122"/>
                <a:ea typeface="华文行楷" pitchFamily="2" charset="-122"/>
              </a:rPr>
              <a:t>电阻器件的选用原则</a:t>
            </a:r>
            <a:r>
              <a:rPr lang="zh-CN" altLang="en-US" sz="4000" b="1" dirty="0">
                <a:latin typeface="楷体_GB2312" pitchFamily="49" charset="-122"/>
                <a:ea typeface="楷体_GB2312" pitchFamily="49" charset="-122"/>
              </a:rPr>
              <a:t>：</a:t>
            </a:r>
          </a:p>
        </p:txBody>
      </p:sp>
      <p:sp>
        <p:nvSpPr>
          <p:cNvPr id="2" name="灯片编号占位符 1">
            <a:extLst>
              <a:ext uri="{FF2B5EF4-FFF2-40B4-BE49-F238E27FC236}">
                <a16:creationId xmlns:a16="http://schemas.microsoft.com/office/drawing/2014/main" id="{330FA2D3-3EE3-ABA3-4D4B-9566664C0BA7}"/>
              </a:ext>
            </a:extLst>
          </p:cNvPr>
          <p:cNvSpPr>
            <a:spLocks noGrp="1"/>
          </p:cNvSpPr>
          <p:nvPr>
            <p:ph type="sldNum" sz="quarter" idx="12"/>
          </p:nvPr>
        </p:nvSpPr>
        <p:spPr/>
        <p:txBody>
          <a:bodyPr/>
          <a:lstStyle/>
          <a:p>
            <a:pPr>
              <a:defRPr/>
            </a:pPr>
            <a:fld id="{47A4CA45-135E-4AE6-A55B-F30C83FDB90E}" type="slidenum">
              <a:rPr lang="zh-CN" altLang="en-US" smtClean="0"/>
              <a:pPr>
                <a:defRPr/>
              </a:pPr>
              <a:t>39</a:t>
            </a:fld>
            <a:endParaRPr lang="en-US" altLang="zh-CN"/>
          </a:p>
        </p:txBody>
      </p:sp>
      <p:sp>
        <p:nvSpPr>
          <p:cNvPr id="47108" name="Rectangle 4"/>
          <p:cNvSpPr>
            <a:spLocks noChangeArrowheads="1"/>
          </p:cNvSpPr>
          <p:nvPr/>
        </p:nvSpPr>
        <p:spPr bwMode="auto">
          <a:xfrm>
            <a:off x="1052360" y="1470112"/>
            <a:ext cx="8077200" cy="4984576"/>
          </a:xfrm>
          <a:prstGeom prst="rect">
            <a:avLst/>
          </a:prstGeom>
          <a:noFill/>
          <a:ln w="9525">
            <a:noFill/>
            <a:miter lim="800000"/>
            <a:headEnd/>
            <a:tailEnd/>
          </a:ln>
          <a:effectLst/>
        </p:spPr>
        <p:txBody>
          <a:bodyPr/>
          <a:lstStyle/>
          <a:p>
            <a:pPr lvl="1">
              <a:spcBef>
                <a:spcPct val="20000"/>
              </a:spcBef>
              <a:buFontTx/>
              <a:buBlip>
                <a:blip r:embed="rId2"/>
              </a:buBlip>
            </a:pPr>
            <a:r>
              <a:rPr lang="zh-CN" sz="2800" dirty="0">
                <a:effectLst>
                  <a:outerShdw blurRad="38100" dist="38100" dir="2700000" algn="tl">
                    <a:srgbClr val="000000"/>
                  </a:outerShdw>
                </a:effectLst>
                <a:latin typeface="MingLiU" pitchFamily="49" charset="-120"/>
                <a:ea typeface="楷体_GB2312" pitchFamily="49" charset="-122"/>
              </a:rPr>
              <a:t>阻值符合电路的要求</a:t>
            </a:r>
          </a:p>
          <a:p>
            <a:pPr lvl="1">
              <a:spcBef>
                <a:spcPct val="20000"/>
              </a:spcBef>
              <a:buFontTx/>
              <a:buBlip>
                <a:blip r:embed="rId2"/>
              </a:buBlip>
            </a:pPr>
            <a:endParaRPr lang="zh-CN" sz="2800" dirty="0">
              <a:effectLst>
                <a:outerShdw blurRad="38100" dist="38100" dir="2700000" algn="tl">
                  <a:srgbClr val="000000"/>
                </a:outerShdw>
              </a:effectLst>
              <a:latin typeface="MingLiU" pitchFamily="49" charset="-120"/>
              <a:ea typeface="楷体_GB2312" pitchFamily="49" charset="-122"/>
            </a:endParaRPr>
          </a:p>
          <a:p>
            <a:pPr lvl="1">
              <a:spcBef>
                <a:spcPct val="20000"/>
              </a:spcBef>
              <a:buFontTx/>
              <a:buBlip>
                <a:blip r:embed="rId2"/>
              </a:buBlip>
            </a:pPr>
            <a:r>
              <a:rPr lang="zh-CN" sz="2800" dirty="0">
                <a:effectLst>
                  <a:outerShdw blurRad="38100" dist="38100" dir="2700000" algn="tl">
                    <a:srgbClr val="000000"/>
                  </a:outerShdw>
                </a:effectLst>
                <a:latin typeface="MingLiU" pitchFamily="49" charset="-120"/>
                <a:ea typeface="楷体_GB2312" pitchFamily="49" charset="-122"/>
              </a:rPr>
              <a:t>容许误差在电路的设计范围内</a:t>
            </a:r>
          </a:p>
          <a:p>
            <a:pPr lvl="1">
              <a:spcBef>
                <a:spcPct val="20000"/>
              </a:spcBef>
              <a:buFontTx/>
              <a:buBlip>
                <a:blip r:embed="rId2"/>
              </a:buBlip>
            </a:pPr>
            <a:endParaRPr lang="zh-CN" sz="2800" dirty="0">
              <a:effectLst>
                <a:outerShdw blurRad="38100" dist="38100" dir="2700000" algn="tl">
                  <a:srgbClr val="000000"/>
                </a:outerShdw>
              </a:effectLst>
              <a:latin typeface="MingLiU" pitchFamily="49" charset="-120"/>
              <a:ea typeface="楷体_GB2312" pitchFamily="49" charset="-122"/>
            </a:endParaRPr>
          </a:p>
          <a:p>
            <a:pPr lvl="1">
              <a:spcBef>
                <a:spcPct val="20000"/>
              </a:spcBef>
              <a:buFontTx/>
              <a:buBlip>
                <a:blip r:embed="rId2"/>
              </a:buBlip>
            </a:pPr>
            <a:r>
              <a:rPr lang="zh-CN" sz="2800" dirty="0">
                <a:effectLst>
                  <a:outerShdw blurRad="38100" dist="38100" dir="2700000" algn="tl">
                    <a:srgbClr val="000000"/>
                  </a:outerShdw>
                </a:effectLst>
                <a:latin typeface="MingLiU" pitchFamily="49" charset="-120"/>
                <a:ea typeface="楷体_GB2312" pitchFamily="49" charset="-122"/>
              </a:rPr>
              <a:t>功率满足电路的要求</a:t>
            </a:r>
          </a:p>
          <a:p>
            <a:pPr lvl="1">
              <a:spcBef>
                <a:spcPct val="20000"/>
              </a:spcBef>
              <a:buFontTx/>
              <a:buBlip>
                <a:blip r:embed="rId2"/>
              </a:buBlip>
            </a:pPr>
            <a:endParaRPr lang="zh-CN" sz="2800" dirty="0">
              <a:effectLst>
                <a:outerShdw blurRad="38100" dist="38100" dir="2700000" algn="tl">
                  <a:srgbClr val="000000"/>
                </a:outerShdw>
              </a:effectLst>
              <a:latin typeface="MingLiU" pitchFamily="49" charset="-120"/>
              <a:ea typeface="楷体_GB2312" pitchFamily="49" charset="-122"/>
            </a:endParaRPr>
          </a:p>
          <a:p>
            <a:pPr lvl="1">
              <a:spcBef>
                <a:spcPct val="20000"/>
              </a:spcBef>
              <a:buFontTx/>
              <a:buBlip>
                <a:blip r:embed="rId2"/>
              </a:buBlip>
            </a:pPr>
            <a:r>
              <a:rPr lang="zh-CN" sz="2800" dirty="0">
                <a:effectLst>
                  <a:outerShdw blurRad="38100" dist="38100" dir="2700000" algn="tl">
                    <a:srgbClr val="000000"/>
                  </a:outerShdw>
                </a:effectLst>
                <a:latin typeface="MingLiU" pitchFamily="49" charset="-120"/>
                <a:ea typeface="楷体_GB2312" pitchFamily="49" charset="-122"/>
              </a:rPr>
              <a:t>体积符合使用的线路板的要求</a:t>
            </a:r>
            <a:endParaRPr lang="en-US" altLang="zh-CN" sz="2800" dirty="0">
              <a:effectLst>
                <a:outerShdw blurRad="38100" dist="38100" dir="2700000" algn="tl">
                  <a:srgbClr val="000000"/>
                </a:outerShdw>
              </a:effectLst>
              <a:latin typeface="MingLiU" pitchFamily="49" charset="-120"/>
              <a:ea typeface="楷体_GB2312" pitchFamily="49" charset="-122"/>
            </a:endParaRPr>
          </a:p>
          <a:p>
            <a:pPr lvl="1">
              <a:spcBef>
                <a:spcPct val="20000"/>
              </a:spcBef>
              <a:buFontTx/>
              <a:buBlip>
                <a:blip r:embed="rId2"/>
              </a:buBlip>
            </a:pPr>
            <a:endParaRPr lang="en-US" altLang="zh-CN" sz="2800" dirty="0">
              <a:effectLst>
                <a:outerShdw blurRad="38100" dist="38100" dir="2700000" algn="tl">
                  <a:srgbClr val="000000"/>
                </a:outerShdw>
              </a:effectLst>
              <a:latin typeface="MingLiU" pitchFamily="49" charset="-120"/>
              <a:ea typeface="楷体_GB2312" pitchFamily="49" charset="-122"/>
            </a:endParaRPr>
          </a:p>
          <a:p>
            <a:pPr lvl="1">
              <a:spcBef>
                <a:spcPct val="20000"/>
              </a:spcBef>
              <a:buFontTx/>
              <a:buBlip>
                <a:blip r:embed="rId2"/>
              </a:buBlip>
            </a:pPr>
            <a:r>
              <a:rPr lang="zh-CN" altLang="en-US" sz="2800" dirty="0">
                <a:effectLst>
                  <a:outerShdw blurRad="38100" dist="38100" dir="2700000" algn="tl">
                    <a:srgbClr val="000000"/>
                  </a:outerShdw>
                </a:effectLst>
                <a:latin typeface="MingLiU" pitchFamily="49" charset="-120"/>
                <a:ea typeface="楷体_GB2312" pitchFamily="49" charset="-122"/>
              </a:rPr>
              <a:t>考虑其耐热性、最高工作电压等</a:t>
            </a:r>
            <a:endParaRPr lang="zh-CN" sz="2800" dirty="0">
              <a:effectLst>
                <a:outerShdw blurRad="38100" dist="38100" dir="2700000" algn="tl">
                  <a:srgbClr val="000000"/>
                </a:outerShdw>
              </a:effectLst>
              <a:latin typeface="MingLiU" pitchFamily="49" charset="-120"/>
              <a:ea typeface="楷体_GB2312" pitchFamily="49" charset="-122"/>
            </a:endParaRPr>
          </a:p>
          <a:p>
            <a:pPr lvl="1">
              <a:spcBef>
                <a:spcPct val="20000"/>
              </a:spcBef>
            </a:pPr>
            <a:endParaRPr lang="en-US" altLang="zh-TW" sz="2800" dirty="0">
              <a:solidFill>
                <a:srgbClr val="008000"/>
              </a:solidFill>
              <a:effectLst>
                <a:outerShdw blurRad="38100" dist="38100" dir="2700000" algn="tl">
                  <a:srgbClr val="000000"/>
                </a:outerShdw>
              </a:effectLst>
              <a:latin typeface="楷体_GB2312" pitchFamily="49" charset="-122"/>
              <a:ea typeface="楷体_GB2312" pitchFamily="49" charset="-122"/>
            </a:endParaRPr>
          </a:p>
          <a:p>
            <a:pPr lvl="1">
              <a:spcBef>
                <a:spcPct val="20000"/>
              </a:spcBef>
            </a:pPr>
            <a:endParaRPr lang="zh-TW" sz="2800" dirty="0">
              <a:solidFill>
                <a:srgbClr val="008000"/>
              </a:solidFill>
              <a:effectLst>
                <a:outerShdw blurRad="38100" dist="38100" dir="2700000" algn="tl">
                  <a:srgbClr val="000000"/>
                </a:outerShdw>
              </a:effectLst>
              <a:latin typeface="楷体_GB2312" pitchFamily="49" charset="-122"/>
              <a:ea typeface="楷体_GB2312" pitchFamily="49" charset="-122"/>
            </a:endParaRPr>
          </a:p>
        </p:txBody>
      </p:sp>
      <p:sp>
        <p:nvSpPr>
          <p:cNvPr id="47109" name="Rectangle 5"/>
          <p:cNvSpPr>
            <a:spLocks noChangeArrowheads="1"/>
          </p:cNvSpPr>
          <p:nvPr/>
        </p:nvSpPr>
        <p:spPr bwMode="auto">
          <a:xfrm>
            <a:off x="1143000" y="3962400"/>
            <a:ext cx="7620000" cy="914400"/>
          </a:xfrm>
          <a:prstGeom prst="rect">
            <a:avLst/>
          </a:prstGeom>
          <a:noFill/>
          <a:ln w="9525">
            <a:noFill/>
            <a:miter lim="800000"/>
            <a:headEnd/>
            <a:tailEnd/>
          </a:ln>
          <a:effectLst/>
        </p:spPr>
        <p:txBody>
          <a:bodyPr/>
          <a:lstStyle/>
          <a:p>
            <a:pPr>
              <a:spcBef>
                <a:spcPct val="20000"/>
              </a:spcBef>
              <a:buFont typeface="Wingdings" pitchFamily="2" charset="2"/>
              <a:buNone/>
            </a:pPr>
            <a:endParaRPr lang="zh-CN" altLang="en-US" sz="2000">
              <a:latin typeface="楷体_GB2312" pitchFamily="49" charset="-122"/>
              <a:ea typeface="楷体_GB2312" pitchFamily="49" charset="-122"/>
            </a:endParaRP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xfrm>
            <a:off x="0" y="1"/>
            <a:ext cx="2376264" cy="635308"/>
          </a:xfrm>
          <a:solidFill>
            <a:schemeClr val="bg1">
              <a:lumMod val="95000"/>
            </a:schemeClr>
          </a:solidFill>
        </p:spPr>
        <p:txBody>
          <a:bodyPr vert="horz" lIns="91440" tIns="45720" rIns="91440" bIns="45720" rtlCol="0" anchor="t">
            <a:normAutofit/>
          </a:bodyPr>
          <a:lstStyle/>
          <a:p>
            <a:r>
              <a:rPr lang="zh-CN" altLang="en-US" sz="3600" b="1" dirty="0">
                <a:latin typeface="华文行楷" panose="02010800040101010101" pitchFamily="2" charset="-122"/>
                <a:ea typeface="华文行楷" panose="02010800040101010101" pitchFamily="2" charset="-122"/>
              </a:rPr>
              <a:t>二、电  容</a:t>
            </a:r>
          </a:p>
        </p:txBody>
      </p:sp>
      <p:sp>
        <p:nvSpPr>
          <p:cNvPr id="48131" name="Rectangle 3"/>
          <p:cNvSpPr>
            <a:spLocks noGrp="1" noChangeArrowheads="1"/>
          </p:cNvSpPr>
          <p:nvPr>
            <p:ph idx="1"/>
          </p:nvPr>
        </p:nvSpPr>
        <p:spPr>
          <a:xfrm>
            <a:off x="395536" y="908720"/>
            <a:ext cx="8229600" cy="5256212"/>
          </a:xfrm>
        </p:spPr>
        <p:txBody>
          <a:bodyPr>
            <a:normAutofit fontScale="92500" lnSpcReduction="20000"/>
          </a:bodyPr>
          <a:lstStyle/>
          <a:p>
            <a:pPr>
              <a:lnSpc>
                <a:spcPct val="125000"/>
              </a:lnSpc>
              <a:buNone/>
            </a:pPr>
            <a:r>
              <a:rPr lang="en-US" sz="2800" b="1" dirty="0"/>
              <a:t>1.</a:t>
            </a:r>
            <a:r>
              <a:rPr lang="zh-CN" altLang="en-US" sz="2800" b="1" dirty="0"/>
              <a:t>电容的概念</a:t>
            </a:r>
            <a:endParaRPr lang="en-US" altLang="zh-CN" sz="2800" b="1" dirty="0"/>
          </a:p>
          <a:p>
            <a:pPr marL="0" indent="-609600" algn="just">
              <a:lnSpc>
                <a:spcPct val="145000"/>
              </a:lnSpc>
              <a:buFont typeface="Wingdings" pitchFamily="2" charset="2"/>
              <a:buNone/>
            </a:pPr>
            <a:r>
              <a:rPr lang="zh-CN" sz="2400" b="1" dirty="0"/>
              <a:t>    </a:t>
            </a:r>
            <a:r>
              <a:rPr lang="en-US" altLang="zh-CN" sz="2400" b="1" dirty="0"/>
              <a:t>  </a:t>
            </a:r>
            <a:r>
              <a:rPr lang="zh-CN" sz="2400" b="1" dirty="0"/>
              <a:t> </a:t>
            </a:r>
            <a:r>
              <a:rPr lang="zh-CN" b="1" dirty="0">
                <a:latin typeface="宋体" pitchFamily="2" charset="-122"/>
              </a:rPr>
              <a:t>两块互相靠近但彼此绝缘的金属片就可以构成一个电容，它是一种储能的元件。</a:t>
            </a:r>
            <a:r>
              <a:rPr lang="zh-CN" b="1" dirty="0">
                <a:solidFill>
                  <a:srgbClr val="008000"/>
                </a:solidFill>
                <a:latin typeface="宋体" pitchFamily="2" charset="-122"/>
              </a:rPr>
              <a:t> </a:t>
            </a:r>
            <a:r>
              <a:rPr lang="zh-CN" b="1" dirty="0">
                <a:latin typeface="宋体" pitchFamily="2" charset="-122"/>
              </a:rPr>
              <a:t>两块金属片这间的绝缘材料叫做绝缘介质。在电路图中，电容用字母</a:t>
            </a:r>
            <a:r>
              <a:rPr lang="zh-CN" b="1" dirty="0">
                <a:solidFill>
                  <a:srgbClr val="C00000"/>
                </a:solidFill>
                <a:latin typeface="宋体" pitchFamily="2" charset="-122"/>
              </a:rPr>
              <a:t>“</a:t>
            </a:r>
            <a:r>
              <a:rPr lang="en-US" b="1" dirty="0">
                <a:solidFill>
                  <a:srgbClr val="C00000"/>
                </a:solidFill>
                <a:latin typeface="宋体" pitchFamily="2" charset="-122"/>
              </a:rPr>
              <a:t>C”</a:t>
            </a:r>
            <a:r>
              <a:rPr lang="zh-CN" b="1" dirty="0">
                <a:latin typeface="宋体" pitchFamily="2" charset="-122"/>
              </a:rPr>
              <a:t>表示，基本单位是</a:t>
            </a:r>
            <a:r>
              <a:rPr lang="zh-CN" b="1" dirty="0">
                <a:solidFill>
                  <a:srgbClr val="C00000"/>
                </a:solidFill>
                <a:latin typeface="宋体" pitchFamily="2" charset="-122"/>
              </a:rPr>
              <a:t>“法拉”简称“法”</a:t>
            </a:r>
            <a:r>
              <a:rPr lang="zh-CN" b="1" dirty="0">
                <a:latin typeface="宋体" pitchFamily="2" charset="-122"/>
              </a:rPr>
              <a:t>，用字母</a:t>
            </a:r>
            <a:r>
              <a:rPr lang="zh-CN" b="1" dirty="0">
                <a:solidFill>
                  <a:srgbClr val="C00000"/>
                </a:solidFill>
                <a:latin typeface="宋体" pitchFamily="2" charset="-122"/>
              </a:rPr>
              <a:t>“</a:t>
            </a:r>
            <a:r>
              <a:rPr lang="en-US" b="1" dirty="0">
                <a:solidFill>
                  <a:srgbClr val="C00000"/>
                </a:solidFill>
                <a:latin typeface="宋体" pitchFamily="2" charset="-122"/>
              </a:rPr>
              <a:t>F</a:t>
            </a:r>
            <a:r>
              <a:rPr lang="zh-CN" altLang="en-US" b="1" dirty="0">
                <a:solidFill>
                  <a:srgbClr val="C00000"/>
                </a:solidFill>
                <a:latin typeface="宋体" pitchFamily="2" charset="-122"/>
              </a:rPr>
              <a:t>”</a:t>
            </a:r>
            <a:r>
              <a:rPr lang="zh-CN" b="1" dirty="0">
                <a:latin typeface="宋体" pitchFamily="2" charset="-122"/>
              </a:rPr>
              <a:t>来表示。</a:t>
            </a:r>
            <a:r>
              <a:rPr lang="zh-CN" altLang="en-US" b="1" dirty="0">
                <a:latin typeface="宋体" pitchFamily="2" charset="-122"/>
              </a:rPr>
              <a:t>常用的图形符号如图所示：</a:t>
            </a:r>
            <a:endParaRPr lang="en-US" altLang="zh-CN" b="1" dirty="0">
              <a:latin typeface="宋体" pitchFamily="2" charset="-122"/>
            </a:endParaRPr>
          </a:p>
          <a:p>
            <a:pPr marL="0" indent="-609600" algn="just">
              <a:lnSpc>
                <a:spcPct val="145000"/>
              </a:lnSpc>
              <a:buFont typeface="Wingdings" pitchFamily="2" charset="2"/>
              <a:buNone/>
            </a:pPr>
            <a:endParaRPr lang="zh-CN" b="1" dirty="0">
              <a:latin typeface="宋体" pitchFamily="2" charset="-122"/>
            </a:endParaRPr>
          </a:p>
          <a:p>
            <a:pPr marL="0" indent="-609600" algn="ctr">
              <a:lnSpc>
                <a:spcPct val="145000"/>
              </a:lnSpc>
              <a:buFont typeface="Wingdings" pitchFamily="2" charset="2"/>
              <a:buNone/>
            </a:pPr>
            <a:r>
              <a:rPr lang="zh-CN" b="1" dirty="0"/>
              <a:t>       </a:t>
            </a:r>
            <a:endParaRPr lang="en-US" altLang="zh-CN" b="1" dirty="0"/>
          </a:p>
          <a:p>
            <a:pPr marL="0" indent="-609600">
              <a:lnSpc>
                <a:spcPct val="145000"/>
              </a:lnSpc>
              <a:buNone/>
            </a:pPr>
            <a:r>
              <a:rPr lang="zh-CN" altLang="en-US" b="1" dirty="0"/>
              <a:t>         电容器在电路种具有</a:t>
            </a:r>
            <a:r>
              <a:rPr lang="zh-CN" altLang="en-US" b="1" dirty="0">
                <a:solidFill>
                  <a:srgbClr val="C00000"/>
                </a:solidFill>
              </a:rPr>
              <a:t>隔断直流、通过交流的特性</a:t>
            </a:r>
            <a:r>
              <a:rPr lang="zh-CN" altLang="en-US" b="1" dirty="0"/>
              <a:t>，通常可以</a:t>
            </a:r>
            <a:r>
              <a:rPr lang="zh-CN" altLang="en-US" b="1" dirty="0">
                <a:solidFill>
                  <a:srgbClr val="C00000"/>
                </a:solidFill>
              </a:rPr>
              <a:t>完成滤波、旁路、级间耦合以及电阻或电感组成振荡回路的功能</a:t>
            </a:r>
            <a:r>
              <a:rPr lang="zh-CN" altLang="en-US" b="1" dirty="0"/>
              <a:t>。</a:t>
            </a:r>
            <a:endParaRPr lang="en-US" altLang="zh-CN" b="1" dirty="0"/>
          </a:p>
          <a:p>
            <a:pPr marL="0" indent="-609600" algn="ctr">
              <a:lnSpc>
                <a:spcPct val="145000"/>
              </a:lnSpc>
              <a:buFont typeface="Wingdings" pitchFamily="2" charset="2"/>
              <a:buNone/>
            </a:pPr>
            <a:r>
              <a:rPr lang="en-US" altLang="zh-CN" b="1" dirty="0"/>
              <a:t>  </a:t>
            </a:r>
            <a:r>
              <a:rPr lang="zh-CN" b="1" dirty="0"/>
              <a:t>我们定义电容两极板之间的电压为</a:t>
            </a:r>
            <a:r>
              <a:rPr lang="en-US" b="1" dirty="0"/>
              <a:t>U</a:t>
            </a:r>
            <a:r>
              <a:rPr lang="zh-CN" b="1" dirty="0"/>
              <a:t>，两极板所带的电量为</a:t>
            </a:r>
            <a:r>
              <a:rPr lang="en-US" b="1" dirty="0"/>
              <a:t>Q</a:t>
            </a:r>
            <a:r>
              <a:rPr lang="zh-CN" b="1" dirty="0"/>
              <a:t>，则有</a:t>
            </a:r>
            <a:r>
              <a:rPr lang="en-US" b="1" dirty="0"/>
              <a:t>C=Q/U</a:t>
            </a:r>
          </a:p>
          <a:p>
            <a:pPr marL="0" indent="-609600">
              <a:lnSpc>
                <a:spcPct val="125000"/>
              </a:lnSpc>
              <a:buFont typeface="Wingdings" pitchFamily="2" charset="2"/>
              <a:buNone/>
            </a:pPr>
            <a:r>
              <a:rPr lang="zh-CN" altLang="en-US" b="1" dirty="0"/>
              <a:t>    </a:t>
            </a:r>
            <a:endParaRPr lang="en-US" sz="2400" b="1" dirty="0"/>
          </a:p>
          <a:p>
            <a:pPr marL="609600" indent="-609600">
              <a:lnSpc>
                <a:spcPct val="90000"/>
              </a:lnSpc>
              <a:buFont typeface="Wingdings" pitchFamily="2" charset="2"/>
              <a:buNone/>
            </a:pPr>
            <a:endParaRPr lang="zh-CN" sz="2400" b="1" dirty="0"/>
          </a:p>
        </p:txBody>
      </p:sp>
      <p:sp>
        <p:nvSpPr>
          <p:cNvPr id="2" name="灯片编号占位符 1">
            <a:extLst>
              <a:ext uri="{FF2B5EF4-FFF2-40B4-BE49-F238E27FC236}">
                <a16:creationId xmlns:a16="http://schemas.microsoft.com/office/drawing/2014/main" id="{0BF5038A-85E9-79BC-443A-F28E24B0F524}"/>
              </a:ext>
            </a:extLst>
          </p:cNvPr>
          <p:cNvSpPr>
            <a:spLocks noGrp="1"/>
          </p:cNvSpPr>
          <p:nvPr>
            <p:ph type="sldNum" sz="quarter" idx="12"/>
          </p:nvPr>
        </p:nvSpPr>
        <p:spPr/>
        <p:txBody>
          <a:bodyPr/>
          <a:lstStyle/>
          <a:p>
            <a:pPr>
              <a:defRPr/>
            </a:pPr>
            <a:fld id="{5FAFB815-62BA-464E-901C-79D108092E38}" type="slidenum">
              <a:rPr lang="zh-CN" altLang="en-US" smtClean="0"/>
              <a:pPr>
                <a:defRPr/>
              </a:pPr>
              <a:t>40</a:t>
            </a:fld>
            <a:endParaRPr lang="en-US" altLang="zh-CN"/>
          </a:p>
        </p:txBody>
      </p:sp>
      <p:pic>
        <p:nvPicPr>
          <p:cNvPr id="4" name="图片 3">
            <a:extLst>
              <a:ext uri="{FF2B5EF4-FFF2-40B4-BE49-F238E27FC236}">
                <a16:creationId xmlns:a16="http://schemas.microsoft.com/office/drawing/2014/main" id="{E640A66E-D6D1-C46B-478D-F8A635CEA6C1}"/>
              </a:ext>
            </a:extLst>
          </p:cNvPr>
          <p:cNvPicPr>
            <a:picLocks noChangeAspect="1"/>
          </p:cNvPicPr>
          <p:nvPr/>
        </p:nvPicPr>
        <p:blipFill>
          <a:blip r:embed="rId2"/>
          <a:stretch>
            <a:fillRect/>
          </a:stretch>
        </p:blipFill>
        <p:spPr>
          <a:xfrm>
            <a:off x="1763688" y="2996952"/>
            <a:ext cx="3963672" cy="720000"/>
          </a:xfrm>
          <a:prstGeom prst="rect">
            <a:avLst/>
          </a:prstGeom>
        </p:spPr>
      </p:pic>
      <p:pic>
        <p:nvPicPr>
          <p:cNvPr id="6" name="图片 5">
            <a:extLst>
              <a:ext uri="{FF2B5EF4-FFF2-40B4-BE49-F238E27FC236}">
                <a16:creationId xmlns:a16="http://schemas.microsoft.com/office/drawing/2014/main" id="{66AE08D2-6530-782C-6976-9E58EB3BBCCF}"/>
              </a:ext>
            </a:extLst>
          </p:cNvPr>
          <p:cNvPicPr>
            <a:picLocks noChangeAspect="1"/>
          </p:cNvPicPr>
          <p:nvPr/>
        </p:nvPicPr>
        <p:blipFill>
          <a:blip r:embed="rId3"/>
          <a:stretch>
            <a:fillRect/>
          </a:stretch>
        </p:blipFill>
        <p:spPr>
          <a:xfrm>
            <a:off x="6084168" y="3013160"/>
            <a:ext cx="1787514" cy="720000"/>
          </a:xfrm>
          <a:prstGeom prst="rect">
            <a:avLst/>
          </a:prstGeom>
        </p:spPr>
      </p:pic>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idx="1"/>
          </p:nvPr>
        </p:nvSpPr>
        <p:spPr>
          <a:xfrm>
            <a:off x="395536" y="1052736"/>
            <a:ext cx="8229600" cy="5040560"/>
          </a:xfrm>
        </p:spPr>
        <p:txBody>
          <a:bodyPr>
            <a:normAutofit lnSpcReduction="10000"/>
          </a:bodyPr>
          <a:lstStyle/>
          <a:p>
            <a:pPr marL="0" indent="-609600">
              <a:lnSpc>
                <a:spcPct val="135000"/>
              </a:lnSpc>
              <a:buNone/>
            </a:pPr>
            <a:r>
              <a:rPr lang="zh-CN" b="1" dirty="0"/>
              <a:t>   </a:t>
            </a:r>
            <a:r>
              <a:rPr lang="en-US" altLang="zh-CN" b="1" dirty="0"/>
              <a:t>    </a:t>
            </a:r>
            <a:r>
              <a:rPr lang="zh-CN" altLang="en-US" sz="2100" b="1" dirty="0"/>
              <a:t>那么两极板间的电压增加</a:t>
            </a:r>
            <a:r>
              <a:rPr lang="en-US" altLang="zh-CN" sz="2100" b="1" dirty="0"/>
              <a:t>1V</a:t>
            </a:r>
            <a:r>
              <a:rPr lang="zh-CN" altLang="en-US" sz="2100" b="1" dirty="0"/>
              <a:t>所需要的电量，这个值就是这个电容的容量。</a:t>
            </a:r>
          </a:p>
          <a:p>
            <a:pPr marL="0" indent="-609600" algn="ctr">
              <a:lnSpc>
                <a:spcPct val="135000"/>
              </a:lnSpc>
              <a:buNone/>
            </a:pPr>
            <a:r>
              <a:rPr lang="zh-CN" altLang="en-US" sz="2100" b="1" dirty="0"/>
              <a:t>         电容的大小不是由</a:t>
            </a:r>
            <a:r>
              <a:rPr lang="en-US" altLang="zh-CN" sz="2100" b="1" dirty="0"/>
              <a:t>Q</a:t>
            </a:r>
            <a:r>
              <a:rPr lang="zh-CN" altLang="en-US" sz="2100" b="1" dirty="0"/>
              <a:t>或</a:t>
            </a:r>
            <a:r>
              <a:rPr lang="en-US" altLang="zh-CN" sz="2100" b="1" dirty="0"/>
              <a:t>U</a:t>
            </a:r>
            <a:r>
              <a:rPr lang="zh-CN" altLang="en-US" sz="2100" b="1" dirty="0"/>
              <a:t>决定的，而是由</a:t>
            </a:r>
            <a:r>
              <a:rPr lang="zh-CN" altLang="en-US" sz="2100" b="1" dirty="0">
                <a:solidFill>
                  <a:srgbClr val="C00000"/>
                </a:solidFill>
              </a:rPr>
              <a:t>电容本身的性质</a:t>
            </a:r>
            <a:r>
              <a:rPr lang="zh-CN" altLang="en-US" sz="2100" b="1" dirty="0"/>
              <a:t>决定的。</a:t>
            </a:r>
            <a:r>
              <a:rPr lang="en-US" altLang="zh-CN" sz="2100" b="1" dirty="0"/>
              <a:t>C=εS/4πkd </a:t>
            </a:r>
          </a:p>
          <a:p>
            <a:pPr marL="0" indent="-609600" algn="ctr">
              <a:lnSpc>
                <a:spcPct val="135000"/>
              </a:lnSpc>
              <a:buNone/>
            </a:pPr>
            <a:r>
              <a:rPr lang="zh-CN" altLang="en-US" sz="2100" b="1" dirty="0"/>
              <a:t>  其中</a:t>
            </a:r>
            <a:r>
              <a:rPr lang="en-US" altLang="zh-CN" sz="2100" b="1" dirty="0">
                <a:solidFill>
                  <a:srgbClr val="C00000"/>
                </a:solidFill>
              </a:rPr>
              <a:t>ε</a:t>
            </a:r>
            <a:r>
              <a:rPr lang="zh-CN" altLang="en-US" sz="2100" b="1" dirty="0">
                <a:solidFill>
                  <a:srgbClr val="C00000"/>
                </a:solidFill>
              </a:rPr>
              <a:t>是一个常数</a:t>
            </a:r>
            <a:r>
              <a:rPr lang="zh-CN" altLang="en-US" sz="2100" b="1" dirty="0"/>
              <a:t>，与电介质的性质有关。</a:t>
            </a:r>
            <a:r>
              <a:rPr lang="en-US" altLang="zh-CN" sz="2100" b="1" dirty="0"/>
              <a:t>k</a:t>
            </a:r>
            <a:r>
              <a:rPr lang="zh-CN" altLang="en-US" sz="2100" b="1" dirty="0"/>
              <a:t>是静电力常量，     </a:t>
            </a:r>
            <a:r>
              <a:rPr lang="en-US" altLang="zh-CN" sz="2100" b="1" dirty="0"/>
              <a:t>k=9.0×10</a:t>
            </a:r>
            <a:r>
              <a:rPr lang="en-US" altLang="zh-CN" sz="2100" b="1" baseline="30000" dirty="0"/>
              <a:t>9</a:t>
            </a:r>
            <a:r>
              <a:rPr lang="en-US" altLang="zh-CN" sz="2100" b="1" dirty="0"/>
              <a:t>N·m</a:t>
            </a:r>
            <a:r>
              <a:rPr lang="en-US" altLang="zh-CN" sz="2100" b="1" baseline="30000" dirty="0"/>
              <a:t>2</a:t>
            </a:r>
            <a:r>
              <a:rPr lang="en-US" altLang="zh-CN" sz="2100" b="1" dirty="0"/>
              <a:t>/C</a:t>
            </a:r>
            <a:r>
              <a:rPr lang="en-US" altLang="zh-CN" sz="2100" b="1" baseline="30000" dirty="0"/>
              <a:t>2</a:t>
            </a:r>
            <a:r>
              <a:rPr lang="zh-CN" altLang="en-US" sz="2100" b="1" dirty="0"/>
              <a:t>。</a:t>
            </a:r>
          </a:p>
          <a:p>
            <a:pPr marL="0" indent="-609600">
              <a:lnSpc>
                <a:spcPct val="135000"/>
              </a:lnSpc>
              <a:buNone/>
            </a:pPr>
            <a:r>
              <a:rPr lang="zh-CN" altLang="en-US" sz="2100" b="1" dirty="0"/>
              <a:t>          电容的单位除了</a:t>
            </a:r>
            <a:r>
              <a:rPr lang="en-US" altLang="zh-CN" sz="2100" b="1" dirty="0"/>
              <a:t>F</a:t>
            </a:r>
            <a:r>
              <a:rPr lang="zh-CN" altLang="en-US" sz="2100" b="1" dirty="0"/>
              <a:t>外，还有</a:t>
            </a:r>
            <a:r>
              <a:rPr lang="en-US" altLang="zh-CN" sz="2100" b="1" dirty="0"/>
              <a:t>mF(</a:t>
            </a:r>
            <a:r>
              <a:rPr lang="zh-CN" altLang="en-US" sz="2100" b="1" dirty="0"/>
              <a:t>毫法，</a:t>
            </a:r>
            <a:r>
              <a:rPr lang="en-US" altLang="zh-CN" sz="2100" b="1" dirty="0"/>
              <a:t>10</a:t>
            </a:r>
            <a:r>
              <a:rPr lang="en-US" altLang="zh-CN" sz="2100" b="1" baseline="30000" dirty="0"/>
              <a:t>-3</a:t>
            </a:r>
            <a:r>
              <a:rPr lang="en-US" altLang="zh-CN" sz="2100" b="1" dirty="0"/>
              <a:t>F</a:t>
            </a:r>
            <a:r>
              <a:rPr lang="zh-CN" altLang="en-US" sz="2100" b="1" dirty="0"/>
              <a:t>）、</a:t>
            </a:r>
            <a:r>
              <a:rPr lang="en-US" altLang="zh-TW" sz="2100" b="1" dirty="0"/>
              <a:t>µ</a:t>
            </a:r>
            <a:r>
              <a:rPr lang="en-US" sz="2100" b="1" dirty="0"/>
              <a:t>F</a:t>
            </a:r>
            <a:r>
              <a:rPr lang="zh-CN" altLang="en-US" sz="2100" b="1" dirty="0"/>
              <a:t>（微法</a:t>
            </a:r>
            <a:r>
              <a:rPr lang="en-US" altLang="zh-CN" sz="2100" b="1" dirty="0"/>
              <a:t>,10</a:t>
            </a:r>
            <a:r>
              <a:rPr lang="en-US" altLang="zh-CN" sz="2100" b="1" baseline="30000" dirty="0"/>
              <a:t>-6</a:t>
            </a:r>
            <a:r>
              <a:rPr lang="en-US" altLang="zh-CN" sz="2100" b="1" dirty="0"/>
              <a:t>F</a:t>
            </a:r>
            <a:r>
              <a:rPr lang="zh-CN" altLang="en-US" sz="2100" b="1" dirty="0"/>
              <a:t>）、</a:t>
            </a:r>
            <a:r>
              <a:rPr lang="zh-TW" altLang="en-US" sz="2100" b="1" dirty="0"/>
              <a:t> </a:t>
            </a:r>
            <a:r>
              <a:rPr lang="en-US" sz="2100" b="1" dirty="0" err="1"/>
              <a:t>nF</a:t>
            </a:r>
            <a:r>
              <a:rPr lang="zh-CN" altLang="en-US" sz="2100" b="1" dirty="0"/>
              <a:t>（纳法</a:t>
            </a:r>
            <a:r>
              <a:rPr lang="en-US" altLang="zh-CN" sz="2100" b="1" dirty="0"/>
              <a:t>,10</a:t>
            </a:r>
            <a:r>
              <a:rPr lang="en-US" altLang="zh-CN" sz="2100" b="1" baseline="30000" dirty="0"/>
              <a:t>-9</a:t>
            </a:r>
            <a:r>
              <a:rPr lang="en-US" altLang="zh-CN" sz="2100" b="1" dirty="0"/>
              <a:t>F</a:t>
            </a:r>
            <a:r>
              <a:rPr lang="zh-CN" altLang="en-US" sz="2100" b="1" dirty="0"/>
              <a:t>）、</a:t>
            </a:r>
            <a:r>
              <a:rPr lang="en-US" sz="2100" b="1" dirty="0"/>
              <a:t>pF</a:t>
            </a:r>
            <a:r>
              <a:rPr lang="zh-CN" altLang="en-US" sz="2100" b="1" dirty="0"/>
              <a:t>（皮法</a:t>
            </a:r>
            <a:r>
              <a:rPr lang="en-US" altLang="zh-CN" sz="2100" b="1" dirty="0"/>
              <a:t>10</a:t>
            </a:r>
            <a:r>
              <a:rPr lang="en-US" altLang="zh-CN" sz="2100" b="1" baseline="30000" dirty="0"/>
              <a:t>-12</a:t>
            </a:r>
            <a:r>
              <a:rPr lang="en-US" altLang="zh-CN" sz="2100" b="1" dirty="0"/>
              <a:t>F</a:t>
            </a:r>
            <a:r>
              <a:rPr lang="zh-CN" altLang="en-US" sz="2100" b="1" dirty="0"/>
              <a:t>）。</a:t>
            </a:r>
          </a:p>
          <a:p>
            <a:pPr marL="0" indent="-609600" algn="ctr">
              <a:lnSpc>
                <a:spcPct val="100000"/>
              </a:lnSpc>
              <a:buNone/>
            </a:pPr>
            <a:r>
              <a:rPr lang="en-US" altLang="zh-CN" sz="2100" b="1" dirty="0"/>
              <a:t>1F  = 10</a:t>
            </a:r>
            <a:r>
              <a:rPr lang="en-US" altLang="zh-CN" sz="2100" b="1" baseline="30000" dirty="0"/>
              <a:t>6</a:t>
            </a:r>
            <a:r>
              <a:rPr lang="en-US" altLang="zh-CN" sz="2100" b="1" dirty="0"/>
              <a:t> </a:t>
            </a:r>
            <a:r>
              <a:rPr lang="en-US" altLang="zh-TW" sz="2100" b="1" dirty="0"/>
              <a:t>µ</a:t>
            </a:r>
            <a:r>
              <a:rPr lang="en-US" sz="2100" b="1" dirty="0"/>
              <a:t>f</a:t>
            </a:r>
            <a:endParaRPr lang="zh-CN" altLang="en-US" sz="2100" b="1" dirty="0"/>
          </a:p>
          <a:p>
            <a:pPr marL="0" indent="-609600" algn="ctr">
              <a:lnSpc>
                <a:spcPct val="100000"/>
              </a:lnSpc>
              <a:buNone/>
            </a:pPr>
            <a:r>
              <a:rPr lang="zh-CN" altLang="en-US" sz="2100" b="1" dirty="0"/>
              <a:t>  </a:t>
            </a:r>
            <a:r>
              <a:rPr lang="en-US" altLang="zh-CN" sz="2100" b="1" dirty="0"/>
              <a:t>1</a:t>
            </a:r>
            <a:r>
              <a:rPr lang="en-US" altLang="zh-TW" sz="2100" b="1" dirty="0"/>
              <a:t>µ</a:t>
            </a:r>
            <a:r>
              <a:rPr lang="en-US" sz="2100" b="1" dirty="0"/>
              <a:t>f</a:t>
            </a:r>
            <a:r>
              <a:rPr lang="zh-CN" altLang="en-US" sz="2100" b="1" dirty="0"/>
              <a:t> </a:t>
            </a:r>
            <a:r>
              <a:rPr lang="en-US" altLang="zh-CN" sz="2100" b="1" dirty="0"/>
              <a:t>= 10</a:t>
            </a:r>
            <a:r>
              <a:rPr lang="en-US" altLang="zh-CN" sz="2100" b="1" baseline="30000" dirty="0"/>
              <a:t>3</a:t>
            </a:r>
            <a:r>
              <a:rPr lang="en-US" altLang="zh-CN" sz="2100" b="1" dirty="0"/>
              <a:t> </a:t>
            </a:r>
            <a:r>
              <a:rPr lang="en-US" sz="2100" b="1" dirty="0" err="1"/>
              <a:t>nF</a:t>
            </a:r>
            <a:endParaRPr lang="zh-CN" altLang="en-US" sz="2100" b="1" dirty="0"/>
          </a:p>
          <a:p>
            <a:pPr marL="0" indent="-609600" algn="ctr">
              <a:lnSpc>
                <a:spcPct val="100000"/>
              </a:lnSpc>
              <a:buNone/>
            </a:pPr>
            <a:r>
              <a:rPr lang="en-US" altLang="zh-CN" sz="2100" b="1" dirty="0"/>
              <a:t>1</a:t>
            </a:r>
            <a:r>
              <a:rPr lang="en-US" sz="2100" b="1" dirty="0"/>
              <a:t>nF</a:t>
            </a:r>
            <a:r>
              <a:rPr lang="zh-CN" altLang="en-US" sz="2100" b="1" dirty="0"/>
              <a:t> </a:t>
            </a:r>
            <a:r>
              <a:rPr lang="en-US" altLang="zh-CN" sz="2100" b="1" dirty="0"/>
              <a:t>= 10</a:t>
            </a:r>
            <a:r>
              <a:rPr lang="en-US" altLang="zh-CN" sz="2100" b="1" baseline="30000" dirty="0"/>
              <a:t>3</a:t>
            </a:r>
            <a:r>
              <a:rPr lang="en-US" altLang="zh-CN" sz="2100" b="1" dirty="0"/>
              <a:t>pF</a:t>
            </a:r>
          </a:p>
          <a:p>
            <a:pPr>
              <a:buFont typeface="Wingdings" pitchFamily="2" charset="2"/>
              <a:buNone/>
            </a:pPr>
            <a:endParaRPr lang="zh-CN" sz="2800" b="1" dirty="0">
              <a:ea typeface="新宋体" pitchFamily="49" charset="-122"/>
            </a:endParaRPr>
          </a:p>
          <a:p>
            <a:pPr>
              <a:buFont typeface="Wingdings" pitchFamily="2" charset="2"/>
              <a:buNone/>
            </a:pPr>
            <a:endParaRPr lang="zh-CN" sz="2800" b="1" dirty="0">
              <a:ea typeface="新宋体" pitchFamily="49" charset="-122"/>
            </a:endParaRPr>
          </a:p>
          <a:p>
            <a:pPr>
              <a:buFont typeface="Wingdings" pitchFamily="2" charset="2"/>
              <a:buNone/>
            </a:pPr>
            <a:endParaRPr lang="zh-CN" b="1" dirty="0"/>
          </a:p>
        </p:txBody>
      </p:sp>
      <p:sp>
        <p:nvSpPr>
          <p:cNvPr id="2" name="灯片编号占位符 1">
            <a:extLst>
              <a:ext uri="{FF2B5EF4-FFF2-40B4-BE49-F238E27FC236}">
                <a16:creationId xmlns:a16="http://schemas.microsoft.com/office/drawing/2014/main" id="{35FE691E-8689-1DD9-3A6B-A6AF77F0562E}"/>
              </a:ext>
            </a:extLst>
          </p:cNvPr>
          <p:cNvSpPr>
            <a:spLocks noGrp="1"/>
          </p:cNvSpPr>
          <p:nvPr>
            <p:ph type="sldNum" sz="quarter" idx="12"/>
          </p:nvPr>
        </p:nvSpPr>
        <p:spPr/>
        <p:txBody>
          <a:bodyPr/>
          <a:lstStyle/>
          <a:p>
            <a:pPr>
              <a:defRPr/>
            </a:pPr>
            <a:fld id="{5FAFB815-62BA-464E-901C-79D108092E38}" type="slidenum">
              <a:rPr lang="zh-CN" altLang="en-US" smtClean="0"/>
              <a:pPr>
                <a:defRPr/>
              </a:pPr>
              <a:t>41</a:t>
            </a:fld>
            <a:endParaRPr lang="en-US" altLang="zh-CN"/>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3"/>
          <p:cNvSpPr>
            <a:spLocks noGrp="1" noChangeArrowheads="1"/>
          </p:cNvSpPr>
          <p:nvPr>
            <p:ph idx="1"/>
          </p:nvPr>
        </p:nvSpPr>
        <p:spPr>
          <a:xfrm>
            <a:off x="457200" y="980728"/>
            <a:ext cx="8229600" cy="4114800"/>
          </a:xfrm>
        </p:spPr>
        <p:txBody>
          <a:bodyPr/>
          <a:lstStyle/>
          <a:p>
            <a:pPr indent="-720000">
              <a:buFont typeface="Wingdings" pitchFamily="2" charset="2"/>
              <a:buNone/>
            </a:pPr>
            <a:r>
              <a:rPr lang="en-US" altLang="zh-CN" sz="2400" b="1" dirty="0">
                <a:latin typeface="+mn-lt"/>
                <a:ea typeface="+mn-ea"/>
                <a:cs typeface="+mn-cs"/>
              </a:rPr>
              <a:t>2.</a:t>
            </a:r>
            <a:r>
              <a:rPr lang="zh-CN" altLang="en-US" sz="2400" b="1" dirty="0">
                <a:latin typeface="+mn-lt"/>
                <a:ea typeface="+mn-ea"/>
                <a:cs typeface="+mn-cs"/>
              </a:rPr>
              <a:t>电容的分类</a:t>
            </a:r>
            <a:endParaRPr lang="en-US" altLang="zh-CN" sz="2400" b="1" dirty="0">
              <a:latin typeface="+mn-lt"/>
              <a:ea typeface="+mn-ea"/>
              <a:cs typeface="+mn-cs"/>
            </a:endParaRPr>
          </a:p>
          <a:p>
            <a:pPr indent="-720000">
              <a:buFont typeface="Wingdings" pitchFamily="2" charset="2"/>
              <a:buNone/>
            </a:pPr>
            <a:r>
              <a:rPr lang="zh-CN" altLang="en-US" sz="2200" dirty="0"/>
              <a:t>  按</a:t>
            </a:r>
            <a:r>
              <a:rPr lang="zh-CN" altLang="en-US" sz="2200" b="1" dirty="0">
                <a:solidFill>
                  <a:srgbClr val="C00000"/>
                </a:solidFill>
              </a:rPr>
              <a:t>结构</a:t>
            </a:r>
            <a:r>
              <a:rPr lang="zh-CN" altLang="en-US" sz="2200" dirty="0"/>
              <a:t>分</a:t>
            </a:r>
            <a:r>
              <a:rPr lang="en-US" altLang="zh-CN" sz="2200" dirty="0"/>
              <a:t>: </a:t>
            </a:r>
            <a:r>
              <a:rPr lang="zh-CN" altLang="en-US" sz="2200" dirty="0"/>
              <a:t>有固定电容、可变电容、微调电容；</a:t>
            </a:r>
            <a:endParaRPr lang="en-US" altLang="zh-CN" sz="2200" dirty="0"/>
          </a:p>
          <a:p>
            <a:pPr marL="0" indent="-720000">
              <a:buFont typeface="Wingdings" pitchFamily="2" charset="2"/>
              <a:buNone/>
            </a:pPr>
            <a:r>
              <a:rPr lang="zh-CN" altLang="en-US" sz="2200" dirty="0"/>
              <a:t>  按</a:t>
            </a:r>
            <a:r>
              <a:rPr lang="zh-CN" altLang="en-US" sz="2200" b="1" dirty="0">
                <a:solidFill>
                  <a:srgbClr val="C00000"/>
                </a:solidFill>
              </a:rPr>
              <a:t>极性</a:t>
            </a:r>
            <a:r>
              <a:rPr lang="zh-CN" altLang="en-US" sz="2200" dirty="0"/>
              <a:t>分</a:t>
            </a:r>
            <a:r>
              <a:rPr lang="en-US" altLang="zh-CN" sz="2200" dirty="0"/>
              <a:t>: </a:t>
            </a:r>
            <a:r>
              <a:rPr lang="zh-CN" altLang="en-US" sz="2200" dirty="0"/>
              <a:t>有有极性电容和无极性电容；</a:t>
            </a:r>
            <a:endParaRPr lang="en-US" altLang="zh-CN" sz="2200" dirty="0"/>
          </a:p>
          <a:p>
            <a:pPr marL="0" indent="-720000">
              <a:buFont typeface="Wingdings" pitchFamily="2" charset="2"/>
              <a:buNone/>
            </a:pPr>
            <a:r>
              <a:rPr lang="zh-CN" altLang="en-US" sz="2200" dirty="0"/>
              <a:t>  按</a:t>
            </a:r>
            <a:r>
              <a:rPr lang="zh-CN" altLang="en-US" sz="2200" b="1" dirty="0">
                <a:solidFill>
                  <a:srgbClr val="C00000"/>
                </a:solidFill>
              </a:rPr>
              <a:t>安装结构</a:t>
            </a:r>
            <a:r>
              <a:rPr lang="en-US" altLang="zh-CN" sz="2200" b="1" dirty="0">
                <a:solidFill>
                  <a:srgbClr val="C00000"/>
                </a:solidFill>
              </a:rPr>
              <a:t>: </a:t>
            </a:r>
            <a:r>
              <a:rPr lang="zh-CN" altLang="en-US" sz="2200" dirty="0"/>
              <a:t>有直插电容和贴片电容。  </a:t>
            </a:r>
          </a:p>
          <a:p>
            <a:pPr marL="0" indent="-720000">
              <a:buFont typeface="Wingdings" pitchFamily="2" charset="2"/>
              <a:buNone/>
            </a:pPr>
            <a:r>
              <a:rPr lang="zh-CN" altLang="en-US" sz="2200" dirty="0"/>
              <a:t>  按</a:t>
            </a:r>
            <a:r>
              <a:rPr lang="zh-CN" altLang="en-US" sz="2200" b="1" dirty="0">
                <a:solidFill>
                  <a:srgbClr val="C00000"/>
                </a:solidFill>
              </a:rPr>
              <a:t>介质材料</a:t>
            </a:r>
            <a:r>
              <a:rPr lang="zh-CN" altLang="en-US" sz="2200" dirty="0"/>
              <a:t>分</a:t>
            </a:r>
            <a:r>
              <a:rPr lang="en-US" altLang="zh-CN" sz="2200" dirty="0"/>
              <a:t>: </a:t>
            </a:r>
            <a:r>
              <a:rPr lang="zh-CN" altLang="en-US" sz="2200" dirty="0"/>
              <a:t>有纸介电容 、瓷介电容、玻璃釉电容、独石电容、</a:t>
            </a:r>
            <a:endParaRPr lang="en-US" altLang="zh-CN" sz="2200" dirty="0"/>
          </a:p>
          <a:p>
            <a:pPr marL="0" indent="-720000">
              <a:buFont typeface="Wingdings" pitchFamily="2" charset="2"/>
              <a:buNone/>
            </a:pPr>
            <a:r>
              <a:rPr lang="en-US" altLang="zh-CN" sz="2200" dirty="0"/>
              <a:t>                         </a:t>
            </a:r>
            <a:r>
              <a:rPr lang="zh-CN" altLang="en-US" sz="2200" dirty="0"/>
              <a:t> 涤纶电容、 云母电容 、铝电解电容、钽电解电容、</a:t>
            </a:r>
            <a:endParaRPr lang="en-US" altLang="zh-CN" sz="2200" dirty="0"/>
          </a:p>
          <a:p>
            <a:pPr marL="0" indent="-720000">
              <a:buFont typeface="Wingdings" pitchFamily="2" charset="2"/>
              <a:buNone/>
            </a:pPr>
            <a:r>
              <a:rPr lang="en-US" altLang="zh-CN" sz="2200" dirty="0"/>
              <a:t>                          </a:t>
            </a:r>
            <a:r>
              <a:rPr lang="zh-CN" altLang="en-US" sz="2200" dirty="0"/>
              <a:t>聚苯乙烯电容 、聚碳酸酯薄膜电容等 ；</a:t>
            </a:r>
            <a:endParaRPr lang="en-US" altLang="zh-CN" sz="2200" dirty="0"/>
          </a:p>
        </p:txBody>
      </p:sp>
      <p:sp>
        <p:nvSpPr>
          <p:cNvPr id="2" name="灯片编号占位符 1">
            <a:extLst>
              <a:ext uri="{FF2B5EF4-FFF2-40B4-BE49-F238E27FC236}">
                <a16:creationId xmlns:a16="http://schemas.microsoft.com/office/drawing/2014/main" id="{CC417096-6263-19C4-680E-BF6349F4C988}"/>
              </a:ext>
            </a:extLst>
          </p:cNvPr>
          <p:cNvSpPr>
            <a:spLocks noGrp="1"/>
          </p:cNvSpPr>
          <p:nvPr>
            <p:ph type="sldNum" sz="quarter" idx="12"/>
          </p:nvPr>
        </p:nvSpPr>
        <p:spPr/>
        <p:txBody>
          <a:bodyPr/>
          <a:lstStyle/>
          <a:p>
            <a:pPr>
              <a:defRPr/>
            </a:pPr>
            <a:fld id="{5FAFB815-62BA-464E-901C-79D108092E38}" type="slidenum">
              <a:rPr lang="zh-CN" altLang="en-US" smtClean="0"/>
              <a:pPr>
                <a:defRPr/>
              </a:pPr>
              <a:t>42</a:t>
            </a:fld>
            <a:endParaRPr lang="en-US" altLang="zh-CN"/>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3B27B601-A5FB-D10E-33D8-FE466E159567}"/>
              </a:ext>
            </a:extLst>
          </p:cNvPr>
          <p:cNvSpPr>
            <a:spLocks noGrp="1"/>
          </p:cNvSpPr>
          <p:nvPr>
            <p:ph type="sldNum" sz="quarter" idx="12"/>
          </p:nvPr>
        </p:nvSpPr>
        <p:spPr/>
        <p:txBody>
          <a:bodyPr/>
          <a:lstStyle/>
          <a:p>
            <a:pPr>
              <a:defRPr/>
            </a:pPr>
            <a:fld id="{5FAFB815-62BA-464E-901C-79D108092E38}" type="slidenum">
              <a:rPr lang="zh-CN" altLang="en-US" smtClean="0"/>
              <a:pPr>
                <a:defRPr/>
              </a:pPr>
              <a:t>43</a:t>
            </a:fld>
            <a:endParaRPr lang="en-US" altLang="zh-CN"/>
          </a:p>
        </p:txBody>
      </p:sp>
      <p:sp>
        <p:nvSpPr>
          <p:cNvPr id="5" name="Rectangle 2">
            <a:extLst>
              <a:ext uri="{FF2B5EF4-FFF2-40B4-BE49-F238E27FC236}">
                <a16:creationId xmlns:a16="http://schemas.microsoft.com/office/drawing/2014/main" id="{858020E6-CA8A-CB1B-5FAE-37ABD6F18E5F}"/>
              </a:ext>
            </a:extLst>
          </p:cNvPr>
          <p:cNvSpPr>
            <a:spLocks noGrp="1" noChangeArrowheads="1"/>
          </p:cNvSpPr>
          <p:nvPr>
            <p:ph type="title"/>
          </p:nvPr>
        </p:nvSpPr>
        <p:spPr>
          <a:xfrm>
            <a:off x="1691680" y="905039"/>
            <a:ext cx="6570662" cy="1049338"/>
          </a:xfrm>
        </p:spPr>
        <p:txBody>
          <a:bodyPr vert="horz" lIns="91440" tIns="91440" rIns="91440" bIns="91440" rtlCol="0">
            <a:normAutofit fontScale="92500"/>
          </a:bodyPr>
          <a:lstStyle/>
          <a:p>
            <a:pPr>
              <a:spcBef>
                <a:spcPts val="1000"/>
              </a:spcBef>
              <a:buClr>
                <a:schemeClr val="tx1"/>
              </a:buClr>
              <a:buSzPct val="100000"/>
              <a:buFont typeface="Arial" panose="020B0604020202020204" pitchFamily="34" charset="0"/>
            </a:pPr>
            <a:r>
              <a:rPr lang="zh-CN" altLang="en-US" sz="4000" b="1" dirty="0">
                <a:latin typeface="华文行楷" pitchFamily="2" charset="-122"/>
                <a:ea typeface="华文行楷" pitchFamily="2" charset="-122"/>
                <a:cs typeface="+mn-cs"/>
              </a:rPr>
              <a:t>部分电容的结构和特点</a:t>
            </a:r>
          </a:p>
        </p:txBody>
      </p:sp>
      <p:pic>
        <p:nvPicPr>
          <p:cNvPr id="7" name="图片 6">
            <a:extLst>
              <a:ext uri="{FF2B5EF4-FFF2-40B4-BE49-F238E27FC236}">
                <a16:creationId xmlns:a16="http://schemas.microsoft.com/office/drawing/2014/main" id="{12FD7AB5-054D-6132-694D-DC278E3E1A9C}"/>
              </a:ext>
            </a:extLst>
          </p:cNvPr>
          <p:cNvPicPr>
            <a:picLocks noChangeAspect="1"/>
          </p:cNvPicPr>
          <p:nvPr/>
        </p:nvPicPr>
        <p:blipFill>
          <a:blip r:embed="rId2"/>
          <a:stretch>
            <a:fillRect/>
          </a:stretch>
        </p:blipFill>
        <p:spPr>
          <a:xfrm>
            <a:off x="279621" y="1551758"/>
            <a:ext cx="4012294" cy="1440000"/>
          </a:xfrm>
          <a:prstGeom prst="rect">
            <a:avLst/>
          </a:prstGeom>
        </p:spPr>
      </p:pic>
      <p:pic>
        <p:nvPicPr>
          <p:cNvPr id="9" name="图片 8">
            <a:extLst>
              <a:ext uri="{FF2B5EF4-FFF2-40B4-BE49-F238E27FC236}">
                <a16:creationId xmlns:a16="http://schemas.microsoft.com/office/drawing/2014/main" id="{D5A88E70-6D81-32C5-DC9C-EC9D690CD5DF}"/>
              </a:ext>
            </a:extLst>
          </p:cNvPr>
          <p:cNvPicPr>
            <a:picLocks noChangeAspect="1"/>
          </p:cNvPicPr>
          <p:nvPr/>
        </p:nvPicPr>
        <p:blipFill>
          <a:blip r:embed="rId3"/>
          <a:stretch>
            <a:fillRect/>
          </a:stretch>
        </p:blipFill>
        <p:spPr>
          <a:xfrm>
            <a:off x="4519916" y="3066443"/>
            <a:ext cx="4304292" cy="1440000"/>
          </a:xfrm>
          <a:prstGeom prst="rect">
            <a:avLst/>
          </a:prstGeom>
        </p:spPr>
      </p:pic>
      <p:pic>
        <p:nvPicPr>
          <p:cNvPr id="11" name="图片 10">
            <a:extLst>
              <a:ext uri="{FF2B5EF4-FFF2-40B4-BE49-F238E27FC236}">
                <a16:creationId xmlns:a16="http://schemas.microsoft.com/office/drawing/2014/main" id="{74A27A99-D0CF-2EC0-7944-87D9EADDAC39}"/>
              </a:ext>
            </a:extLst>
          </p:cNvPr>
          <p:cNvPicPr>
            <a:picLocks noChangeAspect="1"/>
          </p:cNvPicPr>
          <p:nvPr/>
        </p:nvPicPr>
        <p:blipFill>
          <a:blip r:embed="rId4"/>
          <a:stretch>
            <a:fillRect/>
          </a:stretch>
        </p:blipFill>
        <p:spPr>
          <a:xfrm>
            <a:off x="4519916" y="1528185"/>
            <a:ext cx="4430511" cy="1440000"/>
          </a:xfrm>
          <a:prstGeom prst="rect">
            <a:avLst/>
          </a:prstGeom>
        </p:spPr>
      </p:pic>
      <p:pic>
        <p:nvPicPr>
          <p:cNvPr id="13" name="图片 12">
            <a:extLst>
              <a:ext uri="{FF2B5EF4-FFF2-40B4-BE49-F238E27FC236}">
                <a16:creationId xmlns:a16="http://schemas.microsoft.com/office/drawing/2014/main" id="{013C8EC3-F468-19E9-5CE3-62AC186E5217}"/>
              </a:ext>
            </a:extLst>
          </p:cNvPr>
          <p:cNvPicPr>
            <a:picLocks noChangeAspect="1"/>
          </p:cNvPicPr>
          <p:nvPr/>
        </p:nvPicPr>
        <p:blipFill>
          <a:blip r:embed="rId5"/>
          <a:stretch>
            <a:fillRect/>
          </a:stretch>
        </p:blipFill>
        <p:spPr>
          <a:xfrm>
            <a:off x="279621" y="2991758"/>
            <a:ext cx="4060878" cy="1589370"/>
          </a:xfrm>
          <a:prstGeom prst="rect">
            <a:avLst/>
          </a:prstGeom>
        </p:spPr>
      </p:pic>
      <p:pic>
        <p:nvPicPr>
          <p:cNvPr id="15" name="图片 14">
            <a:extLst>
              <a:ext uri="{FF2B5EF4-FFF2-40B4-BE49-F238E27FC236}">
                <a16:creationId xmlns:a16="http://schemas.microsoft.com/office/drawing/2014/main" id="{4000AD0A-9E57-305A-2CE3-E9BF68612929}"/>
              </a:ext>
            </a:extLst>
          </p:cNvPr>
          <p:cNvPicPr>
            <a:picLocks noChangeAspect="1"/>
          </p:cNvPicPr>
          <p:nvPr/>
        </p:nvPicPr>
        <p:blipFill>
          <a:blip r:embed="rId6"/>
          <a:stretch>
            <a:fillRect/>
          </a:stretch>
        </p:blipFill>
        <p:spPr>
          <a:xfrm>
            <a:off x="279621" y="4561994"/>
            <a:ext cx="4156295" cy="1440000"/>
          </a:xfrm>
          <a:prstGeom prst="rect">
            <a:avLst/>
          </a:prstGeom>
        </p:spPr>
      </p:pic>
      <p:pic>
        <p:nvPicPr>
          <p:cNvPr id="17" name="图片 16">
            <a:extLst>
              <a:ext uri="{FF2B5EF4-FFF2-40B4-BE49-F238E27FC236}">
                <a16:creationId xmlns:a16="http://schemas.microsoft.com/office/drawing/2014/main" id="{E4012B82-3053-F549-19D6-8950FD903B6F}"/>
              </a:ext>
            </a:extLst>
          </p:cNvPr>
          <p:cNvPicPr>
            <a:picLocks noChangeAspect="1"/>
          </p:cNvPicPr>
          <p:nvPr/>
        </p:nvPicPr>
        <p:blipFill>
          <a:blip r:embed="rId7"/>
          <a:stretch>
            <a:fillRect/>
          </a:stretch>
        </p:blipFill>
        <p:spPr>
          <a:xfrm>
            <a:off x="4545090" y="4526619"/>
            <a:ext cx="4336107" cy="1440000"/>
          </a:xfrm>
          <a:prstGeom prst="rect">
            <a:avLst/>
          </a:prstGeom>
        </p:spPr>
      </p:pic>
    </p:spTree>
    <p:extLst>
      <p:ext uri="{BB962C8B-B14F-4D97-AF65-F5344CB8AC3E}">
        <p14:creationId xmlns:p14="http://schemas.microsoft.com/office/powerpoint/2010/main" val="215223747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ctrTitle"/>
          </p:nvPr>
        </p:nvSpPr>
        <p:spPr>
          <a:xfrm>
            <a:off x="533400" y="1066800"/>
            <a:ext cx="5029200" cy="609600"/>
          </a:xfrm>
        </p:spPr>
        <p:txBody>
          <a:bodyPr>
            <a:normAutofit fontScale="90000"/>
          </a:bodyPr>
          <a:lstStyle/>
          <a:p>
            <a:br>
              <a:rPr lang="zh-CN" altLang="en-US">
                <a:ea typeface="华文行楷" pitchFamily="2" charset="-122"/>
              </a:rPr>
            </a:br>
            <a:endParaRPr lang="zh-CN" altLang="en-US">
              <a:ea typeface="华文行楷" pitchFamily="2" charset="-122"/>
            </a:endParaRPr>
          </a:p>
        </p:txBody>
      </p:sp>
      <p:sp>
        <p:nvSpPr>
          <p:cNvPr id="2" name="灯片编号占位符 1">
            <a:extLst>
              <a:ext uri="{FF2B5EF4-FFF2-40B4-BE49-F238E27FC236}">
                <a16:creationId xmlns:a16="http://schemas.microsoft.com/office/drawing/2014/main" id="{3994375D-7465-7C8C-3FCC-92102FFEDAB7}"/>
              </a:ext>
            </a:extLst>
          </p:cNvPr>
          <p:cNvSpPr>
            <a:spLocks noGrp="1"/>
          </p:cNvSpPr>
          <p:nvPr>
            <p:ph type="sldNum" sz="quarter" idx="12"/>
          </p:nvPr>
        </p:nvSpPr>
        <p:spPr/>
        <p:txBody>
          <a:bodyPr/>
          <a:lstStyle/>
          <a:p>
            <a:pPr>
              <a:defRPr/>
            </a:pPr>
            <a:fld id="{47A4CA45-135E-4AE6-A55B-F30C83FDB90E}" type="slidenum">
              <a:rPr lang="zh-CN" altLang="en-US" smtClean="0"/>
              <a:pPr>
                <a:defRPr/>
              </a:pPr>
              <a:t>44</a:t>
            </a:fld>
            <a:endParaRPr lang="en-US" altLang="zh-CN"/>
          </a:p>
        </p:txBody>
      </p:sp>
      <p:sp>
        <p:nvSpPr>
          <p:cNvPr id="51204" name="Rectangle 4"/>
          <p:cNvSpPr>
            <a:spLocks noChangeArrowheads="1"/>
          </p:cNvSpPr>
          <p:nvPr/>
        </p:nvSpPr>
        <p:spPr bwMode="auto">
          <a:xfrm>
            <a:off x="1066800" y="2057400"/>
            <a:ext cx="8077200" cy="1219200"/>
          </a:xfrm>
          <a:prstGeom prst="rect">
            <a:avLst/>
          </a:prstGeom>
          <a:noFill/>
          <a:ln w="9525">
            <a:noFill/>
            <a:miter lim="800000"/>
            <a:headEnd/>
            <a:tailEnd/>
          </a:ln>
          <a:effectLst/>
        </p:spPr>
        <p:txBody>
          <a:bodyPr/>
          <a:lstStyle/>
          <a:p>
            <a:pPr lvl="1">
              <a:spcBef>
                <a:spcPct val="20000"/>
              </a:spcBef>
              <a:buFontTx/>
              <a:buBlip>
                <a:blip r:embed="rId2"/>
              </a:buBlip>
            </a:pPr>
            <a:endParaRPr lang="zh-TW" sz="2800" b="1">
              <a:solidFill>
                <a:srgbClr val="008000"/>
              </a:solidFill>
              <a:effectLst>
                <a:outerShdw blurRad="38100" dist="38100" dir="2700000" algn="tl">
                  <a:srgbClr val="000000"/>
                </a:outerShdw>
              </a:effectLst>
              <a:latin typeface="楷体_GB2312" pitchFamily="49" charset="-122"/>
              <a:ea typeface="楷体_GB2312" pitchFamily="49" charset="-122"/>
            </a:endParaRPr>
          </a:p>
        </p:txBody>
      </p:sp>
      <p:sp>
        <p:nvSpPr>
          <p:cNvPr id="51205" name="Rectangle 5"/>
          <p:cNvSpPr>
            <a:spLocks noChangeArrowheads="1"/>
          </p:cNvSpPr>
          <p:nvPr/>
        </p:nvSpPr>
        <p:spPr bwMode="auto">
          <a:xfrm>
            <a:off x="1143000" y="3962400"/>
            <a:ext cx="7620000" cy="914400"/>
          </a:xfrm>
          <a:prstGeom prst="rect">
            <a:avLst/>
          </a:prstGeom>
          <a:noFill/>
          <a:ln w="9525">
            <a:noFill/>
            <a:miter lim="800000"/>
            <a:headEnd/>
            <a:tailEnd/>
          </a:ln>
          <a:effectLst/>
        </p:spPr>
        <p:txBody>
          <a:bodyPr/>
          <a:lstStyle/>
          <a:p>
            <a:pPr>
              <a:spcBef>
                <a:spcPct val="20000"/>
              </a:spcBef>
              <a:buFont typeface="Wingdings" pitchFamily="2" charset="2"/>
              <a:buNone/>
            </a:pPr>
            <a:endParaRPr lang="zh-CN" altLang="en-US" sz="2000">
              <a:latin typeface="楷体_GB2312" pitchFamily="49" charset="-122"/>
              <a:ea typeface="楷体_GB2312" pitchFamily="49" charset="-122"/>
            </a:endParaRPr>
          </a:p>
        </p:txBody>
      </p:sp>
      <p:pic>
        <p:nvPicPr>
          <p:cNvPr id="51206" name="Picture 6"/>
          <p:cNvPicPr>
            <a:picLocks noChangeAspect="1" noChangeArrowheads="1"/>
          </p:cNvPicPr>
          <p:nvPr/>
        </p:nvPicPr>
        <p:blipFill>
          <a:blip r:embed="rId3" cstate="print"/>
          <a:srcRect/>
          <a:stretch>
            <a:fillRect/>
          </a:stretch>
        </p:blipFill>
        <p:spPr bwMode="auto">
          <a:xfrm>
            <a:off x="408488" y="471600"/>
            <a:ext cx="2598496" cy="1800000"/>
          </a:xfrm>
          <a:prstGeom prst="rect">
            <a:avLst/>
          </a:prstGeom>
          <a:noFill/>
          <a:ln w="9525">
            <a:noFill/>
            <a:miter lim="800000"/>
            <a:headEnd/>
            <a:tailEnd/>
          </a:ln>
        </p:spPr>
      </p:pic>
      <p:pic>
        <p:nvPicPr>
          <p:cNvPr id="51207" name="Picture 7"/>
          <p:cNvPicPr>
            <a:picLocks noChangeAspect="1" noChangeArrowheads="1"/>
          </p:cNvPicPr>
          <p:nvPr/>
        </p:nvPicPr>
        <p:blipFill>
          <a:blip r:embed="rId4" cstate="print"/>
          <a:srcRect/>
          <a:stretch>
            <a:fillRect/>
          </a:stretch>
        </p:blipFill>
        <p:spPr bwMode="auto">
          <a:xfrm>
            <a:off x="5896808" y="471146"/>
            <a:ext cx="2533333" cy="1800000"/>
          </a:xfrm>
          <a:prstGeom prst="rect">
            <a:avLst/>
          </a:prstGeom>
          <a:noFill/>
          <a:ln w="9525">
            <a:noFill/>
            <a:miter lim="800000"/>
            <a:headEnd/>
            <a:tailEnd/>
          </a:ln>
        </p:spPr>
      </p:pic>
      <p:sp>
        <p:nvSpPr>
          <p:cNvPr id="51208" name="Text Box 8"/>
          <p:cNvSpPr txBox="1">
            <a:spLocks noChangeArrowheads="1"/>
          </p:cNvSpPr>
          <p:nvPr/>
        </p:nvSpPr>
        <p:spPr bwMode="auto">
          <a:xfrm>
            <a:off x="6356533" y="2012383"/>
            <a:ext cx="2416175" cy="517525"/>
          </a:xfrm>
          <a:prstGeom prst="rect">
            <a:avLst/>
          </a:prstGeom>
          <a:noFill/>
          <a:ln w="9525">
            <a:noFill/>
            <a:miter lim="800000"/>
            <a:headEnd/>
            <a:tailEnd/>
          </a:ln>
          <a:effectLst/>
        </p:spPr>
        <p:txBody>
          <a:bodyPr>
            <a:spAutoFit/>
          </a:bodyPr>
          <a:lstStyle/>
          <a:p>
            <a:r>
              <a:rPr lang="zh-CN" altLang="en-US" sz="2800" b="1" dirty="0">
                <a:latin typeface="Times New Roman" pitchFamily="18" charset="0"/>
              </a:rPr>
              <a:t>铝电解电容</a:t>
            </a:r>
          </a:p>
        </p:txBody>
      </p:sp>
      <p:pic>
        <p:nvPicPr>
          <p:cNvPr id="51209" name="Picture 9"/>
          <p:cNvPicPr>
            <a:picLocks noChangeAspect="1" noChangeArrowheads="1"/>
          </p:cNvPicPr>
          <p:nvPr/>
        </p:nvPicPr>
        <p:blipFill>
          <a:blip r:embed="rId5" cstate="print"/>
          <a:srcRect/>
          <a:stretch>
            <a:fillRect/>
          </a:stretch>
        </p:blipFill>
        <p:spPr bwMode="auto">
          <a:xfrm>
            <a:off x="396604" y="4040643"/>
            <a:ext cx="2618181" cy="1800000"/>
          </a:xfrm>
          <a:prstGeom prst="rect">
            <a:avLst/>
          </a:prstGeom>
          <a:noFill/>
          <a:ln w="9525">
            <a:noFill/>
            <a:miter lim="800000"/>
            <a:headEnd/>
            <a:tailEnd/>
          </a:ln>
        </p:spPr>
      </p:pic>
      <p:sp>
        <p:nvSpPr>
          <p:cNvPr id="51210" name="Rectangle 10"/>
          <p:cNvSpPr>
            <a:spLocks noChangeArrowheads="1"/>
          </p:cNvSpPr>
          <p:nvPr/>
        </p:nvSpPr>
        <p:spPr bwMode="auto">
          <a:xfrm>
            <a:off x="827584" y="5660123"/>
            <a:ext cx="2641600" cy="517525"/>
          </a:xfrm>
          <a:prstGeom prst="rect">
            <a:avLst/>
          </a:prstGeom>
          <a:noFill/>
          <a:ln w="9525">
            <a:noFill/>
            <a:miter lim="800000"/>
            <a:headEnd/>
            <a:tailEnd/>
          </a:ln>
          <a:effectLst/>
        </p:spPr>
        <p:txBody>
          <a:bodyPr>
            <a:spAutoFit/>
          </a:bodyPr>
          <a:lstStyle/>
          <a:p>
            <a:r>
              <a:rPr lang="zh-CN" altLang="en-US" sz="2800" b="1" dirty="0">
                <a:latin typeface="Times New Roman" pitchFamily="18" charset="0"/>
              </a:rPr>
              <a:t>钽电解电容</a:t>
            </a:r>
          </a:p>
        </p:txBody>
      </p:sp>
      <p:pic>
        <p:nvPicPr>
          <p:cNvPr id="51211" name="Picture 11"/>
          <p:cNvPicPr>
            <a:picLocks noChangeAspect="1" noChangeArrowheads="1"/>
          </p:cNvPicPr>
          <p:nvPr/>
        </p:nvPicPr>
        <p:blipFill>
          <a:blip r:embed="rId6" cstate="print"/>
          <a:srcRect/>
          <a:stretch>
            <a:fillRect/>
          </a:stretch>
        </p:blipFill>
        <p:spPr bwMode="auto">
          <a:xfrm>
            <a:off x="5932376" y="4039057"/>
            <a:ext cx="2533333" cy="1800000"/>
          </a:xfrm>
          <a:prstGeom prst="rect">
            <a:avLst/>
          </a:prstGeom>
          <a:noFill/>
          <a:ln w="9525">
            <a:noFill/>
            <a:miter lim="800000"/>
            <a:headEnd/>
            <a:tailEnd/>
          </a:ln>
          <a:effectLst/>
        </p:spPr>
      </p:pic>
      <p:sp>
        <p:nvSpPr>
          <p:cNvPr id="51212" name="Text Box 12"/>
          <p:cNvSpPr txBox="1">
            <a:spLocks noChangeArrowheads="1"/>
          </p:cNvSpPr>
          <p:nvPr/>
        </p:nvSpPr>
        <p:spPr bwMode="auto">
          <a:xfrm>
            <a:off x="6369353" y="5665240"/>
            <a:ext cx="2362200" cy="517525"/>
          </a:xfrm>
          <a:prstGeom prst="rect">
            <a:avLst/>
          </a:prstGeom>
          <a:noFill/>
          <a:ln w="9525">
            <a:noFill/>
            <a:miter lim="800000"/>
            <a:headEnd/>
            <a:tailEnd/>
          </a:ln>
          <a:effectLst/>
        </p:spPr>
        <p:txBody>
          <a:bodyPr>
            <a:spAutoFit/>
          </a:bodyPr>
          <a:lstStyle/>
          <a:p>
            <a:r>
              <a:rPr lang="zh-CN" altLang="en-US" sz="2800" b="1" dirty="0">
                <a:latin typeface="Times New Roman" pitchFamily="18" charset="0"/>
              </a:rPr>
              <a:t>瓷介电容</a:t>
            </a:r>
          </a:p>
        </p:txBody>
      </p:sp>
      <p:pic>
        <p:nvPicPr>
          <p:cNvPr id="51213" name="Picture 13"/>
          <p:cNvPicPr>
            <a:picLocks noChangeAspect="1" noChangeArrowheads="1"/>
          </p:cNvPicPr>
          <p:nvPr/>
        </p:nvPicPr>
        <p:blipFill>
          <a:blip r:embed="rId7" cstate="print"/>
          <a:srcRect/>
          <a:stretch>
            <a:fillRect/>
          </a:stretch>
        </p:blipFill>
        <p:spPr bwMode="auto">
          <a:xfrm>
            <a:off x="3014785" y="2247900"/>
            <a:ext cx="2882023" cy="1800000"/>
          </a:xfrm>
          <a:prstGeom prst="rect">
            <a:avLst/>
          </a:prstGeom>
          <a:noFill/>
          <a:ln w="9525">
            <a:noFill/>
            <a:miter lim="800000"/>
            <a:headEnd/>
            <a:tailEnd/>
          </a:ln>
        </p:spPr>
      </p:pic>
      <p:sp>
        <p:nvSpPr>
          <p:cNvPr id="51214" name="Text Box 14"/>
          <p:cNvSpPr txBox="1">
            <a:spLocks noChangeArrowheads="1"/>
          </p:cNvSpPr>
          <p:nvPr/>
        </p:nvSpPr>
        <p:spPr bwMode="auto">
          <a:xfrm>
            <a:off x="3620244" y="4160837"/>
            <a:ext cx="2046288" cy="517525"/>
          </a:xfrm>
          <a:prstGeom prst="rect">
            <a:avLst/>
          </a:prstGeom>
          <a:noFill/>
          <a:ln w="9525">
            <a:noFill/>
            <a:miter lim="800000"/>
            <a:headEnd/>
            <a:tailEnd/>
          </a:ln>
          <a:effectLst/>
        </p:spPr>
        <p:txBody>
          <a:bodyPr>
            <a:spAutoFit/>
          </a:bodyPr>
          <a:lstStyle/>
          <a:p>
            <a:r>
              <a:rPr lang="zh-CN" altLang="en-US" sz="2800" b="1" dirty="0">
                <a:latin typeface="Times New Roman" pitchFamily="18" charset="0"/>
              </a:rPr>
              <a:t>薄膜电容</a:t>
            </a:r>
          </a:p>
        </p:txBody>
      </p:sp>
      <p:sp>
        <p:nvSpPr>
          <p:cNvPr id="51203" name="Rectangle 3"/>
          <p:cNvSpPr>
            <a:spLocks noGrp="1" noChangeArrowheads="1"/>
          </p:cNvSpPr>
          <p:nvPr>
            <p:ph type="subTitle" idx="1"/>
          </p:nvPr>
        </p:nvSpPr>
        <p:spPr>
          <a:xfrm>
            <a:off x="769122" y="2133600"/>
            <a:ext cx="1785938" cy="457200"/>
          </a:xfrm>
        </p:spPr>
        <p:txBody>
          <a:bodyPr>
            <a:normAutofit fontScale="92500" lnSpcReduction="20000"/>
          </a:bodyPr>
          <a:lstStyle/>
          <a:p>
            <a:pPr algn="l">
              <a:lnSpc>
                <a:spcPct val="80000"/>
              </a:lnSpc>
              <a:buClr>
                <a:schemeClr val="tx1"/>
              </a:buClr>
            </a:pPr>
            <a:r>
              <a:rPr lang="zh-CN" altLang="en-US" sz="2800" b="1" dirty="0"/>
              <a:t>独石电容</a:t>
            </a: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ChangeArrowheads="1"/>
          </p:cNvSpPr>
          <p:nvPr/>
        </p:nvSpPr>
        <p:spPr bwMode="auto">
          <a:xfrm>
            <a:off x="0" y="676275"/>
            <a:ext cx="9144000" cy="0"/>
          </a:xfrm>
          <a:prstGeom prst="rect">
            <a:avLst/>
          </a:prstGeom>
          <a:noFill/>
          <a:ln w="9525">
            <a:noFill/>
            <a:miter lim="800000"/>
            <a:headEnd/>
            <a:tailEnd/>
          </a:ln>
          <a:effectLst/>
        </p:spPr>
        <p:txBody>
          <a:bodyPr wrap="none" anchor="ctr">
            <a:spAutoFit/>
          </a:bodyPr>
          <a:lstStyle/>
          <a:p>
            <a:endParaRPr lang="zh-CN" altLang="en-US"/>
          </a:p>
        </p:txBody>
      </p:sp>
      <p:graphicFrame>
        <p:nvGraphicFramePr>
          <p:cNvPr id="53251" name="Object 3"/>
          <p:cNvGraphicFramePr>
            <a:graphicFrameLocks noChangeAspect="1"/>
          </p:cNvGraphicFramePr>
          <p:nvPr/>
        </p:nvGraphicFramePr>
        <p:xfrm>
          <a:off x="323850" y="0"/>
          <a:ext cx="3059113" cy="5805488"/>
        </p:xfrm>
        <a:graphic>
          <a:graphicData uri="http://schemas.openxmlformats.org/presentationml/2006/ole">
            <mc:AlternateContent xmlns:mc="http://schemas.openxmlformats.org/markup-compatibility/2006">
              <mc:Choice xmlns:v="urn:schemas-microsoft-com:vml" Requires="v">
                <p:oleObj r:id="rId2" imgW="3062021" imgH="7464247" progId="Visio.Drawing.11">
                  <p:embed/>
                </p:oleObj>
              </mc:Choice>
              <mc:Fallback>
                <p:oleObj r:id="rId2" imgW="3062021" imgH="7464247" progId="Visio.Drawing.11">
                  <p:embed/>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0"/>
                        <a:ext cx="3059113" cy="58054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53252" name="Picture 4" descr="XX电容"/>
          <p:cNvPicPr>
            <a:picLocks noChangeAspect="1" noChangeArrowheads="1"/>
          </p:cNvPicPr>
          <p:nvPr/>
        </p:nvPicPr>
        <p:blipFill>
          <a:blip r:embed="rId4" cstate="print"/>
          <a:srcRect/>
          <a:stretch>
            <a:fillRect/>
          </a:stretch>
        </p:blipFill>
        <p:spPr bwMode="auto">
          <a:xfrm>
            <a:off x="3924300" y="188913"/>
            <a:ext cx="5040313" cy="5400675"/>
          </a:xfrm>
          <a:prstGeom prst="rect">
            <a:avLst/>
          </a:prstGeom>
          <a:noFill/>
          <a:ln w="9525">
            <a:noFill/>
            <a:miter lim="800000"/>
            <a:headEnd/>
            <a:tailEnd/>
          </a:ln>
        </p:spPr>
      </p:pic>
      <p:sp>
        <p:nvSpPr>
          <p:cNvPr id="53253" name="Text Box 5"/>
          <p:cNvSpPr txBox="1">
            <a:spLocks noChangeArrowheads="1"/>
          </p:cNvSpPr>
          <p:nvPr/>
        </p:nvSpPr>
        <p:spPr bwMode="auto">
          <a:xfrm>
            <a:off x="863600" y="5589588"/>
            <a:ext cx="2663825" cy="517525"/>
          </a:xfrm>
          <a:prstGeom prst="rect">
            <a:avLst/>
          </a:prstGeom>
          <a:noFill/>
          <a:ln w="9525">
            <a:noFill/>
            <a:miter lim="800000"/>
            <a:headEnd/>
            <a:tailEnd/>
          </a:ln>
          <a:effectLst/>
        </p:spPr>
        <p:txBody>
          <a:bodyPr>
            <a:spAutoFit/>
          </a:bodyPr>
          <a:lstStyle>
            <a:defPPr>
              <a:defRPr lang="en-US"/>
            </a:defPPr>
            <a:lvl1pPr>
              <a:defRPr sz="2800" b="1">
                <a:latin typeface="Times New Roman" pitchFamily="18" charset="0"/>
              </a:defRPr>
            </a:lvl1pPr>
          </a:lstStyle>
          <a:p>
            <a:r>
              <a:rPr lang="zh-CN" altLang="en-US" dirty="0"/>
              <a:t>铝电解电容</a:t>
            </a:r>
          </a:p>
        </p:txBody>
      </p:sp>
      <p:sp>
        <p:nvSpPr>
          <p:cNvPr id="53254" name="Text Box 6"/>
          <p:cNvSpPr txBox="1">
            <a:spLocks noChangeArrowheads="1"/>
          </p:cNvSpPr>
          <p:nvPr/>
        </p:nvSpPr>
        <p:spPr bwMode="auto">
          <a:xfrm>
            <a:off x="5580063" y="5876925"/>
            <a:ext cx="2879725" cy="365125"/>
          </a:xfrm>
          <a:prstGeom prst="rect">
            <a:avLst/>
          </a:prstGeom>
          <a:noFill/>
          <a:ln w="9525">
            <a:noFill/>
            <a:miter lim="800000"/>
            <a:headEnd/>
            <a:tailEnd/>
          </a:ln>
          <a:effectLst/>
        </p:spPr>
        <p:txBody>
          <a:bodyPr>
            <a:spAutoFit/>
          </a:bodyPr>
          <a:lstStyle/>
          <a:p>
            <a:pPr>
              <a:spcBef>
                <a:spcPct val="50000"/>
              </a:spcBef>
            </a:pPr>
            <a:endParaRPr lang="zh-CN" altLang="en-US" sz="1800"/>
          </a:p>
        </p:txBody>
      </p:sp>
      <p:sp>
        <p:nvSpPr>
          <p:cNvPr id="53255" name="Rectangle 7"/>
          <p:cNvSpPr>
            <a:spLocks noChangeArrowheads="1"/>
          </p:cNvSpPr>
          <p:nvPr/>
        </p:nvSpPr>
        <p:spPr bwMode="auto">
          <a:xfrm>
            <a:off x="5364163" y="5661025"/>
            <a:ext cx="3384550" cy="517525"/>
          </a:xfrm>
          <a:prstGeom prst="rect">
            <a:avLst/>
          </a:prstGeom>
          <a:noFill/>
          <a:ln w="9525">
            <a:noFill/>
            <a:miter lim="800000"/>
            <a:headEnd/>
            <a:tailEnd/>
          </a:ln>
          <a:effectLst/>
        </p:spPr>
        <p:txBody>
          <a:bodyPr>
            <a:spAutoFit/>
          </a:bodyPr>
          <a:lstStyle/>
          <a:p>
            <a:r>
              <a:rPr lang="zh-CN" altLang="en-US" sz="2800" b="1" dirty="0">
                <a:latin typeface="Times New Roman" pitchFamily="18" charset="0"/>
              </a:rPr>
              <a:t>无极性薄膜电容</a:t>
            </a:r>
          </a:p>
        </p:txBody>
      </p:sp>
      <p:sp>
        <p:nvSpPr>
          <p:cNvPr id="2" name="灯片编号占位符 1">
            <a:extLst>
              <a:ext uri="{FF2B5EF4-FFF2-40B4-BE49-F238E27FC236}">
                <a16:creationId xmlns:a16="http://schemas.microsoft.com/office/drawing/2014/main" id="{88FEF892-821E-05A4-1743-0EB45281B8B2}"/>
              </a:ext>
            </a:extLst>
          </p:cNvPr>
          <p:cNvSpPr>
            <a:spLocks noGrp="1"/>
          </p:cNvSpPr>
          <p:nvPr>
            <p:ph type="sldNum" sz="quarter" idx="12"/>
          </p:nvPr>
        </p:nvSpPr>
        <p:spPr/>
        <p:txBody>
          <a:bodyPr/>
          <a:lstStyle/>
          <a:p>
            <a:pPr>
              <a:defRPr/>
            </a:pPr>
            <a:fld id="{5FAFB815-62BA-464E-901C-79D108092E38}" type="slidenum">
              <a:rPr lang="zh-CN" altLang="en-US" smtClean="0"/>
              <a:pPr>
                <a:defRPr/>
              </a:pPr>
              <a:t>45</a:t>
            </a:fld>
            <a:endParaRPr lang="en-US" altLang="zh-CN"/>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ctrTitle"/>
          </p:nvPr>
        </p:nvSpPr>
        <p:spPr>
          <a:xfrm>
            <a:off x="533400" y="1066800"/>
            <a:ext cx="5029200" cy="609600"/>
          </a:xfrm>
        </p:spPr>
        <p:txBody>
          <a:bodyPr>
            <a:normAutofit fontScale="90000"/>
          </a:bodyPr>
          <a:lstStyle/>
          <a:p>
            <a:br>
              <a:rPr lang="zh-CN" altLang="en-US">
                <a:ea typeface="华文行楷" pitchFamily="2" charset="-122"/>
              </a:rPr>
            </a:br>
            <a:endParaRPr lang="zh-CN" altLang="en-US">
              <a:ea typeface="华文行楷" pitchFamily="2" charset="-122"/>
            </a:endParaRPr>
          </a:p>
        </p:txBody>
      </p:sp>
      <p:sp>
        <p:nvSpPr>
          <p:cNvPr id="59395" name="Rectangle 3"/>
          <p:cNvSpPr>
            <a:spLocks noGrp="1" noChangeArrowheads="1"/>
          </p:cNvSpPr>
          <p:nvPr>
            <p:ph type="subTitle" idx="1"/>
          </p:nvPr>
        </p:nvSpPr>
        <p:spPr>
          <a:xfrm>
            <a:off x="1066800" y="3624525"/>
            <a:ext cx="2746525" cy="1182888"/>
          </a:xfrm>
          <a:noFill/>
          <a:ln w="9525">
            <a:noFill/>
            <a:miter lim="800000"/>
            <a:headEnd/>
            <a:tailEnd/>
          </a:ln>
          <a:effectLst/>
        </p:spPr>
        <p:txBody>
          <a:bodyPr wrap="square">
            <a:spAutoFit/>
          </a:bodyPr>
          <a:lstStyle/>
          <a:p>
            <a:pPr algn="ctr" defTabSz="457200"/>
            <a:r>
              <a:rPr lang="zh-CN" altLang="en-US" sz="2800" b="1" dirty="0">
                <a:latin typeface="Times New Roman" pitchFamily="18" charset="0"/>
              </a:rPr>
              <a:t>电解电容器有正负极之分</a:t>
            </a:r>
          </a:p>
        </p:txBody>
      </p:sp>
      <p:sp>
        <p:nvSpPr>
          <p:cNvPr id="2" name="灯片编号占位符 1">
            <a:extLst>
              <a:ext uri="{FF2B5EF4-FFF2-40B4-BE49-F238E27FC236}">
                <a16:creationId xmlns:a16="http://schemas.microsoft.com/office/drawing/2014/main" id="{799165CA-F248-2B40-E6A0-B3B45DAB9710}"/>
              </a:ext>
            </a:extLst>
          </p:cNvPr>
          <p:cNvSpPr>
            <a:spLocks noGrp="1"/>
          </p:cNvSpPr>
          <p:nvPr>
            <p:ph type="sldNum" sz="quarter" idx="12"/>
          </p:nvPr>
        </p:nvSpPr>
        <p:spPr/>
        <p:txBody>
          <a:bodyPr/>
          <a:lstStyle/>
          <a:p>
            <a:pPr>
              <a:defRPr/>
            </a:pPr>
            <a:fld id="{47A4CA45-135E-4AE6-A55B-F30C83FDB90E}" type="slidenum">
              <a:rPr lang="zh-CN" altLang="en-US" smtClean="0"/>
              <a:pPr>
                <a:defRPr/>
              </a:pPr>
              <a:t>46</a:t>
            </a:fld>
            <a:endParaRPr lang="en-US" altLang="zh-CN"/>
          </a:p>
        </p:txBody>
      </p:sp>
      <p:sp>
        <p:nvSpPr>
          <p:cNvPr id="59396" name="Rectangle 4"/>
          <p:cNvSpPr>
            <a:spLocks noChangeArrowheads="1"/>
          </p:cNvSpPr>
          <p:nvPr/>
        </p:nvSpPr>
        <p:spPr bwMode="auto">
          <a:xfrm>
            <a:off x="1066800" y="2057400"/>
            <a:ext cx="8077200" cy="1219200"/>
          </a:xfrm>
          <a:prstGeom prst="rect">
            <a:avLst/>
          </a:prstGeom>
          <a:noFill/>
          <a:ln w="9525">
            <a:noFill/>
            <a:miter lim="800000"/>
            <a:headEnd/>
            <a:tailEnd/>
          </a:ln>
          <a:effectLst/>
        </p:spPr>
        <p:txBody>
          <a:bodyPr/>
          <a:lstStyle/>
          <a:p>
            <a:pPr lvl="1">
              <a:spcBef>
                <a:spcPct val="20000"/>
              </a:spcBef>
              <a:buFontTx/>
              <a:buBlip>
                <a:blip r:embed="rId2"/>
              </a:buBlip>
            </a:pPr>
            <a:endParaRPr lang="zh-TW" sz="2800" b="1">
              <a:solidFill>
                <a:srgbClr val="008000"/>
              </a:solidFill>
              <a:effectLst>
                <a:outerShdw blurRad="38100" dist="38100" dir="2700000" algn="tl">
                  <a:srgbClr val="000000"/>
                </a:outerShdw>
              </a:effectLst>
              <a:latin typeface="楷体_GB2312" pitchFamily="49" charset="-122"/>
              <a:ea typeface="楷体_GB2312" pitchFamily="49" charset="-122"/>
            </a:endParaRPr>
          </a:p>
        </p:txBody>
      </p:sp>
      <p:sp>
        <p:nvSpPr>
          <p:cNvPr id="59397" name="Rectangle 5"/>
          <p:cNvSpPr>
            <a:spLocks noChangeArrowheads="1"/>
          </p:cNvSpPr>
          <p:nvPr/>
        </p:nvSpPr>
        <p:spPr bwMode="auto">
          <a:xfrm>
            <a:off x="1143000" y="3962400"/>
            <a:ext cx="7620000" cy="914400"/>
          </a:xfrm>
          <a:prstGeom prst="rect">
            <a:avLst/>
          </a:prstGeom>
          <a:noFill/>
          <a:ln w="9525">
            <a:noFill/>
            <a:miter lim="800000"/>
            <a:headEnd/>
            <a:tailEnd/>
          </a:ln>
          <a:effectLst/>
        </p:spPr>
        <p:txBody>
          <a:bodyPr/>
          <a:lstStyle/>
          <a:p>
            <a:pPr>
              <a:spcBef>
                <a:spcPct val="20000"/>
              </a:spcBef>
              <a:buFont typeface="Wingdings" pitchFamily="2" charset="2"/>
              <a:buNone/>
            </a:pPr>
            <a:endParaRPr lang="zh-CN" altLang="en-US" sz="2000">
              <a:latin typeface="楷体_GB2312" pitchFamily="49" charset="-122"/>
              <a:ea typeface="楷体_GB2312" pitchFamily="49" charset="-122"/>
            </a:endParaRPr>
          </a:p>
        </p:txBody>
      </p:sp>
      <p:pic>
        <p:nvPicPr>
          <p:cNvPr id="59398" name="Picture 6" descr="电解电容5"/>
          <p:cNvPicPr>
            <a:picLocks noChangeAspect="1" noChangeArrowheads="1"/>
          </p:cNvPicPr>
          <p:nvPr/>
        </p:nvPicPr>
        <p:blipFill>
          <a:blip r:embed="rId3" cstate="print"/>
          <a:srcRect/>
          <a:stretch>
            <a:fillRect/>
          </a:stretch>
        </p:blipFill>
        <p:spPr bwMode="auto">
          <a:xfrm>
            <a:off x="687307" y="1044661"/>
            <a:ext cx="3283147" cy="2462360"/>
          </a:xfrm>
          <a:prstGeom prst="rect">
            <a:avLst/>
          </a:prstGeom>
          <a:noFill/>
          <a:ln w="9525">
            <a:noFill/>
            <a:miter lim="800000"/>
            <a:headEnd/>
            <a:tailEnd/>
          </a:ln>
        </p:spPr>
      </p:pic>
      <p:pic>
        <p:nvPicPr>
          <p:cNvPr id="60422" name="Picture 6" descr="铝电解电容1"/>
          <p:cNvPicPr>
            <a:picLocks noChangeAspect="1" noChangeArrowheads="1"/>
          </p:cNvPicPr>
          <p:nvPr/>
        </p:nvPicPr>
        <p:blipFill>
          <a:blip r:embed="rId4" cstate="print"/>
          <a:srcRect/>
          <a:stretch>
            <a:fillRect/>
          </a:stretch>
        </p:blipFill>
        <p:spPr bwMode="auto">
          <a:xfrm>
            <a:off x="4937739" y="1037909"/>
            <a:ext cx="3307093" cy="2480320"/>
          </a:xfrm>
          <a:prstGeom prst="rect">
            <a:avLst/>
          </a:prstGeom>
          <a:noFill/>
          <a:ln w="9525">
            <a:noFill/>
            <a:miter lim="800000"/>
            <a:headEnd/>
            <a:tailEnd/>
          </a:ln>
        </p:spPr>
      </p:pic>
      <p:sp>
        <p:nvSpPr>
          <p:cNvPr id="3" name="Rectangle 3">
            <a:extLst>
              <a:ext uri="{FF2B5EF4-FFF2-40B4-BE49-F238E27FC236}">
                <a16:creationId xmlns:a16="http://schemas.microsoft.com/office/drawing/2014/main" id="{61D3C6E6-F874-B23F-D044-F803B7D284C6}"/>
              </a:ext>
            </a:extLst>
          </p:cNvPr>
          <p:cNvSpPr txBox="1">
            <a:spLocks noChangeArrowheads="1"/>
          </p:cNvSpPr>
          <p:nvPr/>
        </p:nvSpPr>
        <p:spPr>
          <a:xfrm>
            <a:off x="5105400" y="3747603"/>
            <a:ext cx="3139432" cy="954107"/>
          </a:xfrm>
          <a:prstGeom prst="rect">
            <a:avLst/>
          </a:prstGeom>
          <a:noFill/>
          <a:ln w="9525">
            <a:noFill/>
            <a:miter lim="800000"/>
            <a:headEnd/>
            <a:tailEnd/>
          </a:ln>
          <a:effectLst/>
        </p:spPr>
        <p:txBody>
          <a:bodyPr>
            <a:spAutoFit/>
          </a:bodyPr>
          <a:lstStyle>
            <a:defPPr>
              <a:defRPr lang="en-US"/>
            </a:defPPr>
            <a:lvl1pPr>
              <a:defRPr sz="2800" b="1">
                <a:latin typeface="Times New Roman" pitchFamily="18" charset="0"/>
              </a:defRPr>
            </a:lvl1pPr>
            <a:lvl2pPr marL="342900" indent="0" algn="ctr" defTabSz="685800" rtl="0" eaLnBrk="1" latinLnBrk="0" hangingPunct="1">
              <a:lnSpc>
                <a:spcPct val="120000"/>
              </a:lnSpc>
              <a:spcBef>
                <a:spcPts val="500"/>
              </a:spcBef>
              <a:buClr>
                <a:schemeClr val="accent1"/>
              </a:buClr>
              <a:buSzPct val="100000"/>
              <a:buFont typeface="Arial" panose="020B0604020202020204" pitchFamily="34" charset="0"/>
              <a:buNone/>
              <a:defRPr sz="1500" kern="1200" cap="none" baseline="0">
                <a:solidFill>
                  <a:schemeClr val="tx1"/>
                </a:solidFill>
                <a:effectLst/>
                <a:latin typeface="+mn-lt"/>
                <a:ea typeface="+mn-ea"/>
                <a:cs typeface="+mn-cs"/>
              </a:defRPr>
            </a:lvl2pPr>
            <a:lvl3pPr marL="685800" indent="0" algn="ctr" defTabSz="685800" rtl="0" eaLnBrk="1" latinLnBrk="0" hangingPunct="1">
              <a:lnSpc>
                <a:spcPct val="120000"/>
              </a:lnSpc>
              <a:spcBef>
                <a:spcPts val="500"/>
              </a:spcBef>
              <a:buClr>
                <a:schemeClr val="accent1"/>
              </a:buClr>
              <a:buSzPct val="100000"/>
              <a:buFont typeface="Arial" panose="020B0604020202020204" pitchFamily="34" charset="0"/>
              <a:buNone/>
              <a:defRPr sz="1350" kern="1200" cap="none">
                <a:solidFill>
                  <a:schemeClr val="tx1"/>
                </a:solidFill>
                <a:effectLst/>
                <a:latin typeface="+mn-lt"/>
                <a:ea typeface="+mn-ea"/>
                <a:cs typeface="+mn-cs"/>
              </a:defRPr>
            </a:lvl3pPr>
            <a:lvl4pPr marL="1028700" indent="0" algn="ctr" defTabSz="685800" rtl="0" eaLnBrk="1" latinLnBrk="0" hangingPunct="1">
              <a:lnSpc>
                <a:spcPct val="120000"/>
              </a:lnSpc>
              <a:spcBef>
                <a:spcPts val="500"/>
              </a:spcBef>
              <a:buClr>
                <a:schemeClr val="accent1"/>
              </a:buClr>
              <a:buSzPct val="100000"/>
              <a:buFont typeface="Arial" panose="020B0604020202020204" pitchFamily="34" charset="0"/>
              <a:buNone/>
              <a:defRPr sz="1200" kern="1200" cap="none" baseline="0">
                <a:solidFill>
                  <a:schemeClr val="tx1"/>
                </a:solidFill>
                <a:effectLst/>
                <a:latin typeface="+mn-lt"/>
                <a:ea typeface="+mn-ea"/>
                <a:cs typeface="+mn-cs"/>
              </a:defRPr>
            </a:lvl4pPr>
            <a:lvl5pPr marL="1371600" indent="0" algn="ctr" defTabSz="685800" rtl="0" eaLnBrk="1" latinLnBrk="0" hangingPunct="1">
              <a:lnSpc>
                <a:spcPct val="120000"/>
              </a:lnSpc>
              <a:spcBef>
                <a:spcPts val="500"/>
              </a:spcBef>
              <a:buClr>
                <a:schemeClr val="accent1"/>
              </a:buClr>
              <a:buSzPct val="100000"/>
              <a:buFont typeface="Arial" panose="020B0604020202020204" pitchFamily="34" charset="0"/>
              <a:buNone/>
              <a:defRPr sz="1200" kern="1200" cap="none">
                <a:solidFill>
                  <a:schemeClr val="tx1"/>
                </a:solidFill>
                <a:effectLst/>
                <a:latin typeface="+mn-lt"/>
                <a:ea typeface="+mn-ea"/>
                <a:cs typeface="+mn-cs"/>
              </a:defRPr>
            </a:lvl5pPr>
            <a:lvl6pPr marL="1714500" indent="0" algn="ctr" defTabSz="914400" rtl="0" eaLnBrk="1" latinLnBrk="0" hangingPunct="1">
              <a:lnSpc>
                <a:spcPct val="120000"/>
              </a:lnSpc>
              <a:spcBef>
                <a:spcPts val="500"/>
              </a:spcBef>
              <a:buClr>
                <a:schemeClr val="accent1"/>
              </a:buClr>
              <a:buSzPct val="100000"/>
              <a:buFont typeface="Arial" panose="020B0604020202020204" pitchFamily="34" charset="0"/>
              <a:buNone/>
              <a:defRPr sz="1200" kern="1200">
                <a:solidFill>
                  <a:schemeClr val="tx1"/>
                </a:solidFill>
                <a:effectLst/>
                <a:latin typeface="+mn-lt"/>
                <a:ea typeface="+mn-ea"/>
                <a:cs typeface="+mn-cs"/>
              </a:defRPr>
            </a:lvl6pPr>
            <a:lvl7pPr marL="2057400" indent="0" algn="ctr" defTabSz="914400" rtl="0" eaLnBrk="1" latinLnBrk="0" hangingPunct="1">
              <a:lnSpc>
                <a:spcPct val="120000"/>
              </a:lnSpc>
              <a:spcBef>
                <a:spcPts val="500"/>
              </a:spcBef>
              <a:buClr>
                <a:schemeClr val="accent1"/>
              </a:buClr>
              <a:buSzPct val="100000"/>
              <a:buFont typeface="Arial" panose="020B0604020202020204" pitchFamily="34" charset="0"/>
              <a:buNone/>
              <a:defRPr sz="1200" kern="1200">
                <a:solidFill>
                  <a:schemeClr val="tx1"/>
                </a:solidFill>
                <a:effectLst/>
                <a:latin typeface="+mn-lt"/>
                <a:ea typeface="+mn-ea"/>
                <a:cs typeface="+mn-cs"/>
              </a:defRPr>
            </a:lvl7pPr>
            <a:lvl8pPr marL="2400300" indent="0" algn="ctr" defTabSz="914400" rtl="0" eaLnBrk="1" latinLnBrk="0" hangingPunct="1">
              <a:lnSpc>
                <a:spcPct val="120000"/>
              </a:lnSpc>
              <a:spcBef>
                <a:spcPts val="500"/>
              </a:spcBef>
              <a:buClr>
                <a:schemeClr val="accent1"/>
              </a:buClr>
              <a:buSzPct val="100000"/>
              <a:buFont typeface="Arial" panose="020B0604020202020204" pitchFamily="34" charset="0"/>
              <a:buNone/>
              <a:defRPr sz="1200" kern="1200" baseline="0">
                <a:solidFill>
                  <a:schemeClr val="tx1"/>
                </a:solidFill>
                <a:effectLst/>
                <a:latin typeface="+mn-lt"/>
                <a:ea typeface="+mn-ea"/>
                <a:cs typeface="+mn-cs"/>
              </a:defRPr>
            </a:lvl8pPr>
            <a:lvl9pPr marL="2743200" indent="0" algn="ctr" defTabSz="914400" rtl="0" eaLnBrk="1" latinLnBrk="0" hangingPunct="1">
              <a:lnSpc>
                <a:spcPct val="120000"/>
              </a:lnSpc>
              <a:spcBef>
                <a:spcPts val="500"/>
              </a:spcBef>
              <a:buClr>
                <a:schemeClr val="accent1"/>
              </a:buClr>
              <a:buSzPct val="100000"/>
              <a:buFont typeface="Arial" panose="020B0604020202020204" pitchFamily="34" charset="0"/>
              <a:buNone/>
              <a:defRPr sz="1200" kern="1200" baseline="0">
                <a:solidFill>
                  <a:schemeClr val="tx1"/>
                </a:solidFill>
                <a:effectLst/>
                <a:latin typeface="+mn-lt"/>
                <a:ea typeface="+mn-ea"/>
                <a:cs typeface="+mn-cs"/>
              </a:defRPr>
            </a:lvl9pPr>
          </a:lstStyle>
          <a:p>
            <a:pPr algn="ctr"/>
            <a:r>
              <a:rPr lang="zh-CN" altLang="en-US" dirty="0"/>
              <a:t>电解电容器在电路板上的丝印</a:t>
            </a: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251520" y="174560"/>
            <a:ext cx="8554078" cy="6066812"/>
          </a:xfrm>
        </p:spPr>
        <p:txBody>
          <a:bodyPr>
            <a:normAutofit fontScale="90000"/>
          </a:bodyPr>
          <a:lstStyle/>
          <a:p>
            <a:pPr>
              <a:lnSpc>
                <a:spcPct val="125000"/>
              </a:lnSpc>
              <a:spcBef>
                <a:spcPts val="600"/>
              </a:spcBef>
              <a:spcAft>
                <a:spcPts val="600"/>
              </a:spcAft>
              <a:buFont typeface="Wingdings" panose="05000000000000000000" pitchFamily="2" charset="2"/>
              <a:buNone/>
            </a:pPr>
            <a:r>
              <a:rPr lang="en-US" sz="2900" b="1" dirty="0">
                <a:latin typeface="+mn-lt"/>
                <a:ea typeface="+mn-ea"/>
                <a:cs typeface="+mn-cs"/>
              </a:rPr>
              <a:t>3.</a:t>
            </a:r>
            <a:r>
              <a:rPr lang="zh-CN" altLang="en-US" sz="2900" b="1" dirty="0">
                <a:latin typeface="+mn-lt"/>
                <a:ea typeface="+mn-ea"/>
                <a:cs typeface="+mn-cs"/>
              </a:rPr>
              <a:t>电容的性能参数</a:t>
            </a:r>
            <a:br>
              <a:rPr lang="en-US" altLang="zh-CN" sz="2900" b="1" dirty="0">
                <a:latin typeface="+mn-lt"/>
                <a:ea typeface="+mn-ea"/>
                <a:cs typeface="+mn-cs"/>
              </a:rPr>
            </a:br>
            <a:br>
              <a:rPr lang="en-US" altLang="zh-CN" sz="2400" b="1" dirty="0">
                <a:latin typeface="+mn-lt"/>
                <a:ea typeface="+mn-ea"/>
                <a:cs typeface="+mn-cs"/>
              </a:rPr>
            </a:br>
            <a:r>
              <a:rPr lang="en-US" altLang="zh-CN" sz="2400" b="1" dirty="0">
                <a:latin typeface="+mn-lt"/>
                <a:ea typeface="+mn-ea"/>
                <a:cs typeface="+mn-cs"/>
              </a:rPr>
              <a:t>1)</a:t>
            </a:r>
            <a:r>
              <a:rPr lang="zh-CN" altLang="zh-CN" sz="3100" b="1" dirty="0">
                <a:solidFill>
                  <a:srgbClr val="002060"/>
                </a:solidFill>
                <a:latin typeface="黑体" panose="02010609060101010101" pitchFamily="49" charset="-122"/>
                <a:ea typeface="黑体" panose="02010609060101010101" pitchFamily="49" charset="-122"/>
              </a:rPr>
              <a:t>电容的标称容量</a:t>
            </a:r>
            <a:r>
              <a:rPr lang="zh-CN" altLang="en-US" sz="3100" b="1" dirty="0">
                <a:solidFill>
                  <a:srgbClr val="002060"/>
                </a:solidFill>
                <a:latin typeface="黑体" panose="02010609060101010101" pitchFamily="49" charset="-122"/>
                <a:ea typeface="黑体" panose="02010609060101010101" pitchFamily="49" charset="-122"/>
              </a:rPr>
              <a:t>及允许误差</a:t>
            </a:r>
            <a:br>
              <a:rPr lang="en-US" altLang="zh-CN" sz="3100" b="1" dirty="0">
                <a:solidFill>
                  <a:srgbClr val="002060"/>
                </a:solidFill>
                <a:latin typeface="黑体" panose="02010609060101010101" pitchFamily="49" charset="-122"/>
                <a:ea typeface="黑体" panose="02010609060101010101" pitchFamily="49" charset="-122"/>
              </a:rPr>
            </a:br>
            <a:r>
              <a:rPr lang="en-US" altLang="zh-CN" sz="2400" b="1" dirty="0">
                <a:solidFill>
                  <a:srgbClr val="002060"/>
                </a:solidFill>
                <a:latin typeface="黑体" panose="02010609060101010101" pitchFamily="49" charset="-122"/>
                <a:ea typeface="黑体" panose="02010609060101010101" pitchFamily="49" charset="-122"/>
              </a:rPr>
              <a:t>    </a:t>
            </a:r>
            <a:r>
              <a:rPr lang="zh-CN" altLang="en-US" sz="2400" b="1" dirty="0">
                <a:latin typeface="黑体" panose="02010609060101010101" pitchFamily="49" charset="-122"/>
                <a:ea typeface="黑体" panose="02010609060101010101" pitchFamily="49" charset="-122"/>
              </a:rPr>
              <a:t>电容量是电容器的最基本参数。表在电容器外壳上的电容量数值称为</a:t>
            </a:r>
            <a:r>
              <a:rPr lang="zh-CN" altLang="en-US" sz="2400" b="1" dirty="0">
                <a:solidFill>
                  <a:srgbClr val="C00000"/>
                </a:solidFill>
                <a:latin typeface="黑体" panose="02010609060101010101" pitchFamily="49" charset="-122"/>
                <a:ea typeface="黑体" panose="02010609060101010101" pitchFamily="49" charset="-122"/>
              </a:rPr>
              <a:t>标称电容量</a:t>
            </a:r>
            <a:r>
              <a:rPr lang="zh-CN" altLang="en-US" sz="2400" b="1" dirty="0">
                <a:solidFill>
                  <a:srgbClr val="002060"/>
                </a:solidFill>
                <a:latin typeface="黑体" panose="02010609060101010101" pitchFamily="49" charset="-122"/>
                <a:ea typeface="黑体" panose="02010609060101010101" pitchFamily="49" charset="-122"/>
              </a:rPr>
              <a:t>，是标准化了的电容值。有标准系列规定。</a:t>
            </a:r>
            <a:br>
              <a:rPr lang="zh-CN" altLang="zh-CN" sz="2400" dirty="0">
                <a:latin typeface="黑体" panose="02010609060101010101" pitchFamily="49" charset="-122"/>
                <a:ea typeface="黑体" panose="02010609060101010101" pitchFamily="49" charset="-122"/>
              </a:rPr>
            </a:br>
            <a:r>
              <a:rPr lang="zh-CN" altLang="zh-CN" sz="2400" dirty="0">
                <a:latin typeface="黑体" panose="02010609060101010101" pitchFamily="49" charset="-122"/>
                <a:ea typeface="黑体" panose="02010609060101010101" pitchFamily="49" charset="-122"/>
              </a:rPr>
              <a:t>    电容器</a:t>
            </a:r>
            <a:r>
              <a:rPr lang="zh-CN" altLang="en-US" sz="2400" dirty="0">
                <a:latin typeface="黑体" panose="02010609060101010101" pitchFamily="49" charset="-122"/>
                <a:ea typeface="黑体" panose="02010609060101010101" pitchFamily="49" charset="-122"/>
              </a:rPr>
              <a:t>允许误差</a:t>
            </a:r>
            <a:r>
              <a:rPr lang="zh-CN" altLang="zh-CN" sz="2400" dirty="0">
                <a:latin typeface="黑体" panose="02010609060101010101" pitchFamily="49" charset="-122"/>
                <a:ea typeface="黑体" panose="02010609060101010101" pitchFamily="49" charset="-122"/>
              </a:rPr>
              <a:t>与电阻器的规定相同，但不同种类的电容会使用不同系列，其偏差有±10%、±20%等几种。</a:t>
            </a:r>
            <a:br>
              <a:rPr lang="en-US" altLang="zh-CN" sz="2400" dirty="0">
                <a:latin typeface="黑体" panose="02010609060101010101" pitchFamily="49" charset="-122"/>
                <a:ea typeface="黑体" panose="02010609060101010101" pitchFamily="49" charset="-122"/>
              </a:rPr>
            </a:br>
            <a:r>
              <a:rPr lang="en-US" altLang="zh-CN" sz="2700" b="1" dirty="0">
                <a:solidFill>
                  <a:srgbClr val="002060"/>
                </a:solidFill>
                <a:latin typeface="黑体" panose="02010609060101010101" pitchFamily="49" charset="-122"/>
                <a:ea typeface="黑体" panose="02010609060101010101" pitchFamily="49" charset="-122"/>
              </a:rPr>
              <a:t>2)</a:t>
            </a:r>
            <a:r>
              <a:rPr lang="zh-CN" altLang="en-US" sz="3100" b="1" dirty="0">
                <a:solidFill>
                  <a:srgbClr val="002060"/>
                </a:solidFill>
                <a:latin typeface="黑体" panose="02010609060101010101" pitchFamily="49" charset="-122"/>
                <a:ea typeface="黑体" panose="02010609060101010101" pitchFamily="49" charset="-122"/>
              </a:rPr>
              <a:t>额定工作电压</a:t>
            </a:r>
            <a:r>
              <a:rPr lang="en-US" altLang="zh-CN" sz="3100" b="1" dirty="0">
                <a:solidFill>
                  <a:srgbClr val="002060"/>
                </a:solidFill>
                <a:latin typeface="黑体" panose="02010609060101010101" pitchFamily="49" charset="-122"/>
                <a:ea typeface="黑体" panose="02010609060101010101" pitchFamily="49" charset="-122"/>
              </a:rPr>
              <a:t>(</a:t>
            </a:r>
            <a:r>
              <a:rPr lang="zh-CN" altLang="en-US" sz="3100" b="1" dirty="0">
                <a:solidFill>
                  <a:srgbClr val="002060"/>
                </a:solidFill>
                <a:latin typeface="黑体" panose="02010609060101010101" pitchFamily="49" charset="-122"/>
                <a:ea typeface="黑体" panose="02010609060101010101" pitchFamily="49" charset="-122"/>
              </a:rPr>
              <a:t>耐压</a:t>
            </a:r>
            <a:r>
              <a:rPr lang="en-US" altLang="zh-CN" sz="3100" b="1" dirty="0">
                <a:solidFill>
                  <a:srgbClr val="002060"/>
                </a:solidFill>
                <a:latin typeface="黑体" panose="02010609060101010101" pitchFamily="49" charset="-122"/>
                <a:ea typeface="黑体" panose="02010609060101010101" pitchFamily="49" charset="-122"/>
              </a:rPr>
              <a:t>)</a:t>
            </a:r>
            <a:br>
              <a:rPr lang="en-US" altLang="zh-CN" sz="2200" b="1" dirty="0">
                <a:solidFill>
                  <a:srgbClr val="002060"/>
                </a:solidFill>
                <a:latin typeface="黑体" panose="02010609060101010101" pitchFamily="49" charset="-122"/>
                <a:ea typeface="黑体" panose="02010609060101010101" pitchFamily="49" charset="-122"/>
              </a:rPr>
            </a:br>
            <a:r>
              <a:rPr lang="en-US" altLang="zh-CN" sz="2400" b="1" dirty="0">
                <a:solidFill>
                  <a:srgbClr val="002060"/>
                </a:solidFill>
                <a:latin typeface="黑体" panose="02010609060101010101" pitchFamily="49" charset="-122"/>
                <a:ea typeface="黑体" panose="02010609060101010101" pitchFamily="49" charset="-122"/>
              </a:rPr>
              <a:t>    </a:t>
            </a:r>
            <a:r>
              <a:rPr lang="zh-CN" altLang="en-US" sz="2400" dirty="0">
                <a:latin typeface="黑体" panose="02010609060101010101" pitchFamily="49" charset="-122"/>
                <a:ea typeface="黑体" panose="02010609060101010101" pitchFamily="49" charset="-122"/>
              </a:rPr>
              <a:t>电容器的额定工作电压是指电容器</a:t>
            </a:r>
            <a:r>
              <a:rPr lang="zh-CN" altLang="en-US" sz="2400" dirty="0">
                <a:solidFill>
                  <a:srgbClr val="C00000"/>
                </a:solidFill>
                <a:latin typeface="黑体" panose="02010609060101010101" pitchFamily="49" charset="-122"/>
                <a:ea typeface="黑体" panose="02010609060101010101" pitchFamily="49" charset="-122"/>
              </a:rPr>
              <a:t>长期连续可靠工作</a:t>
            </a:r>
            <a:r>
              <a:rPr lang="zh-CN" altLang="en-US" sz="2400" dirty="0">
                <a:latin typeface="黑体" panose="02010609060101010101" pitchFamily="49" charset="-122"/>
                <a:ea typeface="黑体" panose="02010609060101010101" pitchFamily="49" charset="-122"/>
              </a:rPr>
              <a:t>时，极间电压不允许超过的规定电压值，否则电容器就会被击穿损坏。在交流电压中，电容器的耐压值应大于电压的峰值，否则，电容器可能被击穿。耐压的大小与</a:t>
            </a:r>
            <a:r>
              <a:rPr lang="zh-CN" altLang="en-US" sz="2400" dirty="0">
                <a:solidFill>
                  <a:srgbClr val="C00000"/>
                </a:solidFill>
                <a:latin typeface="黑体" panose="02010609060101010101" pitchFamily="49" charset="-122"/>
                <a:ea typeface="黑体" panose="02010609060101010101" pitchFamily="49" charset="-122"/>
              </a:rPr>
              <a:t>介质材料</a:t>
            </a:r>
            <a:r>
              <a:rPr lang="zh-CN" altLang="en-US" sz="2400" dirty="0">
                <a:latin typeface="黑体" panose="02010609060101010101" pitchFamily="49" charset="-122"/>
                <a:ea typeface="黑体" panose="02010609060101010101" pitchFamily="49" charset="-122"/>
              </a:rPr>
              <a:t>有关。</a:t>
            </a:r>
          </a:p>
        </p:txBody>
      </p:sp>
      <p:sp>
        <p:nvSpPr>
          <p:cNvPr id="2" name="灯片编号占位符 1">
            <a:extLst>
              <a:ext uri="{FF2B5EF4-FFF2-40B4-BE49-F238E27FC236}">
                <a16:creationId xmlns:a16="http://schemas.microsoft.com/office/drawing/2014/main" id="{1080EA97-B962-ADCE-8FAA-E0148931837D}"/>
              </a:ext>
            </a:extLst>
          </p:cNvPr>
          <p:cNvSpPr>
            <a:spLocks noGrp="1"/>
          </p:cNvSpPr>
          <p:nvPr>
            <p:ph type="sldNum" sz="quarter" idx="12"/>
          </p:nvPr>
        </p:nvSpPr>
        <p:spPr/>
        <p:txBody>
          <a:bodyPr/>
          <a:lstStyle/>
          <a:p>
            <a:pPr>
              <a:defRPr/>
            </a:pPr>
            <a:fld id="{5FAFB815-62BA-464E-901C-79D108092E38}" type="slidenum">
              <a:rPr lang="zh-CN" altLang="en-US" smtClean="0"/>
              <a:pPr>
                <a:defRPr/>
              </a:pPr>
              <a:t>47</a:t>
            </a:fld>
            <a:endParaRPr lang="en-US" altLang="zh-CN"/>
          </a:p>
        </p:txBody>
      </p:sp>
      <p:pic>
        <p:nvPicPr>
          <p:cNvPr id="4" name="图片 3">
            <a:extLst>
              <a:ext uri="{FF2B5EF4-FFF2-40B4-BE49-F238E27FC236}">
                <a16:creationId xmlns:a16="http://schemas.microsoft.com/office/drawing/2014/main" id="{0A0AF11B-3BA1-9332-4D74-01D6B3384E60}"/>
              </a:ext>
            </a:extLst>
          </p:cNvPr>
          <p:cNvPicPr>
            <a:picLocks noChangeAspect="1"/>
          </p:cNvPicPr>
          <p:nvPr/>
        </p:nvPicPr>
        <p:blipFill>
          <a:blip r:embed="rId2"/>
          <a:stretch>
            <a:fillRect/>
          </a:stretch>
        </p:blipFill>
        <p:spPr>
          <a:xfrm>
            <a:off x="6084168" y="980728"/>
            <a:ext cx="2232248" cy="659458"/>
          </a:xfrm>
          <a:prstGeom prst="rect">
            <a:avLst/>
          </a:prstGeom>
        </p:spPr>
      </p:pic>
      <p:sp>
        <p:nvSpPr>
          <p:cNvPr id="5" name="Rectangle 42">
            <a:extLst>
              <a:ext uri="{FF2B5EF4-FFF2-40B4-BE49-F238E27FC236}">
                <a16:creationId xmlns:a16="http://schemas.microsoft.com/office/drawing/2014/main" id="{5F1C63E3-265C-89C3-9559-BE89CE361CC1}"/>
              </a:ext>
            </a:extLst>
          </p:cNvPr>
          <p:cNvSpPr>
            <a:spLocks noChangeArrowheads="1"/>
          </p:cNvSpPr>
          <p:nvPr/>
        </p:nvSpPr>
        <p:spPr bwMode="auto">
          <a:xfrm>
            <a:off x="5041101" y="2846535"/>
            <a:ext cx="3816424" cy="1140780"/>
          </a:xfrm>
          <a:prstGeom prst="rect">
            <a:avLst/>
          </a:prstGeom>
          <a:solidFill>
            <a:schemeClr val="bg1"/>
          </a:solidFill>
          <a:ln w="9525">
            <a:noFill/>
            <a:miter lim="800000"/>
            <a:headEnd/>
            <a:tailEnd/>
          </a:ln>
          <a:effectLst/>
        </p:spPr>
        <p:txBody>
          <a:bodyPr/>
          <a:lstStyle/>
          <a:p>
            <a:pPr lvl="1">
              <a:spcBef>
                <a:spcPct val="20000"/>
              </a:spcBef>
            </a:pPr>
            <a:r>
              <a:rPr lang="zh-CN" sz="2400" dirty="0">
                <a:solidFill>
                  <a:srgbClr val="C00000"/>
                </a:solidFill>
                <a:effectLst>
                  <a:outerShdw blurRad="38100" dist="38100" dir="2700000" algn="tl">
                    <a:srgbClr val="000000"/>
                  </a:outerShdw>
                </a:effectLst>
                <a:latin typeface="华文行楷" pitchFamily="2" charset="-122"/>
                <a:ea typeface="华文行楷" pitchFamily="2" charset="-122"/>
              </a:rPr>
              <a:t>在相同尺寸与容量的规格下,偏差较大的电容器的价格相对便宜点。</a:t>
            </a:r>
            <a:endParaRPr lang="zh-TW" sz="2400" dirty="0">
              <a:solidFill>
                <a:srgbClr val="C00000"/>
              </a:solidFill>
              <a:effectLst>
                <a:outerShdw blurRad="38100" dist="38100" dir="2700000" algn="tl">
                  <a:srgbClr val="000000"/>
                </a:outerShdw>
              </a:effectLst>
              <a:latin typeface="华文行楷" pitchFamily="2" charset="-122"/>
              <a:ea typeface="华文行楷"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3"/>
          <p:cNvSpPr>
            <a:spLocks noGrp="1" noChangeArrowheads="1"/>
          </p:cNvSpPr>
          <p:nvPr>
            <p:ph idx="1"/>
          </p:nvPr>
        </p:nvSpPr>
        <p:spPr>
          <a:xfrm>
            <a:off x="377788" y="908720"/>
            <a:ext cx="8442684" cy="5040560"/>
          </a:xfrm>
        </p:spPr>
        <p:txBody>
          <a:bodyPr>
            <a:normAutofit fontScale="62500" lnSpcReduction="20000"/>
          </a:bodyPr>
          <a:lstStyle/>
          <a:p>
            <a:pPr marL="0" indent="0">
              <a:lnSpc>
                <a:spcPct val="145000"/>
              </a:lnSpc>
              <a:spcBef>
                <a:spcPct val="50000"/>
              </a:spcBef>
              <a:buNone/>
            </a:pPr>
            <a:r>
              <a:rPr lang="en-US" altLang="zh-CN" sz="3800" b="1" dirty="0">
                <a:solidFill>
                  <a:srgbClr val="002060"/>
                </a:solidFill>
                <a:latin typeface="黑体" panose="02010609060101010101" pitchFamily="49" charset="-122"/>
                <a:ea typeface="黑体" panose="02010609060101010101" pitchFamily="49" charset="-122"/>
              </a:rPr>
              <a:t>3)</a:t>
            </a:r>
            <a:r>
              <a:rPr lang="zh-CN" altLang="en-US" sz="3800" b="1" dirty="0">
                <a:solidFill>
                  <a:srgbClr val="002060"/>
                </a:solidFill>
                <a:latin typeface="黑体" panose="02010609060101010101" pitchFamily="49" charset="-122"/>
                <a:ea typeface="黑体" panose="02010609060101010101" pitchFamily="49" charset="-122"/>
              </a:rPr>
              <a:t>绝缘电阻</a:t>
            </a:r>
            <a:br>
              <a:rPr lang="en-US" altLang="zh-CN" sz="2900" b="1" dirty="0">
                <a:solidFill>
                  <a:srgbClr val="002060"/>
                </a:solidFill>
                <a:latin typeface="黑体" panose="02010609060101010101" pitchFamily="49" charset="-122"/>
                <a:ea typeface="黑体" panose="02010609060101010101" pitchFamily="49" charset="-122"/>
              </a:rPr>
            </a:br>
            <a:r>
              <a:rPr lang="en-US" altLang="zh-CN" sz="3500" b="1" dirty="0">
                <a:latin typeface="黑体" panose="02010609060101010101" pitchFamily="49" charset="-122"/>
                <a:ea typeface="黑体" panose="02010609060101010101" pitchFamily="49" charset="-122"/>
              </a:rPr>
              <a:t>    </a:t>
            </a:r>
            <a:r>
              <a:rPr lang="zh-CN" altLang="en-US" sz="3500" dirty="0">
                <a:latin typeface="黑体" panose="02010609060101010101" pitchFamily="49" charset="-122"/>
                <a:ea typeface="黑体" panose="02010609060101010101" pitchFamily="49" charset="-122"/>
              </a:rPr>
              <a:t>电阻器的绝缘电阻是指电容器两级间的电阻，或称漏电电阻。电容器中的介质并不是绝对的绝缘体，多少总有些漏电。除电解电容器外，一般电容器漏电电流很小。</a:t>
            </a:r>
            <a:br>
              <a:rPr lang="en-US" altLang="zh-CN" sz="3500" dirty="0">
                <a:latin typeface="黑体" panose="02010609060101010101" pitchFamily="49" charset="-122"/>
                <a:ea typeface="黑体" panose="02010609060101010101" pitchFamily="49" charset="-122"/>
              </a:rPr>
            </a:br>
            <a:r>
              <a:rPr lang="en-US" altLang="zh-CN" sz="3500" dirty="0">
                <a:latin typeface="黑体" panose="02010609060101010101" pitchFamily="49" charset="-122"/>
                <a:ea typeface="黑体" panose="02010609060101010101" pitchFamily="49" charset="-122"/>
              </a:rPr>
              <a:t>    </a:t>
            </a:r>
            <a:r>
              <a:rPr lang="zh-CN" altLang="en-US" sz="3500" dirty="0">
                <a:latin typeface="黑体" panose="02010609060101010101" pitchFamily="49" charset="-122"/>
                <a:ea typeface="黑体" panose="02010609060101010101" pitchFamily="49" charset="-122"/>
              </a:rPr>
              <a:t>显然，</a:t>
            </a:r>
            <a:r>
              <a:rPr lang="zh-CN" altLang="en-US" sz="3500" dirty="0">
                <a:solidFill>
                  <a:srgbClr val="C00000"/>
                </a:solidFill>
                <a:latin typeface="黑体" panose="02010609060101010101" pitchFamily="49" charset="-122"/>
                <a:ea typeface="黑体" panose="02010609060101010101" pitchFamily="49" charset="-122"/>
              </a:rPr>
              <a:t>电容器的漏电电流越大，绝缘电阻越小</a:t>
            </a:r>
            <a:r>
              <a:rPr lang="zh-CN" altLang="en-US" sz="3500" dirty="0">
                <a:latin typeface="黑体" panose="02010609060101010101" pitchFamily="49" charset="-122"/>
                <a:ea typeface="黑体" panose="02010609060101010101" pitchFamily="49" charset="-122"/>
              </a:rPr>
              <a:t>。当漏电流较大时，电容器发热，发热严重时导致电容器损坏，使用种，原选择绝缘电阻大的为好。</a:t>
            </a:r>
            <a:br>
              <a:rPr lang="en-US" altLang="zh-CN" sz="2900" dirty="0">
                <a:latin typeface="黑体" panose="02010609060101010101" pitchFamily="49" charset="-122"/>
                <a:ea typeface="黑体" panose="02010609060101010101" pitchFamily="49" charset="-122"/>
              </a:rPr>
            </a:br>
            <a:r>
              <a:rPr lang="en-US" altLang="zh-CN" sz="3800" b="1" dirty="0">
                <a:solidFill>
                  <a:srgbClr val="002060"/>
                </a:solidFill>
                <a:latin typeface="黑体" panose="02010609060101010101" pitchFamily="49" charset="-122"/>
                <a:ea typeface="黑体" panose="02010609060101010101" pitchFamily="49" charset="-122"/>
                <a:cs typeface="+mj-cs"/>
              </a:rPr>
              <a:t>4)</a:t>
            </a:r>
            <a:r>
              <a:rPr lang="zh-CN" altLang="en-US" sz="3800" b="1" dirty="0">
                <a:solidFill>
                  <a:srgbClr val="002060"/>
                </a:solidFill>
                <a:latin typeface="黑体" panose="02010609060101010101" pitchFamily="49" charset="-122"/>
                <a:ea typeface="黑体" panose="02010609060101010101" pitchFamily="49" charset="-122"/>
                <a:cs typeface="+mj-cs"/>
              </a:rPr>
              <a:t>工作温度范围</a:t>
            </a:r>
          </a:p>
          <a:p>
            <a:pPr marL="0" indent="0">
              <a:lnSpc>
                <a:spcPct val="145000"/>
              </a:lnSpc>
              <a:spcBef>
                <a:spcPct val="50000"/>
              </a:spcBef>
              <a:buNone/>
            </a:pPr>
            <a:r>
              <a:rPr lang="zh-CN" altLang="en-US" sz="3800" dirty="0">
                <a:latin typeface="黑体" panose="02010609060101010101" pitchFamily="49" charset="-122"/>
                <a:ea typeface="黑体" panose="02010609060101010101" pitchFamily="49" charset="-122"/>
              </a:rPr>
              <a:t>    </a:t>
            </a:r>
            <a:r>
              <a:rPr lang="zh-CN" altLang="en-US" sz="3500" dirty="0">
                <a:latin typeface="黑体" panose="02010609060101010101" pitchFamily="49" charset="-122"/>
                <a:ea typeface="黑体" panose="02010609060101010101" pitchFamily="49" charset="-122"/>
              </a:rPr>
              <a:t>电容器必须在指定的工作温度范围内才能稳定工作。一般的电解电容都直接标出它的上限工作温度，如</a:t>
            </a:r>
            <a:r>
              <a:rPr lang="en-US" altLang="zh-CN" sz="3500" dirty="0">
                <a:latin typeface="黑体" panose="02010609060101010101" pitchFamily="49" charset="-122"/>
                <a:ea typeface="黑体" panose="02010609060101010101" pitchFamily="49" charset="-122"/>
              </a:rPr>
              <a:t>85℃</a:t>
            </a:r>
            <a:r>
              <a:rPr lang="zh-CN" altLang="en-US" sz="3500" dirty="0">
                <a:latin typeface="黑体" panose="02010609060101010101" pitchFamily="49" charset="-122"/>
                <a:ea typeface="黑体" panose="02010609060101010101" pitchFamily="49" charset="-122"/>
              </a:rPr>
              <a:t>或是</a:t>
            </a:r>
            <a:r>
              <a:rPr lang="en-US" altLang="zh-CN" sz="3500" dirty="0">
                <a:latin typeface="黑体" panose="02010609060101010101" pitchFamily="49" charset="-122"/>
                <a:ea typeface="黑体" panose="02010609060101010101" pitchFamily="49" charset="-122"/>
              </a:rPr>
              <a:t>105 ℃</a:t>
            </a:r>
            <a:r>
              <a:rPr lang="zh-CN" altLang="en-US" sz="3500" dirty="0">
                <a:latin typeface="黑体" panose="02010609060101010101" pitchFamily="49" charset="-122"/>
                <a:ea typeface="黑体" panose="02010609060101010101" pitchFamily="49" charset="-122"/>
              </a:rPr>
              <a:t>。</a:t>
            </a:r>
          </a:p>
        </p:txBody>
      </p:sp>
      <p:sp>
        <p:nvSpPr>
          <p:cNvPr id="2" name="灯片编号占位符 1">
            <a:extLst>
              <a:ext uri="{FF2B5EF4-FFF2-40B4-BE49-F238E27FC236}">
                <a16:creationId xmlns:a16="http://schemas.microsoft.com/office/drawing/2014/main" id="{3EA4E5AF-906A-7E34-1DA3-A13962C93D83}"/>
              </a:ext>
            </a:extLst>
          </p:cNvPr>
          <p:cNvSpPr>
            <a:spLocks noGrp="1"/>
          </p:cNvSpPr>
          <p:nvPr>
            <p:ph type="sldNum" sz="quarter" idx="12"/>
          </p:nvPr>
        </p:nvSpPr>
        <p:spPr/>
        <p:txBody>
          <a:bodyPr/>
          <a:lstStyle/>
          <a:p>
            <a:pPr>
              <a:defRPr/>
            </a:pPr>
            <a:fld id="{5FAFB815-62BA-464E-901C-79D108092E38}" type="slidenum">
              <a:rPr lang="zh-CN" altLang="en-US" smtClean="0"/>
              <a:pPr>
                <a:defRPr/>
              </a:pPr>
              <a:t>48</a:t>
            </a:fld>
            <a:endParaRPr lang="en-US" altLang="zh-CN"/>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idx="1"/>
          </p:nvPr>
        </p:nvSpPr>
        <p:spPr>
          <a:xfrm>
            <a:off x="76106" y="131731"/>
            <a:ext cx="9067894" cy="5201476"/>
          </a:xfrm>
        </p:spPr>
        <p:txBody>
          <a:bodyPr>
            <a:normAutofit/>
          </a:bodyPr>
          <a:lstStyle/>
          <a:p>
            <a:pPr>
              <a:buFont typeface="Wingdings" pitchFamily="2" charset="2"/>
              <a:buNone/>
            </a:pPr>
            <a:r>
              <a:rPr lang="en-US" altLang="zh-CN" sz="3300" b="1" dirty="0">
                <a:latin typeface="+mn-lt"/>
                <a:ea typeface="+mn-ea"/>
                <a:cs typeface="+mn-cs"/>
              </a:rPr>
              <a:t>4.</a:t>
            </a:r>
            <a:r>
              <a:rPr lang="zh-CN" altLang="en-US" sz="3300" b="1" dirty="0">
                <a:latin typeface="+mn-lt"/>
                <a:ea typeface="+mn-ea"/>
                <a:cs typeface="+mn-cs"/>
              </a:rPr>
              <a:t>电容的规格标注方法</a:t>
            </a:r>
            <a:endParaRPr lang="en-US" altLang="zh-CN" sz="3300" b="1" dirty="0">
              <a:latin typeface="+mn-lt"/>
              <a:ea typeface="+mn-ea"/>
              <a:cs typeface="+mn-cs"/>
            </a:endParaRPr>
          </a:p>
          <a:p>
            <a:pPr>
              <a:lnSpc>
                <a:spcPct val="170000"/>
              </a:lnSpc>
              <a:buFont typeface="Wingdings" pitchFamily="2" charset="2"/>
              <a:buNone/>
            </a:pPr>
            <a:r>
              <a:rPr lang="zh-CN" altLang="zh-CN" sz="2400" dirty="0">
                <a:latin typeface="黑体" panose="02010609060101010101" pitchFamily="49" charset="-122"/>
                <a:ea typeface="黑体" panose="02010609060101010101" pitchFamily="49" charset="-122"/>
              </a:rPr>
              <a:t>（1）直标法</a:t>
            </a:r>
            <a:br>
              <a:rPr lang="zh-CN" altLang="zh-CN" sz="2400" dirty="0">
                <a:latin typeface="黑体" panose="02010609060101010101" pitchFamily="49" charset="-122"/>
                <a:ea typeface="黑体" panose="02010609060101010101" pitchFamily="49" charset="-122"/>
              </a:rPr>
            </a:br>
            <a:r>
              <a:rPr lang="zh-CN" altLang="zh-CN" sz="2400" dirty="0">
                <a:latin typeface="黑体" panose="02010609060101010101" pitchFamily="49" charset="-122"/>
                <a:ea typeface="黑体" panose="02010609060101010101" pitchFamily="49" charset="-122"/>
              </a:rPr>
              <a:t>     直接把电容器的</a:t>
            </a:r>
            <a:r>
              <a:rPr lang="zh-CN" altLang="en-US" sz="2400" dirty="0">
                <a:solidFill>
                  <a:srgbClr val="C00000"/>
                </a:solidFill>
                <a:latin typeface="黑体" panose="02010609060101010101" pitchFamily="49" charset="-122"/>
                <a:ea typeface="黑体" panose="02010609060101010101" pitchFamily="49" charset="-122"/>
              </a:rPr>
              <a:t>主要参数</a:t>
            </a:r>
            <a:r>
              <a:rPr lang="zh-CN" altLang="en-US" sz="2400" dirty="0">
                <a:latin typeface="黑体" panose="02010609060101010101" pitchFamily="49" charset="-122"/>
                <a:ea typeface="黑体" panose="02010609060101010101" pitchFamily="49" charset="-122"/>
              </a:rPr>
              <a:t>（</a:t>
            </a:r>
            <a:r>
              <a:rPr lang="zh-CN" altLang="zh-CN" sz="2400" dirty="0">
                <a:latin typeface="黑体" panose="02010609060101010101" pitchFamily="49" charset="-122"/>
                <a:ea typeface="黑体" panose="02010609060101010101" pitchFamily="49" charset="-122"/>
              </a:rPr>
              <a:t>容量、额定电压、最高使用温度、偏差等级</a:t>
            </a:r>
            <a:r>
              <a:rPr lang="zh-CN" altLang="en-US" sz="2400" dirty="0">
                <a:latin typeface="黑体" panose="02010609060101010101" pitchFamily="49" charset="-122"/>
                <a:ea typeface="黑体" panose="02010609060101010101" pitchFamily="49" charset="-122"/>
              </a:rPr>
              <a:t>）和</a:t>
            </a:r>
            <a:r>
              <a:rPr lang="zh-CN" altLang="en-US" sz="2400" dirty="0">
                <a:solidFill>
                  <a:srgbClr val="C00000"/>
                </a:solidFill>
                <a:latin typeface="黑体" panose="02010609060101010101" pitchFamily="49" charset="-122"/>
                <a:ea typeface="黑体" panose="02010609060101010101" pitchFamily="49" charset="-122"/>
              </a:rPr>
              <a:t>技术指标</a:t>
            </a:r>
            <a:r>
              <a:rPr lang="zh-CN" altLang="en-US" sz="2400" dirty="0">
                <a:latin typeface="黑体" panose="02010609060101010101" pitchFamily="49" charset="-122"/>
                <a:ea typeface="黑体" panose="02010609060101010101" pitchFamily="49" charset="-122"/>
              </a:rPr>
              <a:t>直接</a:t>
            </a:r>
            <a:r>
              <a:rPr lang="zh-CN" altLang="zh-CN" sz="2400" dirty="0">
                <a:latin typeface="黑体" panose="02010609060101010101" pitchFamily="49" charset="-122"/>
                <a:ea typeface="黑体" panose="02010609060101010101" pitchFamily="49" charset="-122"/>
              </a:rPr>
              <a:t>标记在电容器体上。</a:t>
            </a:r>
            <a:endParaRPr lang="en-US" altLang="zh-CN" sz="2400" dirty="0">
              <a:latin typeface="黑体" panose="02010609060101010101" pitchFamily="49" charset="-122"/>
              <a:ea typeface="黑体" panose="02010609060101010101" pitchFamily="49" charset="-122"/>
            </a:endParaRPr>
          </a:p>
          <a:p>
            <a:pPr>
              <a:lnSpc>
                <a:spcPct val="170000"/>
              </a:lnSpc>
              <a:buFont typeface="Wingdings" pitchFamily="2" charset="2"/>
              <a:buNone/>
            </a:pPr>
            <a:r>
              <a:rPr lang="en-US" altLang="zh-CN" sz="2400" dirty="0">
                <a:latin typeface="黑体" panose="02010609060101010101" pitchFamily="49" charset="-122"/>
                <a:ea typeface="黑体" panose="02010609060101010101" pitchFamily="49" charset="-122"/>
              </a:rPr>
              <a:t>      </a:t>
            </a:r>
            <a:r>
              <a:rPr lang="zh-CN" altLang="zh-CN" sz="2400" dirty="0">
                <a:latin typeface="黑体" panose="02010609060101010101" pitchFamily="49" charset="-122"/>
                <a:ea typeface="黑体" panose="02010609060101010101" pitchFamily="49" charset="-122"/>
              </a:rPr>
              <a:t>有时因电容器的面积小而省略单位，但存在这样的规律，即小数点前面为0时</a:t>
            </a:r>
            <a:r>
              <a:rPr lang="zh-CN" altLang="en-US" sz="2400" dirty="0">
                <a:latin typeface="黑体" panose="02010609060101010101" pitchFamily="49" charset="-122"/>
                <a:ea typeface="黑体" panose="02010609060101010101" pitchFamily="49" charset="-122"/>
              </a:rPr>
              <a:t>（小于</a:t>
            </a:r>
            <a:r>
              <a:rPr lang="en-US" altLang="zh-CN" sz="2400" dirty="0">
                <a:latin typeface="黑体" panose="02010609060101010101" pitchFamily="49" charset="-122"/>
                <a:ea typeface="黑体" panose="02010609060101010101" pitchFamily="49" charset="-122"/>
              </a:rPr>
              <a:t>1</a:t>
            </a:r>
            <a:r>
              <a:rPr lang="zh-CN" altLang="en-US" sz="2400" dirty="0">
                <a:latin typeface="黑体" panose="02010609060101010101" pitchFamily="49" charset="-122"/>
                <a:ea typeface="黑体" panose="02010609060101010101" pitchFamily="49" charset="-122"/>
              </a:rPr>
              <a:t>时）</a:t>
            </a:r>
            <a:r>
              <a:rPr lang="zh-CN" altLang="zh-CN" sz="2400" dirty="0">
                <a:latin typeface="黑体" panose="02010609060101010101" pitchFamily="49" charset="-122"/>
                <a:ea typeface="黑体" panose="02010609060101010101" pitchFamily="49" charset="-122"/>
              </a:rPr>
              <a:t>，单位为</a:t>
            </a:r>
            <a:r>
              <a:rPr lang="zh-TW" altLang="zh-CN" sz="2400" dirty="0">
                <a:latin typeface="黑体" panose="02010609060101010101" pitchFamily="49" charset="-122"/>
                <a:ea typeface="黑体" panose="02010609060101010101" pitchFamily="49" charset="-122"/>
              </a:rPr>
              <a:t>µ</a:t>
            </a:r>
            <a:r>
              <a:rPr lang="en-US" altLang="zh-CN" sz="2400" dirty="0">
                <a:latin typeface="黑体" panose="02010609060101010101" pitchFamily="49" charset="-122"/>
                <a:ea typeface="黑体" panose="02010609060101010101" pitchFamily="49" charset="-122"/>
              </a:rPr>
              <a:t>F</a:t>
            </a:r>
            <a:r>
              <a:rPr lang="zh-CN" altLang="zh-CN" sz="2400" dirty="0">
                <a:latin typeface="黑体" panose="02010609060101010101" pitchFamily="49" charset="-122"/>
                <a:ea typeface="黑体" panose="02010609060101010101" pitchFamily="49" charset="-122"/>
              </a:rPr>
              <a:t>，小数点前不为0时</a:t>
            </a:r>
            <a:r>
              <a:rPr lang="zh-CN" altLang="en-US" sz="2400" dirty="0">
                <a:latin typeface="黑体" panose="02010609060101010101" pitchFamily="49" charset="-122"/>
                <a:ea typeface="黑体" panose="02010609060101010101" pitchFamily="49" charset="-122"/>
              </a:rPr>
              <a:t>（大于</a:t>
            </a:r>
            <a:r>
              <a:rPr lang="en-US" altLang="zh-CN" sz="2400" dirty="0">
                <a:latin typeface="黑体" panose="02010609060101010101" pitchFamily="49" charset="-122"/>
                <a:ea typeface="黑体" panose="02010609060101010101" pitchFamily="49" charset="-122"/>
              </a:rPr>
              <a:t>1</a:t>
            </a:r>
            <a:r>
              <a:rPr lang="zh-CN" altLang="en-US" sz="2400" dirty="0">
                <a:latin typeface="黑体" panose="02010609060101010101" pitchFamily="49" charset="-122"/>
                <a:ea typeface="黑体" panose="02010609060101010101" pitchFamily="49" charset="-122"/>
              </a:rPr>
              <a:t>时）</a:t>
            </a:r>
            <a:r>
              <a:rPr lang="zh-CN" altLang="zh-CN" sz="2400" dirty="0">
                <a:latin typeface="黑体" panose="02010609060101010101" pitchFamily="49" charset="-122"/>
                <a:ea typeface="黑体" panose="02010609060101010101" pitchFamily="49" charset="-122"/>
              </a:rPr>
              <a:t>，则单位为pF。如下图所示：</a:t>
            </a:r>
            <a:endParaRPr lang="en-US" altLang="zh-CN" sz="2400" dirty="0">
              <a:latin typeface="黑体" panose="02010609060101010101" pitchFamily="49" charset="-122"/>
              <a:ea typeface="黑体" panose="02010609060101010101" pitchFamily="49" charset="-122"/>
            </a:endParaRPr>
          </a:p>
        </p:txBody>
      </p:sp>
      <p:sp>
        <p:nvSpPr>
          <p:cNvPr id="2" name="灯片编号占位符 1">
            <a:extLst>
              <a:ext uri="{FF2B5EF4-FFF2-40B4-BE49-F238E27FC236}">
                <a16:creationId xmlns:a16="http://schemas.microsoft.com/office/drawing/2014/main" id="{9C358379-E587-E0D6-D00D-73A0B4CA833E}"/>
              </a:ext>
            </a:extLst>
          </p:cNvPr>
          <p:cNvSpPr>
            <a:spLocks noGrp="1"/>
          </p:cNvSpPr>
          <p:nvPr>
            <p:ph type="sldNum" sz="quarter" idx="12"/>
          </p:nvPr>
        </p:nvSpPr>
        <p:spPr/>
        <p:txBody>
          <a:bodyPr/>
          <a:lstStyle/>
          <a:p>
            <a:pPr>
              <a:defRPr/>
            </a:pPr>
            <a:fld id="{5FAFB815-62BA-464E-901C-79D108092E38}" type="slidenum">
              <a:rPr lang="zh-CN" altLang="en-US" smtClean="0"/>
              <a:pPr>
                <a:defRPr/>
              </a:pPr>
              <a:t>49</a:t>
            </a:fld>
            <a:endParaRPr lang="en-US" altLang="zh-CN"/>
          </a:p>
        </p:txBody>
      </p:sp>
      <p:pic>
        <p:nvPicPr>
          <p:cNvPr id="4" name="图片 3">
            <a:extLst>
              <a:ext uri="{FF2B5EF4-FFF2-40B4-BE49-F238E27FC236}">
                <a16:creationId xmlns:a16="http://schemas.microsoft.com/office/drawing/2014/main" id="{456CAC9D-99C6-7281-FC50-4FDE3FF652E1}"/>
              </a:ext>
            </a:extLst>
          </p:cNvPr>
          <p:cNvPicPr>
            <a:picLocks noChangeAspect="1"/>
          </p:cNvPicPr>
          <p:nvPr/>
        </p:nvPicPr>
        <p:blipFill>
          <a:blip r:embed="rId2"/>
          <a:stretch>
            <a:fillRect/>
          </a:stretch>
        </p:blipFill>
        <p:spPr>
          <a:xfrm>
            <a:off x="3277905" y="4869160"/>
            <a:ext cx="2664296" cy="1604997"/>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idx="1"/>
          </p:nvPr>
        </p:nvSpPr>
        <p:spPr>
          <a:xfrm>
            <a:off x="76106" y="131730"/>
            <a:ext cx="9067894" cy="6726270"/>
          </a:xfrm>
        </p:spPr>
        <p:txBody>
          <a:bodyPr>
            <a:normAutofit/>
          </a:bodyPr>
          <a:lstStyle/>
          <a:p>
            <a:pPr>
              <a:buFont typeface="Wingdings" pitchFamily="2" charset="2"/>
              <a:buNone/>
            </a:pPr>
            <a:r>
              <a:rPr lang="en-US" altLang="zh-CN" sz="2400" b="1" dirty="0">
                <a:latin typeface="+mn-lt"/>
                <a:ea typeface="+mn-ea"/>
                <a:cs typeface="+mn-cs"/>
              </a:rPr>
              <a:t>4.</a:t>
            </a:r>
            <a:r>
              <a:rPr lang="zh-CN" altLang="en-US" sz="2400" b="1" dirty="0">
                <a:latin typeface="+mn-lt"/>
                <a:ea typeface="+mn-ea"/>
                <a:cs typeface="+mn-cs"/>
              </a:rPr>
              <a:t>电容的规格标注方法</a:t>
            </a:r>
            <a:endParaRPr lang="en-US" altLang="zh-CN" sz="2400" b="1" dirty="0">
              <a:latin typeface="+mn-lt"/>
              <a:ea typeface="+mn-ea"/>
              <a:cs typeface="+mn-cs"/>
            </a:endParaRPr>
          </a:p>
          <a:p>
            <a:pPr>
              <a:buFont typeface="Wingdings" pitchFamily="2" charset="2"/>
              <a:buNone/>
            </a:pPr>
            <a:r>
              <a:rPr lang="zh-CN" dirty="0"/>
              <a:t>（</a:t>
            </a:r>
            <a:r>
              <a:rPr lang="en-US" altLang="zh-CN" sz="2700" dirty="0">
                <a:latin typeface="黑体" panose="02010609060101010101" pitchFamily="49" charset="-122"/>
                <a:ea typeface="黑体" panose="02010609060101010101" pitchFamily="49" charset="-122"/>
              </a:rPr>
              <a:t>2</a:t>
            </a:r>
            <a:r>
              <a:rPr lang="zh-CN" altLang="en-US" sz="2700" dirty="0">
                <a:latin typeface="黑体" panose="02010609060101010101" pitchFamily="49" charset="-122"/>
                <a:ea typeface="黑体" panose="02010609060101010101" pitchFamily="49" charset="-122"/>
              </a:rPr>
              <a:t>）数码表示法</a:t>
            </a:r>
          </a:p>
          <a:p>
            <a:pPr lvl="1">
              <a:buFontTx/>
              <a:buNone/>
            </a:pPr>
            <a:r>
              <a:rPr lang="zh-CN" altLang="en-US" sz="2400" dirty="0">
                <a:latin typeface="黑体" panose="02010609060101010101" pitchFamily="49" charset="-122"/>
                <a:ea typeface="黑体" panose="02010609060101010101" pitchFamily="49" charset="-122"/>
              </a:rPr>
              <a:t>      一般用三</a:t>
            </a:r>
            <a:r>
              <a:rPr lang="zh-TW" altLang="en-US" sz="2400" dirty="0">
                <a:latin typeface="黑体" panose="02010609060101010101" pitchFamily="49" charset="-122"/>
                <a:ea typeface="黑体" panose="02010609060101010101" pitchFamily="49" charset="-122"/>
              </a:rPr>
              <a:t>位</a:t>
            </a:r>
            <a:r>
              <a:rPr lang="zh-CN" altLang="en-US" sz="2400" dirty="0">
                <a:latin typeface="黑体" panose="02010609060101010101" pitchFamily="49" charset="-122"/>
                <a:ea typeface="黑体" panose="02010609060101010101" pitchFamily="49" charset="-122"/>
              </a:rPr>
              <a:t>数字表示</a:t>
            </a:r>
            <a:r>
              <a:rPr lang="en-US" altLang="zh-TW" sz="2400" dirty="0">
                <a:latin typeface="黑体" panose="02010609060101010101" pitchFamily="49" charset="-122"/>
                <a:ea typeface="黑体" panose="02010609060101010101" pitchFamily="49" charset="-122"/>
              </a:rPr>
              <a:t>﹕</a:t>
            </a:r>
            <a:r>
              <a:rPr lang="zh-TW" altLang="en-US" sz="2400" dirty="0">
                <a:latin typeface="黑体" panose="02010609060101010101" pitchFamily="49" charset="-122"/>
                <a:ea typeface="黑体" panose="02010609060101010101" pitchFamily="49" charset="-122"/>
              </a:rPr>
              <a:t>前面</a:t>
            </a:r>
            <a:r>
              <a:rPr lang="zh-CN" altLang="en-US" sz="2400" dirty="0">
                <a:latin typeface="黑体" panose="02010609060101010101" pitchFamily="49" charset="-122"/>
                <a:ea typeface="黑体" panose="02010609060101010101" pitchFamily="49" charset="-122"/>
              </a:rPr>
              <a:t>两</a:t>
            </a:r>
            <a:r>
              <a:rPr lang="zh-TW" altLang="en-US" sz="2400" dirty="0">
                <a:latin typeface="黑体" panose="02010609060101010101" pitchFamily="49" charset="-122"/>
                <a:ea typeface="黑体" panose="02010609060101010101" pitchFamily="49" charset="-122"/>
              </a:rPr>
              <a:t>位表示有效</a:t>
            </a:r>
            <a:r>
              <a:rPr lang="zh-CN" altLang="en-US" sz="2400" dirty="0">
                <a:latin typeface="黑体" panose="02010609060101010101" pitchFamily="49" charset="-122"/>
                <a:ea typeface="黑体" panose="02010609060101010101" pitchFamily="49" charset="-122"/>
              </a:rPr>
              <a:t>数</a:t>
            </a:r>
            <a:r>
              <a:rPr lang="zh-TW" altLang="en-US" sz="2400" dirty="0">
                <a:latin typeface="黑体" panose="02010609060101010101" pitchFamily="49" charset="-122"/>
                <a:ea typeface="黑体" panose="02010609060101010101" pitchFamily="49" charset="-122"/>
              </a:rPr>
              <a:t>值</a:t>
            </a:r>
            <a:r>
              <a:rPr lang="en-US" altLang="zh-TW" sz="2400" dirty="0">
                <a:latin typeface="黑体" panose="02010609060101010101" pitchFamily="49" charset="-122"/>
                <a:ea typeface="黑体" panose="02010609060101010101" pitchFamily="49" charset="-122"/>
              </a:rPr>
              <a:t>﹐</a:t>
            </a:r>
            <a:r>
              <a:rPr lang="zh-TW" altLang="en-US" sz="2400" dirty="0">
                <a:latin typeface="黑体" panose="02010609060101010101" pitchFamily="49" charset="-122"/>
                <a:ea typeface="黑体" panose="02010609060101010101" pitchFamily="49" charset="-122"/>
              </a:rPr>
              <a:t>最后一位表示零的</a:t>
            </a:r>
            <a:r>
              <a:rPr lang="zh-CN" altLang="en-US" sz="2400" dirty="0">
                <a:latin typeface="黑体" panose="02010609060101010101" pitchFamily="49" charset="-122"/>
                <a:ea typeface="黑体" panose="02010609060101010101" pitchFamily="49" charset="-122"/>
              </a:rPr>
              <a:t>个数</a:t>
            </a:r>
            <a:r>
              <a:rPr lang="en-US" altLang="zh-TW" sz="2400" dirty="0">
                <a:latin typeface="黑体" panose="02010609060101010101" pitchFamily="49" charset="-122"/>
                <a:ea typeface="黑体" panose="02010609060101010101" pitchFamily="49" charset="-122"/>
              </a:rPr>
              <a:t>﹐</a:t>
            </a:r>
            <a:r>
              <a:rPr lang="zh-TW" altLang="en-US" sz="2400" dirty="0">
                <a:latin typeface="黑体" panose="02010609060101010101" pitchFamily="49" charset="-122"/>
                <a:ea typeface="黑体" panose="02010609060101010101" pitchFamily="49" charset="-122"/>
              </a:rPr>
              <a:t>得出的容量</a:t>
            </a:r>
            <a:r>
              <a:rPr lang="zh-CN" altLang="en-US" sz="2400" dirty="0">
                <a:latin typeface="黑体" panose="02010609060101010101" pitchFamily="49" charset="-122"/>
                <a:ea typeface="黑体" panose="02010609060101010101" pitchFamily="49" charset="-122"/>
              </a:rPr>
              <a:t>单</a:t>
            </a:r>
            <a:r>
              <a:rPr lang="zh-TW" altLang="en-US" sz="2400" dirty="0">
                <a:latin typeface="黑体" panose="02010609060101010101" pitchFamily="49" charset="-122"/>
                <a:ea typeface="黑体" panose="02010609060101010101" pitchFamily="49" charset="-122"/>
              </a:rPr>
              <a:t>位是</a:t>
            </a:r>
            <a:r>
              <a:rPr lang="en-US" sz="2400" dirty="0">
                <a:latin typeface="黑体" panose="02010609060101010101" pitchFamily="49" charset="-122"/>
                <a:ea typeface="黑体" panose="02010609060101010101" pitchFamily="49" charset="-122"/>
              </a:rPr>
              <a:t>pF (</a:t>
            </a:r>
            <a:r>
              <a:rPr lang="zh-TW" altLang="en-US" sz="2400" dirty="0">
                <a:latin typeface="黑体" panose="02010609060101010101" pitchFamily="49" charset="-122"/>
                <a:ea typeface="黑体" panose="02010609060101010101" pitchFamily="49" charset="-122"/>
              </a:rPr>
              <a:t>皮法</a:t>
            </a:r>
            <a:r>
              <a:rPr lang="en-US" altLang="zh-TW" sz="2400" dirty="0">
                <a:latin typeface="黑体" panose="02010609060101010101" pitchFamily="49" charset="-122"/>
                <a:ea typeface="黑体" panose="02010609060101010101" pitchFamily="49" charset="-122"/>
              </a:rPr>
              <a:t>)﹐</a:t>
            </a:r>
            <a:r>
              <a:rPr lang="zh-CN" altLang="en-US" sz="2400" dirty="0">
                <a:latin typeface="黑体" panose="02010609060101010101" pitchFamily="49" charset="-122"/>
                <a:ea typeface="黑体" panose="02010609060101010101" pitchFamily="49" charset="-122"/>
              </a:rPr>
              <a:t>这种</a:t>
            </a:r>
            <a:r>
              <a:rPr lang="zh-TW" altLang="en-US" sz="2400" dirty="0">
                <a:latin typeface="黑体" panose="02010609060101010101" pitchFamily="49" charset="-122"/>
                <a:ea typeface="黑体" panose="02010609060101010101" pitchFamily="49" charset="-122"/>
              </a:rPr>
              <a:t>方法在</a:t>
            </a:r>
            <a:r>
              <a:rPr lang="zh-CN" altLang="en-US" sz="2400" dirty="0">
                <a:latin typeface="黑体" panose="02010609060101010101" pitchFamily="49" charset="-122"/>
                <a:ea typeface="黑体" panose="02010609060101010101" pitchFamily="49" charset="-122"/>
              </a:rPr>
              <a:t>较</a:t>
            </a:r>
            <a:r>
              <a:rPr lang="zh-TW" altLang="en-US" sz="2400" dirty="0">
                <a:latin typeface="黑体" panose="02010609060101010101" pitchFamily="49" charset="-122"/>
                <a:ea typeface="黑体" panose="02010609060101010101" pitchFamily="49" charset="-122"/>
              </a:rPr>
              <a:t>小的</a:t>
            </a:r>
            <a:r>
              <a:rPr lang="zh-CN" altLang="en-US" sz="2400" dirty="0">
                <a:latin typeface="黑体" panose="02010609060101010101" pitchFamily="49" charset="-122"/>
                <a:ea typeface="黑体" panose="02010609060101010101" pitchFamily="49" charset="-122"/>
              </a:rPr>
              <a:t>电</a:t>
            </a:r>
            <a:r>
              <a:rPr lang="zh-TW" altLang="en-US" sz="2400" dirty="0">
                <a:latin typeface="黑体" panose="02010609060101010101" pitchFamily="49" charset="-122"/>
                <a:ea typeface="黑体" panose="02010609060101010101" pitchFamily="49" charset="-122"/>
              </a:rPr>
              <a:t>容上常用</a:t>
            </a:r>
            <a:r>
              <a:rPr lang="en-US" altLang="zh-TW" sz="2400" dirty="0">
                <a:latin typeface="黑体" panose="02010609060101010101" pitchFamily="49" charset="-122"/>
                <a:ea typeface="黑体" panose="02010609060101010101" pitchFamily="49" charset="-122"/>
              </a:rPr>
              <a:t>﹐</a:t>
            </a:r>
            <a:r>
              <a:rPr lang="zh-TW" altLang="en-US" sz="2400" dirty="0">
                <a:latin typeface="黑体" panose="02010609060101010101" pitchFamily="49" charset="-122"/>
                <a:ea typeface="黑体" panose="02010609060101010101" pitchFamily="49" charset="-122"/>
              </a:rPr>
              <a:t>如</a:t>
            </a:r>
            <a:r>
              <a:rPr lang="en-US" altLang="zh-TW" sz="2400" dirty="0">
                <a:latin typeface="黑体" panose="02010609060101010101" pitchFamily="49" charset="-122"/>
                <a:ea typeface="黑体" panose="02010609060101010101" pitchFamily="49" charset="-122"/>
              </a:rPr>
              <a:t>﹕</a:t>
            </a:r>
            <a:r>
              <a:rPr lang="zh-TW" altLang="en-US" sz="2400" dirty="0">
                <a:latin typeface="黑体" panose="02010609060101010101" pitchFamily="49" charset="-122"/>
                <a:ea typeface="黑体" panose="02010609060101010101" pitchFamily="49" charset="-122"/>
              </a:rPr>
              <a:t>陶瓷</a:t>
            </a:r>
            <a:r>
              <a:rPr lang="zh-CN" altLang="en-US" sz="2400" dirty="0">
                <a:latin typeface="黑体" panose="02010609060101010101" pitchFamily="49" charset="-122"/>
                <a:ea typeface="黑体" panose="02010609060101010101" pitchFamily="49" charset="-122"/>
              </a:rPr>
              <a:t>电</a:t>
            </a:r>
            <a:r>
              <a:rPr lang="zh-TW" altLang="en-US" sz="2400" dirty="0">
                <a:latin typeface="黑体" panose="02010609060101010101" pitchFamily="49" charset="-122"/>
                <a:ea typeface="黑体" panose="02010609060101010101" pitchFamily="49" charset="-122"/>
              </a:rPr>
              <a:t>容</a:t>
            </a:r>
            <a:r>
              <a:rPr lang="zh-CN" altLang="en-US" sz="2400" dirty="0">
                <a:latin typeface="黑体" panose="02010609060101010101" pitchFamily="49" charset="-122"/>
                <a:ea typeface="黑体" panose="02010609060101010101" pitchFamily="49" charset="-122"/>
              </a:rPr>
              <a:t>、独</a:t>
            </a:r>
            <a:r>
              <a:rPr lang="zh-TW" altLang="en-US" sz="2400" dirty="0">
                <a:latin typeface="黑体" panose="02010609060101010101" pitchFamily="49" charset="-122"/>
                <a:ea typeface="黑体" panose="02010609060101010101" pitchFamily="49" charset="-122"/>
              </a:rPr>
              <a:t>石</a:t>
            </a:r>
            <a:r>
              <a:rPr lang="zh-CN" altLang="en-US" sz="2400" dirty="0">
                <a:latin typeface="黑体" panose="02010609060101010101" pitchFamily="49" charset="-122"/>
                <a:ea typeface="黑体" panose="02010609060101010101" pitchFamily="49" charset="-122"/>
              </a:rPr>
              <a:t>电</a:t>
            </a:r>
            <a:r>
              <a:rPr lang="zh-TW" altLang="en-US" sz="2400" dirty="0">
                <a:latin typeface="黑体" panose="02010609060101010101" pitchFamily="49" charset="-122"/>
                <a:ea typeface="黑体" panose="02010609060101010101" pitchFamily="49" charset="-122"/>
              </a:rPr>
              <a:t>容等。</a:t>
            </a:r>
          </a:p>
          <a:p>
            <a:pPr lvl="1">
              <a:buFontTx/>
              <a:buNone/>
            </a:pPr>
            <a:r>
              <a:rPr lang="zh-TW" altLang="en-US" sz="2400" dirty="0">
                <a:latin typeface="黑体" panose="02010609060101010101" pitchFamily="49" charset="-122"/>
                <a:ea typeface="黑体" panose="02010609060101010101" pitchFamily="49" charset="-122"/>
              </a:rPr>
              <a:t>   如</a:t>
            </a:r>
            <a:r>
              <a:rPr lang="en-US" altLang="zh-TW" sz="2400" dirty="0">
                <a:latin typeface="黑体" panose="02010609060101010101" pitchFamily="49" charset="-122"/>
                <a:ea typeface="黑体" panose="02010609060101010101" pitchFamily="49" charset="-122"/>
              </a:rPr>
              <a:t>﹕</a:t>
            </a:r>
            <a:r>
              <a:rPr lang="zh-TW" altLang="en-US" sz="2400" dirty="0">
                <a:latin typeface="黑体" panose="02010609060101010101" pitchFamily="49" charset="-122"/>
                <a:ea typeface="黑体" panose="02010609060101010101" pitchFamily="49" charset="-122"/>
              </a:rPr>
              <a:t>“</a:t>
            </a:r>
            <a:r>
              <a:rPr lang="en-US" altLang="zh-TW" sz="2400" dirty="0">
                <a:latin typeface="黑体" panose="02010609060101010101" pitchFamily="49" charset="-122"/>
                <a:ea typeface="黑体" panose="02010609060101010101" pitchFamily="49" charset="-122"/>
              </a:rPr>
              <a:t>102</a:t>
            </a:r>
            <a:r>
              <a:rPr lang="zh-TW" altLang="en-US" sz="2400" dirty="0">
                <a:latin typeface="黑体" panose="02010609060101010101" pitchFamily="49" charset="-122"/>
                <a:ea typeface="黑体" panose="02010609060101010101" pitchFamily="49" charset="-122"/>
              </a:rPr>
              <a:t>”表示</a:t>
            </a:r>
            <a:r>
              <a:rPr lang="zh-CN" altLang="en-US" sz="2400" dirty="0">
                <a:latin typeface="黑体" panose="02010609060101010101" pitchFamily="49" charset="-122"/>
                <a:ea typeface="黑体" panose="02010609060101010101" pitchFamily="49" charset="-122"/>
              </a:rPr>
              <a:t>该电</a:t>
            </a:r>
            <a:r>
              <a:rPr lang="zh-TW" altLang="en-US" sz="2400" dirty="0">
                <a:latin typeface="黑体" panose="02010609060101010101" pitchFamily="49" charset="-122"/>
                <a:ea typeface="黑体" panose="02010609060101010101" pitchFamily="49" charset="-122"/>
              </a:rPr>
              <a:t>容的容量</a:t>
            </a:r>
            <a:r>
              <a:rPr lang="zh-CN" altLang="en-US" sz="2400" dirty="0">
                <a:latin typeface="黑体" panose="02010609060101010101" pitchFamily="49" charset="-122"/>
                <a:ea typeface="黑体" panose="02010609060101010101" pitchFamily="49" charset="-122"/>
              </a:rPr>
              <a:t>为</a:t>
            </a:r>
            <a:r>
              <a:rPr lang="en-US" altLang="zh-TW" sz="2400" dirty="0">
                <a:latin typeface="黑体" panose="02010609060101010101" pitchFamily="49" charset="-122"/>
                <a:ea typeface="黑体" panose="02010609060101010101" pitchFamily="49" charset="-122"/>
              </a:rPr>
              <a:t>1000</a:t>
            </a:r>
            <a:r>
              <a:rPr lang="en-US" sz="2400" dirty="0">
                <a:latin typeface="黑体" panose="02010609060101010101" pitchFamily="49" charset="-122"/>
                <a:ea typeface="黑体" panose="02010609060101010101" pitchFamily="49" charset="-122"/>
              </a:rPr>
              <a:t>pF </a:t>
            </a:r>
          </a:p>
          <a:p>
            <a:pPr lvl="1">
              <a:buFontTx/>
              <a:buNone/>
            </a:pPr>
            <a:r>
              <a:rPr lang="en-US" altLang="zh-CN" sz="2400" dirty="0">
                <a:latin typeface="黑体" panose="02010609060101010101" pitchFamily="49" charset="-122"/>
                <a:ea typeface="黑体" panose="02010609060101010101" pitchFamily="49" charset="-122"/>
              </a:rPr>
              <a:t>    103</a:t>
            </a:r>
            <a:r>
              <a:rPr lang="zh-CN" altLang="en-US" sz="2400" dirty="0">
                <a:latin typeface="黑体" panose="02010609060101010101" pitchFamily="49" charset="-122"/>
                <a:ea typeface="黑体" panose="02010609060101010101" pitchFamily="49" charset="-122"/>
              </a:rPr>
              <a:t>：</a:t>
            </a:r>
            <a:r>
              <a:rPr lang="en-US" altLang="zh-CN" sz="2400" dirty="0">
                <a:latin typeface="黑体" panose="02010609060101010101" pitchFamily="49" charset="-122"/>
                <a:ea typeface="黑体" panose="02010609060101010101" pitchFamily="49" charset="-122"/>
              </a:rPr>
              <a:t>10000pF</a:t>
            </a:r>
          </a:p>
          <a:p>
            <a:pPr lvl="1">
              <a:buFontTx/>
              <a:buNone/>
            </a:pPr>
            <a:r>
              <a:rPr lang="en-US" sz="2400" dirty="0">
                <a:latin typeface="黑体" panose="02010609060101010101" pitchFamily="49" charset="-122"/>
                <a:ea typeface="黑体" panose="02010609060101010101" pitchFamily="49" charset="-122"/>
              </a:rPr>
              <a:t>    223:22000pF</a:t>
            </a:r>
          </a:p>
          <a:p>
            <a:pPr lvl="1">
              <a:buFontTx/>
              <a:buNone/>
            </a:pPr>
            <a:r>
              <a:rPr lang="zh-CN" altLang="en-US" sz="2400" dirty="0">
                <a:latin typeface="黑体" panose="02010609060101010101" pitchFamily="49" charset="-122"/>
                <a:ea typeface="黑体" panose="02010609060101010101" pitchFamily="49" charset="-122"/>
              </a:rPr>
              <a:t>如果第三位是</a:t>
            </a:r>
            <a:r>
              <a:rPr lang="en-US" altLang="zh-CN" sz="2400" dirty="0">
                <a:latin typeface="黑体" panose="02010609060101010101" pitchFamily="49" charset="-122"/>
                <a:ea typeface="黑体" panose="02010609060101010101" pitchFamily="49" charset="-122"/>
              </a:rPr>
              <a:t>9</a:t>
            </a:r>
            <a:r>
              <a:rPr lang="zh-CN" altLang="en-US" sz="2400" dirty="0">
                <a:latin typeface="黑体" panose="02010609060101010101" pitchFamily="49" charset="-122"/>
                <a:ea typeface="黑体" panose="02010609060101010101" pitchFamily="49" charset="-122"/>
              </a:rPr>
              <a:t>，则乘以</a:t>
            </a:r>
            <a:r>
              <a:rPr lang="en-US" altLang="zh-CN" sz="2400" dirty="0">
                <a:latin typeface="黑体" panose="02010609060101010101" pitchFamily="49" charset="-122"/>
                <a:ea typeface="黑体" panose="02010609060101010101" pitchFamily="49" charset="-122"/>
              </a:rPr>
              <a:t>10</a:t>
            </a:r>
            <a:r>
              <a:rPr lang="en-US" altLang="zh-CN" sz="2400" baseline="30000" dirty="0">
                <a:latin typeface="黑体" panose="02010609060101010101" pitchFamily="49" charset="-122"/>
                <a:ea typeface="黑体" panose="02010609060101010101" pitchFamily="49" charset="-122"/>
              </a:rPr>
              <a:t>-1</a:t>
            </a:r>
          </a:p>
          <a:p>
            <a:pPr lvl="1">
              <a:buFontTx/>
              <a:buNone/>
            </a:pPr>
            <a:r>
              <a:rPr lang="en-US" altLang="zh-CN" sz="2400" dirty="0">
                <a:latin typeface="黑体" panose="02010609060101010101" pitchFamily="49" charset="-122"/>
                <a:ea typeface="黑体" panose="02010609060101010101" pitchFamily="49" charset="-122"/>
              </a:rPr>
              <a:t>    339</a:t>
            </a:r>
            <a:r>
              <a:rPr lang="zh-CN" altLang="en-US" sz="2400" dirty="0">
                <a:latin typeface="黑体" panose="02010609060101010101" pitchFamily="49" charset="-122"/>
                <a:ea typeface="黑体" panose="02010609060101010101" pitchFamily="49" charset="-122"/>
              </a:rPr>
              <a:t>：</a:t>
            </a:r>
            <a:r>
              <a:rPr lang="en-US" altLang="zh-CN" sz="2400" dirty="0">
                <a:latin typeface="黑体" panose="02010609060101010101" pitchFamily="49" charset="-122"/>
                <a:ea typeface="黑体" panose="02010609060101010101" pitchFamily="49" charset="-122"/>
              </a:rPr>
              <a:t>33×10</a:t>
            </a:r>
            <a:r>
              <a:rPr lang="en-US" altLang="zh-CN" sz="2400" baseline="30000" dirty="0">
                <a:latin typeface="黑体" panose="02010609060101010101" pitchFamily="49" charset="-122"/>
                <a:ea typeface="黑体" panose="02010609060101010101" pitchFamily="49" charset="-122"/>
              </a:rPr>
              <a:t>-1</a:t>
            </a:r>
            <a:r>
              <a:rPr lang="en-US" altLang="zh-CN" sz="2400" dirty="0">
                <a:latin typeface="黑体" panose="02010609060101010101" pitchFamily="49" charset="-122"/>
                <a:ea typeface="黑体" panose="02010609060101010101" pitchFamily="49" charset="-122"/>
              </a:rPr>
              <a:t>=3.3pF</a:t>
            </a:r>
            <a:endParaRPr lang="en-US" sz="2400" dirty="0">
              <a:latin typeface="黑体" panose="02010609060101010101" pitchFamily="49" charset="-122"/>
              <a:ea typeface="黑体" panose="02010609060101010101" pitchFamily="49" charset="-122"/>
            </a:endParaRPr>
          </a:p>
          <a:p>
            <a:pPr>
              <a:buFont typeface="Wingdings" pitchFamily="2" charset="2"/>
              <a:buNone/>
            </a:pPr>
            <a:endParaRPr lang="zh-CN" sz="2800" b="0" dirty="0">
              <a:ea typeface="PMingLiU" pitchFamily="18" charset="-120"/>
            </a:endParaRPr>
          </a:p>
        </p:txBody>
      </p:sp>
      <p:sp>
        <p:nvSpPr>
          <p:cNvPr id="2" name="灯片编号占位符 1">
            <a:extLst>
              <a:ext uri="{FF2B5EF4-FFF2-40B4-BE49-F238E27FC236}">
                <a16:creationId xmlns:a16="http://schemas.microsoft.com/office/drawing/2014/main" id="{9C358379-E587-E0D6-D00D-73A0B4CA833E}"/>
              </a:ext>
            </a:extLst>
          </p:cNvPr>
          <p:cNvSpPr>
            <a:spLocks noGrp="1"/>
          </p:cNvSpPr>
          <p:nvPr>
            <p:ph type="sldNum" sz="quarter" idx="12"/>
          </p:nvPr>
        </p:nvSpPr>
        <p:spPr/>
        <p:txBody>
          <a:bodyPr/>
          <a:lstStyle/>
          <a:p>
            <a:pPr>
              <a:defRPr/>
            </a:pPr>
            <a:fld id="{5FAFB815-62BA-464E-901C-79D108092E38}" type="slidenum">
              <a:rPr lang="zh-CN" altLang="en-US" smtClean="0"/>
              <a:pPr>
                <a:defRPr/>
              </a:pPr>
              <a:t>50</a:t>
            </a:fld>
            <a:endParaRPr lang="en-US" altLang="zh-CN"/>
          </a:p>
        </p:txBody>
      </p:sp>
      <p:pic>
        <p:nvPicPr>
          <p:cNvPr id="54275" name="Picture 3"/>
          <p:cNvPicPr>
            <a:picLocks noChangeAspect="1" noChangeArrowheads="1"/>
          </p:cNvPicPr>
          <p:nvPr/>
        </p:nvPicPr>
        <p:blipFill>
          <a:blip r:embed="rId2" cstate="print"/>
          <a:srcRect/>
          <a:stretch>
            <a:fillRect/>
          </a:stretch>
        </p:blipFill>
        <p:spPr bwMode="auto">
          <a:xfrm>
            <a:off x="6298620" y="3789040"/>
            <a:ext cx="1985962" cy="1231900"/>
          </a:xfrm>
          <a:prstGeom prst="rect">
            <a:avLst/>
          </a:prstGeom>
          <a:noFill/>
          <a:ln w="9525">
            <a:noFill/>
            <a:miter lim="800000"/>
            <a:headEnd/>
            <a:tailEnd/>
          </a:ln>
        </p:spPr>
      </p:pic>
    </p:spTree>
    <p:extLst>
      <p:ext uri="{BB962C8B-B14F-4D97-AF65-F5344CB8AC3E}">
        <p14:creationId xmlns:p14="http://schemas.microsoft.com/office/powerpoint/2010/main" val="1716806923"/>
      </p:ext>
    </p:ext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idx="1"/>
          </p:nvPr>
        </p:nvSpPr>
        <p:spPr>
          <a:xfrm>
            <a:off x="76106" y="94411"/>
            <a:ext cx="9067894" cy="6264275"/>
          </a:xfrm>
        </p:spPr>
        <p:txBody>
          <a:bodyPr>
            <a:normAutofit fontScale="92500" lnSpcReduction="10000"/>
          </a:bodyPr>
          <a:lstStyle/>
          <a:p>
            <a:pPr>
              <a:buNone/>
            </a:pPr>
            <a:r>
              <a:rPr lang="en-US" altLang="zh-CN" sz="2400" b="1" dirty="0"/>
              <a:t>4.</a:t>
            </a:r>
            <a:r>
              <a:rPr lang="zh-CN" altLang="en-US" sz="2400" b="1" dirty="0"/>
              <a:t>电容的规格标注方法</a:t>
            </a:r>
            <a:endParaRPr lang="en-US" altLang="zh-CN" sz="2400" b="1" dirty="0"/>
          </a:p>
          <a:p>
            <a:pPr>
              <a:buNone/>
            </a:pPr>
            <a:endParaRPr lang="en-US" altLang="zh-CN" sz="2400" b="1" dirty="0"/>
          </a:p>
          <a:p>
            <a:pPr>
              <a:buFont typeface="Wingdings" pitchFamily="2" charset="2"/>
              <a:buNone/>
            </a:pPr>
            <a:r>
              <a:rPr lang="en-US" altLang="zh-CN" sz="2700" dirty="0">
                <a:latin typeface="黑体" panose="02010609060101010101" pitchFamily="49" charset="-122"/>
                <a:ea typeface="黑体" panose="02010609060101010101" pitchFamily="49" charset="-122"/>
              </a:rPr>
              <a:t>(3</a:t>
            </a:r>
            <a:r>
              <a:rPr lang="zh-CN" altLang="en-US" sz="2700" dirty="0">
                <a:latin typeface="黑体" panose="02010609060101010101" pitchFamily="49" charset="-122"/>
                <a:ea typeface="黑体" panose="02010609060101010101" pitchFamily="49" charset="-122"/>
              </a:rPr>
              <a:t>）文字符号法</a:t>
            </a:r>
            <a:endParaRPr lang="en-US" altLang="zh-CN" sz="2400" dirty="0">
              <a:latin typeface="黑体" panose="02010609060101010101" pitchFamily="49" charset="-122"/>
              <a:ea typeface="黑体" panose="02010609060101010101" pitchFamily="49" charset="-122"/>
            </a:endParaRPr>
          </a:p>
          <a:p>
            <a:pPr>
              <a:buNone/>
            </a:pPr>
            <a:r>
              <a:rPr lang="zh-CN" altLang="en-US" sz="2400" dirty="0">
                <a:latin typeface="黑体" panose="02010609060101010101" pitchFamily="49" charset="-122"/>
                <a:ea typeface="黑体" panose="02010609060101010101" pitchFamily="49" charset="-122"/>
              </a:rPr>
              <a:t>      该标记方法有数字和字母两部分组成，其中字母可当成小数点，而数字和字母两者共同决定该电容的容量。例如：</a:t>
            </a:r>
            <a:endParaRPr lang="en-US" altLang="zh-CN" sz="2400" dirty="0">
              <a:latin typeface="黑体" panose="02010609060101010101" pitchFamily="49" charset="-122"/>
              <a:ea typeface="黑体" panose="02010609060101010101" pitchFamily="49" charset="-122"/>
            </a:endParaRPr>
          </a:p>
          <a:p>
            <a:pPr algn="ctr">
              <a:buNone/>
            </a:pPr>
            <a:r>
              <a:rPr lang="zh-CN" altLang="zh-CN" sz="2400" dirty="0">
                <a:latin typeface="Times New Roman" panose="02020603050405020304" pitchFamily="18" charset="0"/>
                <a:cs typeface="Times New Roman" panose="02020603050405020304" pitchFamily="18" charset="0"/>
              </a:rPr>
              <a:t>P82 = 0.82PF </a:t>
            </a:r>
            <a:r>
              <a:rPr lang="zh-CN" altLang="en-US" sz="2400" dirty="0">
                <a:latin typeface="Times New Roman" panose="02020603050405020304" pitchFamily="18" charset="0"/>
                <a:cs typeface="Times New Roman" panose="02020603050405020304" pitchFamily="18" charset="0"/>
              </a:rPr>
              <a:t>；</a:t>
            </a:r>
            <a:r>
              <a:rPr lang="en-US" altLang="zh-CN" sz="2400" dirty="0">
                <a:latin typeface="Times New Roman" panose="02020603050405020304" pitchFamily="18" charset="0"/>
                <a:cs typeface="Times New Roman" panose="02020603050405020304" pitchFamily="18" charset="0"/>
              </a:rPr>
              <a:t>33n=0.033</a:t>
            </a:r>
            <a:r>
              <a:rPr lang="zh-TW" altLang="zh-CN" sz="2400" dirty="0">
                <a:latin typeface="Times New Roman" panose="02020603050405020304" pitchFamily="18" charset="0"/>
                <a:ea typeface="PMingLiU" pitchFamily="18" charset="-120"/>
                <a:cs typeface="Times New Roman" panose="02020603050405020304" pitchFamily="18" charset="0"/>
              </a:rPr>
              <a:t> µ</a:t>
            </a:r>
            <a:r>
              <a:rPr lang="en-US" altLang="zh-TW" sz="2400" dirty="0">
                <a:latin typeface="Times New Roman" panose="02020603050405020304" pitchFamily="18" charset="0"/>
                <a:ea typeface="PMingLiU" pitchFamily="18" charset="-120"/>
                <a:cs typeface="Times New Roman" panose="02020603050405020304" pitchFamily="18" charset="0"/>
              </a:rPr>
              <a:t>F</a:t>
            </a:r>
            <a:endParaRPr lang="en-US" altLang="zh-CN" sz="2400" dirty="0">
              <a:latin typeface="Times New Roman" panose="02020603050405020304" pitchFamily="18" charset="0"/>
              <a:cs typeface="Times New Roman" panose="02020603050405020304" pitchFamily="18" charset="0"/>
            </a:endParaRPr>
          </a:p>
          <a:p>
            <a:pPr algn="ctr">
              <a:buNone/>
            </a:pPr>
            <a:r>
              <a:rPr lang="zh-CN" altLang="zh-CN" sz="2400" dirty="0">
                <a:latin typeface="Times New Roman" panose="02020603050405020304" pitchFamily="18" charset="0"/>
                <a:cs typeface="Times New Roman" panose="02020603050405020304" pitchFamily="18" charset="0"/>
              </a:rPr>
              <a:t>6n8 = 6.8nF</a:t>
            </a: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 4</a:t>
            </a:r>
            <a:r>
              <a:rPr lang="zh-TW" altLang="zh-CN" sz="2400" dirty="0">
                <a:latin typeface="Times New Roman" panose="02020603050405020304" pitchFamily="18" charset="0"/>
                <a:ea typeface="PMingLiU" pitchFamily="18" charset="-120"/>
                <a:cs typeface="Times New Roman" panose="02020603050405020304" pitchFamily="18" charset="0"/>
              </a:rPr>
              <a:t> µ</a:t>
            </a:r>
            <a:r>
              <a:rPr lang="en-US" altLang="zh-CN" sz="2400" dirty="0">
                <a:latin typeface="Times New Roman" panose="02020603050405020304" pitchFamily="18" charset="0"/>
                <a:ea typeface="PMingLiU" pitchFamily="18" charset="-120"/>
                <a:cs typeface="Times New Roman" panose="02020603050405020304" pitchFamily="18" charset="0"/>
              </a:rPr>
              <a:t>7=4.7</a:t>
            </a:r>
            <a:r>
              <a:rPr lang="zh-TW" altLang="zh-CN" sz="2400" dirty="0">
                <a:latin typeface="Times New Roman" panose="02020603050405020304" pitchFamily="18" charset="0"/>
                <a:ea typeface="PMingLiU" pitchFamily="18" charset="-120"/>
                <a:cs typeface="Times New Roman" panose="02020603050405020304" pitchFamily="18" charset="0"/>
              </a:rPr>
              <a:t> µ</a:t>
            </a:r>
            <a:r>
              <a:rPr lang="en-US" altLang="zh-TW" sz="2400" dirty="0">
                <a:latin typeface="Times New Roman" panose="02020603050405020304" pitchFamily="18" charset="0"/>
                <a:ea typeface="PMingLiU" pitchFamily="18" charset="-120"/>
                <a:cs typeface="Times New Roman" panose="02020603050405020304" pitchFamily="18" charset="0"/>
              </a:rPr>
              <a:t>F</a:t>
            </a:r>
            <a:endParaRPr lang="en-US" altLang="zh-CN" sz="2400" dirty="0">
              <a:latin typeface="Times New Roman" panose="02020603050405020304" pitchFamily="18" charset="0"/>
              <a:cs typeface="Times New Roman" panose="02020603050405020304" pitchFamily="18" charset="0"/>
            </a:endParaRPr>
          </a:p>
          <a:p>
            <a:pPr algn="ctr">
              <a:buNone/>
            </a:pPr>
            <a:r>
              <a:rPr lang="zh-CN" altLang="zh-CN" sz="2400" dirty="0">
                <a:latin typeface="Times New Roman" panose="02020603050405020304" pitchFamily="18" charset="0"/>
                <a:cs typeface="Times New Roman" panose="02020603050405020304" pitchFamily="18" charset="0"/>
              </a:rPr>
              <a:t>2 </a:t>
            </a:r>
            <a:r>
              <a:rPr lang="zh-TW" altLang="zh-CN" sz="2400" dirty="0">
                <a:latin typeface="Times New Roman" panose="02020603050405020304" pitchFamily="18" charset="0"/>
                <a:ea typeface="PMingLiU" pitchFamily="18" charset="-120"/>
                <a:cs typeface="Times New Roman" panose="02020603050405020304" pitchFamily="18" charset="0"/>
              </a:rPr>
              <a:t>µ</a:t>
            </a:r>
            <a:r>
              <a:rPr lang="zh-CN" altLang="zh-CN" sz="2400" dirty="0">
                <a:latin typeface="Times New Roman" panose="02020603050405020304" pitchFamily="18" charset="0"/>
                <a:ea typeface="PMingLiU" pitchFamily="18" charset="-120"/>
                <a:cs typeface="Times New Roman" panose="02020603050405020304" pitchFamily="18" charset="0"/>
              </a:rPr>
              <a:t>2 =</a:t>
            </a:r>
            <a:r>
              <a:rPr lang="zh-CN" altLang="zh-CN" sz="2400" b="0" dirty="0">
                <a:latin typeface="Times New Roman" panose="02020603050405020304" pitchFamily="18" charset="0"/>
                <a:ea typeface="PMingLiU" pitchFamily="18" charset="-120"/>
                <a:cs typeface="Times New Roman" panose="02020603050405020304" pitchFamily="18" charset="0"/>
              </a:rPr>
              <a:t> </a:t>
            </a:r>
            <a:r>
              <a:rPr lang="zh-CN" altLang="zh-CN" sz="2400" dirty="0">
                <a:latin typeface="Times New Roman" panose="02020603050405020304" pitchFamily="18" charset="0"/>
                <a:ea typeface="PMingLiU" pitchFamily="18" charset="-120"/>
                <a:cs typeface="Times New Roman" panose="02020603050405020304" pitchFamily="18" charset="0"/>
              </a:rPr>
              <a:t>2.2 </a:t>
            </a:r>
            <a:r>
              <a:rPr lang="zh-TW" altLang="zh-CN" sz="2400" dirty="0">
                <a:latin typeface="Times New Roman" panose="02020603050405020304" pitchFamily="18" charset="0"/>
                <a:ea typeface="PMingLiU" pitchFamily="18" charset="-120"/>
                <a:cs typeface="Times New Roman" panose="02020603050405020304" pitchFamily="18" charset="0"/>
              </a:rPr>
              <a:t>µ</a:t>
            </a:r>
            <a:r>
              <a:rPr lang="en-US" altLang="zh-TW" sz="2400" dirty="0">
                <a:latin typeface="Times New Roman" panose="02020603050405020304" pitchFamily="18" charset="0"/>
                <a:ea typeface="PMingLiU" pitchFamily="18" charset="-120"/>
                <a:cs typeface="Times New Roman" panose="02020603050405020304" pitchFamily="18" charset="0"/>
              </a:rPr>
              <a:t>F</a:t>
            </a:r>
            <a:r>
              <a:rPr lang="zh-CN" altLang="en-US" sz="2400" dirty="0">
                <a:latin typeface="Times New Roman" panose="02020603050405020304" pitchFamily="18" charset="0"/>
                <a:cs typeface="Times New Roman" panose="02020603050405020304" pitchFamily="18" charset="0"/>
              </a:rPr>
              <a:t> ；  </a:t>
            </a:r>
            <a:r>
              <a:rPr lang="en-US" altLang="zh-CN" sz="2400" dirty="0">
                <a:latin typeface="Times New Roman" panose="02020603050405020304" pitchFamily="18" charset="0"/>
                <a:ea typeface="PMingLiU" pitchFamily="18" charset="-120"/>
                <a:cs typeface="Times New Roman" panose="02020603050405020304" pitchFamily="18" charset="0"/>
              </a:rPr>
              <a:t>3P3=3.3pF</a:t>
            </a:r>
          </a:p>
          <a:p>
            <a:pPr>
              <a:buFont typeface="Wingdings" pitchFamily="2" charset="2"/>
              <a:buNone/>
            </a:pPr>
            <a:r>
              <a:rPr lang="en-US" altLang="zh-CN" sz="2700" dirty="0">
                <a:latin typeface="黑体" panose="02010609060101010101" pitchFamily="49" charset="-122"/>
                <a:ea typeface="黑体" panose="02010609060101010101" pitchFamily="49" charset="-122"/>
              </a:rPr>
              <a:t>(4)</a:t>
            </a:r>
            <a:r>
              <a:rPr lang="zh-CN" altLang="en-US" sz="2700" dirty="0">
                <a:latin typeface="黑体" panose="02010609060101010101" pitchFamily="49" charset="-122"/>
                <a:ea typeface="黑体" panose="02010609060101010101" pitchFamily="49" charset="-122"/>
              </a:rPr>
              <a:t>色标法</a:t>
            </a:r>
          </a:p>
          <a:p>
            <a:pPr>
              <a:buFont typeface="Wingdings" pitchFamily="2" charset="2"/>
              <a:buNone/>
            </a:pPr>
            <a:r>
              <a:rPr lang="zh-CN" altLang="en-US" sz="2700" dirty="0">
                <a:latin typeface="黑体" panose="02010609060101010101" pitchFamily="49" charset="-122"/>
                <a:ea typeface="黑体" panose="02010609060101010101" pitchFamily="49" charset="-122"/>
              </a:rPr>
              <a:t>       </a:t>
            </a:r>
            <a:r>
              <a:rPr lang="zh-CN" altLang="en-US" sz="2400" dirty="0">
                <a:latin typeface="黑体" panose="02010609060101010101" pitchFamily="49" charset="-122"/>
                <a:ea typeface="黑体" panose="02010609060101010101" pitchFamily="49" charset="-122"/>
              </a:rPr>
              <a:t>电容器的色标法与电阻器的色标法规定相同，其基本单位为</a:t>
            </a:r>
            <a:r>
              <a:rPr lang="en-US" altLang="zh-CN" sz="2400" dirty="0">
                <a:latin typeface="黑体" panose="02010609060101010101" pitchFamily="49" charset="-122"/>
                <a:ea typeface="黑体" panose="02010609060101010101" pitchFamily="49" charset="-122"/>
              </a:rPr>
              <a:t>pF</a:t>
            </a:r>
            <a:r>
              <a:rPr lang="zh-CN" altLang="en-US" sz="2400" dirty="0">
                <a:latin typeface="黑体" panose="02010609060101010101" pitchFamily="49" charset="-122"/>
                <a:ea typeface="黑体" panose="02010609060101010101" pitchFamily="49" charset="-122"/>
              </a:rPr>
              <a:t>，一般有三条色环，其颜色代表三个数字，其中前两位代表数值，第三位代表有多少个</a:t>
            </a:r>
            <a:r>
              <a:rPr lang="en-US" altLang="zh-CN" sz="2400" dirty="0">
                <a:latin typeface="黑体" panose="02010609060101010101" pitchFamily="49" charset="-122"/>
                <a:ea typeface="黑体" panose="02010609060101010101" pitchFamily="49" charset="-122"/>
              </a:rPr>
              <a:t>0</a:t>
            </a:r>
            <a:r>
              <a:rPr lang="zh-CN" altLang="en-US" sz="2400" dirty="0">
                <a:latin typeface="黑体" panose="02010609060101010101" pitchFamily="49" charset="-122"/>
                <a:ea typeface="黑体" panose="02010609060101010101" pitchFamily="49" charset="-122"/>
              </a:rPr>
              <a:t>；读码的方向是自上而下。有时还会在最后增加一色环表示电容的额定电压。</a:t>
            </a:r>
          </a:p>
          <a:p>
            <a:pPr algn="ctr">
              <a:buNone/>
            </a:pPr>
            <a:endParaRPr lang="en-US" altLang="zh-CN" sz="2400" dirty="0">
              <a:latin typeface="Times New Roman" panose="02020603050405020304" pitchFamily="18" charset="0"/>
              <a:ea typeface="PMingLiU" pitchFamily="18" charset="-120"/>
              <a:cs typeface="Times New Roman" panose="02020603050405020304" pitchFamily="18" charset="0"/>
            </a:endParaRPr>
          </a:p>
          <a:p>
            <a:pPr algn="ctr">
              <a:buNone/>
            </a:pPr>
            <a:endParaRPr lang="zh-CN" altLang="zh-CN" sz="2800" dirty="0">
              <a:latin typeface="Times New Roman" panose="02020603050405020304" pitchFamily="18" charset="0"/>
              <a:ea typeface="PMingLiU" pitchFamily="18" charset="-120"/>
              <a:cs typeface="Times New Roman" panose="02020603050405020304" pitchFamily="18" charset="0"/>
            </a:endParaRPr>
          </a:p>
          <a:p>
            <a:pPr>
              <a:buFont typeface="Wingdings" pitchFamily="2" charset="2"/>
              <a:buNone/>
            </a:pPr>
            <a:endParaRPr lang="zh-CN" altLang="en-US" sz="2700" dirty="0">
              <a:latin typeface="黑体" panose="02010609060101010101" pitchFamily="49" charset="-122"/>
              <a:ea typeface="黑体" panose="02010609060101010101" pitchFamily="49" charset="-122"/>
            </a:endParaRPr>
          </a:p>
        </p:txBody>
      </p:sp>
      <p:sp>
        <p:nvSpPr>
          <p:cNvPr id="2" name="灯片编号占位符 1">
            <a:extLst>
              <a:ext uri="{FF2B5EF4-FFF2-40B4-BE49-F238E27FC236}">
                <a16:creationId xmlns:a16="http://schemas.microsoft.com/office/drawing/2014/main" id="{9C358379-E587-E0D6-D00D-73A0B4CA833E}"/>
              </a:ext>
            </a:extLst>
          </p:cNvPr>
          <p:cNvSpPr>
            <a:spLocks noGrp="1"/>
          </p:cNvSpPr>
          <p:nvPr>
            <p:ph type="sldNum" sz="quarter" idx="12"/>
          </p:nvPr>
        </p:nvSpPr>
        <p:spPr/>
        <p:txBody>
          <a:bodyPr/>
          <a:lstStyle/>
          <a:p>
            <a:pPr>
              <a:defRPr/>
            </a:pPr>
            <a:fld id="{5FAFB815-62BA-464E-901C-79D108092E38}" type="slidenum">
              <a:rPr lang="zh-CN" altLang="en-US" smtClean="0"/>
              <a:pPr>
                <a:defRPr/>
              </a:pPr>
              <a:t>51</a:t>
            </a:fld>
            <a:endParaRPr lang="en-US" altLang="zh-CN"/>
          </a:p>
        </p:txBody>
      </p:sp>
      <p:sp>
        <p:nvSpPr>
          <p:cNvPr id="54277" name="Text Box 5"/>
          <p:cNvSpPr txBox="1">
            <a:spLocks noChangeArrowheads="1"/>
          </p:cNvSpPr>
          <p:nvPr/>
        </p:nvSpPr>
        <p:spPr bwMode="auto">
          <a:xfrm>
            <a:off x="1187450" y="5516563"/>
            <a:ext cx="7632700" cy="366712"/>
          </a:xfrm>
          <a:prstGeom prst="rect">
            <a:avLst/>
          </a:prstGeom>
          <a:noFill/>
          <a:ln w="9525">
            <a:noFill/>
            <a:miter lim="800000"/>
            <a:headEnd/>
            <a:tailEnd/>
          </a:ln>
          <a:effectLst/>
        </p:spPr>
        <p:txBody>
          <a:bodyPr>
            <a:spAutoFit/>
          </a:bodyPr>
          <a:lstStyle/>
          <a:p>
            <a:pPr>
              <a:spcBef>
                <a:spcPct val="50000"/>
              </a:spcBef>
            </a:pPr>
            <a:endParaRPr lang="zh-CN" altLang="en-US" sz="1800"/>
          </a:p>
        </p:txBody>
      </p:sp>
      <p:sp>
        <p:nvSpPr>
          <p:cNvPr id="54278" name="Text Box 6"/>
          <p:cNvSpPr txBox="1">
            <a:spLocks noChangeArrowheads="1"/>
          </p:cNvSpPr>
          <p:nvPr/>
        </p:nvSpPr>
        <p:spPr bwMode="auto">
          <a:xfrm>
            <a:off x="539750" y="5229225"/>
            <a:ext cx="7956550" cy="523220"/>
          </a:xfrm>
          <a:prstGeom prst="rect">
            <a:avLst/>
          </a:prstGeom>
          <a:noFill/>
          <a:ln w="9525">
            <a:noFill/>
            <a:miter lim="800000"/>
            <a:headEnd/>
            <a:tailEnd/>
          </a:ln>
          <a:effectLst/>
        </p:spPr>
        <p:txBody>
          <a:bodyPr>
            <a:spAutoFit/>
          </a:bodyPr>
          <a:lstStyle/>
          <a:p>
            <a:pPr>
              <a:spcBef>
                <a:spcPct val="50000"/>
              </a:spcBef>
            </a:pPr>
            <a:r>
              <a:rPr lang="zh-CN" altLang="en-US" sz="2800" dirty="0"/>
              <a:t>      </a:t>
            </a:r>
          </a:p>
        </p:txBody>
      </p:sp>
    </p:spTree>
    <p:extLst>
      <p:ext uri="{BB962C8B-B14F-4D97-AF65-F5344CB8AC3E}">
        <p14:creationId xmlns:p14="http://schemas.microsoft.com/office/powerpoint/2010/main" val="3583336107"/>
      </p:ext>
    </p:extLst>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ctrTitle"/>
          </p:nvPr>
        </p:nvSpPr>
        <p:spPr>
          <a:xfrm>
            <a:off x="533400" y="229850"/>
            <a:ext cx="5029200" cy="1446550"/>
          </a:xfrm>
        </p:spPr>
        <p:txBody>
          <a:bodyPr>
            <a:normAutofit fontScale="90000"/>
          </a:bodyPr>
          <a:lstStyle/>
          <a:p>
            <a:br>
              <a:rPr lang="zh-CN" altLang="en-US" b="1">
                <a:ea typeface="华文行楷" pitchFamily="2" charset="-122"/>
              </a:rPr>
            </a:br>
            <a:endParaRPr lang="zh-CN" altLang="en-US" b="1">
              <a:ea typeface="华文行楷" pitchFamily="2" charset="-122"/>
            </a:endParaRPr>
          </a:p>
        </p:txBody>
      </p:sp>
      <p:sp>
        <p:nvSpPr>
          <p:cNvPr id="61443" name="Rectangle 3"/>
          <p:cNvSpPr>
            <a:spLocks noGrp="1" noChangeArrowheads="1"/>
          </p:cNvSpPr>
          <p:nvPr>
            <p:ph type="subTitle" idx="1"/>
          </p:nvPr>
        </p:nvSpPr>
        <p:spPr>
          <a:xfrm>
            <a:off x="395536" y="131730"/>
            <a:ext cx="5943600" cy="685800"/>
          </a:xfrm>
        </p:spPr>
        <p:txBody>
          <a:bodyPr/>
          <a:lstStyle/>
          <a:p>
            <a:pPr marL="228600" indent="-228600"/>
            <a:r>
              <a:rPr lang="en-US" sz="2400" b="1" dirty="0"/>
              <a:t>5.</a:t>
            </a:r>
            <a:r>
              <a:rPr lang="zh-CN" altLang="en-US" sz="2400" b="1" dirty="0"/>
              <a:t>片状电容器的选用</a:t>
            </a:r>
            <a:r>
              <a:rPr lang="en-US" sz="2400" b="1" dirty="0"/>
              <a:t>:</a:t>
            </a:r>
          </a:p>
        </p:txBody>
      </p:sp>
      <p:sp>
        <p:nvSpPr>
          <p:cNvPr id="2" name="灯片编号占位符 1">
            <a:extLst>
              <a:ext uri="{FF2B5EF4-FFF2-40B4-BE49-F238E27FC236}">
                <a16:creationId xmlns:a16="http://schemas.microsoft.com/office/drawing/2014/main" id="{7CF33D02-3952-2D3C-9F7E-54DA65FA47A9}"/>
              </a:ext>
            </a:extLst>
          </p:cNvPr>
          <p:cNvSpPr>
            <a:spLocks noGrp="1"/>
          </p:cNvSpPr>
          <p:nvPr>
            <p:ph type="sldNum" sz="quarter" idx="12"/>
          </p:nvPr>
        </p:nvSpPr>
        <p:spPr/>
        <p:txBody>
          <a:bodyPr/>
          <a:lstStyle/>
          <a:p>
            <a:pPr>
              <a:defRPr/>
            </a:pPr>
            <a:fld id="{47A4CA45-135E-4AE6-A55B-F30C83FDB90E}" type="slidenum">
              <a:rPr lang="zh-CN" altLang="en-US" smtClean="0"/>
              <a:pPr>
                <a:defRPr/>
              </a:pPr>
              <a:t>52</a:t>
            </a:fld>
            <a:endParaRPr lang="en-US" altLang="zh-CN"/>
          </a:p>
        </p:txBody>
      </p:sp>
      <p:sp>
        <p:nvSpPr>
          <p:cNvPr id="61444" name="Rectangle 4"/>
          <p:cNvSpPr>
            <a:spLocks noChangeArrowheads="1"/>
          </p:cNvSpPr>
          <p:nvPr/>
        </p:nvSpPr>
        <p:spPr bwMode="auto">
          <a:xfrm>
            <a:off x="1066800" y="2057400"/>
            <a:ext cx="8077200" cy="1219200"/>
          </a:xfrm>
          <a:prstGeom prst="rect">
            <a:avLst/>
          </a:prstGeom>
          <a:noFill/>
          <a:ln w="9525">
            <a:noFill/>
            <a:miter lim="800000"/>
            <a:headEnd/>
            <a:tailEnd/>
          </a:ln>
          <a:effectLst/>
        </p:spPr>
        <p:txBody>
          <a:bodyPr/>
          <a:lstStyle/>
          <a:p>
            <a:pPr lvl="1">
              <a:spcBef>
                <a:spcPct val="20000"/>
              </a:spcBef>
              <a:buFontTx/>
              <a:buBlip>
                <a:blip r:embed="rId2"/>
              </a:buBlip>
            </a:pPr>
            <a:endParaRPr lang="zh-TW" sz="2800" b="1">
              <a:solidFill>
                <a:srgbClr val="008000"/>
              </a:solidFill>
              <a:effectLst>
                <a:outerShdw blurRad="38100" dist="38100" dir="2700000" algn="tl">
                  <a:srgbClr val="000000"/>
                </a:outerShdw>
              </a:effectLst>
              <a:latin typeface="楷体_GB2312" pitchFamily="49" charset="-122"/>
              <a:ea typeface="楷体_GB2312" pitchFamily="49" charset="-122"/>
            </a:endParaRPr>
          </a:p>
        </p:txBody>
      </p:sp>
      <p:sp>
        <p:nvSpPr>
          <p:cNvPr id="61446" name="Rectangle 6"/>
          <p:cNvSpPr>
            <a:spLocks noChangeArrowheads="1"/>
          </p:cNvSpPr>
          <p:nvPr/>
        </p:nvSpPr>
        <p:spPr bwMode="auto">
          <a:xfrm>
            <a:off x="179512" y="838200"/>
            <a:ext cx="8964488" cy="5255096"/>
          </a:xfrm>
          <a:prstGeom prst="rect">
            <a:avLst/>
          </a:prstGeom>
          <a:noFill/>
          <a:ln w="9525">
            <a:noFill/>
            <a:miter lim="800000"/>
            <a:headEnd/>
            <a:tailEnd/>
          </a:ln>
          <a:effectLst/>
        </p:spPr>
        <p:txBody>
          <a:bodyPr/>
          <a:lstStyle/>
          <a:p>
            <a:pPr>
              <a:spcBef>
                <a:spcPct val="20000"/>
              </a:spcBef>
              <a:buFontTx/>
              <a:buBlip>
                <a:blip r:embed="rId3"/>
              </a:buBlip>
            </a:pPr>
            <a:r>
              <a:rPr lang="zh-CN" altLang="en-US" sz="2400" b="1" dirty="0">
                <a:latin typeface="华文行楷" pitchFamily="2" charset="-122"/>
                <a:ea typeface="华文行楷" pitchFamily="2" charset="-122"/>
              </a:rPr>
              <a:t>一类电介质</a:t>
            </a:r>
            <a:r>
              <a:rPr lang="en-US" sz="2400" dirty="0">
                <a:latin typeface="楷体_GB2312" pitchFamily="49" charset="-122"/>
                <a:ea typeface="楷体_GB2312" pitchFamily="49" charset="-122"/>
              </a:rPr>
              <a:t>—NPO(</a:t>
            </a:r>
            <a:r>
              <a:rPr lang="zh-CN" altLang="en-US" sz="2400" dirty="0">
                <a:latin typeface="楷体_GB2312" pitchFamily="49" charset="-122"/>
                <a:ea typeface="楷体_GB2312" pitchFamily="49" charset="-122"/>
              </a:rPr>
              <a:t>非极化</a:t>
            </a:r>
            <a:r>
              <a:rPr lang="en-US" sz="2400" dirty="0">
                <a:latin typeface="楷体_GB2312" pitchFamily="49" charset="-122"/>
                <a:ea typeface="楷体_GB2312" pitchFamily="49" charset="-122"/>
              </a:rPr>
              <a:t>)</a:t>
            </a:r>
            <a:r>
              <a:rPr lang="en-US" altLang="zh-CN" sz="2400" dirty="0">
                <a:latin typeface="楷体_GB2312" pitchFamily="49" charset="-122"/>
                <a:ea typeface="楷体_GB2312" pitchFamily="49" charset="-122"/>
              </a:rPr>
              <a:t>/</a:t>
            </a:r>
            <a:r>
              <a:rPr lang="en-US" sz="2400" dirty="0">
                <a:latin typeface="楷体_GB2312" pitchFamily="49" charset="-122"/>
                <a:ea typeface="楷体_GB2312" pitchFamily="49" charset="-122"/>
              </a:rPr>
              <a:t>COG</a:t>
            </a:r>
            <a:r>
              <a:rPr lang="zh-CN" altLang="en-US" sz="2400" dirty="0">
                <a:latin typeface="楷体_GB2312" pitchFamily="49" charset="-122"/>
                <a:ea typeface="楷体_GB2312" pitchFamily="49" charset="-122"/>
              </a:rPr>
              <a:t>（导电聚合物材料的电容器）</a:t>
            </a:r>
            <a:endParaRPr lang="zh-CN" altLang="en-US" sz="2400" dirty="0">
              <a:latin typeface="华文行楷" pitchFamily="2" charset="-122"/>
              <a:ea typeface="华文行楷" pitchFamily="2" charset="-122"/>
            </a:endParaRPr>
          </a:p>
          <a:p>
            <a:pPr>
              <a:spcBef>
                <a:spcPct val="20000"/>
              </a:spcBef>
            </a:pPr>
            <a:r>
              <a:rPr lang="zh-CN" altLang="en-US" sz="2400" dirty="0">
                <a:latin typeface="楷体_GB2312" pitchFamily="49" charset="-122"/>
                <a:ea typeface="楷体_GB2312" pitchFamily="49" charset="-122"/>
              </a:rPr>
              <a:t>       电气性能最稳定，基本上不随温度、电压与时间的改变而改变，适用于对稳定性要求高的高频电路。</a:t>
            </a:r>
          </a:p>
          <a:p>
            <a:pPr>
              <a:spcBef>
                <a:spcPct val="20000"/>
              </a:spcBef>
              <a:buFontTx/>
              <a:buBlip>
                <a:blip r:embed="rId3"/>
              </a:buBlip>
            </a:pPr>
            <a:r>
              <a:rPr lang="zh-CN" altLang="en-US" sz="2400" b="1" dirty="0">
                <a:latin typeface="华文行楷" pitchFamily="2" charset="-122"/>
                <a:ea typeface="华文行楷" pitchFamily="2" charset="-122"/>
              </a:rPr>
              <a:t>二类电介质</a:t>
            </a:r>
            <a:r>
              <a:rPr lang="en-US" sz="2400" dirty="0">
                <a:latin typeface="楷体_GB2312" pitchFamily="49" charset="-122"/>
                <a:ea typeface="楷体_GB2312" pitchFamily="49" charset="-122"/>
              </a:rPr>
              <a:t>--X7R</a:t>
            </a:r>
            <a:r>
              <a:rPr lang="zh-CN" altLang="en-US" sz="2400" dirty="0">
                <a:latin typeface="楷体_GB2312" pitchFamily="49" charset="-122"/>
                <a:ea typeface="楷体_GB2312" pitchFamily="49" charset="-122"/>
              </a:rPr>
              <a:t>（</a:t>
            </a:r>
            <a:r>
              <a:rPr lang="en-US" sz="2400" dirty="0">
                <a:latin typeface="楷体_GB2312" pitchFamily="49" charset="-122"/>
                <a:ea typeface="楷体_GB2312" pitchFamily="49" charset="-122"/>
              </a:rPr>
              <a:t>2X1</a:t>
            </a:r>
            <a:r>
              <a:rPr lang="zh-CN" altLang="en-US" sz="2400" dirty="0">
                <a:latin typeface="楷体_GB2312" pitchFamily="49" charset="-122"/>
                <a:ea typeface="楷体_GB2312" pitchFamily="49" charset="-122"/>
              </a:rPr>
              <a:t>）</a:t>
            </a:r>
          </a:p>
          <a:p>
            <a:pPr>
              <a:spcBef>
                <a:spcPct val="20000"/>
              </a:spcBef>
            </a:pPr>
            <a:r>
              <a:rPr lang="zh-CN" altLang="en-US" sz="2400" dirty="0">
                <a:latin typeface="楷体_GB2312" pitchFamily="49" charset="-122"/>
                <a:ea typeface="楷体_GB2312" pitchFamily="49" charset="-122"/>
              </a:rPr>
              <a:t>       电气性能较稳定，在温度，电压与时间改变时性能的变化并不显著，适用于隔直，偶合、旁路与对容量稳定性要求不太高的鉴频电路。由于</a:t>
            </a:r>
            <a:r>
              <a:rPr lang="en-US" sz="2400" dirty="0">
                <a:latin typeface="楷体_GB2312" pitchFamily="49" charset="-122"/>
                <a:ea typeface="楷体_GB2312" pitchFamily="49" charset="-122"/>
              </a:rPr>
              <a:t>X7R</a:t>
            </a:r>
            <a:r>
              <a:rPr lang="zh-CN" altLang="en-US" sz="2400" dirty="0">
                <a:latin typeface="楷体_GB2312" pitchFamily="49" charset="-122"/>
                <a:ea typeface="楷体_GB2312" pitchFamily="49" charset="-122"/>
              </a:rPr>
              <a:t>是一种强电介质，因而能造出容量比</a:t>
            </a:r>
            <a:r>
              <a:rPr lang="en-US" sz="2400" dirty="0">
                <a:latin typeface="楷体_GB2312" pitchFamily="49" charset="-122"/>
                <a:ea typeface="楷体_GB2312" pitchFamily="49" charset="-122"/>
              </a:rPr>
              <a:t>NPO</a:t>
            </a:r>
            <a:r>
              <a:rPr lang="zh-CN" altLang="en-US" sz="2400" dirty="0">
                <a:latin typeface="楷体_GB2312" pitchFamily="49" charset="-122"/>
                <a:ea typeface="楷体_GB2312" pitchFamily="49" charset="-122"/>
              </a:rPr>
              <a:t>介质更大的电容器。</a:t>
            </a:r>
          </a:p>
          <a:p>
            <a:pPr>
              <a:spcBef>
                <a:spcPct val="20000"/>
              </a:spcBef>
              <a:buFontTx/>
              <a:buBlip>
                <a:blip r:embed="rId3"/>
              </a:buBlip>
            </a:pPr>
            <a:r>
              <a:rPr lang="zh-CN" altLang="en-US" sz="2400" b="1" dirty="0">
                <a:latin typeface="华文行楷" pitchFamily="2" charset="-122"/>
                <a:ea typeface="华文行楷" pitchFamily="2" charset="-122"/>
              </a:rPr>
              <a:t>三类电介质</a:t>
            </a:r>
            <a:r>
              <a:rPr lang="en-US" sz="2400" dirty="0">
                <a:latin typeface="楷体_GB2312" pitchFamily="49" charset="-122"/>
                <a:ea typeface="楷体_GB2312" pitchFamily="49" charset="-122"/>
              </a:rPr>
              <a:t>--Y5V</a:t>
            </a:r>
            <a:r>
              <a:rPr lang="zh-CN" altLang="en-US" sz="2400" dirty="0">
                <a:latin typeface="楷体_GB2312" pitchFamily="49" charset="-122"/>
                <a:ea typeface="楷体_GB2312" pitchFamily="49" charset="-122"/>
              </a:rPr>
              <a:t>（</a:t>
            </a:r>
            <a:r>
              <a:rPr lang="en-US" sz="2400" dirty="0">
                <a:latin typeface="楷体_GB2312" pitchFamily="49" charset="-122"/>
                <a:ea typeface="楷体_GB2312" pitchFamily="49" charset="-122"/>
              </a:rPr>
              <a:t>2F4</a:t>
            </a:r>
            <a:r>
              <a:rPr lang="zh-CN" altLang="en-US" sz="2400" dirty="0">
                <a:latin typeface="楷体_GB2312" pitchFamily="49" charset="-122"/>
                <a:ea typeface="楷体_GB2312" pitchFamily="49" charset="-122"/>
              </a:rPr>
              <a:t>）</a:t>
            </a:r>
          </a:p>
          <a:p>
            <a:pPr>
              <a:spcBef>
                <a:spcPct val="20000"/>
              </a:spcBef>
            </a:pPr>
            <a:r>
              <a:rPr lang="zh-CN" altLang="en-US" sz="2400" dirty="0">
                <a:latin typeface="楷体_GB2312" pitchFamily="49" charset="-122"/>
                <a:ea typeface="楷体_GB2312" pitchFamily="49" charset="-122"/>
              </a:rPr>
              <a:t>       具有较高的介电常数，常用于生产比容较大的，标称容量较高的大容量电容器产品，但其容量稳定性较</a:t>
            </a:r>
            <a:r>
              <a:rPr lang="en-US" sz="2400" dirty="0">
                <a:latin typeface="楷体_GB2312" pitchFamily="49" charset="-122"/>
                <a:ea typeface="楷体_GB2312" pitchFamily="49" charset="-122"/>
              </a:rPr>
              <a:t>X7R</a:t>
            </a:r>
            <a:r>
              <a:rPr lang="zh-CN" altLang="en-US" sz="2400" dirty="0">
                <a:latin typeface="楷体_GB2312" pitchFamily="49" charset="-122"/>
                <a:ea typeface="楷体_GB2312" pitchFamily="49" charset="-122"/>
              </a:rPr>
              <a:t>差，容量、损耗对温度，电压等测试条件较敏感。</a:t>
            </a:r>
            <a:endParaRPr lang="en-US" altLang="zh-CN" sz="2400" dirty="0">
              <a:latin typeface="楷体_GB2312" pitchFamily="49" charset="-122"/>
              <a:ea typeface="楷体_GB2312" pitchFamily="49" charset="-122"/>
            </a:endParaRPr>
          </a:p>
          <a:p>
            <a:pPr>
              <a:spcBef>
                <a:spcPct val="20000"/>
              </a:spcBef>
            </a:pPr>
            <a:r>
              <a:rPr lang="zh-CN" altLang="en-US" sz="2400" dirty="0">
                <a:latin typeface="楷体_GB2312" pitchFamily="49" charset="-122"/>
                <a:ea typeface="楷体_GB2312" pitchFamily="49" charset="-122"/>
              </a:rPr>
              <a:t>     另外还有温度补偿型</a:t>
            </a:r>
            <a:r>
              <a:rPr lang="en-US" altLang="zh-CN" sz="2400" dirty="0">
                <a:latin typeface="楷体_GB2312" pitchFamily="49" charset="-122"/>
                <a:ea typeface="楷体_GB2312" pitchFamily="49" charset="-122"/>
              </a:rPr>
              <a:t>HG\LG\RH\SH</a:t>
            </a:r>
            <a:r>
              <a:rPr lang="zh-CN" altLang="en-US" sz="2400" dirty="0">
                <a:latin typeface="楷体_GB2312" pitchFamily="49" charset="-122"/>
                <a:ea typeface="楷体_GB2312" pitchFamily="49" charset="-122"/>
              </a:rPr>
              <a:t>等等高频电容</a:t>
            </a:r>
            <a:r>
              <a:rPr lang="en-US" altLang="zh-CN" sz="2400" dirty="0" err="1">
                <a:latin typeface="楷体_GB2312" pitchFamily="49" charset="-122"/>
                <a:ea typeface="楷体_GB2312" pitchFamily="49" charset="-122"/>
              </a:rPr>
              <a:t>i</a:t>
            </a:r>
            <a:r>
              <a:rPr lang="zh-CN" altLang="en-US" sz="2400" dirty="0">
                <a:latin typeface="楷体_GB2312" pitchFamily="49" charset="-122"/>
                <a:ea typeface="楷体_GB2312" pitchFamily="49" charset="-122"/>
              </a:rPr>
              <a:t>也是一类电介质。</a:t>
            </a:r>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ctrTitle"/>
          </p:nvPr>
        </p:nvSpPr>
        <p:spPr>
          <a:xfrm>
            <a:off x="533400" y="1066800"/>
            <a:ext cx="5029200" cy="609600"/>
          </a:xfrm>
        </p:spPr>
        <p:txBody>
          <a:bodyPr>
            <a:normAutofit fontScale="90000"/>
          </a:bodyPr>
          <a:lstStyle/>
          <a:p>
            <a:br>
              <a:rPr lang="zh-CN" altLang="en-US">
                <a:ea typeface="华文行楷" pitchFamily="2" charset="-122"/>
              </a:rPr>
            </a:br>
            <a:endParaRPr lang="zh-CN" altLang="en-US">
              <a:ea typeface="华文行楷" pitchFamily="2" charset="-122"/>
            </a:endParaRPr>
          </a:p>
        </p:txBody>
      </p:sp>
      <p:sp>
        <p:nvSpPr>
          <p:cNvPr id="2" name="灯片编号占位符 1">
            <a:extLst>
              <a:ext uri="{FF2B5EF4-FFF2-40B4-BE49-F238E27FC236}">
                <a16:creationId xmlns:a16="http://schemas.microsoft.com/office/drawing/2014/main" id="{7557C00E-55B4-41E4-6084-655FE1BEC068}"/>
              </a:ext>
            </a:extLst>
          </p:cNvPr>
          <p:cNvSpPr>
            <a:spLocks noGrp="1"/>
          </p:cNvSpPr>
          <p:nvPr>
            <p:ph type="sldNum" sz="quarter" idx="12"/>
          </p:nvPr>
        </p:nvSpPr>
        <p:spPr/>
        <p:txBody>
          <a:bodyPr/>
          <a:lstStyle/>
          <a:p>
            <a:pPr>
              <a:defRPr/>
            </a:pPr>
            <a:fld id="{47A4CA45-135E-4AE6-A55B-F30C83FDB90E}" type="slidenum">
              <a:rPr lang="zh-CN" altLang="en-US" smtClean="0"/>
              <a:pPr>
                <a:defRPr/>
              </a:pPr>
              <a:t>53</a:t>
            </a:fld>
            <a:endParaRPr lang="en-US" altLang="zh-CN"/>
          </a:p>
        </p:txBody>
      </p:sp>
      <p:sp>
        <p:nvSpPr>
          <p:cNvPr id="62468" name="Rectangle 4"/>
          <p:cNvSpPr>
            <a:spLocks noChangeArrowheads="1"/>
          </p:cNvSpPr>
          <p:nvPr/>
        </p:nvSpPr>
        <p:spPr bwMode="auto">
          <a:xfrm>
            <a:off x="1066800" y="2057400"/>
            <a:ext cx="8077200" cy="1219200"/>
          </a:xfrm>
          <a:prstGeom prst="rect">
            <a:avLst/>
          </a:prstGeom>
          <a:noFill/>
          <a:ln w="9525">
            <a:noFill/>
            <a:miter lim="800000"/>
            <a:headEnd/>
            <a:tailEnd/>
          </a:ln>
          <a:effectLst/>
        </p:spPr>
        <p:txBody>
          <a:bodyPr/>
          <a:lstStyle/>
          <a:p>
            <a:pPr lvl="1">
              <a:spcBef>
                <a:spcPct val="20000"/>
              </a:spcBef>
              <a:buFontTx/>
              <a:buBlip>
                <a:blip r:embed="rId2"/>
              </a:buBlip>
            </a:pPr>
            <a:endParaRPr lang="zh-TW" sz="2800" b="1">
              <a:solidFill>
                <a:srgbClr val="008000"/>
              </a:solidFill>
              <a:effectLst>
                <a:outerShdw blurRad="38100" dist="38100" dir="2700000" algn="tl">
                  <a:srgbClr val="000000"/>
                </a:outerShdw>
              </a:effectLst>
              <a:latin typeface="楷体_GB2312" pitchFamily="49" charset="-122"/>
              <a:ea typeface="楷体_GB2312" pitchFamily="49" charset="-122"/>
            </a:endParaRPr>
          </a:p>
        </p:txBody>
      </p:sp>
      <p:sp>
        <p:nvSpPr>
          <p:cNvPr id="62469" name="Rectangle 5"/>
          <p:cNvSpPr>
            <a:spLocks noChangeArrowheads="1"/>
          </p:cNvSpPr>
          <p:nvPr/>
        </p:nvSpPr>
        <p:spPr bwMode="auto">
          <a:xfrm>
            <a:off x="1143000" y="3962400"/>
            <a:ext cx="7620000" cy="914400"/>
          </a:xfrm>
          <a:prstGeom prst="rect">
            <a:avLst/>
          </a:prstGeom>
          <a:noFill/>
          <a:ln w="9525">
            <a:noFill/>
            <a:miter lim="800000"/>
            <a:headEnd/>
            <a:tailEnd/>
          </a:ln>
          <a:effectLst/>
        </p:spPr>
        <p:txBody>
          <a:bodyPr/>
          <a:lstStyle/>
          <a:p>
            <a:pPr>
              <a:spcBef>
                <a:spcPct val="20000"/>
              </a:spcBef>
              <a:buFont typeface="Wingdings" pitchFamily="2" charset="2"/>
              <a:buNone/>
            </a:pPr>
            <a:endParaRPr lang="zh-CN" altLang="en-US" sz="2000">
              <a:latin typeface="楷体_GB2312" pitchFamily="49" charset="-122"/>
              <a:ea typeface="楷体_GB2312" pitchFamily="49" charset="-122"/>
            </a:endParaRPr>
          </a:p>
        </p:txBody>
      </p:sp>
      <p:sp>
        <p:nvSpPr>
          <p:cNvPr id="62470" name="Rectangle 6"/>
          <p:cNvSpPr>
            <a:spLocks noChangeArrowheads="1"/>
          </p:cNvSpPr>
          <p:nvPr/>
        </p:nvSpPr>
        <p:spPr bwMode="auto">
          <a:xfrm>
            <a:off x="0" y="865862"/>
            <a:ext cx="8763000" cy="3124200"/>
          </a:xfrm>
          <a:prstGeom prst="rect">
            <a:avLst/>
          </a:prstGeom>
          <a:noFill/>
          <a:ln w="9525">
            <a:noFill/>
            <a:miter lim="800000"/>
            <a:headEnd/>
            <a:tailEnd/>
          </a:ln>
          <a:effectLst/>
        </p:spPr>
        <p:txBody>
          <a:bodyPr/>
          <a:lstStyle/>
          <a:p>
            <a:pPr>
              <a:spcBef>
                <a:spcPct val="20000"/>
              </a:spcBef>
            </a:pPr>
            <a:r>
              <a:rPr lang="zh-CN" sz="2800" b="1" dirty="0">
                <a:solidFill>
                  <a:srgbClr val="008000"/>
                </a:solidFill>
                <a:latin typeface="楷体_GB2312" pitchFamily="49" charset="-122"/>
                <a:ea typeface="楷体_GB2312" pitchFamily="49" charset="-122"/>
              </a:rPr>
              <a:t>   </a:t>
            </a:r>
            <a:r>
              <a:rPr lang="en-US" altLang="zh-CN" sz="2800" b="1" dirty="0">
                <a:solidFill>
                  <a:srgbClr val="008000"/>
                </a:solidFill>
                <a:latin typeface="楷体_GB2312" pitchFamily="49" charset="-122"/>
                <a:ea typeface="楷体_GB2312" pitchFamily="49" charset="-122"/>
              </a:rPr>
              <a:t>   </a:t>
            </a:r>
            <a:r>
              <a:rPr lang="zh-CN" sz="2800" b="1" dirty="0">
                <a:latin typeface="楷体_GB2312" pitchFamily="49" charset="-122"/>
                <a:ea typeface="楷体_GB2312" pitchFamily="49" charset="-122"/>
              </a:rPr>
              <a:t>有0201</a:t>
            </a:r>
            <a:r>
              <a:rPr lang="zh-TW" sz="2800" b="1" dirty="0">
                <a:latin typeface="楷体_GB2312" pitchFamily="49" charset="-122"/>
                <a:ea typeface="楷体_GB2312" pitchFamily="49" charset="-122"/>
              </a:rPr>
              <a:t>、</a:t>
            </a:r>
            <a:r>
              <a:rPr lang="zh-CN" sz="2800" b="1" dirty="0">
                <a:latin typeface="楷体_GB2312" pitchFamily="49" charset="-122"/>
                <a:ea typeface="楷体_GB2312" pitchFamily="49" charset="-122"/>
              </a:rPr>
              <a:t>0402、0603、0805、1206、1210、1812等封装尺寸。</a:t>
            </a:r>
            <a:endParaRPr lang="zh-TW" sz="2800" b="1" dirty="0">
              <a:latin typeface="楷体_GB2312" pitchFamily="49" charset="-122"/>
              <a:ea typeface="楷体_GB2312" pitchFamily="49" charset="-122"/>
            </a:endParaRPr>
          </a:p>
          <a:p>
            <a:pPr>
              <a:spcBef>
                <a:spcPct val="20000"/>
              </a:spcBef>
            </a:pPr>
            <a:endParaRPr lang="zh-TW" sz="2800" b="1" dirty="0">
              <a:solidFill>
                <a:srgbClr val="FF0000"/>
              </a:solidFill>
              <a:latin typeface="楷体_GB2312" pitchFamily="49" charset="-122"/>
              <a:ea typeface="楷体_GB2312" pitchFamily="49" charset="-122"/>
            </a:endParaRPr>
          </a:p>
          <a:p>
            <a:pPr>
              <a:spcBef>
                <a:spcPct val="20000"/>
              </a:spcBef>
            </a:pPr>
            <a:r>
              <a:rPr lang="zh-TW" sz="2800" b="1" dirty="0">
                <a:latin typeface="楷体_GB2312" pitchFamily="49" charset="-122"/>
                <a:ea typeface="楷体_GB2312" pitchFamily="49" charset="-122"/>
              </a:rPr>
              <a:t>尺寸规格(长*宽英寸)</a:t>
            </a:r>
          </a:p>
          <a:p>
            <a:pPr>
              <a:spcBef>
                <a:spcPct val="20000"/>
              </a:spcBef>
            </a:pPr>
            <a:r>
              <a:rPr lang="zh-TW" sz="2800" b="1" dirty="0">
                <a:latin typeface="楷体_GB2312" pitchFamily="49" charset="-122"/>
                <a:ea typeface="楷体_GB2312" pitchFamily="49" charset="-122"/>
              </a:rPr>
              <a:t>  </a:t>
            </a:r>
            <a:r>
              <a:rPr lang="zh-CN" sz="2800" b="1" dirty="0">
                <a:latin typeface="楷体_GB2312" pitchFamily="49" charset="-122"/>
                <a:ea typeface="楷体_GB2312" pitchFamily="49" charset="-122"/>
              </a:rPr>
              <a:t>0201</a:t>
            </a:r>
            <a:r>
              <a:rPr lang="zh-TW" sz="2800" b="1" dirty="0">
                <a:latin typeface="楷体_GB2312" pitchFamily="49" charset="-122"/>
                <a:ea typeface="楷体_GB2312" pitchFamily="49" charset="-122"/>
              </a:rPr>
              <a:t>＝</a:t>
            </a:r>
            <a:r>
              <a:rPr lang="zh-CN" sz="2800" b="1" dirty="0">
                <a:latin typeface="楷体_GB2312" pitchFamily="49" charset="-122"/>
                <a:ea typeface="楷体_GB2312" pitchFamily="49" charset="-122"/>
              </a:rPr>
              <a:t>0.02</a:t>
            </a:r>
            <a:r>
              <a:rPr lang="zh-TW" sz="2800" b="1" dirty="0">
                <a:latin typeface="楷体_GB2312" pitchFamily="49" charset="-122"/>
                <a:ea typeface="楷体_GB2312" pitchFamily="49" charset="-122"/>
              </a:rPr>
              <a:t>＊</a:t>
            </a:r>
            <a:r>
              <a:rPr lang="zh-CN" sz="2800" b="1" dirty="0">
                <a:latin typeface="楷体_GB2312" pitchFamily="49" charset="-122"/>
                <a:ea typeface="楷体_GB2312" pitchFamily="49" charset="-122"/>
              </a:rPr>
              <a:t>0.01</a:t>
            </a:r>
            <a:endParaRPr lang="en-US" sz="2800" b="1" dirty="0">
              <a:latin typeface="楷体_GB2312" pitchFamily="49" charset="-122"/>
              <a:ea typeface="楷体_GB2312" pitchFamily="49" charset="-122"/>
            </a:endParaRPr>
          </a:p>
          <a:p>
            <a:pPr>
              <a:spcBef>
                <a:spcPct val="20000"/>
              </a:spcBef>
            </a:pPr>
            <a:r>
              <a:rPr lang="zh-TW" sz="2800" b="1" dirty="0">
                <a:latin typeface="楷体_GB2312" pitchFamily="49" charset="-122"/>
                <a:ea typeface="楷体_GB2312" pitchFamily="49" charset="-122"/>
              </a:rPr>
              <a:t>  </a:t>
            </a:r>
            <a:r>
              <a:rPr lang="zh-CN" sz="2800" b="1" dirty="0">
                <a:latin typeface="楷体_GB2312" pitchFamily="49" charset="-122"/>
                <a:ea typeface="楷体_GB2312" pitchFamily="49" charset="-122"/>
              </a:rPr>
              <a:t>0402</a:t>
            </a:r>
            <a:r>
              <a:rPr lang="zh-TW" sz="2800" b="1" dirty="0">
                <a:latin typeface="楷体_GB2312" pitchFamily="49" charset="-122"/>
                <a:ea typeface="楷体_GB2312" pitchFamily="49" charset="-122"/>
              </a:rPr>
              <a:t>＝</a:t>
            </a:r>
            <a:r>
              <a:rPr lang="zh-CN" sz="2800" b="1" dirty="0">
                <a:latin typeface="楷体_GB2312" pitchFamily="49" charset="-122"/>
                <a:ea typeface="楷体_GB2312" pitchFamily="49" charset="-122"/>
              </a:rPr>
              <a:t>0.04</a:t>
            </a:r>
            <a:r>
              <a:rPr lang="zh-TW" sz="2800" b="1" dirty="0">
                <a:latin typeface="楷体_GB2312" pitchFamily="49" charset="-122"/>
                <a:ea typeface="楷体_GB2312" pitchFamily="49" charset="-122"/>
              </a:rPr>
              <a:t>＊0</a:t>
            </a:r>
            <a:r>
              <a:rPr lang="zh-CN" sz="2800" b="1" dirty="0">
                <a:latin typeface="楷体_GB2312" pitchFamily="49" charset="-122"/>
                <a:ea typeface="楷体_GB2312" pitchFamily="49" charset="-122"/>
              </a:rPr>
              <a:t>.02</a:t>
            </a:r>
            <a:endParaRPr lang="en-US" sz="2800" b="1" dirty="0">
              <a:latin typeface="楷体_GB2312" pitchFamily="49" charset="-122"/>
              <a:ea typeface="楷体_GB2312" pitchFamily="49" charset="-122"/>
            </a:endParaRPr>
          </a:p>
          <a:p>
            <a:pPr>
              <a:spcBef>
                <a:spcPct val="20000"/>
              </a:spcBef>
            </a:pPr>
            <a:r>
              <a:rPr lang="zh-TW" sz="2800" b="1" dirty="0">
                <a:latin typeface="楷体_GB2312" pitchFamily="49" charset="-122"/>
                <a:ea typeface="楷体_GB2312" pitchFamily="49" charset="-122"/>
              </a:rPr>
              <a:t>  </a:t>
            </a:r>
            <a:r>
              <a:rPr lang="zh-CN" sz="2800" b="1" dirty="0">
                <a:latin typeface="楷体_GB2312" pitchFamily="49" charset="-122"/>
                <a:ea typeface="楷体_GB2312" pitchFamily="49" charset="-122"/>
              </a:rPr>
              <a:t>0603</a:t>
            </a:r>
            <a:r>
              <a:rPr lang="zh-TW" sz="2800" b="1" dirty="0">
                <a:latin typeface="楷体_GB2312" pitchFamily="49" charset="-122"/>
                <a:ea typeface="楷体_GB2312" pitchFamily="49" charset="-122"/>
              </a:rPr>
              <a:t>＝</a:t>
            </a:r>
            <a:r>
              <a:rPr lang="zh-CN" sz="2800" b="1" dirty="0">
                <a:latin typeface="楷体_GB2312" pitchFamily="49" charset="-122"/>
                <a:ea typeface="楷体_GB2312" pitchFamily="49" charset="-122"/>
              </a:rPr>
              <a:t>0.06</a:t>
            </a:r>
            <a:r>
              <a:rPr lang="zh-TW" sz="2800" b="1" dirty="0">
                <a:latin typeface="楷体_GB2312" pitchFamily="49" charset="-122"/>
                <a:ea typeface="楷体_GB2312" pitchFamily="49" charset="-122"/>
              </a:rPr>
              <a:t>＊</a:t>
            </a:r>
            <a:r>
              <a:rPr lang="zh-CN" sz="2800" b="1" dirty="0">
                <a:latin typeface="楷体_GB2312" pitchFamily="49" charset="-122"/>
                <a:ea typeface="楷体_GB2312" pitchFamily="49" charset="-122"/>
              </a:rPr>
              <a:t>0.03</a:t>
            </a:r>
            <a:endParaRPr lang="en-US" sz="2800" b="1" dirty="0">
              <a:latin typeface="楷体_GB2312" pitchFamily="49" charset="-122"/>
              <a:ea typeface="楷体_GB2312" pitchFamily="49" charset="-122"/>
            </a:endParaRPr>
          </a:p>
          <a:p>
            <a:pPr>
              <a:spcBef>
                <a:spcPct val="20000"/>
              </a:spcBef>
            </a:pPr>
            <a:r>
              <a:rPr lang="zh-TW" sz="2800" b="1" dirty="0">
                <a:latin typeface="楷体_GB2312" pitchFamily="49" charset="-122"/>
                <a:ea typeface="楷体_GB2312" pitchFamily="49" charset="-122"/>
              </a:rPr>
              <a:t>  </a:t>
            </a:r>
            <a:r>
              <a:rPr lang="zh-CN" sz="2800" b="1" dirty="0">
                <a:latin typeface="楷体_GB2312" pitchFamily="49" charset="-122"/>
                <a:ea typeface="楷体_GB2312" pitchFamily="49" charset="-122"/>
              </a:rPr>
              <a:t>0805</a:t>
            </a:r>
            <a:r>
              <a:rPr lang="zh-TW" sz="2800" b="1" dirty="0">
                <a:latin typeface="楷体_GB2312" pitchFamily="49" charset="-122"/>
                <a:ea typeface="楷体_GB2312" pitchFamily="49" charset="-122"/>
              </a:rPr>
              <a:t>＝</a:t>
            </a:r>
            <a:r>
              <a:rPr lang="zh-CN" sz="2800" b="1" dirty="0">
                <a:latin typeface="楷体_GB2312" pitchFamily="49" charset="-122"/>
                <a:ea typeface="楷体_GB2312" pitchFamily="49" charset="-122"/>
              </a:rPr>
              <a:t>0.08</a:t>
            </a:r>
            <a:r>
              <a:rPr lang="zh-TW" sz="2800" b="1" dirty="0">
                <a:latin typeface="楷体_GB2312" pitchFamily="49" charset="-122"/>
                <a:ea typeface="楷体_GB2312" pitchFamily="49" charset="-122"/>
              </a:rPr>
              <a:t>＊</a:t>
            </a:r>
            <a:r>
              <a:rPr lang="zh-CN" sz="2800" b="1" dirty="0">
                <a:latin typeface="楷体_GB2312" pitchFamily="49" charset="-122"/>
                <a:ea typeface="楷体_GB2312" pitchFamily="49" charset="-122"/>
              </a:rPr>
              <a:t>0.05</a:t>
            </a:r>
            <a:endParaRPr lang="en-US" sz="2800" b="1" dirty="0">
              <a:latin typeface="楷体_GB2312" pitchFamily="49" charset="-122"/>
              <a:ea typeface="楷体_GB2312" pitchFamily="49" charset="-122"/>
            </a:endParaRPr>
          </a:p>
          <a:p>
            <a:pPr>
              <a:spcBef>
                <a:spcPct val="20000"/>
              </a:spcBef>
            </a:pPr>
            <a:r>
              <a:rPr lang="zh-TW" sz="2800" b="1" dirty="0">
                <a:latin typeface="楷体_GB2312" pitchFamily="49" charset="-122"/>
                <a:ea typeface="楷体_GB2312" pitchFamily="49" charset="-122"/>
              </a:rPr>
              <a:t>  </a:t>
            </a:r>
            <a:r>
              <a:rPr lang="zh-CN" sz="2800" b="1" dirty="0">
                <a:latin typeface="楷体_GB2312" pitchFamily="49" charset="-122"/>
                <a:ea typeface="楷体_GB2312" pitchFamily="49" charset="-122"/>
              </a:rPr>
              <a:t>1206</a:t>
            </a:r>
            <a:r>
              <a:rPr lang="zh-TW" sz="2800" b="1" dirty="0">
                <a:latin typeface="楷体_GB2312" pitchFamily="49" charset="-122"/>
                <a:ea typeface="楷体_GB2312" pitchFamily="49" charset="-122"/>
              </a:rPr>
              <a:t>＝</a:t>
            </a:r>
            <a:r>
              <a:rPr lang="zh-CN" sz="2800" b="1" dirty="0">
                <a:latin typeface="楷体_GB2312" pitchFamily="49" charset="-122"/>
                <a:ea typeface="楷体_GB2312" pitchFamily="49" charset="-122"/>
              </a:rPr>
              <a:t>0.12</a:t>
            </a:r>
            <a:r>
              <a:rPr lang="zh-TW" sz="2800" b="1" dirty="0">
                <a:latin typeface="楷体_GB2312" pitchFamily="49" charset="-122"/>
                <a:ea typeface="楷体_GB2312" pitchFamily="49" charset="-122"/>
              </a:rPr>
              <a:t>＊</a:t>
            </a:r>
            <a:r>
              <a:rPr lang="zh-CN" sz="2800" b="1" dirty="0">
                <a:latin typeface="楷体_GB2312" pitchFamily="49" charset="-122"/>
                <a:ea typeface="楷体_GB2312" pitchFamily="49" charset="-122"/>
              </a:rPr>
              <a:t>0.06</a:t>
            </a:r>
            <a:endParaRPr lang="en-US" sz="2800" b="1" dirty="0">
              <a:latin typeface="楷体_GB2312" pitchFamily="49" charset="-122"/>
              <a:ea typeface="楷体_GB2312" pitchFamily="49" charset="-122"/>
            </a:endParaRPr>
          </a:p>
          <a:p>
            <a:pPr>
              <a:spcBef>
                <a:spcPct val="20000"/>
              </a:spcBef>
            </a:pPr>
            <a:endParaRPr lang="zh-TW" sz="2800" b="1" dirty="0">
              <a:latin typeface="楷体_GB2312" pitchFamily="49" charset="-122"/>
              <a:ea typeface="楷体_GB2312" pitchFamily="49" charset="-122"/>
            </a:endParaRPr>
          </a:p>
          <a:p>
            <a:pPr>
              <a:spcBef>
                <a:spcPct val="20000"/>
              </a:spcBef>
            </a:pPr>
            <a:r>
              <a:rPr lang="zh-CN" sz="2000" b="1" dirty="0">
                <a:solidFill>
                  <a:srgbClr val="008000"/>
                </a:solidFill>
                <a:latin typeface="楷体_GB2312" pitchFamily="49" charset="-122"/>
                <a:ea typeface="楷体_GB2312" pitchFamily="49" charset="-122"/>
              </a:rPr>
              <a:t> </a:t>
            </a:r>
          </a:p>
        </p:txBody>
      </p:sp>
      <p:pic>
        <p:nvPicPr>
          <p:cNvPr id="62471" name="Picture 7"/>
          <p:cNvPicPr>
            <a:picLocks noChangeAspect="1" noChangeArrowheads="1"/>
          </p:cNvPicPr>
          <p:nvPr/>
        </p:nvPicPr>
        <p:blipFill>
          <a:blip r:embed="rId3" cstate="print"/>
          <a:srcRect/>
          <a:stretch>
            <a:fillRect/>
          </a:stretch>
        </p:blipFill>
        <p:spPr bwMode="auto">
          <a:xfrm>
            <a:off x="3695700" y="2099042"/>
            <a:ext cx="5118667" cy="3893096"/>
          </a:xfrm>
          <a:prstGeom prst="rect">
            <a:avLst/>
          </a:prstGeom>
          <a:noFill/>
          <a:ln w="9525">
            <a:noFill/>
            <a:miter lim="800000"/>
            <a:headEnd/>
            <a:tailEnd/>
          </a:ln>
        </p:spPr>
      </p:pic>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ctrTitle"/>
          </p:nvPr>
        </p:nvSpPr>
        <p:spPr>
          <a:xfrm>
            <a:off x="533400" y="1066800"/>
            <a:ext cx="5029200" cy="609600"/>
          </a:xfrm>
        </p:spPr>
        <p:txBody>
          <a:bodyPr>
            <a:normAutofit fontScale="90000"/>
          </a:bodyPr>
          <a:lstStyle/>
          <a:p>
            <a:br>
              <a:rPr lang="zh-CN" altLang="en-US">
                <a:ea typeface="华文行楷" pitchFamily="2" charset="-122"/>
              </a:rPr>
            </a:br>
            <a:endParaRPr lang="zh-CN" altLang="en-US">
              <a:ea typeface="华文行楷" pitchFamily="2" charset="-122"/>
            </a:endParaRPr>
          </a:p>
        </p:txBody>
      </p:sp>
      <p:sp>
        <p:nvSpPr>
          <p:cNvPr id="63491" name="Rectangle 3"/>
          <p:cNvSpPr>
            <a:spLocks noGrp="1" noChangeArrowheads="1"/>
          </p:cNvSpPr>
          <p:nvPr>
            <p:ph type="subTitle" idx="1"/>
          </p:nvPr>
        </p:nvSpPr>
        <p:spPr>
          <a:xfrm>
            <a:off x="632283" y="44625"/>
            <a:ext cx="1872059" cy="685800"/>
          </a:xfrm>
          <a:solidFill>
            <a:schemeClr val="bg1">
              <a:lumMod val="95000"/>
            </a:schemeClr>
          </a:solidFill>
        </p:spPr>
        <p:txBody>
          <a:bodyPr vert="horz" lIns="91440" tIns="45720" rIns="91440" bIns="45720" rtlCol="0" anchor="t">
            <a:normAutofit fontScale="85000" lnSpcReduction="10000"/>
          </a:bodyPr>
          <a:lstStyle/>
          <a:p>
            <a:pPr>
              <a:lnSpc>
                <a:spcPct val="90000"/>
              </a:lnSpc>
              <a:spcBef>
                <a:spcPct val="0"/>
              </a:spcBef>
            </a:pPr>
            <a:r>
              <a:rPr lang="zh-CN" altLang="en-US" sz="3600" b="1" dirty="0">
                <a:latin typeface="华文行楷" panose="02010800040101010101" pitchFamily="2" charset="-122"/>
                <a:ea typeface="华文行楷" panose="02010800040101010101" pitchFamily="2" charset="-122"/>
                <a:cs typeface="+mj-cs"/>
              </a:rPr>
              <a:t>三、电 感</a:t>
            </a:r>
          </a:p>
        </p:txBody>
      </p:sp>
      <p:sp>
        <p:nvSpPr>
          <p:cNvPr id="2" name="灯片编号占位符 1">
            <a:extLst>
              <a:ext uri="{FF2B5EF4-FFF2-40B4-BE49-F238E27FC236}">
                <a16:creationId xmlns:a16="http://schemas.microsoft.com/office/drawing/2014/main" id="{24212F51-3A75-9430-39AD-07D2EF26F4C4}"/>
              </a:ext>
            </a:extLst>
          </p:cNvPr>
          <p:cNvSpPr>
            <a:spLocks noGrp="1"/>
          </p:cNvSpPr>
          <p:nvPr>
            <p:ph type="sldNum" sz="quarter" idx="12"/>
          </p:nvPr>
        </p:nvSpPr>
        <p:spPr/>
        <p:txBody>
          <a:bodyPr/>
          <a:lstStyle/>
          <a:p>
            <a:pPr>
              <a:defRPr/>
            </a:pPr>
            <a:fld id="{47A4CA45-135E-4AE6-A55B-F30C83FDB90E}" type="slidenum">
              <a:rPr lang="zh-CN" altLang="en-US" smtClean="0"/>
              <a:pPr>
                <a:defRPr/>
              </a:pPr>
              <a:t>54</a:t>
            </a:fld>
            <a:endParaRPr lang="en-US" altLang="zh-CN"/>
          </a:p>
        </p:txBody>
      </p:sp>
      <p:sp>
        <p:nvSpPr>
          <p:cNvPr id="63492" name="Rectangle 4"/>
          <p:cNvSpPr>
            <a:spLocks noChangeArrowheads="1"/>
          </p:cNvSpPr>
          <p:nvPr/>
        </p:nvSpPr>
        <p:spPr bwMode="auto">
          <a:xfrm>
            <a:off x="1066800" y="2057400"/>
            <a:ext cx="8077200" cy="1219200"/>
          </a:xfrm>
          <a:prstGeom prst="rect">
            <a:avLst/>
          </a:prstGeom>
          <a:noFill/>
          <a:ln w="9525">
            <a:noFill/>
            <a:miter lim="800000"/>
            <a:headEnd/>
            <a:tailEnd/>
          </a:ln>
          <a:effectLst/>
        </p:spPr>
        <p:txBody>
          <a:bodyPr/>
          <a:lstStyle/>
          <a:p>
            <a:pPr lvl="1">
              <a:spcBef>
                <a:spcPct val="20000"/>
              </a:spcBef>
              <a:buFontTx/>
              <a:buBlip>
                <a:blip r:embed="rId2"/>
              </a:buBlip>
            </a:pPr>
            <a:endParaRPr lang="zh-TW" sz="2800" b="1">
              <a:solidFill>
                <a:srgbClr val="008000"/>
              </a:solidFill>
              <a:effectLst>
                <a:outerShdw blurRad="38100" dist="38100" dir="2700000" algn="tl">
                  <a:srgbClr val="000000"/>
                </a:outerShdw>
              </a:effectLst>
              <a:latin typeface="楷体_GB2312" pitchFamily="49" charset="-122"/>
              <a:ea typeface="楷体_GB2312" pitchFamily="49" charset="-122"/>
            </a:endParaRPr>
          </a:p>
        </p:txBody>
      </p:sp>
      <p:sp>
        <p:nvSpPr>
          <p:cNvPr id="63493" name="Rectangle 5"/>
          <p:cNvSpPr>
            <a:spLocks noChangeArrowheads="1"/>
          </p:cNvSpPr>
          <p:nvPr/>
        </p:nvSpPr>
        <p:spPr bwMode="auto">
          <a:xfrm>
            <a:off x="1143000" y="3962400"/>
            <a:ext cx="7620000" cy="914400"/>
          </a:xfrm>
          <a:prstGeom prst="rect">
            <a:avLst/>
          </a:prstGeom>
          <a:noFill/>
          <a:ln w="9525">
            <a:noFill/>
            <a:miter lim="800000"/>
            <a:headEnd/>
            <a:tailEnd/>
          </a:ln>
          <a:effectLst/>
        </p:spPr>
        <p:txBody>
          <a:bodyPr/>
          <a:lstStyle/>
          <a:p>
            <a:pPr>
              <a:spcBef>
                <a:spcPct val="20000"/>
              </a:spcBef>
              <a:buFont typeface="Wingdings" pitchFamily="2" charset="2"/>
              <a:buNone/>
            </a:pPr>
            <a:endParaRPr lang="zh-CN" altLang="en-US" sz="2000">
              <a:latin typeface="楷体_GB2312" pitchFamily="49" charset="-122"/>
              <a:ea typeface="楷体_GB2312" pitchFamily="49" charset="-122"/>
            </a:endParaRPr>
          </a:p>
        </p:txBody>
      </p:sp>
      <p:sp>
        <p:nvSpPr>
          <p:cNvPr id="63494" name="Rectangle 6"/>
          <p:cNvSpPr>
            <a:spLocks noChangeArrowheads="1"/>
          </p:cNvSpPr>
          <p:nvPr/>
        </p:nvSpPr>
        <p:spPr bwMode="auto">
          <a:xfrm>
            <a:off x="179512" y="730425"/>
            <a:ext cx="8964488" cy="6082950"/>
          </a:xfrm>
          <a:prstGeom prst="rect">
            <a:avLst/>
          </a:prstGeom>
          <a:noFill/>
          <a:ln w="9525">
            <a:noFill/>
            <a:miter lim="800000"/>
            <a:headEnd/>
            <a:tailEnd/>
          </a:ln>
          <a:effectLst/>
        </p:spPr>
        <p:txBody>
          <a:bodyPr/>
          <a:lstStyle/>
          <a:p>
            <a:pPr>
              <a:lnSpc>
                <a:spcPct val="130000"/>
              </a:lnSpc>
              <a:spcBef>
                <a:spcPct val="20000"/>
              </a:spcBef>
              <a:buClr>
                <a:srgbClr val="CC3399"/>
              </a:buClr>
              <a:buSzPct val="90000"/>
            </a:pPr>
            <a:r>
              <a:rPr lang="en-US" altLang="zh-CN" sz="2800" b="1" dirty="0">
                <a:solidFill>
                  <a:schemeClr val="accent1"/>
                </a:solidFill>
                <a:latin typeface="黑体" panose="02010609060101010101" pitchFamily="49" charset="-122"/>
                <a:ea typeface="黑体" panose="02010609060101010101" pitchFamily="49" charset="-122"/>
              </a:rPr>
              <a:t>1.</a:t>
            </a:r>
            <a:r>
              <a:rPr lang="zh-CN" altLang="en-US" sz="2800" b="1" dirty="0">
                <a:solidFill>
                  <a:schemeClr val="accent1"/>
                </a:solidFill>
                <a:latin typeface="黑体" panose="02010609060101010101" pitchFamily="49" charset="-122"/>
                <a:ea typeface="黑体" panose="02010609060101010101" pitchFamily="49" charset="-122"/>
              </a:rPr>
              <a:t>什么是电感</a:t>
            </a:r>
            <a:r>
              <a:rPr lang="zh-CN" altLang="en-US" sz="2800" b="1" dirty="0">
                <a:latin typeface="黑体" panose="02010609060101010101" pitchFamily="49" charset="-122"/>
                <a:ea typeface="黑体" panose="02010609060101010101" pitchFamily="49" charset="-122"/>
              </a:rPr>
              <a:t>    </a:t>
            </a:r>
            <a:endParaRPr lang="en-US" altLang="zh-CN" sz="2800" b="1" dirty="0">
              <a:latin typeface="黑体" panose="02010609060101010101" pitchFamily="49" charset="-122"/>
              <a:ea typeface="黑体" panose="02010609060101010101" pitchFamily="49" charset="-122"/>
            </a:endParaRPr>
          </a:p>
          <a:p>
            <a:pPr>
              <a:lnSpc>
                <a:spcPct val="130000"/>
              </a:lnSpc>
              <a:spcBef>
                <a:spcPct val="20000"/>
              </a:spcBef>
              <a:buClr>
                <a:srgbClr val="CC3399"/>
              </a:buClr>
              <a:buSzPct val="90000"/>
              <a:buFont typeface="Monotype Sorts" pitchFamily="2" charset="2"/>
              <a:buNone/>
            </a:pPr>
            <a:r>
              <a:rPr lang="zh-CN" altLang="en-US" sz="2800" b="1" dirty="0">
                <a:latin typeface="黑体" panose="02010609060101010101" pitchFamily="49" charset="-122"/>
                <a:ea typeface="黑体" panose="02010609060101010101" pitchFamily="49" charset="-122"/>
              </a:rPr>
              <a:t>   </a:t>
            </a:r>
            <a:r>
              <a:rPr lang="zh-CN" altLang="en-US" sz="2400" b="1" dirty="0">
                <a:latin typeface="黑体" panose="02010609060101010101" pitchFamily="49" charset="-122"/>
                <a:ea typeface="黑体" panose="02010609060101010101" pitchFamily="49" charset="-122"/>
              </a:rPr>
              <a:t>电感线圈就是由导线一圈一圈地绕在绝缘管上，导线彼此互相绝缘，而绝缘管可以是空心的，也可以包含铁芯或磁粉芯，简称电感。</a:t>
            </a:r>
            <a:endParaRPr lang="en-US" altLang="zh-CN" sz="2400" b="1" dirty="0">
              <a:latin typeface="黑体" panose="02010609060101010101" pitchFamily="49" charset="-122"/>
              <a:ea typeface="黑体" panose="02010609060101010101" pitchFamily="49" charset="-122"/>
            </a:endParaRPr>
          </a:p>
          <a:p>
            <a:pPr>
              <a:lnSpc>
                <a:spcPct val="130000"/>
              </a:lnSpc>
              <a:spcBef>
                <a:spcPct val="20000"/>
              </a:spcBef>
              <a:buClr>
                <a:srgbClr val="CC3399"/>
              </a:buClr>
              <a:buSzPct val="90000"/>
              <a:buFont typeface="Monotype Sorts" pitchFamily="2" charset="2"/>
              <a:buNone/>
            </a:pPr>
            <a:r>
              <a:rPr lang="zh-CN" altLang="en-US" sz="2400" b="1" dirty="0">
                <a:latin typeface="黑体" panose="02010609060101010101" pitchFamily="49" charset="-122"/>
                <a:ea typeface="黑体" panose="02010609060101010101" pitchFamily="49" charset="-122"/>
              </a:rPr>
              <a:t>   通常分为两类：一类是应用自感作用的电感线圈，另一类是应用互感作用的变压器。</a:t>
            </a:r>
            <a:endParaRPr lang="en-US" altLang="zh-CN" sz="2400" b="1" dirty="0">
              <a:latin typeface="黑体" panose="02010609060101010101" pitchFamily="49" charset="-122"/>
              <a:ea typeface="黑体" panose="02010609060101010101" pitchFamily="49" charset="-122"/>
            </a:endParaRPr>
          </a:p>
          <a:p>
            <a:pPr>
              <a:lnSpc>
                <a:spcPct val="130000"/>
              </a:lnSpc>
              <a:spcBef>
                <a:spcPct val="20000"/>
              </a:spcBef>
              <a:buClr>
                <a:srgbClr val="CC3399"/>
              </a:buClr>
              <a:buSzPct val="90000"/>
              <a:buFont typeface="Monotype Sorts" pitchFamily="2" charset="2"/>
              <a:buNone/>
            </a:pPr>
            <a:r>
              <a:rPr lang="zh-CN" altLang="en-US" sz="2400" b="1" dirty="0">
                <a:latin typeface="黑体" panose="02010609060101010101" pitchFamily="49" charset="-122"/>
                <a:ea typeface="黑体" panose="02010609060101010101" pitchFamily="49" charset="-122"/>
              </a:rPr>
              <a:t>    它是储能元件，在电路中用“</a:t>
            </a:r>
            <a:r>
              <a:rPr lang="en-US" sz="2400" b="1" dirty="0">
                <a:latin typeface="黑体" panose="02010609060101010101" pitchFamily="49" charset="-122"/>
                <a:ea typeface="黑体" panose="02010609060101010101" pitchFamily="49" charset="-122"/>
              </a:rPr>
              <a:t>L”</a:t>
            </a:r>
            <a:r>
              <a:rPr lang="zh-CN" altLang="en-US" sz="2400" b="1" dirty="0">
                <a:latin typeface="黑体" panose="02010609060101010101" pitchFamily="49" charset="-122"/>
                <a:ea typeface="黑体" panose="02010609060101010101" pitchFamily="49" charset="-122"/>
              </a:rPr>
              <a:t>来表示，单位有亨利</a:t>
            </a:r>
            <a:r>
              <a:rPr lang="en-US" sz="2400" b="1" dirty="0">
                <a:latin typeface="黑体" panose="02010609060101010101" pitchFamily="49" charset="-122"/>
                <a:ea typeface="黑体" panose="02010609060101010101" pitchFamily="49" charset="-122"/>
              </a:rPr>
              <a:t>(H)</a:t>
            </a:r>
            <a:r>
              <a:rPr lang="zh-CN" altLang="en-US" sz="2400" b="1" dirty="0">
                <a:latin typeface="黑体" panose="02010609060101010101" pitchFamily="49" charset="-122"/>
                <a:ea typeface="黑体" panose="02010609060101010101" pitchFamily="49" charset="-122"/>
              </a:rPr>
              <a:t>、毫亨</a:t>
            </a:r>
            <a:r>
              <a:rPr lang="en-US" sz="2400" b="1" dirty="0">
                <a:latin typeface="黑体" panose="02010609060101010101" pitchFamily="49" charset="-122"/>
                <a:ea typeface="黑体" panose="02010609060101010101" pitchFamily="49" charset="-122"/>
              </a:rPr>
              <a:t>(</a:t>
            </a:r>
            <a:r>
              <a:rPr lang="en-US" sz="2400" b="1" dirty="0" err="1">
                <a:latin typeface="黑体" panose="02010609060101010101" pitchFamily="49" charset="-122"/>
                <a:ea typeface="黑体" panose="02010609060101010101" pitchFamily="49" charset="-122"/>
              </a:rPr>
              <a:t>mH</a:t>
            </a:r>
            <a:r>
              <a:rPr lang="en-US" sz="2400" b="1" dirty="0">
                <a:latin typeface="黑体" panose="02010609060101010101" pitchFamily="49" charset="-122"/>
                <a:ea typeface="黑体" panose="02010609060101010101" pitchFamily="49" charset="-122"/>
              </a:rPr>
              <a:t>)</a:t>
            </a:r>
            <a:r>
              <a:rPr lang="zh-CN" altLang="en-US" sz="2400" b="1" dirty="0">
                <a:latin typeface="黑体" panose="02010609060101010101" pitchFamily="49" charset="-122"/>
                <a:ea typeface="黑体" panose="02010609060101010101" pitchFamily="49" charset="-122"/>
              </a:rPr>
              <a:t>、微亨</a:t>
            </a:r>
            <a:r>
              <a:rPr lang="en-US" sz="2400" b="1" dirty="0">
                <a:latin typeface="黑体" panose="02010609060101010101" pitchFamily="49" charset="-122"/>
                <a:ea typeface="黑体" panose="02010609060101010101" pitchFamily="49" charset="-122"/>
              </a:rPr>
              <a:t>(</a:t>
            </a:r>
            <a:r>
              <a:rPr lang="en-US" sz="2400" b="1" dirty="0" err="1">
                <a:latin typeface="黑体" panose="02010609060101010101" pitchFamily="49" charset="-122"/>
                <a:ea typeface="黑体" panose="02010609060101010101" pitchFamily="49" charset="-122"/>
              </a:rPr>
              <a:t>μH</a:t>
            </a:r>
            <a:r>
              <a:rPr lang="en-US" sz="2400" b="1" dirty="0">
                <a:latin typeface="黑体" panose="02010609060101010101" pitchFamily="49" charset="-122"/>
                <a:ea typeface="黑体" panose="02010609060101010101" pitchFamily="49" charset="-122"/>
              </a:rPr>
              <a:t>)</a:t>
            </a:r>
            <a:r>
              <a:rPr lang="zh-CN" altLang="en-US" sz="2400" b="1" dirty="0">
                <a:latin typeface="黑体" panose="02010609060101010101" pitchFamily="49" charset="-122"/>
                <a:ea typeface="黑体" panose="02010609060101010101" pitchFamily="49" charset="-122"/>
              </a:rPr>
              <a:t>。</a:t>
            </a:r>
          </a:p>
          <a:p>
            <a:pPr algn="ctr">
              <a:lnSpc>
                <a:spcPct val="130000"/>
              </a:lnSpc>
              <a:spcBef>
                <a:spcPct val="20000"/>
              </a:spcBef>
              <a:buClr>
                <a:srgbClr val="CC3399"/>
              </a:buClr>
              <a:buSzPct val="90000"/>
              <a:buFont typeface="Monotype Sorts" pitchFamily="2" charset="2"/>
              <a:buNone/>
            </a:pPr>
            <a:r>
              <a:rPr lang="zh-CN" altLang="en-US" sz="2400" b="1" dirty="0">
                <a:latin typeface="黑体" panose="02010609060101010101" pitchFamily="49" charset="-122"/>
                <a:ea typeface="黑体" panose="02010609060101010101" pitchFamily="49" charset="-122"/>
              </a:rPr>
              <a:t>      </a:t>
            </a:r>
            <a:r>
              <a:rPr lang="en-US" sz="2400" b="1" dirty="0">
                <a:latin typeface="Times New Roman" panose="02020603050405020304" pitchFamily="18" charset="0"/>
                <a:ea typeface="黑体" panose="02010609060101010101" pitchFamily="49" charset="-122"/>
                <a:cs typeface="Times New Roman" panose="02020603050405020304" pitchFamily="18" charset="0"/>
              </a:rPr>
              <a:t>1H = 1000mH </a:t>
            </a:r>
            <a:r>
              <a:rPr lang="en-US" sz="2400" b="1"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ea typeface="黑体" panose="02010609060101010101" pitchFamily="49" charset="-122"/>
                <a:cs typeface="Times New Roman" panose="02020603050405020304" pitchFamily="18" charset="0"/>
              </a:rPr>
              <a:t>1mH = 1000 </a:t>
            </a:r>
            <a:r>
              <a:rPr lang="en-US" sz="2400" b="1" dirty="0" err="1">
                <a:latin typeface="黑体" panose="02010609060101010101" pitchFamily="49" charset="-122"/>
                <a:ea typeface="黑体" panose="02010609060101010101" pitchFamily="49" charset="-122"/>
              </a:rPr>
              <a:t>μH</a:t>
            </a:r>
            <a:endParaRPr lang="en-US" sz="2400" b="1" dirty="0">
              <a:latin typeface="黑体" panose="02010609060101010101" pitchFamily="49" charset="-122"/>
              <a:ea typeface="黑体" panose="02010609060101010101" pitchFamily="49" charset="-122"/>
            </a:endParaRPr>
          </a:p>
          <a:p>
            <a:pPr>
              <a:lnSpc>
                <a:spcPct val="130000"/>
              </a:lnSpc>
              <a:spcBef>
                <a:spcPct val="20000"/>
              </a:spcBef>
              <a:buClr>
                <a:srgbClr val="CC3399"/>
              </a:buClr>
              <a:buSzPct val="90000"/>
              <a:buFont typeface="Monotype Sorts" pitchFamily="2" charset="2"/>
              <a:buNone/>
            </a:pPr>
            <a:endParaRPr lang="en-US" sz="2800" b="1" dirty="0">
              <a:latin typeface="宋体" pitchFamily="2" charset="-122"/>
            </a:endParaRPr>
          </a:p>
          <a:p>
            <a:pPr>
              <a:lnSpc>
                <a:spcPct val="130000"/>
              </a:lnSpc>
              <a:spcBef>
                <a:spcPct val="20000"/>
              </a:spcBef>
              <a:buClr>
                <a:srgbClr val="CC3399"/>
              </a:buClr>
              <a:buSzPct val="90000"/>
              <a:buFont typeface="Monotype Sorts" pitchFamily="2" charset="2"/>
              <a:buChar char="ò"/>
            </a:pPr>
            <a:endParaRPr lang="en-US" sz="2800" b="1" dirty="0">
              <a:latin typeface="宋体" pitchFamily="2" charset="-122"/>
            </a:endParaRPr>
          </a:p>
          <a:p>
            <a:pPr>
              <a:lnSpc>
                <a:spcPct val="130000"/>
              </a:lnSpc>
              <a:spcBef>
                <a:spcPct val="20000"/>
              </a:spcBef>
              <a:buClr>
                <a:srgbClr val="CC3399"/>
              </a:buClr>
              <a:buSzPct val="90000"/>
              <a:buFont typeface="Monotype Sorts" pitchFamily="2" charset="2"/>
              <a:buNone/>
            </a:pPr>
            <a:r>
              <a:rPr lang="en-US" sz="2800" b="1" dirty="0">
                <a:solidFill>
                  <a:srgbClr val="FF0000"/>
                </a:solidFill>
                <a:latin typeface="楷体_GB2312" pitchFamily="49" charset="-122"/>
                <a:ea typeface="楷体_GB2312" pitchFamily="49" charset="-122"/>
              </a:rPr>
              <a:t>        </a:t>
            </a:r>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a:xfrm>
            <a:off x="362163" y="131730"/>
            <a:ext cx="8162925" cy="584775"/>
          </a:xfrm>
        </p:spPr>
        <p:txBody>
          <a:bodyPr>
            <a:normAutofit fontScale="90000"/>
          </a:bodyPr>
          <a:lstStyle/>
          <a:p>
            <a:r>
              <a:rPr lang="en-US" sz="3200" b="1" dirty="0"/>
              <a:t>2.</a:t>
            </a:r>
            <a:r>
              <a:rPr lang="zh-CN" sz="3200" b="1" dirty="0"/>
              <a:t>电感的</a:t>
            </a:r>
            <a:r>
              <a:rPr lang="zh-CN" altLang="en-US" sz="3200" b="1" dirty="0"/>
              <a:t>符号及</a:t>
            </a:r>
            <a:r>
              <a:rPr lang="zh-CN" sz="3200" b="1" dirty="0"/>
              <a:t>分类</a:t>
            </a:r>
            <a:br>
              <a:rPr lang="en-US" altLang="zh-CN" sz="3200" b="1" dirty="0"/>
            </a:br>
            <a:br>
              <a:rPr lang="en-US" altLang="zh-CN" sz="3200" b="1" dirty="0"/>
            </a:br>
            <a:endParaRPr lang="zh-CN" sz="3200" b="1" dirty="0"/>
          </a:p>
        </p:txBody>
      </p:sp>
      <p:sp>
        <p:nvSpPr>
          <p:cNvPr id="64515" name="Rectangle 3"/>
          <p:cNvSpPr>
            <a:spLocks noGrp="1" noChangeArrowheads="1"/>
          </p:cNvSpPr>
          <p:nvPr>
            <p:ph idx="1"/>
          </p:nvPr>
        </p:nvSpPr>
        <p:spPr>
          <a:xfrm>
            <a:off x="0" y="3815583"/>
            <a:ext cx="8892480" cy="2736850"/>
          </a:xfrm>
        </p:spPr>
        <p:txBody>
          <a:bodyPr/>
          <a:lstStyle/>
          <a:p>
            <a:pPr>
              <a:lnSpc>
                <a:spcPct val="114000"/>
              </a:lnSpc>
              <a:buFont typeface="Wingdings" pitchFamily="2" charset="2"/>
              <a:buNone/>
            </a:pPr>
            <a:r>
              <a:rPr lang="zh-CN" altLang="en-US" sz="2400" b="1" dirty="0"/>
              <a:t>        </a:t>
            </a:r>
            <a:r>
              <a:rPr lang="zh-CN" altLang="en-US" sz="2400" b="1" dirty="0">
                <a:latin typeface="宋体" pitchFamily="2" charset="-122"/>
              </a:rPr>
              <a:t>电感的分类有多种形式，按</a:t>
            </a:r>
            <a:r>
              <a:rPr lang="zh-CN" altLang="en-US" sz="2400" b="1" dirty="0">
                <a:solidFill>
                  <a:srgbClr val="C00000"/>
                </a:solidFill>
                <a:latin typeface="宋体" pitchFamily="2" charset="-122"/>
              </a:rPr>
              <a:t>电感形式</a:t>
            </a:r>
            <a:r>
              <a:rPr lang="zh-CN" altLang="en-US" sz="2400" b="1" dirty="0">
                <a:latin typeface="宋体" pitchFamily="2" charset="-122"/>
              </a:rPr>
              <a:t>分有固定电感、可变电感 ；按</a:t>
            </a:r>
            <a:r>
              <a:rPr lang="zh-CN" altLang="en-US" sz="2400" b="1" dirty="0">
                <a:solidFill>
                  <a:srgbClr val="C00000"/>
                </a:solidFill>
                <a:latin typeface="宋体" pitchFamily="2" charset="-122"/>
              </a:rPr>
              <a:t>导磁体性质</a:t>
            </a:r>
            <a:r>
              <a:rPr lang="zh-CN" altLang="en-US" sz="2400" b="1" dirty="0">
                <a:latin typeface="宋体" pitchFamily="2" charset="-122"/>
              </a:rPr>
              <a:t>分有空芯线圈、铁氧体线圈、铁芯线圈、铜芯线圈；按</a:t>
            </a:r>
            <a:r>
              <a:rPr lang="zh-CN" altLang="en-US" sz="2400" b="1" dirty="0">
                <a:solidFill>
                  <a:srgbClr val="C00000"/>
                </a:solidFill>
                <a:latin typeface="宋体" pitchFamily="2" charset="-122"/>
              </a:rPr>
              <a:t>工作性质 </a:t>
            </a:r>
            <a:r>
              <a:rPr lang="zh-CN" altLang="en-US" sz="2400" b="1" dirty="0">
                <a:latin typeface="宋体" pitchFamily="2" charset="-122"/>
              </a:rPr>
              <a:t>分有天线线圈、振荡线圈、扼流线圈、陷波线圈、偏转线圈；按</a:t>
            </a:r>
            <a:r>
              <a:rPr lang="zh-CN" altLang="en-US" sz="2400" b="1" dirty="0">
                <a:solidFill>
                  <a:srgbClr val="C00000"/>
                </a:solidFill>
                <a:latin typeface="宋体" pitchFamily="2" charset="-122"/>
              </a:rPr>
              <a:t>绕线结构</a:t>
            </a:r>
            <a:r>
              <a:rPr lang="zh-CN" altLang="en-US" sz="2400" b="1" dirty="0">
                <a:latin typeface="宋体" pitchFamily="2" charset="-122"/>
              </a:rPr>
              <a:t>分有单层线圈、多层线圈、蜂房式线圈；按</a:t>
            </a:r>
            <a:r>
              <a:rPr lang="zh-CN" altLang="en-US" sz="2400" b="1" dirty="0">
                <a:solidFill>
                  <a:srgbClr val="C00000"/>
                </a:solidFill>
                <a:latin typeface="宋体" pitchFamily="2" charset="-122"/>
              </a:rPr>
              <a:t>工作频率</a:t>
            </a:r>
            <a:r>
              <a:rPr lang="zh-CN" altLang="en-US" sz="2400" b="1" dirty="0">
                <a:latin typeface="宋体" pitchFamily="2" charset="-122"/>
              </a:rPr>
              <a:t>分有高频线圈、低频线圈等。</a:t>
            </a:r>
          </a:p>
        </p:txBody>
      </p:sp>
      <p:sp>
        <p:nvSpPr>
          <p:cNvPr id="2" name="灯片编号占位符 1">
            <a:extLst>
              <a:ext uri="{FF2B5EF4-FFF2-40B4-BE49-F238E27FC236}">
                <a16:creationId xmlns:a16="http://schemas.microsoft.com/office/drawing/2014/main" id="{77534369-44E3-615B-8483-703572E8BC31}"/>
              </a:ext>
            </a:extLst>
          </p:cNvPr>
          <p:cNvSpPr>
            <a:spLocks noGrp="1"/>
          </p:cNvSpPr>
          <p:nvPr>
            <p:ph type="sldNum" sz="quarter" idx="12"/>
          </p:nvPr>
        </p:nvSpPr>
        <p:spPr/>
        <p:txBody>
          <a:bodyPr/>
          <a:lstStyle/>
          <a:p>
            <a:pPr>
              <a:defRPr/>
            </a:pPr>
            <a:fld id="{5FAFB815-62BA-464E-901C-79D108092E38}" type="slidenum">
              <a:rPr lang="zh-CN" altLang="en-US" smtClean="0"/>
              <a:pPr>
                <a:defRPr/>
              </a:pPr>
              <a:t>55</a:t>
            </a:fld>
            <a:endParaRPr lang="en-US" altLang="zh-CN"/>
          </a:p>
        </p:txBody>
      </p:sp>
      <p:pic>
        <p:nvPicPr>
          <p:cNvPr id="4" name="图片 3">
            <a:extLst>
              <a:ext uri="{FF2B5EF4-FFF2-40B4-BE49-F238E27FC236}">
                <a16:creationId xmlns:a16="http://schemas.microsoft.com/office/drawing/2014/main" id="{A33E6E1C-3532-1A84-46F6-E664245DD5A3}"/>
              </a:ext>
            </a:extLst>
          </p:cNvPr>
          <p:cNvPicPr>
            <a:picLocks noChangeAspect="1"/>
          </p:cNvPicPr>
          <p:nvPr/>
        </p:nvPicPr>
        <p:blipFill>
          <a:blip r:embed="rId2"/>
          <a:stretch>
            <a:fillRect/>
          </a:stretch>
        </p:blipFill>
        <p:spPr>
          <a:xfrm>
            <a:off x="1043608" y="797789"/>
            <a:ext cx="6645866" cy="1872075"/>
          </a:xfrm>
          <a:prstGeom prst="rect">
            <a:avLst/>
          </a:prstGeom>
        </p:spPr>
      </p:pic>
      <p:pic>
        <p:nvPicPr>
          <p:cNvPr id="6" name="图片 5">
            <a:extLst>
              <a:ext uri="{FF2B5EF4-FFF2-40B4-BE49-F238E27FC236}">
                <a16:creationId xmlns:a16="http://schemas.microsoft.com/office/drawing/2014/main" id="{B3285B73-A056-8E16-C9EB-DF0909115442}"/>
              </a:ext>
            </a:extLst>
          </p:cNvPr>
          <p:cNvPicPr>
            <a:picLocks noChangeAspect="1"/>
          </p:cNvPicPr>
          <p:nvPr/>
        </p:nvPicPr>
        <p:blipFill>
          <a:blip r:embed="rId3"/>
          <a:stretch>
            <a:fillRect/>
          </a:stretch>
        </p:blipFill>
        <p:spPr>
          <a:xfrm>
            <a:off x="1595651" y="2734581"/>
            <a:ext cx="5695950" cy="1000125"/>
          </a:xfrm>
          <a:prstGeom prst="rect">
            <a:avLst/>
          </a:prstGeom>
        </p:spPr>
      </p:pic>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67FD4B11-528D-06FF-A8E4-D04EE120E86B}"/>
              </a:ext>
            </a:extLst>
          </p:cNvPr>
          <p:cNvSpPr>
            <a:spLocks noGrp="1"/>
          </p:cNvSpPr>
          <p:nvPr>
            <p:ph type="sldNum" sz="quarter" idx="12"/>
          </p:nvPr>
        </p:nvSpPr>
        <p:spPr/>
        <p:txBody>
          <a:bodyPr/>
          <a:lstStyle/>
          <a:p>
            <a:pPr>
              <a:defRPr/>
            </a:pPr>
            <a:fld id="{5FAFB815-62BA-464E-901C-79D108092E38}" type="slidenum">
              <a:rPr lang="zh-CN" altLang="en-US" smtClean="0"/>
              <a:pPr>
                <a:defRPr/>
              </a:pPr>
              <a:t>56</a:t>
            </a:fld>
            <a:endParaRPr lang="en-US" altLang="zh-CN"/>
          </a:p>
        </p:txBody>
      </p:sp>
      <p:sp>
        <p:nvSpPr>
          <p:cNvPr id="64516" name="Text Box 4"/>
          <p:cNvSpPr txBox="1">
            <a:spLocks noChangeArrowheads="1"/>
          </p:cNvSpPr>
          <p:nvPr/>
        </p:nvSpPr>
        <p:spPr bwMode="auto">
          <a:xfrm>
            <a:off x="287524" y="260648"/>
            <a:ext cx="8748972" cy="4738157"/>
          </a:xfrm>
          <a:prstGeom prst="rect">
            <a:avLst/>
          </a:prstGeom>
          <a:noFill/>
          <a:ln w="9525">
            <a:noFill/>
            <a:miter lim="800000"/>
            <a:headEnd/>
            <a:tailEnd/>
          </a:ln>
          <a:effectLst/>
        </p:spPr>
        <p:txBody>
          <a:bodyPr wrap="square">
            <a:spAutoFit/>
          </a:bodyPr>
          <a:lstStyle/>
          <a:p>
            <a:pPr>
              <a:spcBef>
                <a:spcPct val="50000"/>
              </a:spcBef>
            </a:pPr>
            <a:r>
              <a:rPr lang="zh-CN" altLang="en-US" sz="2200" b="1" dirty="0"/>
              <a:t> </a:t>
            </a:r>
            <a:r>
              <a:rPr lang="en-US" sz="2200" b="1" dirty="0"/>
              <a:t>3. </a:t>
            </a:r>
            <a:r>
              <a:rPr lang="zh-CN" altLang="en-US" sz="2200" b="1" dirty="0"/>
              <a:t>电感线圈的主要特性参数</a:t>
            </a:r>
            <a:endParaRPr lang="en-US" altLang="zh-CN" sz="2200" b="1" dirty="0"/>
          </a:p>
          <a:p>
            <a:pPr>
              <a:spcBef>
                <a:spcPct val="50000"/>
              </a:spcBef>
            </a:pPr>
            <a:endParaRPr lang="en-US" altLang="zh-CN" sz="2200" b="1" dirty="0"/>
          </a:p>
          <a:p>
            <a:pPr>
              <a:lnSpc>
                <a:spcPct val="114000"/>
              </a:lnSpc>
              <a:spcBef>
                <a:spcPts val="600"/>
              </a:spcBef>
            </a:pPr>
            <a:r>
              <a:rPr lang="zh-CN" altLang="en-US" sz="2200" b="1" dirty="0">
                <a:solidFill>
                  <a:schemeClr val="accent1"/>
                </a:solidFill>
                <a:latin typeface="宋体" pitchFamily="2" charset="-122"/>
              </a:rPr>
              <a:t>（</a:t>
            </a:r>
            <a:r>
              <a:rPr lang="en-US" altLang="zh-CN" sz="2200" b="1" dirty="0">
                <a:solidFill>
                  <a:schemeClr val="accent1"/>
                </a:solidFill>
                <a:latin typeface="宋体" pitchFamily="2" charset="-122"/>
              </a:rPr>
              <a:t>1</a:t>
            </a:r>
            <a:r>
              <a:rPr lang="zh-CN" altLang="en-US" sz="2200" b="1" dirty="0">
                <a:solidFill>
                  <a:schemeClr val="accent1"/>
                </a:solidFill>
                <a:latin typeface="宋体" pitchFamily="2" charset="-122"/>
              </a:rPr>
              <a:t>）电感量</a:t>
            </a:r>
            <a:r>
              <a:rPr lang="en-US" altLang="zh-CN" sz="2200" b="1" dirty="0">
                <a:solidFill>
                  <a:schemeClr val="accent1"/>
                </a:solidFill>
                <a:latin typeface="宋体" pitchFamily="2" charset="-122"/>
              </a:rPr>
              <a:t>L</a:t>
            </a:r>
          </a:p>
          <a:p>
            <a:pPr>
              <a:spcBef>
                <a:spcPct val="50000"/>
              </a:spcBef>
            </a:pPr>
            <a:r>
              <a:rPr lang="en-US" altLang="zh-CN" sz="2200" b="1" dirty="0">
                <a:latin typeface="宋体" pitchFamily="2" charset="-122"/>
              </a:rPr>
              <a:t>    </a:t>
            </a:r>
            <a:r>
              <a:rPr lang="zh-CN" altLang="en-US" sz="2200" b="1" dirty="0">
                <a:latin typeface="宋体" pitchFamily="2" charset="-122"/>
              </a:rPr>
              <a:t>电感量</a:t>
            </a:r>
            <a:r>
              <a:rPr lang="en-US" altLang="zh-CN" sz="2200" b="1" dirty="0">
                <a:latin typeface="宋体" pitchFamily="2" charset="-122"/>
              </a:rPr>
              <a:t>L</a:t>
            </a:r>
            <a:r>
              <a:rPr lang="zh-CN" altLang="en-US" sz="2200" b="1" dirty="0">
                <a:latin typeface="宋体" pitchFamily="2" charset="-122"/>
              </a:rPr>
              <a:t>表示线圈本身固有特性，与电流大小无关。</a:t>
            </a:r>
            <a:endParaRPr lang="en-US" altLang="zh-CN" sz="2200" b="1" dirty="0">
              <a:latin typeface="宋体" pitchFamily="2" charset="-122"/>
            </a:endParaRPr>
          </a:p>
          <a:p>
            <a:pPr>
              <a:lnSpc>
                <a:spcPct val="114000"/>
              </a:lnSpc>
              <a:spcBef>
                <a:spcPts val="600"/>
              </a:spcBef>
            </a:pPr>
            <a:r>
              <a:rPr lang="en-US" altLang="zh-CN" sz="2200" b="1" dirty="0">
                <a:solidFill>
                  <a:schemeClr val="accent1"/>
                </a:solidFill>
                <a:latin typeface="宋体" pitchFamily="2" charset="-122"/>
              </a:rPr>
              <a:t> (2</a:t>
            </a:r>
            <a:r>
              <a:rPr lang="zh-CN" altLang="zh-CN" sz="2200" b="1" dirty="0">
                <a:solidFill>
                  <a:schemeClr val="accent1"/>
                </a:solidFill>
                <a:latin typeface="宋体" pitchFamily="2" charset="-122"/>
              </a:rPr>
              <a:t>）感抗</a:t>
            </a:r>
            <a:r>
              <a:rPr lang="en-US" altLang="zh-CN" sz="2200" b="1" dirty="0">
                <a:solidFill>
                  <a:schemeClr val="accent1"/>
                </a:solidFill>
                <a:latin typeface="宋体" pitchFamily="2" charset="-122"/>
              </a:rPr>
              <a:t>XL</a:t>
            </a:r>
          </a:p>
          <a:p>
            <a:pPr>
              <a:lnSpc>
                <a:spcPct val="114000"/>
              </a:lnSpc>
              <a:buFont typeface="Wingdings" pitchFamily="2" charset="2"/>
              <a:buNone/>
            </a:pPr>
            <a:r>
              <a:rPr lang="en-US" altLang="zh-CN" sz="2200" b="1" dirty="0">
                <a:latin typeface="宋体" pitchFamily="2" charset="-122"/>
              </a:rPr>
              <a:t>     </a:t>
            </a:r>
            <a:r>
              <a:rPr lang="zh-CN" altLang="zh-CN" sz="2200" b="1" dirty="0">
                <a:latin typeface="宋体" pitchFamily="2" charset="-122"/>
              </a:rPr>
              <a:t>电感线圈对交流电流阻碍作用的大小称感抗</a:t>
            </a:r>
            <a:r>
              <a:rPr lang="en-US" altLang="zh-CN" sz="2200" b="1" dirty="0">
                <a:latin typeface="宋体" pitchFamily="2" charset="-122"/>
              </a:rPr>
              <a:t>XL</a:t>
            </a:r>
            <a:r>
              <a:rPr lang="zh-CN" altLang="zh-CN" sz="2200" b="1" dirty="0">
                <a:latin typeface="宋体" pitchFamily="2" charset="-122"/>
              </a:rPr>
              <a:t>，单位是欧姆。它与电感量</a:t>
            </a:r>
            <a:r>
              <a:rPr lang="en-US" altLang="zh-CN" sz="2200" b="1" dirty="0">
                <a:latin typeface="宋体" pitchFamily="2" charset="-122"/>
              </a:rPr>
              <a:t>L</a:t>
            </a:r>
            <a:r>
              <a:rPr lang="zh-CN" altLang="zh-CN" sz="2200" b="1" dirty="0">
                <a:latin typeface="宋体" pitchFamily="2" charset="-122"/>
              </a:rPr>
              <a:t>和交流电频率</a:t>
            </a:r>
            <a:r>
              <a:rPr lang="en-US" altLang="zh-CN" sz="2200" b="1" dirty="0">
                <a:latin typeface="宋体" pitchFamily="2" charset="-122"/>
              </a:rPr>
              <a:t>f</a:t>
            </a:r>
            <a:r>
              <a:rPr lang="zh-CN" altLang="zh-CN" sz="2200" b="1" dirty="0">
                <a:latin typeface="宋体" pitchFamily="2" charset="-122"/>
              </a:rPr>
              <a:t>的关系为</a:t>
            </a:r>
            <a:r>
              <a:rPr lang="en-US" altLang="zh-CN" sz="2200" b="1" dirty="0">
                <a:latin typeface="宋体" pitchFamily="2" charset="-122"/>
              </a:rPr>
              <a:t>XL=2π</a:t>
            </a:r>
            <a:r>
              <a:rPr lang="en-US" altLang="zh-CN" sz="2200" b="1" dirty="0" err="1">
                <a:latin typeface="宋体" pitchFamily="2" charset="-122"/>
              </a:rPr>
              <a:t>fL</a:t>
            </a:r>
            <a:r>
              <a:rPr lang="en-US" altLang="zh-CN" sz="2200" b="1" dirty="0">
                <a:latin typeface="宋体" pitchFamily="2" charset="-122"/>
              </a:rPr>
              <a:t> </a:t>
            </a:r>
          </a:p>
          <a:p>
            <a:pPr>
              <a:lnSpc>
                <a:spcPct val="114000"/>
              </a:lnSpc>
              <a:spcBef>
                <a:spcPts val="600"/>
              </a:spcBef>
            </a:pPr>
            <a:r>
              <a:rPr lang="zh-CN" altLang="zh-CN" sz="2200" b="1" dirty="0">
                <a:solidFill>
                  <a:schemeClr val="accent1"/>
                </a:solidFill>
                <a:latin typeface="宋体" pitchFamily="2" charset="-122"/>
              </a:rPr>
              <a:t>（</a:t>
            </a:r>
            <a:r>
              <a:rPr lang="en-US" altLang="zh-CN" sz="2200" b="1" dirty="0">
                <a:solidFill>
                  <a:schemeClr val="accent1"/>
                </a:solidFill>
                <a:latin typeface="宋体" pitchFamily="2" charset="-122"/>
              </a:rPr>
              <a:t>3</a:t>
            </a:r>
            <a:r>
              <a:rPr lang="zh-CN" altLang="zh-CN" sz="2200" b="1" dirty="0">
                <a:solidFill>
                  <a:schemeClr val="accent1"/>
                </a:solidFill>
                <a:latin typeface="宋体" pitchFamily="2" charset="-122"/>
              </a:rPr>
              <a:t>）品质因素</a:t>
            </a:r>
            <a:r>
              <a:rPr lang="en-US" altLang="zh-CN" sz="2200" b="1" dirty="0">
                <a:solidFill>
                  <a:schemeClr val="accent1"/>
                </a:solidFill>
                <a:latin typeface="宋体" pitchFamily="2" charset="-122"/>
              </a:rPr>
              <a:t>Q </a:t>
            </a:r>
          </a:p>
          <a:p>
            <a:pPr>
              <a:lnSpc>
                <a:spcPct val="114000"/>
              </a:lnSpc>
              <a:buFont typeface="Wingdings" pitchFamily="2" charset="2"/>
              <a:buNone/>
            </a:pPr>
            <a:r>
              <a:rPr lang="en-US" altLang="zh-CN" sz="2200" b="1" dirty="0">
                <a:latin typeface="宋体" pitchFamily="2" charset="-122"/>
              </a:rPr>
              <a:t>     </a:t>
            </a:r>
            <a:r>
              <a:rPr lang="zh-CN" altLang="zh-CN" sz="2200" b="1" dirty="0">
                <a:solidFill>
                  <a:srgbClr val="C00000"/>
                </a:solidFill>
                <a:latin typeface="宋体" pitchFamily="2" charset="-122"/>
              </a:rPr>
              <a:t>品质因素</a:t>
            </a:r>
            <a:r>
              <a:rPr lang="en-US" altLang="zh-CN" sz="2200" b="1" dirty="0">
                <a:solidFill>
                  <a:srgbClr val="C00000"/>
                </a:solidFill>
                <a:latin typeface="宋体" pitchFamily="2" charset="-122"/>
              </a:rPr>
              <a:t>Q</a:t>
            </a:r>
            <a:r>
              <a:rPr lang="zh-CN" altLang="zh-CN" sz="2200" b="1" dirty="0">
                <a:solidFill>
                  <a:srgbClr val="C00000"/>
                </a:solidFill>
                <a:latin typeface="宋体" pitchFamily="2" charset="-122"/>
              </a:rPr>
              <a:t>是表示线圈质量的一个重要物理量</a:t>
            </a:r>
            <a:r>
              <a:rPr lang="zh-CN" altLang="zh-CN" sz="2200" b="1" dirty="0">
                <a:latin typeface="宋体" pitchFamily="2" charset="-122"/>
              </a:rPr>
              <a:t>，</a:t>
            </a:r>
            <a:r>
              <a:rPr lang="en-US" altLang="zh-CN" sz="2200" b="1" dirty="0">
                <a:latin typeface="宋体" pitchFamily="2" charset="-122"/>
              </a:rPr>
              <a:t>Q</a:t>
            </a:r>
            <a:r>
              <a:rPr lang="zh-CN" altLang="zh-CN" sz="2200" b="1" dirty="0">
                <a:latin typeface="宋体" pitchFamily="2" charset="-122"/>
              </a:rPr>
              <a:t>为感抗</a:t>
            </a:r>
            <a:r>
              <a:rPr lang="en-US" altLang="zh-CN" sz="2200" b="1" dirty="0">
                <a:latin typeface="宋体" pitchFamily="2" charset="-122"/>
              </a:rPr>
              <a:t>XL</a:t>
            </a:r>
            <a:r>
              <a:rPr lang="zh-CN" altLang="zh-CN" sz="2200" b="1" dirty="0">
                <a:latin typeface="宋体" pitchFamily="2" charset="-122"/>
              </a:rPr>
              <a:t>与其等效的电阻的比值，即：</a:t>
            </a:r>
            <a:r>
              <a:rPr lang="en-US" altLang="zh-CN" sz="2200" b="1" dirty="0">
                <a:latin typeface="宋体" pitchFamily="2" charset="-122"/>
              </a:rPr>
              <a:t>Q=XL/R</a:t>
            </a:r>
            <a:r>
              <a:rPr lang="zh-CN" altLang="zh-CN" sz="2200" b="1" dirty="0">
                <a:latin typeface="宋体" pitchFamily="2" charset="-122"/>
              </a:rPr>
              <a:t>。线圈的</a:t>
            </a:r>
            <a:r>
              <a:rPr lang="en-US" altLang="zh-CN" sz="2200" b="1" dirty="0">
                <a:latin typeface="宋体" pitchFamily="2" charset="-122"/>
              </a:rPr>
              <a:t>Q</a:t>
            </a:r>
            <a:r>
              <a:rPr lang="zh-CN" altLang="zh-CN" sz="2200" b="1" dirty="0">
                <a:latin typeface="宋体" pitchFamily="2" charset="-122"/>
              </a:rPr>
              <a:t>值愈高，回路的损耗愈小。线圈的</a:t>
            </a:r>
            <a:r>
              <a:rPr lang="en-US" altLang="zh-CN" sz="2200" b="1" dirty="0">
                <a:latin typeface="宋体" pitchFamily="2" charset="-122"/>
              </a:rPr>
              <a:t>Q</a:t>
            </a:r>
            <a:r>
              <a:rPr lang="zh-CN" altLang="zh-CN" sz="2200" b="1" dirty="0">
                <a:latin typeface="宋体" pitchFamily="2" charset="-122"/>
              </a:rPr>
              <a:t>值通常为几十到几百。  </a:t>
            </a:r>
          </a:p>
        </p:txBody>
      </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idx="1"/>
          </p:nvPr>
        </p:nvSpPr>
        <p:spPr>
          <a:xfrm>
            <a:off x="323528" y="980728"/>
            <a:ext cx="8352928" cy="4896544"/>
          </a:xfrm>
        </p:spPr>
        <p:txBody>
          <a:bodyPr>
            <a:normAutofit/>
          </a:bodyPr>
          <a:lstStyle/>
          <a:p>
            <a:pPr>
              <a:lnSpc>
                <a:spcPct val="114000"/>
              </a:lnSpc>
              <a:spcBef>
                <a:spcPts val="600"/>
              </a:spcBef>
              <a:buFont typeface="Wingdings" pitchFamily="2" charset="2"/>
              <a:buNone/>
            </a:pPr>
            <a:r>
              <a:rPr lang="zh-CN" altLang="zh-CN" sz="2400" b="1" dirty="0">
                <a:solidFill>
                  <a:schemeClr val="accent1"/>
                </a:solidFill>
                <a:latin typeface="宋体" pitchFamily="2" charset="-122"/>
              </a:rPr>
              <a:t>（</a:t>
            </a:r>
            <a:r>
              <a:rPr lang="en-US" altLang="zh-CN" sz="2400" b="1" dirty="0">
                <a:solidFill>
                  <a:schemeClr val="accent1"/>
                </a:solidFill>
                <a:latin typeface="宋体" pitchFamily="2" charset="-122"/>
              </a:rPr>
              <a:t>4</a:t>
            </a:r>
            <a:r>
              <a:rPr lang="zh-CN" altLang="zh-CN" sz="2400" b="1" dirty="0">
                <a:solidFill>
                  <a:schemeClr val="accent1"/>
                </a:solidFill>
                <a:latin typeface="宋体" pitchFamily="2" charset="-122"/>
              </a:rPr>
              <a:t>）分布电容</a:t>
            </a:r>
          </a:p>
          <a:p>
            <a:pPr>
              <a:lnSpc>
                <a:spcPct val="114000"/>
              </a:lnSpc>
              <a:buFont typeface="Wingdings" pitchFamily="2" charset="2"/>
              <a:buNone/>
            </a:pPr>
            <a:r>
              <a:rPr lang="zh-CN" altLang="zh-CN" sz="2400" b="1" dirty="0">
                <a:latin typeface="宋体" pitchFamily="2" charset="-122"/>
              </a:rPr>
              <a:t>     线圈的匝与匝间、线圈与屏蔽罩间、线圈与底版间存在的电容被称为分布电容。分布电容的存在使线圈的</a:t>
            </a:r>
            <a:r>
              <a:rPr lang="en-US" altLang="zh-CN" sz="2400" b="1" dirty="0">
                <a:latin typeface="宋体" pitchFamily="2" charset="-122"/>
              </a:rPr>
              <a:t>Q</a:t>
            </a:r>
            <a:r>
              <a:rPr lang="zh-CN" altLang="zh-CN" sz="2400" b="1" dirty="0">
                <a:latin typeface="宋体" pitchFamily="2" charset="-122"/>
              </a:rPr>
              <a:t>值减小，稳定性变差，因而线圈的分布电容越小越好。 </a:t>
            </a:r>
            <a:endParaRPr lang="en-US" altLang="zh-CN" sz="2400" b="1" dirty="0">
              <a:latin typeface="宋体" pitchFamily="2" charset="-122"/>
            </a:endParaRPr>
          </a:p>
          <a:p>
            <a:pPr>
              <a:lnSpc>
                <a:spcPct val="114000"/>
              </a:lnSpc>
              <a:buFont typeface="Wingdings" pitchFamily="2" charset="2"/>
              <a:buNone/>
            </a:pPr>
            <a:endParaRPr lang="zh-CN" altLang="zh-CN" sz="2400" b="1" dirty="0">
              <a:latin typeface="宋体" pitchFamily="2" charset="-122"/>
            </a:endParaRPr>
          </a:p>
          <a:p>
            <a:pPr>
              <a:lnSpc>
                <a:spcPct val="114000"/>
              </a:lnSpc>
              <a:spcBef>
                <a:spcPts val="600"/>
              </a:spcBef>
              <a:buNone/>
            </a:pPr>
            <a:r>
              <a:rPr lang="zh-CN" altLang="en-US" sz="2400" b="1" dirty="0">
                <a:solidFill>
                  <a:schemeClr val="accent1"/>
                </a:solidFill>
                <a:latin typeface="宋体" pitchFamily="2" charset="-122"/>
              </a:rPr>
              <a:t>（</a:t>
            </a:r>
            <a:r>
              <a:rPr lang="en-US" sz="2400" b="1" dirty="0">
                <a:solidFill>
                  <a:schemeClr val="accent1"/>
                </a:solidFill>
                <a:latin typeface="宋体" pitchFamily="2" charset="-122"/>
              </a:rPr>
              <a:t>5</a:t>
            </a:r>
            <a:r>
              <a:rPr lang="zh-CN" altLang="en-US" sz="2400" b="1" dirty="0">
                <a:solidFill>
                  <a:schemeClr val="accent1"/>
                </a:solidFill>
                <a:latin typeface="宋体" pitchFamily="2" charset="-122"/>
              </a:rPr>
              <a:t>）标称电流</a:t>
            </a:r>
          </a:p>
          <a:p>
            <a:pPr>
              <a:buFont typeface="Wingdings" pitchFamily="2" charset="2"/>
              <a:buNone/>
            </a:pPr>
            <a:r>
              <a:rPr lang="zh-CN" sz="2400" dirty="0">
                <a:latin typeface="Times New Roman" panose="02020603050405020304" pitchFamily="18" charset="0"/>
                <a:ea typeface="黑体" panose="02010609060101010101" pitchFamily="49" charset="-122"/>
                <a:cs typeface="Times New Roman" panose="02020603050405020304" pitchFamily="18" charset="0"/>
              </a:rPr>
              <a:t>       </a:t>
            </a:r>
            <a:r>
              <a:rPr lang="zh-CN" altLang="en-US" sz="2400" b="1" dirty="0">
                <a:latin typeface="Times New Roman" panose="02020603050405020304" pitchFamily="18" charset="0"/>
                <a:cs typeface="Times New Roman" panose="02020603050405020304" pitchFamily="18" charset="0"/>
              </a:rPr>
              <a:t>指线圈允许通过的电流大小，通常用字母</a:t>
            </a:r>
            <a:r>
              <a:rPr lang="en-US" sz="2400" b="1" dirty="0">
                <a:latin typeface="Times New Roman" panose="02020603050405020304" pitchFamily="18" charset="0"/>
                <a:cs typeface="Times New Roman" panose="02020603050405020304" pitchFamily="18" charset="0"/>
              </a:rPr>
              <a:t>A</a:t>
            </a:r>
            <a:r>
              <a:rPr lang="zh-CN" altLang="en-US" sz="2400" b="1" dirty="0">
                <a:latin typeface="Times New Roman" panose="02020603050405020304" pitchFamily="18" charset="0"/>
                <a:cs typeface="Times New Roman" panose="02020603050405020304" pitchFamily="18" charset="0"/>
              </a:rPr>
              <a:t>、</a:t>
            </a:r>
            <a:r>
              <a:rPr lang="en-US" sz="2400" b="1" dirty="0">
                <a:latin typeface="Times New Roman" panose="02020603050405020304" pitchFamily="18" charset="0"/>
                <a:cs typeface="Times New Roman" panose="02020603050405020304" pitchFamily="18" charset="0"/>
              </a:rPr>
              <a:t>B</a:t>
            </a:r>
            <a:r>
              <a:rPr lang="zh-CN" altLang="en-US" sz="2400" b="1" dirty="0">
                <a:latin typeface="Times New Roman" panose="02020603050405020304" pitchFamily="18" charset="0"/>
                <a:cs typeface="Times New Roman" panose="02020603050405020304" pitchFamily="18" charset="0"/>
              </a:rPr>
              <a:t>、</a:t>
            </a:r>
            <a:r>
              <a:rPr lang="en-US" sz="2400" b="1" dirty="0">
                <a:latin typeface="Times New Roman" panose="02020603050405020304" pitchFamily="18" charset="0"/>
                <a:cs typeface="Times New Roman" panose="02020603050405020304" pitchFamily="18" charset="0"/>
              </a:rPr>
              <a:t>C</a:t>
            </a:r>
            <a:r>
              <a:rPr lang="zh-CN" altLang="en-US" sz="2400" b="1" dirty="0">
                <a:latin typeface="Times New Roman" panose="02020603050405020304" pitchFamily="18" charset="0"/>
                <a:cs typeface="Times New Roman" panose="02020603050405020304" pitchFamily="18" charset="0"/>
              </a:rPr>
              <a:t>、</a:t>
            </a:r>
            <a:r>
              <a:rPr lang="en-US" sz="2400" b="1" dirty="0">
                <a:latin typeface="Times New Roman" panose="02020603050405020304" pitchFamily="18" charset="0"/>
                <a:cs typeface="Times New Roman" panose="02020603050405020304" pitchFamily="18" charset="0"/>
              </a:rPr>
              <a:t>D</a:t>
            </a:r>
            <a:r>
              <a:rPr lang="zh-CN" altLang="en-US" sz="2400" b="1" dirty="0">
                <a:latin typeface="Times New Roman" panose="02020603050405020304" pitchFamily="18" charset="0"/>
                <a:cs typeface="Times New Roman" panose="02020603050405020304" pitchFamily="18" charset="0"/>
              </a:rPr>
              <a:t>、</a:t>
            </a:r>
            <a:r>
              <a:rPr lang="en-US" sz="2400" b="1" dirty="0">
                <a:latin typeface="Times New Roman" panose="02020603050405020304" pitchFamily="18" charset="0"/>
                <a:cs typeface="Times New Roman" panose="02020603050405020304" pitchFamily="18" charset="0"/>
              </a:rPr>
              <a:t>E</a:t>
            </a:r>
            <a:r>
              <a:rPr lang="zh-CN" altLang="en-US" sz="2400" b="1" dirty="0">
                <a:latin typeface="Times New Roman" panose="02020603050405020304" pitchFamily="18" charset="0"/>
                <a:cs typeface="Times New Roman" panose="02020603050405020304" pitchFamily="18" charset="0"/>
              </a:rPr>
              <a:t>分别表示，标称电流值为</a:t>
            </a:r>
            <a:r>
              <a:rPr lang="en-US" sz="2400" b="1" dirty="0">
                <a:latin typeface="Times New Roman" panose="02020603050405020304" pitchFamily="18" charset="0"/>
                <a:cs typeface="Times New Roman" panose="02020603050405020304" pitchFamily="18" charset="0"/>
              </a:rPr>
              <a:t>50mA </a:t>
            </a:r>
            <a:r>
              <a:rPr lang="zh-CN" altLang="en-US" sz="2400" b="1" dirty="0">
                <a:latin typeface="Times New Roman" panose="02020603050405020304" pitchFamily="18" charset="0"/>
                <a:cs typeface="Times New Roman" panose="02020603050405020304" pitchFamily="18" charset="0"/>
              </a:rPr>
              <a:t>、</a:t>
            </a:r>
            <a:r>
              <a:rPr lang="en-US" sz="2400" b="1" dirty="0">
                <a:latin typeface="Times New Roman" panose="02020603050405020304" pitchFamily="18" charset="0"/>
                <a:cs typeface="Times New Roman" panose="02020603050405020304" pitchFamily="18" charset="0"/>
              </a:rPr>
              <a:t>150mA </a:t>
            </a:r>
            <a:r>
              <a:rPr lang="zh-CN" altLang="en-US" sz="2400" b="1" dirty="0">
                <a:latin typeface="Times New Roman" panose="02020603050405020304" pitchFamily="18" charset="0"/>
                <a:cs typeface="Times New Roman" panose="02020603050405020304" pitchFamily="18" charset="0"/>
              </a:rPr>
              <a:t>、</a:t>
            </a:r>
            <a:r>
              <a:rPr lang="en-US" sz="2400" b="1" dirty="0">
                <a:latin typeface="Times New Roman" panose="02020603050405020304" pitchFamily="18" charset="0"/>
                <a:cs typeface="Times New Roman" panose="02020603050405020304" pitchFamily="18" charset="0"/>
              </a:rPr>
              <a:t>300mA </a:t>
            </a:r>
            <a:r>
              <a:rPr lang="zh-CN" altLang="en-US" sz="2400" b="1" dirty="0">
                <a:latin typeface="Times New Roman" panose="02020603050405020304" pitchFamily="18" charset="0"/>
                <a:cs typeface="Times New Roman" panose="02020603050405020304" pitchFamily="18" charset="0"/>
              </a:rPr>
              <a:t>、</a:t>
            </a:r>
            <a:r>
              <a:rPr lang="en-US" sz="2400" b="1" dirty="0">
                <a:latin typeface="Times New Roman" panose="02020603050405020304" pitchFamily="18" charset="0"/>
                <a:cs typeface="Times New Roman" panose="02020603050405020304" pitchFamily="18" charset="0"/>
              </a:rPr>
              <a:t>700mA </a:t>
            </a:r>
            <a:r>
              <a:rPr lang="zh-CN" altLang="en-US" sz="2400" b="1" dirty="0">
                <a:latin typeface="Times New Roman" panose="02020603050405020304" pitchFamily="18" charset="0"/>
                <a:cs typeface="Times New Roman" panose="02020603050405020304" pitchFamily="18" charset="0"/>
              </a:rPr>
              <a:t>、</a:t>
            </a:r>
            <a:r>
              <a:rPr lang="en-US" sz="2400" b="1" dirty="0">
                <a:latin typeface="Times New Roman" panose="02020603050405020304" pitchFamily="18" charset="0"/>
                <a:cs typeface="Times New Roman" panose="02020603050405020304" pitchFamily="18" charset="0"/>
              </a:rPr>
              <a:t>1600mA </a:t>
            </a:r>
            <a:r>
              <a:rPr lang="zh-CN" altLang="en-US" sz="2400" b="1" dirty="0">
                <a:latin typeface="Times New Roman" panose="02020603050405020304" pitchFamily="18" charset="0"/>
                <a:cs typeface="Times New Roman" panose="02020603050405020304" pitchFamily="18" charset="0"/>
              </a:rPr>
              <a:t>。   </a:t>
            </a:r>
          </a:p>
        </p:txBody>
      </p:sp>
      <p:sp>
        <p:nvSpPr>
          <p:cNvPr id="2" name="灯片编号占位符 1">
            <a:extLst>
              <a:ext uri="{FF2B5EF4-FFF2-40B4-BE49-F238E27FC236}">
                <a16:creationId xmlns:a16="http://schemas.microsoft.com/office/drawing/2014/main" id="{8883C3FD-5F56-3A6F-2D8F-6192701ED377}"/>
              </a:ext>
            </a:extLst>
          </p:cNvPr>
          <p:cNvSpPr>
            <a:spLocks noGrp="1"/>
          </p:cNvSpPr>
          <p:nvPr>
            <p:ph type="sldNum" sz="quarter" idx="12"/>
          </p:nvPr>
        </p:nvSpPr>
        <p:spPr/>
        <p:txBody>
          <a:bodyPr/>
          <a:lstStyle/>
          <a:p>
            <a:pPr>
              <a:defRPr/>
            </a:pPr>
            <a:fld id="{5FAFB815-62BA-464E-901C-79D108092E38}" type="slidenum">
              <a:rPr lang="zh-CN" altLang="en-US" smtClean="0"/>
              <a:pPr>
                <a:defRPr/>
              </a:pPr>
              <a:t>57</a:t>
            </a:fld>
            <a:endParaRPr lang="en-US" altLang="zh-CN"/>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9BA8B81A-29AA-B588-486D-507DA1D34CC2}"/>
              </a:ext>
            </a:extLst>
          </p:cNvPr>
          <p:cNvSpPr>
            <a:spLocks noGrp="1"/>
          </p:cNvSpPr>
          <p:nvPr>
            <p:ph type="sldNum" sz="quarter" idx="12"/>
          </p:nvPr>
        </p:nvSpPr>
        <p:spPr/>
        <p:txBody>
          <a:bodyPr/>
          <a:lstStyle/>
          <a:p>
            <a:pPr>
              <a:defRPr/>
            </a:pPr>
            <a:fld id="{5FAFB815-62BA-464E-901C-79D108092E38}" type="slidenum">
              <a:rPr lang="zh-CN" altLang="en-US" smtClean="0"/>
              <a:pPr>
                <a:defRPr/>
              </a:pPr>
              <a:t>58</a:t>
            </a:fld>
            <a:endParaRPr lang="en-US" altLang="zh-CN"/>
          </a:p>
        </p:txBody>
      </p:sp>
      <p:sp>
        <p:nvSpPr>
          <p:cNvPr id="3" name="Text Box 4">
            <a:extLst>
              <a:ext uri="{FF2B5EF4-FFF2-40B4-BE49-F238E27FC236}">
                <a16:creationId xmlns:a16="http://schemas.microsoft.com/office/drawing/2014/main" id="{FDAC983D-B576-D71A-AA76-8ACB52B0C4DC}"/>
              </a:ext>
            </a:extLst>
          </p:cNvPr>
          <p:cNvSpPr txBox="1">
            <a:spLocks noChangeArrowheads="1"/>
          </p:cNvSpPr>
          <p:nvPr/>
        </p:nvSpPr>
        <p:spPr bwMode="auto">
          <a:xfrm>
            <a:off x="-684584" y="4876418"/>
            <a:ext cx="8135937" cy="784830"/>
          </a:xfrm>
          <a:prstGeom prst="rect">
            <a:avLst/>
          </a:prstGeom>
          <a:noFill/>
          <a:ln w="9525">
            <a:noFill/>
            <a:miter lim="800000"/>
            <a:headEnd/>
            <a:tailEnd/>
          </a:ln>
          <a:effectLst/>
        </p:spPr>
        <p:txBody>
          <a:bodyPr>
            <a:spAutoFit/>
          </a:bodyPr>
          <a:lstStyle/>
          <a:p>
            <a:pPr>
              <a:spcBef>
                <a:spcPct val="50000"/>
              </a:spcBef>
            </a:pPr>
            <a:endParaRPr lang="zh-CN" altLang="en-US" b="1" dirty="0">
              <a:latin typeface="Times New Roman" panose="02020603050405020304" pitchFamily="18" charset="0"/>
              <a:ea typeface="黑体" panose="02010609060101010101" pitchFamily="49" charset="-122"/>
              <a:cs typeface="Times New Roman" panose="02020603050405020304" pitchFamily="18" charset="0"/>
            </a:endParaRPr>
          </a:p>
          <a:p>
            <a:pPr>
              <a:spcBef>
                <a:spcPct val="50000"/>
              </a:spcBef>
            </a:pPr>
            <a:endParaRPr lang="zh-CN" altLang="en-US"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66563" name="Text Box 3"/>
          <p:cNvSpPr txBox="1">
            <a:spLocks noChangeArrowheads="1"/>
          </p:cNvSpPr>
          <p:nvPr/>
        </p:nvSpPr>
        <p:spPr bwMode="auto">
          <a:xfrm>
            <a:off x="0" y="6648"/>
            <a:ext cx="9144000" cy="7563032"/>
          </a:xfrm>
          <a:prstGeom prst="rect">
            <a:avLst/>
          </a:prstGeom>
          <a:noFill/>
          <a:ln w="9525">
            <a:noFill/>
            <a:miter lim="800000"/>
            <a:headEnd/>
            <a:tailEnd/>
          </a:ln>
          <a:effectLst/>
        </p:spPr>
        <p:txBody>
          <a:bodyPr wrap="square">
            <a:spAutoFit/>
          </a:bodyPr>
          <a:lstStyle/>
          <a:p>
            <a:pPr>
              <a:spcBef>
                <a:spcPct val="50000"/>
              </a:spcBef>
            </a:pPr>
            <a:r>
              <a:rPr lang="en-US" sz="2200" b="1" dirty="0"/>
              <a:t>4.</a:t>
            </a:r>
            <a:r>
              <a:rPr lang="zh-CN" altLang="en-US" sz="2200" b="1" dirty="0"/>
              <a:t>几种常见的电感</a:t>
            </a:r>
            <a:endParaRPr lang="en-US" altLang="zh-CN" sz="2200" b="1" dirty="0"/>
          </a:p>
          <a:p>
            <a:pPr>
              <a:spcBef>
                <a:spcPct val="50000"/>
              </a:spcBef>
            </a:pPr>
            <a:endParaRPr lang="en-US" altLang="zh-CN" sz="2200" b="1" dirty="0"/>
          </a:p>
          <a:p>
            <a:pPr marL="228600" indent="-228600" defTabSz="685800">
              <a:lnSpc>
                <a:spcPct val="114000"/>
              </a:lnSpc>
              <a:spcBef>
                <a:spcPts val="600"/>
              </a:spcBef>
              <a:buClr>
                <a:schemeClr val="accent1"/>
              </a:buClr>
              <a:buSzPct val="100000"/>
            </a:pPr>
            <a:r>
              <a:rPr lang="zh-CN" altLang="en-US" sz="2400" b="1" dirty="0">
                <a:solidFill>
                  <a:schemeClr val="accent1"/>
                </a:solidFill>
                <a:latin typeface="宋体" pitchFamily="2" charset="-122"/>
              </a:rPr>
              <a:t>（</a:t>
            </a:r>
            <a:r>
              <a:rPr lang="en-US" altLang="zh-CN" sz="2300" b="1" dirty="0">
                <a:solidFill>
                  <a:schemeClr val="accent1"/>
                </a:solidFill>
                <a:latin typeface="宋体" pitchFamily="2" charset="-122"/>
              </a:rPr>
              <a:t>1</a:t>
            </a:r>
            <a:r>
              <a:rPr lang="zh-CN" altLang="en-US" sz="2300" b="1" dirty="0">
                <a:solidFill>
                  <a:schemeClr val="accent1"/>
                </a:solidFill>
                <a:latin typeface="宋体" pitchFamily="2" charset="-122"/>
              </a:rPr>
              <a:t>）绕线电感</a:t>
            </a:r>
          </a:p>
          <a:p>
            <a:pPr>
              <a:lnSpc>
                <a:spcPct val="130000"/>
              </a:lnSpc>
              <a:spcBef>
                <a:spcPct val="20000"/>
              </a:spcBef>
              <a:buClr>
                <a:srgbClr val="CC3399"/>
              </a:buClr>
              <a:buSzPct val="90000"/>
              <a:buFont typeface="Monotype Sorts" pitchFamily="2" charset="2"/>
              <a:buNone/>
            </a:pPr>
            <a:r>
              <a:rPr lang="zh-CN" altLang="en-US" sz="2300" dirty="0">
                <a:latin typeface="Times New Roman" panose="02020603050405020304" pitchFamily="18" charset="0"/>
                <a:ea typeface="黑体" panose="02010609060101010101" pitchFamily="49" charset="-122"/>
                <a:cs typeface="Times New Roman" panose="02020603050405020304" pitchFamily="18" charset="0"/>
              </a:rPr>
              <a:t>         </a:t>
            </a:r>
            <a:r>
              <a:rPr lang="zh-CN" altLang="en-US" sz="2200" dirty="0">
                <a:latin typeface="Times New Roman" panose="02020603050405020304" pitchFamily="18" charset="0"/>
                <a:ea typeface="黑体" panose="02010609060101010101" pitchFamily="49" charset="-122"/>
                <a:cs typeface="Times New Roman" panose="02020603050405020304" pitchFamily="18" charset="0"/>
              </a:rPr>
              <a:t>用金属漆包线与环形磁石自行绕制，一般无标记；也有将金属漆包线绕到工字形铁芯上，作电源滤波用电感</a:t>
            </a:r>
            <a:r>
              <a:rPr lang="zh-CN" altLang="en-US" sz="2300" dirty="0">
                <a:latin typeface="Times New Roman" panose="02020603050405020304" pitchFamily="18" charset="0"/>
                <a:ea typeface="黑体" panose="02010609060101010101" pitchFamily="49" charset="-122"/>
                <a:cs typeface="Times New Roman" panose="02020603050405020304" pitchFamily="18" charset="0"/>
              </a:rPr>
              <a:t>。</a:t>
            </a:r>
            <a:endParaRPr lang="en-US" altLang="zh-CN" sz="2300" dirty="0">
              <a:latin typeface="Times New Roman" panose="02020603050405020304" pitchFamily="18" charset="0"/>
              <a:ea typeface="黑体" panose="02010609060101010101" pitchFamily="49" charset="-122"/>
              <a:cs typeface="Times New Roman" panose="02020603050405020304" pitchFamily="18" charset="0"/>
            </a:endParaRPr>
          </a:p>
          <a:p>
            <a:pPr marL="228600" indent="-228600" defTabSz="685800">
              <a:lnSpc>
                <a:spcPct val="114000"/>
              </a:lnSpc>
              <a:spcBef>
                <a:spcPts val="600"/>
              </a:spcBef>
              <a:buClr>
                <a:schemeClr val="accent1"/>
              </a:buClr>
              <a:buSzPct val="100000"/>
            </a:pPr>
            <a:r>
              <a:rPr lang="zh-CN" altLang="zh-CN" sz="2300" b="1" dirty="0">
                <a:solidFill>
                  <a:schemeClr val="accent1"/>
                </a:solidFill>
                <a:latin typeface="宋体" pitchFamily="2" charset="-122"/>
              </a:rPr>
              <a:t>（2）片状电感</a:t>
            </a:r>
          </a:p>
          <a:p>
            <a:pPr>
              <a:lnSpc>
                <a:spcPct val="114000"/>
              </a:lnSpc>
              <a:buClr>
                <a:srgbClr val="CC3399"/>
              </a:buClr>
              <a:buSzPct val="90000"/>
              <a:buFont typeface="Monotype Sorts" pitchFamily="2" charset="2"/>
              <a:buNone/>
            </a:pPr>
            <a:r>
              <a:rPr lang="zh-CN" altLang="zh-CN" sz="2200"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sz="2200" dirty="0">
                <a:latin typeface="Times New Roman" panose="02020603050405020304" pitchFamily="18" charset="0"/>
                <a:ea typeface="黑体" panose="02010609060101010101" pitchFamily="49" charset="-122"/>
                <a:cs typeface="Times New Roman" panose="02020603050405020304" pitchFamily="18" charset="0"/>
              </a:rPr>
              <a:t>    </a:t>
            </a:r>
            <a:r>
              <a:rPr lang="zh-CN" altLang="zh-CN" sz="2200" dirty="0">
                <a:latin typeface="Times New Roman" panose="02020603050405020304" pitchFamily="18" charset="0"/>
                <a:ea typeface="黑体" panose="02010609060101010101" pitchFamily="49" charset="-122"/>
                <a:cs typeface="Times New Roman" panose="02020603050405020304" pitchFamily="18" charset="0"/>
              </a:rPr>
              <a:t>  外形同贴片电容相似,其颜色一般较黑, </a:t>
            </a:r>
            <a:r>
              <a:rPr lang="zh-TW" altLang="zh-CN" sz="2200" dirty="0">
                <a:latin typeface="Times New Roman" panose="02020603050405020304" pitchFamily="18" charset="0"/>
                <a:ea typeface="黑体" panose="02010609060101010101" pitchFamily="49" charset="-122"/>
                <a:cs typeface="Times New Roman" panose="02020603050405020304" pitchFamily="18" charset="0"/>
              </a:rPr>
              <a:t>其</a:t>
            </a:r>
            <a:r>
              <a:rPr lang="zh-CN" altLang="zh-CN" sz="2200" dirty="0">
                <a:latin typeface="Times New Roman" panose="02020603050405020304" pitchFamily="18" charset="0"/>
                <a:ea typeface="黑体" panose="02010609060101010101" pitchFamily="49" charset="-122"/>
                <a:cs typeface="Times New Roman" panose="02020603050405020304" pitchFamily="18" charset="0"/>
              </a:rPr>
              <a:t>电</a:t>
            </a:r>
            <a:r>
              <a:rPr lang="zh-TW" altLang="zh-CN" sz="2200" dirty="0">
                <a:latin typeface="Times New Roman" panose="02020603050405020304" pitchFamily="18" charset="0"/>
                <a:ea typeface="黑体" panose="02010609060101010101" pitchFamily="49" charset="-122"/>
                <a:cs typeface="Times New Roman" panose="02020603050405020304" pitchFamily="18" charset="0"/>
              </a:rPr>
              <a:t>感量用三位</a:t>
            </a:r>
            <a:r>
              <a:rPr lang="zh-CN" altLang="zh-CN" sz="2200" dirty="0">
                <a:latin typeface="Times New Roman" panose="02020603050405020304" pitchFamily="18" charset="0"/>
                <a:ea typeface="黑体" panose="02010609060101010101" pitchFamily="49" charset="-122"/>
                <a:cs typeface="Times New Roman" panose="02020603050405020304" pitchFamily="18" charset="0"/>
              </a:rPr>
              <a:t>数</a:t>
            </a:r>
            <a:r>
              <a:rPr lang="zh-TW" altLang="zh-CN" sz="2200" dirty="0">
                <a:latin typeface="Times New Roman" panose="02020603050405020304" pitchFamily="18" charset="0"/>
                <a:ea typeface="黑体" panose="02010609060101010101" pitchFamily="49" charset="-122"/>
                <a:cs typeface="Times New Roman" panose="02020603050405020304" pitchFamily="18" charset="0"/>
              </a:rPr>
              <a:t>表示﹐前</a:t>
            </a:r>
            <a:r>
              <a:rPr lang="zh-CN" altLang="zh-CN" sz="2200" dirty="0">
                <a:latin typeface="Times New Roman" panose="02020603050405020304" pitchFamily="18" charset="0"/>
                <a:ea typeface="黑体" panose="02010609060101010101" pitchFamily="49" charset="-122"/>
                <a:cs typeface="Times New Roman" panose="02020603050405020304" pitchFamily="18" charset="0"/>
              </a:rPr>
              <a:t>两</a:t>
            </a:r>
            <a:r>
              <a:rPr lang="zh-TW" altLang="zh-CN" sz="2200" dirty="0">
                <a:latin typeface="Times New Roman" panose="02020603050405020304" pitchFamily="18" charset="0"/>
                <a:ea typeface="黑体" panose="02010609060101010101" pitchFamily="49" charset="-122"/>
                <a:cs typeface="Times New Roman" panose="02020603050405020304" pitchFamily="18" charset="0"/>
              </a:rPr>
              <a:t>位</a:t>
            </a:r>
            <a:r>
              <a:rPr lang="zh-CN" altLang="zh-CN" sz="2200" dirty="0">
                <a:latin typeface="Times New Roman" panose="02020603050405020304" pitchFamily="18" charset="0"/>
                <a:ea typeface="黑体" panose="02010609060101010101" pitchFamily="49" charset="-122"/>
                <a:cs typeface="Times New Roman" panose="02020603050405020304" pitchFamily="18" charset="0"/>
              </a:rPr>
              <a:t>为</a:t>
            </a:r>
            <a:r>
              <a:rPr lang="zh-TW" altLang="zh-CN" sz="2200" dirty="0">
                <a:latin typeface="Times New Roman" panose="02020603050405020304" pitchFamily="18" charset="0"/>
                <a:ea typeface="黑体" panose="02010609060101010101" pitchFamily="49" charset="-122"/>
                <a:cs typeface="Times New Roman" panose="02020603050405020304" pitchFamily="18" charset="0"/>
              </a:rPr>
              <a:t>有效</a:t>
            </a:r>
            <a:r>
              <a:rPr lang="zh-CN" altLang="zh-CN" sz="2200" dirty="0">
                <a:latin typeface="Times New Roman" panose="02020603050405020304" pitchFamily="18" charset="0"/>
                <a:ea typeface="黑体" panose="02010609060101010101" pitchFamily="49" charset="-122"/>
                <a:cs typeface="Times New Roman" panose="02020603050405020304" pitchFamily="18" charset="0"/>
              </a:rPr>
              <a:t>数</a:t>
            </a:r>
            <a:r>
              <a:rPr lang="zh-TW" altLang="zh-CN" sz="2200" dirty="0">
                <a:latin typeface="Times New Roman" panose="02020603050405020304" pitchFamily="18" charset="0"/>
                <a:ea typeface="黑体" panose="02010609060101010101" pitchFamily="49" charset="-122"/>
                <a:cs typeface="Times New Roman" panose="02020603050405020304" pitchFamily="18" charset="0"/>
              </a:rPr>
              <a:t>字﹐第三位</a:t>
            </a:r>
            <a:r>
              <a:rPr lang="zh-CN" altLang="zh-CN" sz="2200" dirty="0">
                <a:latin typeface="Times New Roman" panose="02020603050405020304" pitchFamily="18" charset="0"/>
                <a:ea typeface="黑体" panose="02010609060101010101" pitchFamily="49" charset="-122"/>
                <a:cs typeface="Times New Roman" panose="02020603050405020304" pitchFamily="18" charset="0"/>
              </a:rPr>
              <a:t>数</a:t>
            </a:r>
            <a:r>
              <a:rPr lang="zh-TW" altLang="zh-CN" sz="2200" dirty="0">
                <a:latin typeface="Times New Roman" panose="02020603050405020304" pitchFamily="18" charset="0"/>
                <a:ea typeface="黑体" panose="02010609060101010101" pitchFamily="49" charset="-122"/>
                <a:cs typeface="Times New Roman" panose="02020603050405020304" pitchFamily="18" charset="0"/>
              </a:rPr>
              <a:t>字</a:t>
            </a:r>
            <a:r>
              <a:rPr lang="zh-CN" altLang="zh-CN" sz="2200" dirty="0">
                <a:latin typeface="Times New Roman" panose="02020603050405020304" pitchFamily="18" charset="0"/>
                <a:ea typeface="黑体" panose="02010609060101010101" pitchFamily="49" charset="-122"/>
                <a:cs typeface="Times New Roman" panose="02020603050405020304" pitchFamily="18" charset="0"/>
              </a:rPr>
              <a:t>为</a:t>
            </a:r>
            <a:r>
              <a:rPr lang="zh-TW" altLang="zh-CN" sz="2200" dirty="0">
                <a:latin typeface="Times New Roman" panose="02020603050405020304" pitchFamily="18" charset="0"/>
                <a:ea typeface="黑体" panose="02010609060101010101" pitchFamily="49" charset="-122"/>
                <a:cs typeface="Times New Roman" panose="02020603050405020304" pitchFamily="18" charset="0"/>
              </a:rPr>
              <a:t>有效</a:t>
            </a:r>
            <a:r>
              <a:rPr lang="zh-CN" altLang="zh-CN" sz="2200" dirty="0">
                <a:latin typeface="Times New Roman" panose="02020603050405020304" pitchFamily="18" charset="0"/>
                <a:ea typeface="黑体" panose="02010609060101010101" pitchFamily="49" charset="-122"/>
                <a:cs typeface="Times New Roman" panose="02020603050405020304" pitchFamily="18" charset="0"/>
              </a:rPr>
              <a:t>数</a:t>
            </a:r>
            <a:r>
              <a:rPr lang="zh-TW" altLang="zh-CN" sz="2200" dirty="0">
                <a:latin typeface="Times New Roman" panose="02020603050405020304" pitchFamily="18" charset="0"/>
                <a:ea typeface="黑体" panose="02010609060101010101" pitchFamily="49" charset="-122"/>
                <a:cs typeface="Times New Roman" panose="02020603050405020304" pitchFamily="18" charset="0"/>
              </a:rPr>
              <a:t>字后的 “0”的</a:t>
            </a:r>
            <a:r>
              <a:rPr lang="zh-CN" altLang="zh-CN" sz="2200" dirty="0">
                <a:latin typeface="Times New Roman" panose="02020603050405020304" pitchFamily="18" charset="0"/>
                <a:ea typeface="黑体" panose="02010609060101010101" pitchFamily="49" charset="-122"/>
                <a:cs typeface="Times New Roman" panose="02020603050405020304" pitchFamily="18" charset="0"/>
              </a:rPr>
              <a:t>个数</a:t>
            </a:r>
            <a:r>
              <a:rPr lang="zh-TW" altLang="zh-CN" sz="2200" dirty="0">
                <a:latin typeface="Times New Roman" panose="02020603050405020304" pitchFamily="18" charset="0"/>
                <a:ea typeface="黑体" panose="02010609060101010101" pitchFamily="49" charset="-122"/>
                <a:cs typeface="Times New Roman" panose="02020603050405020304" pitchFamily="18" charset="0"/>
              </a:rPr>
              <a:t>﹐得出的</a:t>
            </a:r>
            <a:r>
              <a:rPr lang="zh-CN" altLang="zh-CN" sz="2200" dirty="0">
                <a:latin typeface="Times New Roman" panose="02020603050405020304" pitchFamily="18" charset="0"/>
                <a:ea typeface="黑体" panose="02010609060101010101" pitchFamily="49" charset="-122"/>
                <a:cs typeface="Times New Roman" panose="02020603050405020304" pitchFamily="18" charset="0"/>
              </a:rPr>
              <a:t>电</a:t>
            </a:r>
            <a:r>
              <a:rPr lang="zh-TW" altLang="zh-CN" sz="2200" dirty="0">
                <a:latin typeface="Times New Roman" panose="02020603050405020304" pitchFamily="18" charset="0"/>
                <a:ea typeface="黑体" panose="02010609060101010101" pitchFamily="49" charset="-122"/>
                <a:cs typeface="Times New Roman" panose="02020603050405020304" pitchFamily="18" charset="0"/>
              </a:rPr>
              <a:t>感量</a:t>
            </a:r>
            <a:r>
              <a:rPr lang="zh-CN" altLang="zh-CN" sz="2200" dirty="0">
                <a:latin typeface="Times New Roman" panose="02020603050405020304" pitchFamily="18" charset="0"/>
                <a:ea typeface="黑体" panose="02010609060101010101" pitchFamily="49" charset="-122"/>
                <a:cs typeface="Times New Roman" panose="02020603050405020304" pitchFamily="18" charset="0"/>
              </a:rPr>
              <a:t>单位为</a:t>
            </a:r>
            <a:r>
              <a:rPr lang="zh-TW" altLang="zh-CN" sz="2200" dirty="0">
                <a:latin typeface="Times New Roman" panose="02020603050405020304" pitchFamily="18" charset="0"/>
                <a:ea typeface="黑体" panose="02010609060101010101" pitchFamily="49" charset="-122"/>
                <a:cs typeface="Times New Roman" panose="02020603050405020304" pitchFamily="18" charset="0"/>
              </a:rPr>
              <a:t>微亨﹐其</a:t>
            </a:r>
            <a:r>
              <a:rPr lang="zh-CN" altLang="zh-CN" sz="2200" dirty="0">
                <a:latin typeface="Times New Roman" panose="02020603050405020304" pitchFamily="18" charset="0"/>
                <a:ea typeface="黑体" panose="02010609060101010101" pitchFamily="49" charset="-122"/>
                <a:cs typeface="Times New Roman" panose="02020603050405020304" pitchFamily="18" charset="0"/>
              </a:rPr>
              <a:t>误</a:t>
            </a:r>
            <a:r>
              <a:rPr lang="zh-TW" altLang="zh-CN" sz="2200" dirty="0">
                <a:latin typeface="Times New Roman" panose="02020603050405020304" pitchFamily="18" charset="0"/>
                <a:ea typeface="黑体" panose="02010609060101010101" pitchFamily="49" charset="-122"/>
                <a:cs typeface="Times New Roman" panose="02020603050405020304" pitchFamily="18" charset="0"/>
              </a:rPr>
              <a:t>差等</a:t>
            </a:r>
            <a:r>
              <a:rPr lang="zh-CN" altLang="zh-CN" sz="2200" dirty="0">
                <a:latin typeface="Times New Roman" panose="02020603050405020304" pitchFamily="18" charset="0"/>
                <a:ea typeface="黑体" panose="02010609060101010101" pitchFamily="49" charset="-122"/>
                <a:cs typeface="Times New Roman" panose="02020603050405020304" pitchFamily="18" charset="0"/>
              </a:rPr>
              <a:t>级</a:t>
            </a:r>
            <a:r>
              <a:rPr lang="zh-TW" altLang="zh-CN" sz="2200" dirty="0">
                <a:latin typeface="Times New Roman" panose="02020603050405020304" pitchFamily="18" charset="0"/>
                <a:ea typeface="黑体" panose="02010609060101010101" pitchFamily="49" charset="-122"/>
                <a:cs typeface="Times New Roman" panose="02020603050405020304" pitchFamily="18" charset="0"/>
              </a:rPr>
              <a:t>用英文字母表示﹕</a:t>
            </a:r>
            <a:r>
              <a:rPr lang="zh-CN" altLang="zh-CN" sz="2200" dirty="0">
                <a:latin typeface="Times New Roman" panose="02020603050405020304" pitchFamily="18" charset="0"/>
                <a:ea typeface="黑体" panose="02010609060101010101" pitchFamily="49" charset="-122"/>
                <a:cs typeface="Times New Roman" panose="02020603050405020304" pitchFamily="18" charset="0"/>
              </a:rPr>
              <a:t>J、K、M</a:t>
            </a:r>
            <a:r>
              <a:rPr lang="zh-TW" altLang="zh-CN" sz="2200" dirty="0">
                <a:latin typeface="Times New Roman" panose="02020603050405020304" pitchFamily="18" charset="0"/>
                <a:ea typeface="黑体" panose="02010609060101010101" pitchFamily="49" charset="-122"/>
                <a:cs typeface="Times New Roman" panose="02020603050405020304" pitchFamily="18" charset="0"/>
              </a:rPr>
              <a:t>分</a:t>
            </a:r>
            <a:r>
              <a:rPr lang="zh-CN" altLang="zh-CN" sz="2200" dirty="0">
                <a:latin typeface="Times New Roman" panose="02020603050405020304" pitchFamily="18" charset="0"/>
                <a:ea typeface="黑体" panose="02010609060101010101" pitchFamily="49" charset="-122"/>
                <a:cs typeface="Times New Roman" panose="02020603050405020304" pitchFamily="18" charset="0"/>
              </a:rPr>
              <a:t>别</a:t>
            </a:r>
            <a:r>
              <a:rPr lang="zh-TW" altLang="zh-CN" sz="2200" dirty="0">
                <a:latin typeface="Times New Roman" panose="02020603050405020304" pitchFamily="18" charset="0"/>
                <a:ea typeface="黑体" panose="02010609060101010101" pitchFamily="49" charset="-122"/>
                <a:cs typeface="Times New Roman" panose="02020603050405020304" pitchFamily="18" charset="0"/>
              </a:rPr>
              <a:t>表示+5</a:t>
            </a:r>
            <a:r>
              <a:rPr lang="zh-CN" altLang="zh-CN" sz="2200" dirty="0">
                <a:latin typeface="Times New Roman" panose="02020603050405020304" pitchFamily="18" charset="0"/>
                <a:ea typeface="黑体" panose="02010609060101010101" pitchFamily="49" charset="-122"/>
                <a:cs typeface="Times New Roman" panose="02020603050405020304" pitchFamily="18" charset="0"/>
              </a:rPr>
              <a:t>%、+</a:t>
            </a:r>
            <a:r>
              <a:rPr lang="zh-TW" altLang="zh-CN" sz="2200" dirty="0">
                <a:latin typeface="Times New Roman" panose="02020603050405020304" pitchFamily="18" charset="0"/>
                <a:ea typeface="黑体" panose="02010609060101010101" pitchFamily="49" charset="-122"/>
                <a:cs typeface="Times New Roman" panose="02020603050405020304" pitchFamily="18" charset="0"/>
              </a:rPr>
              <a:t>10</a:t>
            </a:r>
            <a:r>
              <a:rPr lang="zh-CN" altLang="zh-CN" sz="2200" dirty="0">
                <a:latin typeface="Times New Roman" panose="02020603050405020304" pitchFamily="18" charset="0"/>
                <a:ea typeface="黑体" panose="02010609060101010101" pitchFamily="49" charset="-122"/>
                <a:cs typeface="Times New Roman" panose="02020603050405020304" pitchFamily="18" charset="0"/>
              </a:rPr>
              <a:t>%、+</a:t>
            </a:r>
            <a:r>
              <a:rPr lang="zh-TW" altLang="zh-CN" sz="2200" dirty="0">
                <a:latin typeface="Times New Roman" panose="02020603050405020304" pitchFamily="18" charset="0"/>
                <a:ea typeface="黑体" panose="02010609060101010101" pitchFamily="49" charset="-122"/>
                <a:cs typeface="Times New Roman" panose="02020603050405020304" pitchFamily="18" charset="0"/>
              </a:rPr>
              <a:t>20%</a:t>
            </a:r>
            <a:r>
              <a:rPr lang="zh-CN" altLang="zh-CN" sz="2200" dirty="0">
                <a:latin typeface="Times New Roman" panose="02020603050405020304" pitchFamily="18" charset="0"/>
                <a:ea typeface="黑体" panose="02010609060101010101" pitchFamily="49" charset="-122"/>
                <a:cs typeface="Times New Roman" panose="02020603050405020304" pitchFamily="18" charset="0"/>
              </a:rPr>
              <a:t>。</a:t>
            </a:r>
          </a:p>
          <a:p>
            <a:pPr marL="228600" indent="-228600" defTabSz="685800">
              <a:lnSpc>
                <a:spcPct val="114000"/>
              </a:lnSpc>
              <a:spcBef>
                <a:spcPts val="600"/>
              </a:spcBef>
              <a:buClr>
                <a:schemeClr val="accent1"/>
              </a:buClr>
              <a:buSzPct val="100000"/>
            </a:pPr>
            <a:r>
              <a:rPr lang="zh-CN" altLang="zh-CN" sz="2300" b="1" dirty="0">
                <a:solidFill>
                  <a:schemeClr val="accent1"/>
                </a:solidFill>
                <a:latin typeface="宋体" pitchFamily="2" charset="-122"/>
              </a:rPr>
              <a:t>（3）磁珠</a:t>
            </a:r>
          </a:p>
          <a:p>
            <a:pPr>
              <a:lnSpc>
                <a:spcPct val="114000"/>
              </a:lnSpc>
              <a:buFont typeface="Wingdings" pitchFamily="2" charset="2"/>
              <a:buNone/>
            </a:pPr>
            <a:r>
              <a:rPr lang="zh-CN" altLang="zh-CN" sz="220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          磁珠的主要原料为铁氧体</a:t>
            </a:r>
            <a:r>
              <a:rPr lang="zh-CN" altLang="zh-CN" sz="2200" dirty="0">
                <a:latin typeface="Times New Roman" panose="02020603050405020304" pitchFamily="18" charset="0"/>
                <a:ea typeface="黑体" panose="02010609060101010101" pitchFamily="49" charset="-122"/>
                <a:cs typeface="Times New Roman" panose="02020603050405020304" pitchFamily="18" charset="0"/>
              </a:rPr>
              <a:t>。铁氧体是一种立方晶格结构的亚铁磁性材料。铁氧体材料为铁镁合金或铁镍合金，它的制造工艺和机械性能与陶瓷相似，颜色为灰黑色</a:t>
            </a:r>
            <a:r>
              <a:rPr lang="zh-CN" altLang="en-US" sz="2200" dirty="0">
                <a:latin typeface="Times New Roman" panose="02020603050405020304" pitchFamily="18" charset="0"/>
                <a:ea typeface="黑体" panose="02010609060101010101" pitchFamily="49" charset="-122"/>
                <a:cs typeface="Times New Roman" panose="02020603050405020304" pitchFamily="18" charset="0"/>
              </a:rPr>
              <a:t>。</a:t>
            </a:r>
            <a:endParaRPr lang="en-US" altLang="zh-CN" sz="2200" dirty="0">
              <a:latin typeface="Times New Roman" panose="02020603050405020304" pitchFamily="18" charset="0"/>
              <a:ea typeface="黑体" panose="02010609060101010101" pitchFamily="49" charset="-122"/>
              <a:cs typeface="Times New Roman" panose="02020603050405020304" pitchFamily="18" charset="0"/>
            </a:endParaRPr>
          </a:p>
          <a:p>
            <a:pPr>
              <a:lnSpc>
                <a:spcPct val="114000"/>
              </a:lnSpc>
            </a:pPr>
            <a:r>
              <a:rPr lang="zh-CN" altLang="en-US" sz="2200" dirty="0">
                <a:latin typeface="Times New Roman" panose="02020603050405020304" pitchFamily="18" charset="0"/>
                <a:ea typeface="黑体" panose="02010609060101010101" pitchFamily="49" charset="-122"/>
                <a:cs typeface="Times New Roman" panose="02020603050405020304" pitchFamily="18" charset="0"/>
              </a:rPr>
              <a:t>        </a:t>
            </a:r>
            <a:r>
              <a:rPr lang="zh-CN" altLang="en-US" sz="220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磁珠等效于电阻和电感串联，但电阻值和电感值都随频率变化。</a:t>
            </a:r>
          </a:p>
          <a:p>
            <a:pPr>
              <a:lnSpc>
                <a:spcPct val="114000"/>
              </a:lnSpc>
              <a:buFont typeface="Wingdings" pitchFamily="2" charset="2"/>
              <a:buNone/>
            </a:pPr>
            <a:endParaRPr lang="zh-CN" altLang="en-US" sz="2200" dirty="0">
              <a:latin typeface="Times New Roman" panose="02020603050405020304" pitchFamily="18" charset="0"/>
              <a:ea typeface="黑体" panose="02010609060101010101" pitchFamily="49" charset="-122"/>
              <a:cs typeface="Times New Roman" panose="02020603050405020304" pitchFamily="18" charset="0"/>
            </a:endParaRPr>
          </a:p>
          <a:p>
            <a:pPr>
              <a:spcBef>
                <a:spcPct val="50000"/>
              </a:spcBef>
            </a:pPr>
            <a:endParaRPr lang="zh-CN" altLang="en-US" sz="2200" b="1" dirty="0"/>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idx="1"/>
          </p:nvPr>
        </p:nvSpPr>
        <p:spPr>
          <a:xfrm>
            <a:off x="0" y="764704"/>
            <a:ext cx="9036496" cy="5688013"/>
          </a:xfrm>
        </p:spPr>
        <p:txBody>
          <a:bodyPr>
            <a:normAutofit fontScale="92500" lnSpcReduction="10000"/>
          </a:bodyPr>
          <a:lstStyle/>
          <a:p>
            <a:pPr>
              <a:lnSpc>
                <a:spcPct val="114000"/>
              </a:lnSpc>
              <a:buFont typeface="Wingdings" pitchFamily="2" charset="2"/>
              <a:buNone/>
            </a:pPr>
            <a:r>
              <a:rPr lang="zh-CN" altLang="en-US" sz="240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磁珠与电感的区别： </a:t>
            </a:r>
          </a:p>
          <a:p>
            <a:pPr>
              <a:lnSpc>
                <a:spcPct val="114000"/>
              </a:lnSpc>
              <a:spcBef>
                <a:spcPts val="600"/>
              </a:spcBef>
              <a:buFont typeface="Wingdings" pitchFamily="2" charset="2"/>
              <a:buNone/>
            </a:pPr>
            <a:r>
              <a:rPr lang="zh-CN" altLang="en-US" sz="2400" b="1" dirty="0">
                <a:solidFill>
                  <a:schemeClr val="accent1"/>
                </a:solidFill>
                <a:latin typeface="宋体" pitchFamily="2" charset="-122"/>
              </a:rPr>
              <a:t>（</a:t>
            </a:r>
            <a:r>
              <a:rPr lang="en-US" sz="2400" b="1" dirty="0">
                <a:solidFill>
                  <a:schemeClr val="accent1"/>
                </a:solidFill>
                <a:latin typeface="宋体" pitchFamily="2" charset="-122"/>
              </a:rPr>
              <a:t>1</a:t>
            </a:r>
            <a:r>
              <a:rPr lang="zh-CN" altLang="en-US" sz="2400" b="1" dirty="0">
                <a:solidFill>
                  <a:schemeClr val="accent1"/>
                </a:solidFill>
                <a:latin typeface="宋体" pitchFamily="2" charset="-122"/>
              </a:rPr>
              <a:t>）单位不同</a:t>
            </a:r>
          </a:p>
          <a:p>
            <a:pPr>
              <a:lnSpc>
                <a:spcPct val="114000"/>
              </a:lnSpc>
              <a:buFont typeface="Wingdings" pitchFamily="2" charset="2"/>
              <a:buNone/>
            </a:pPr>
            <a:r>
              <a:rPr lang="zh-CN" altLang="en-US" sz="2400" dirty="0">
                <a:solidFill>
                  <a:srgbClr val="231EF2"/>
                </a:solidFill>
                <a:latin typeface="Times New Roman" panose="02020603050405020304" pitchFamily="18" charset="0"/>
                <a:ea typeface="黑体" panose="02010609060101010101" pitchFamily="49" charset="-122"/>
                <a:cs typeface="Times New Roman" panose="02020603050405020304" pitchFamily="18" charset="0"/>
              </a:rPr>
              <a:t>        电感的单位是</a:t>
            </a:r>
            <a:r>
              <a:rPr lang="en-US" sz="2400" dirty="0">
                <a:solidFill>
                  <a:srgbClr val="231EF2"/>
                </a:solidFill>
                <a:latin typeface="Times New Roman" panose="02020603050405020304" pitchFamily="18" charset="0"/>
                <a:ea typeface="黑体" panose="02010609060101010101" pitchFamily="49" charset="-122"/>
                <a:cs typeface="Times New Roman" panose="02020603050405020304" pitchFamily="18" charset="0"/>
              </a:rPr>
              <a:t>H</a:t>
            </a:r>
            <a:r>
              <a:rPr lang="zh-CN" altLang="en-US" sz="2400" dirty="0">
                <a:solidFill>
                  <a:srgbClr val="231EF2"/>
                </a:solidFill>
                <a:latin typeface="Times New Roman" panose="02020603050405020304" pitchFamily="18" charset="0"/>
                <a:ea typeface="黑体" panose="02010609060101010101" pitchFamily="49" charset="-122"/>
                <a:cs typeface="Times New Roman" panose="02020603050405020304" pitchFamily="18" charset="0"/>
              </a:rPr>
              <a:t>，而磁珠的单位是</a:t>
            </a:r>
            <a:r>
              <a:rPr lang="en-US" sz="2400" dirty="0">
                <a:solidFill>
                  <a:srgbClr val="231EF2"/>
                </a:solidFill>
                <a:latin typeface="Times New Roman" panose="02020603050405020304" pitchFamily="18" charset="0"/>
                <a:ea typeface="黑体" panose="02010609060101010101" pitchFamily="49" charset="-122"/>
                <a:cs typeface="Times New Roman" panose="02020603050405020304" pitchFamily="18" charset="0"/>
              </a:rPr>
              <a:t>Ω</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。因为磁珠的单位是按照它在某一频率产生的阻抗来标称的，而阻抗的单位是欧姆。磁珠的 </a:t>
            </a:r>
            <a:r>
              <a:rPr lang="en-US" sz="2400" dirty="0">
                <a:latin typeface="Times New Roman" panose="02020603050405020304" pitchFamily="18" charset="0"/>
                <a:ea typeface="黑体" panose="02010609060101010101" pitchFamily="49" charset="-122"/>
                <a:cs typeface="Times New Roman" panose="02020603050405020304" pitchFamily="18" charset="0"/>
              </a:rPr>
              <a:t>DATASHEET</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上一般会提供频率和阻抗的特性曲线图，一般以</a:t>
            </a:r>
            <a:r>
              <a:rPr lang="en-US" sz="2400" dirty="0">
                <a:latin typeface="Times New Roman" panose="02020603050405020304" pitchFamily="18" charset="0"/>
                <a:ea typeface="黑体" panose="02010609060101010101" pitchFamily="49" charset="-122"/>
                <a:cs typeface="Times New Roman" panose="02020603050405020304" pitchFamily="18" charset="0"/>
              </a:rPr>
              <a:t>100MHz</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为标准，比如</a:t>
            </a:r>
            <a:r>
              <a:rPr lang="en-US" sz="2400" dirty="0">
                <a:latin typeface="Times New Roman" panose="02020603050405020304" pitchFamily="18" charset="0"/>
                <a:ea typeface="黑体" panose="02010609060101010101" pitchFamily="49" charset="-122"/>
                <a:cs typeface="Times New Roman" panose="02020603050405020304" pitchFamily="18" charset="0"/>
              </a:rPr>
              <a:t>600R@100MHz</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，意思就是在</a:t>
            </a:r>
            <a:r>
              <a:rPr lang="en-US" sz="2400" dirty="0">
                <a:latin typeface="Times New Roman" panose="02020603050405020304" pitchFamily="18" charset="0"/>
                <a:ea typeface="黑体" panose="02010609060101010101" pitchFamily="49" charset="-122"/>
                <a:cs typeface="Times New Roman" panose="02020603050405020304" pitchFamily="18" charset="0"/>
              </a:rPr>
              <a:t>100MHz</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频率的时候磁珠的阻抗相当于</a:t>
            </a:r>
            <a:r>
              <a:rPr lang="en-US" sz="2400" dirty="0">
                <a:latin typeface="Times New Roman" panose="02020603050405020304" pitchFamily="18" charset="0"/>
                <a:ea typeface="黑体" panose="02010609060101010101" pitchFamily="49" charset="-122"/>
                <a:cs typeface="Times New Roman" panose="02020603050405020304" pitchFamily="18" charset="0"/>
              </a:rPr>
              <a:t>600</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欧姆。 </a:t>
            </a:r>
            <a:endParaRPr lang="en-US" altLang="zh-CN" sz="2400" dirty="0">
              <a:latin typeface="Times New Roman" panose="02020603050405020304" pitchFamily="18" charset="0"/>
              <a:ea typeface="黑体" panose="02010609060101010101" pitchFamily="49" charset="-122"/>
              <a:cs typeface="Times New Roman" panose="02020603050405020304" pitchFamily="18" charset="0"/>
            </a:endParaRPr>
          </a:p>
          <a:p>
            <a:pPr>
              <a:lnSpc>
                <a:spcPct val="114000"/>
              </a:lnSpc>
              <a:spcBef>
                <a:spcPts val="600"/>
              </a:spcBef>
              <a:buFont typeface="Wingdings" pitchFamily="2" charset="2"/>
              <a:buNone/>
            </a:pPr>
            <a:r>
              <a:rPr lang="zh-CN" altLang="en-US" sz="2400" b="1" dirty="0">
                <a:solidFill>
                  <a:schemeClr val="accent1"/>
                </a:solidFill>
                <a:latin typeface="宋体" pitchFamily="2" charset="-122"/>
              </a:rPr>
              <a:t>（</a:t>
            </a:r>
            <a:r>
              <a:rPr lang="en-US" altLang="zh-CN" sz="2400" b="1" dirty="0">
                <a:solidFill>
                  <a:schemeClr val="accent1"/>
                </a:solidFill>
                <a:latin typeface="宋体" pitchFamily="2" charset="-122"/>
              </a:rPr>
              <a:t>2</a:t>
            </a:r>
            <a:r>
              <a:rPr lang="zh-CN" altLang="en-US" sz="2400" b="1" dirty="0">
                <a:solidFill>
                  <a:schemeClr val="accent1"/>
                </a:solidFill>
                <a:latin typeface="宋体" pitchFamily="2" charset="-122"/>
              </a:rPr>
              <a:t>）用途不同</a:t>
            </a:r>
          </a:p>
          <a:p>
            <a:pPr algn="just">
              <a:buFont typeface="Wingdings" pitchFamily="2" charset="2"/>
              <a:buNone/>
            </a:pP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         电感是储能元件，多用于电源滤波回路，侧重于抑止传导性干扰 ，如在</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LC</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振荡电路、中低频的滤波电路等，其应用频率范围很少超过</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50MHz</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a:t>
            </a:r>
          </a:p>
          <a:p>
            <a:pPr algn="just">
              <a:buFont typeface="Wingdings" pitchFamily="2" charset="2"/>
              <a:buNone/>
            </a:pP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         而磁珠是能量转换（消耗）器件 ，多用于信号回路，主要用于</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EMI</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方面 ，用来吸收超高频信号，如一些</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RF</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电路、</a:t>
            </a: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PLL</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、振荡电路、含超高频存储器电路等。</a:t>
            </a:r>
          </a:p>
          <a:p>
            <a:pPr>
              <a:lnSpc>
                <a:spcPct val="114000"/>
              </a:lnSpc>
              <a:buFont typeface="Wingdings" pitchFamily="2" charset="2"/>
              <a:buNone/>
            </a:pPr>
            <a:endParaRPr lang="zh-CN" sz="2400" dirty="0"/>
          </a:p>
          <a:p>
            <a:pPr>
              <a:lnSpc>
                <a:spcPct val="114000"/>
              </a:lnSpc>
              <a:buFont typeface="Wingdings" pitchFamily="2" charset="2"/>
              <a:buNone/>
            </a:pPr>
            <a:endParaRPr lang="zh-CN" sz="2400" dirty="0"/>
          </a:p>
        </p:txBody>
      </p:sp>
      <p:sp>
        <p:nvSpPr>
          <p:cNvPr id="2" name="灯片编号占位符 1">
            <a:extLst>
              <a:ext uri="{FF2B5EF4-FFF2-40B4-BE49-F238E27FC236}">
                <a16:creationId xmlns:a16="http://schemas.microsoft.com/office/drawing/2014/main" id="{B219349F-F645-8C39-ADFD-C565182D8950}"/>
              </a:ext>
            </a:extLst>
          </p:cNvPr>
          <p:cNvSpPr>
            <a:spLocks noGrp="1"/>
          </p:cNvSpPr>
          <p:nvPr>
            <p:ph type="sldNum" sz="quarter" idx="12"/>
          </p:nvPr>
        </p:nvSpPr>
        <p:spPr/>
        <p:txBody>
          <a:bodyPr/>
          <a:lstStyle/>
          <a:p>
            <a:pPr>
              <a:defRPr/>
            </a:pPr>
            <a:fld id="{5FAFB815-62BA-464E-901C-79D108092E38}" type="slidenum">
              <a:rPr lang="zh-CN" altLang="en-US" smtClean="0"/>
              <a:pPr>
                <a:defRPr/>
              </a:pPr>
              <a:t>59</a:t>
            </a:fld>
            <a:endParaRPr lang="en-US" altLang="zh-CN"/>
          </a:p>
        </p:txBody>
      </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ctrTitle"/>
          </p:nvPr>
        </p:nvSpPr>
        <p:spPr>
          <a:xfrm>
            <a:off x="306498" y="3072994"/>
            <a:ext cx="4839419" cy="463860"/>
          </a:xfrm>
        </p:spPr>
        <p:txBody>
          <a:bodyPr>
            <a:normAutofit fontScale="90000"/>
          </a:bodyPr>
          <a:lstStyle/>
          <a:p>
            <a:br>
              <a:rPr lang="zh-CN" altLang="en-US">
                <a:ea typeface="华文行楷" pitchFamily="2" charset="-122"/>
              </a:rPr>
            </a:br>
            <a:endParaRPr lang="zh-CN" altLang="en-US">
              <a:ea typeface="华文行楷" pitchFamily="2" charset="-122"/>
            </a:endParaRPr>
          </a:p>
        </p:txBody>
      </p:sp>
      <p:sp>
        <p:nvSpPr>
          <p:cNvPr id="2" name="灯片编号占位符 1">
            <a:extLst>
              <a:ext uri="{FF2B5EF4-FFF2-40B4-BE49-F238E27FC236}">
                <a16:creationId xmlns:a16="http://schemas.microsoft.com/office/drawing/2014/main" id="{4F4D6F1F-37DD-6030-4D92-75CFA3748AC6}"/>
              </a:ext>
            </a:extLst>
          </p:cNvPr>
          <p:cNvSpPr>
            <a:spLocks noGrp="1"/>
          </p:cNvSpPr>
          <p:nvPr>
            <p:ph type="sldNum" sz="quarter" idx="12"/>
          </p:nvPr>
        </p:nvSpPr>
        <p:spPr>
          <a:xfrm>
            <a:off x="6959696" y="91111"/>
            <a:ext cx="802005" cy="503578"/>
          </a:xfrm>
        </p:spPr>
        <p:txBody>
          <a:bodyPr/>
          <a:lstStyle/>
          <a:p>
            <a:pPr>
              <a:defRPr/>
            </a:pPr>
            <a:fld id="{47A4CA45-135E-4AE6-A55B-F30C83FDB90E}" type="slidenum">
              <a:rPr lang="zh-CN" altLang="en-US" smtClean="0"/>
              <a:pPr>
                <a:defRPr/>
              </a:pPr>
              <a:t>60</a:t>
            </a:fld>
            <a:endParaRPr lang="en-US" altLang="zh-CN" dirty="0"/>
          </a:p>
        </p:txBody>
      </p:sp>
      <p:sp>
        <p:nvSpPr>
          <p:cNvPr id="70659" name="Rectangle 3"/>
          <p:cNvSpPr>
            <a:spLocks noChangeArrowheads="1"/>
          </p:cNvSpPr>
          <p:nvPr/>
        </p:nvSpPr>
        <p:spPr bwMode="auto">
          <a:xfrm>
            <a:off x="1371600" y="2348880"/>
            <a:ext cx="7772400" cy="927720"/>
          </a:xfrm>
          <a:prstGeom prst="rect">
            <a:avLst/>
          </a:prstGeom>
          <a:noFill/>
          <a:ln w="9525">
            <a:noFill/>
            <a:miter lim="800000"/>
            <a:headEnd/>
            <a:tailEnd/>
          </a:ln>
          <a:effectLst/>
        </p:spPr>
        <p:txBody>
          <a:bodyPr/>
          <a:lstStyle/>
          <a:p>
            <a:pPr lvl="1">
              <a:spcBef>
                <a:spcPct val="20000"/>
              </a:spcBef>
              <a:buFontTx/>
              <a:buBlip>
                <a:blip r:embed="rId2"/>
              </a:buBlip>
            </a:pPr>
            <a:endParaRPr lang="zh-TW" sz="2800" b="1">
              <a:solidFill>
                <a:srgbClr val="008000"/>
              </a:solidFill>
              <a:effectLst>
                <a:outerShdw blurRad="38100" dist="38100" dir="2700000" algn="tl">
                  <a:srgbClr val="000000"/>
                </a:outerShdw>
              </a:effectLst>
              <a:latin typeface="楷体_GB2312" pitchFamily="49" charset="-122"/>
              <a:ea typeface="楷体_GB2312" pitchFamily="49" charset="-122"/>
            </a:endParaRPr>
          </a:p>
        </p:txBody>
      </p:sp>
      <p:sp>
        <p:nvSpPr>
          <p:cNvPr id="70660" name="Rectangle 4"/>
          <p:cNvSpPr>
            <a:spLocks noChangeArrowheads="1"/>
          </p:cNvSpPr>
          <p:nvPr/>
        </p:nvSpPr>
        <p:spPr bwMode="auto">
          <a:xfrm>
            <a:off x="1430546" y="4181010"/>
            <a:ext cx="7332453" cy="695790"/>
          </a:xfrm>
          <a:prstGeom prst="rect">
            <a:avLst/>
          </a:prstGeom>
          <a:noFill/>
          <a:ln w="9525">
            <a:noFill/>
            <a:miter lim="800000"/>
            <a:headEnd/>
            <a:tailEnd/>
          </a:ln>
          <a:effectLst/>
        </p:spPr>
        <p:txBody>
          <a:bodyPr/>
          <a:lstStyle/>
          <a:p>
            <a:pPr>
              <a:spcBef>
                <a:spcPct val="20000"/>
              </a:spcBef>
              <a:buFont typeface="Wingdings" pitchFamily="2" charset="2"/>
              <a:buNone/>
            </a:pPr>
            <a:endParaRPr lang="zh-CN" altLang="en-US" sz="2000">
              <a:latin typeface="楷体_GB2312" pitchFamily="49" charset="-122"/>
              <a:ea typeface="楷体_GB2312" pitchFamily="49" charset="-122"/>
            </a:endParaRPr>
          </a:p>
        </p:txBody>
      </p:sp>
      <p:graphicFrame>
        <p:nvGraphicFramePr>
          <p:cNvPr id="70662" name="Object 6"/>
          <p:cNvGraphicFramePr>
            <a:graphicFrameLocks noChangeAspect="1"/>
          </p:cNvGraphicFramePr>
          <p:nvPr>
            <p:extLst>
              <p:ext uri="{D42A27DB-BD31-4B8C-83A1-F6EECF244321}">
                <p14:modId xmlns:p14="http://schemas.microsoft.com/office/powerpoint/2010/main" val="3736049313"/>
              </p:ext>
            </p:extLst>
          </p:nvPr>
        </p:nvGraphicFramePr>
        <p:xfrm>
          <a:off x="1033951" y="3074092"/>
          <a:ext cx="2563758" cy="818591"/>
        </p:xfrm>
        <a:graphic>
          <a:graphicData uri="http://schemas.openxmlformats.org/presentationml/2006/ole">
            <mc:AlternateContent xmlns:mc="http://schemas.openxmlformats.org/markup-compatibility/2006">
              <mc:Choice xmlns:v="urn:schemas-microsoft-com:vml" Requires="v">
                <p:oleObj r:id="rId3" imgW="1333333" imgH="504762" progId="PBrush">
                  <p:embed/>
                </p:oleObj>
              </mc:Choice>
              <mc:Fallback>
                <p:oleObj r:id="rId3" imgW="1333333" imgH="504762" progId="PBrush">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3951" y="3074092"/>
                        <a:ext cx="2563758" cy="818591"/>
                      </a:xfrm>
                      <a:prstGeom prst="rect">
                        <a:avLst/>
                      </a:prstGeom>
                      <a:noFill/>
                    </p:spPr>
                  </p:pic>
                </p:oleObj>
              </mc:Fallback>
            </mc:AlternateContent>
          </a:graphicData>
        </a:graphic>
      </p:graphicFrame>
      <p:pic>
        <p:nvPicPr>
          <p:cNvPr id="70663" name="Picture 7" descr="l2"/>
          <p:cNvPicPr>
            <a:picLocks noChangeAspect="1" noChangeArrowheads="1"/>
          </p:cNvPicPr>
          <p:nvPr/>
        </p:nvPicPr>
        <p:blipFill>
          <a:blip r:embed="rId5" cstate="print"/>
          <a:srcRect/>
          <a:stretch>
            <a:fillRect/>
          </a:stretch>
        </p:blipFill>
        <p:spPr bwMode="auto">
          <a:xfrm>
            <a:off x="5218666" y="2998897"/>
            <a:ext cx="1395860" cy="716943"/>
          </a:xfrm>
          <a:prstGeom prst="rect">
            <a:avLst/>
          </a:prstGeom>
          <a:noFill/>
          <a:ln w="9525">
            <a:noFill/>
            <a:miter lim="800000"/>
            <a:headEnd/>
            <a:tailEnd/>
          </a:ln>
        </p:spPr>
      </p:pic>
      <p:sp>
        <p:nvSpPr>
          <p:cNvPr id="70664" name="Rectangle 8"/>
          <p:cNvSpPr>
            <a:spLocks noChangeArrowheads="1"/>
          </p:cNvSpPr>
          <p:nvPr/>
        </p:nvSpPr>
        <p:spPr bwMode="auto">
          <a:xfrm>
            <a:off x="4928759" y="3985434"/>
            <a:ext cx="2195154" cy="347895"/>
          </a:xfrm>
          <a:prstGeom prst="rect">
            <a:avLst/>
          </a:prstGeom>
          <a:noFill/>
          <a:ln w="9525">
            <a:noFill/>
            <a:miter lim="800000"/>
            <a:headEnd/>
            <a:tailEnd/>
          </a:ln>
          <a:effectLst/>
        </p:spPr>
        <p:txBody>
          <a:bodyPr/>
          <a:lstStyle/>
          <a:p>
            <a:pPr>
              <a:spcBef>
                <a:spcPct val="20000"/>
              </a:spcBef>
              <a:buFont typeface="Wingdings" pitchFamily="2" charset="2"/>
              <a:buNone/>
            </a:pPr>
            <a:r>
              <a:rPr lang="zh-CN" altLang="en-US" sz="2800" b="1" dirty="0">
                <a:latin typeface="Times New Roman" pitchFamily="18" charset="0"/>
              </a:rPr>
              <a:t>贴片式磁珠</a:t>
            </a:r>
          </a:p>
        </p:txBody>
      </p:sp>
      <p:sp>
        <p:nvSpPr>
          <p:cNvPr id="70665" name="Rectangle 9"/>
          <p:cNvSpPr>
            <a:spLocks noChangeArrowheads="1"/>
          </p:cNvSpPr>
          <p:nvPr/>
        </p:nvSpPr>
        <p:spPr bwMode="auto">
          <a:xfrm>
            <a:off x="1502695" y="4103358"/>
            <a:ext cx="2147798" cy="463860"/>
          </a:xfrm>
          <a:prstGeom prst="rect">
            <a:avLst/>
          </a:prstGeom>
          <a:noFill/>
          <a:ln w="9525">
            <a:noFill/>
            <a:miter lim="800000"/>
            <a:headEnd/>
            <a:tailEnd/>
          </a:ln>
          <a:effectLst/>
        </p:spPr>
        <p:txBody>
          <a:bodyPr/>
          <a:lstStyle/>
          <a:p>
            <a:pPr>
              <a:spcBef>
                <a:spcPct val="20000"/>
              </a:spcBef>
              <a:buFont typeface="Wingdings" pitchFamily="2" charset="2"/>
              <a:buNone/>
            </a:pPr>
            <a:r>
              <a:rPr lang="zh-CN" altLang="en-US" sz="2800" b="1" dirty="0">
                <a:latin typeface="Times New Roman" pitchFamily="18" charset="0"/>
              </a:rPr>
              <a:t>直插式磁珠</a:t>
            </a:r>
          </a:p>
        </p:txBody>
      </p:sp>
      <p:pic>
        <p:nvPicPr>
          <p:cNvPr id="70666" name="Picture 10" descr="电感5"/>
          <p:cNvPicPr>
            <a:picLocks noChangeAspect="1" noChangeArrowheads="1"/>
          </p:cNvPicPr>
          <p:nvPr/>
        </p:nvPicPr>
        <p:blipFill>
          <a:blip r:embed="rId6" cstate="print"/>
          <a:srcRect/>
          <a:stretch>
            <a:fillRect/>
          </a:stretch>
        </p:blipFill>
        <p:spPr bwMode="auto">
          <a:xfrm>
            <a:off x="1114868" y="4582790"/>
            <a:ext cx="2286809" cy="1601170"/>
          </a:xfrm>
          <a:prstGeom prst="rect">
            <a:avLst/>
          </a:prstGeom>
          <a:noFill/>
          <a:ln w="9525">
            <a:noFill/>
            <a:miter lim="800000"/>
            <a:headEnd/>
            <a:tailEnd/>
          </a:ln>
        </p:spPr>
      </p:pic>
      <p:pic>
        <p:nvPicPr>
          <p:cNvPr id="70667" name="Picture 11" descr="变压器"/>
          <p:cNvPicPr>
            <a:picLocks noChangeAspect="1" noChangeArrowheads="1"/>
          </p:cNvPicPr>
          <p:nvPr/>
        </p:nvPicPr>
        <p:blipFill>
          <a:blip r:embed="rId7" cstate="print"/>
          <a:srcRect/>
          <a:stretch>
            <a:fillRect/>
          </a:stretch>
        </p:blipFill>
        <p:spPr bwMode="auto">
          <a:xfrm>
            <a:off x="4918434" y="4582790"/>
            <a:ext cx="2310359" cy="1601170"/>
          </a:xfrm>
          <a:prstGeom prst="rect">
            <a:avLst/>
          </a:prstGeom>
          <a:noFill/>
          <a:ln w="9525">
            <a:noFill/>
            <a:miter lim="800000"/>
            <a:headEnd/>
            <a:tailEnd/>
          </a:ln>
        </p:spPr>
      </p:pic>
      <p:sp>
        <p:nvSpPr>
          <p:cNvPr id="70668" name="Rectangle 12"/>
          <p:cNvSpPr>
            <a:spLocks noChangeArrowheads="1"/>
          </p:cNvSpPr>
          <p:nvPr/>
        </p:nvSpPr>
        <p:spPr bwMode="auto">
          <a:xfrm>
            <a:off x="1445739" y="6179162"/>
            <a:ext cx="1922570" cy="523220"/>
          </a:xfrm>
          <a:prstGeom prst="rect">
            <a:avLst/>
          </a:prstGeom>
          <a:noFill/>
          <a:ln w="9525">
            <a:noFill/>
            <a:miter lim="800000"/>
            <a:headEnd/>
            <a:tailEnd/>
          </a:ln>
          <a:effectLst/>
        </p:spPr>
        <p:txBody>
          <a:bodyPr wrap="square">
            <a:spAutoFit/>
          </a:bodyPr>
          <a:lstStyle/>
          <a:p>
            <a:pPr>
              <a:spcBef>
                <a:spcPct val="20000"/>
              </a:spcBef>
              <a:buFont typeface="Wingdings" pitchFamily="2" charset="2"/>
              <a:buNone/>
            </a:pPr>
            <a:r>
              <a:rPr lang="zh-CN" altLang="en-US" sz="2800" b="1" dirty="0"/>
              <a:t>绕线电感</a:t>
            </a:r>
          </a:p>
        </p:txBody>
      </p:sp>
      <p:sp>
        <p:nvSpPr>
          <p:cNvPr id="70669" name="Rectangle 13"/>
          <p:cNvSpPr>
            <a:spLocks noChangeArrowheads="1"/>
          </p:cNvSpPr>
          <p:nvPr/>
        </p:nvSpPr>
        <p:spPr bwMode="auto">
          <a:xfrm>
            <a:off x="5528508" y="6252842"/>
            <a:ext cx="1738481" cy="523220"/>
          </a:xfrm>
          <a:prstGeom prst="rect">
            <a:avLst/>
          </a:prstGeom>
          <a:noFill/>
          <a:ln w="9525">
            <a:noFill/>
            <a:miter lim="800000"/>
            <a:headEnd/>
            <a:tailEnd/>
          </a:ln>
          <a:effectLst/>
        </p:spPr>
        <p:txBody>
          <a:bodyPr wrap="square">
            <a:spAutoFit/>
          </a:bodyPr>
          <a:lstStyle/>
          <a:p>
            <a:pPr>
              <a:spcBef>
                <a:spcPct val="20000"/>
              </a:spcBef>
              <a:buFont typeface="Wingdings" pitchFamily="2" charset="2"/>
              <a:buNone/>
            </a:pPr>
            <a:r>
              <a:rPr lang="zh-CN" altLang="en-US" sz="2800" b="1" dirty="0"/>
              <a:t>变压器</a:t>
            </a:r>
          </a:p>
        </p:txBody>
      </p:sp>
      <p:sp>
        <p:nvSpPr>
          <p:cNvPr id="4" name="文本框 3">
            <a:extLst>
              <a:ext uri="{FF2B5EF4-FFF2-40B4-BE49-F238E27FC236}">
                <a16:creationId xmlns:a16="http://schemas.microsoft.com/office/drawing/2014/main" id="{D3228DF4-42D7-5D44-C088-780C2939A814}"/>
              </a:ext>
            </a:extLst>
          </p:cNvPr>
          <p:cNvSpPr txBox="1"/>
          <p:nvPr/>
        </p:nvSpPr>
        <p:spPr>
          <a:xfrm>
            <a:off x="292309" y="103128"/>
            <a:ext cx="8470689" cy="2955681"/>
          </a:xfrm>
          <a:prstGeom prst="rect">
            <a:avLst/>
          </a:prstGeom>
          <a:noFill/>
        </p:spPr>
        <p:txBody>
          <a:bodyPr wrap="square">
            <a:spAutoFit/>
          </a:bodyPr>
          <a:lstStyle/>
          <a:p>
            <a:pPr>
              <a:lnSpc>
                <a:spcPct val="114000"/>
              </a:lnSpc>
              <a:spcBef>
                <a:spcPct val="50000"/>
              </a:spcBef>
              <a:buFont typeface="Wingdings" pitchFamily="2" charset="2"/>
              <a:buNone/>
            </a:pPr>
            <a:r>
              <a:rPr lang="en-US" altLang="zh-CN" sz="2200" b="1" dirty="0"/>
              <a:t>5.</a:t>
            </a:r>
            <a:r>
              <a:rPr lang="zh-CN" altLang="en-US" sz="2200" b="1" dirty="0"/>
              <a:t>变压器</a:t>
            </a:r>
            <a:endParaRPr lang="en-US" altLang="zh-CN" sz="2200" b="1" dirty="0"/>
          </a:p>
          <a:p>
            <a:pPr>
              <a:lnSpc>
                <a:spcPct val="114000"/>
              </a:lnSpc>
              <a:spcBef>
                <a:spcPts val="600"/>
              </a:spcBef>
              <a:buFont typeface="Wingdings" pitchFamily="2" charset="2"/>
              <a:buNone/>
            </a:pPr>
            <a:endParaRPr lang="zh-CN" altLang="en-US" sz="1800" b="1" dirty="0">
              <a:solidFill>
                <a:schemeClr val="accent1"/>
              </a:solidFill>
              <a:latin typeface="宋体" pitchFamily="2" charset="-122"/>
            </a:endParaRPr>
          </a:p>
          <a:p>
            <a:pPr algn="just">
              <a:lnSpc>
                <a:spcPct val="130000"/>
              </a:lnSpc>
              <a:buClr>
                <a:srgbClr val="CC3399"/>
              </a:buClr>
              <a:buSzPct val="90000"/>
              <a:buFont typeface="Monotype Sorts" pitchFamily="2" charset="2"/>
              <a:buNone/>
            </a:pPr>
            <a:r>
              <a:rPr lang="zh-CN" altLang="en-US" sz="1800" dirty="0">
                <a:latin typeface="Times New Roman" panose="02020603050405020304" pitchFamily="18" charset="0"/>
                <a:ea typeface="黑体" panose="02010609060101010101" pitchFamily="49" charset="-122"/>
                <a:cs typeface="Times New Roman" panose="02020603050405020304" pitchFamily="18" charset="0"/>
              </a:rPr>
              <a:t>          </a:t>
            </a:r>
            <a:r>
              <a:rPr lang="zh-CN" altLang="en-US" sz="2200" dirty="0">
                <a:latin typeface="Times New Roman" panose="02020603050405020304" pitchFamily="18" charset="0"/>
                <a:ea typeface="黑体" panose="02010609060101010101" pitchFamily="49" charset="-122"/>
                <a:cs typeface="Times New Roman" panose="02020603050405020304" pitchFamily="18" charset="0"/>
              </a:rPr>
              <a:t>变压器是变换电压、电流和阻抗的器件。他是利用互感原理制成的</a:t>
            </a:r>
            <a:r>
              <a:rPr lang="zh-CN" altLang="en-US" sz="1800"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sz="2200" dirty="0">
                <a:latin typeface="Times New Roman" panose="02020603050405020304" pitchFamily="18" charset="0"/>
                <a:ea typeface="黑体" panose="02010609060101010101" pitchFamily="49" charset="-122"/>
                <a:cs typeface="Times New Roman" panose="02020603050405020304" pitchFamily="18" charset="0"/>
              </a:rPr>
              <a:t>根据线圈的不同变压器不同：</a:t>
            </a:r>
            <a:endParaRPr lang="en-US" altLang="zh-CN" sz="2200" dirty="0">
              <a:latin typeface="Times New Roman" panose="02020603050405020304" pitchFamily="18" charset="0"/>
              <a:ea typeface="黑体" panose="02010609060101010101" pitchFamily="49" charset="-122"/>
              <a:cs typeface="Times New Roman" panose="02020603050405020304" pitchFamily="18" charset="0"/>
            </a:endParaRPr>
          </a:p>
          <a:p>
            <a:pPr algn="just">
              <a:lnSpc>
                <a:spcPct val="130000"/>
              </a:lnSpc>
              <a:buClr>
                <a:srgbClr val="CC3399"/>
              </a:buClr>
              <a:buSzPct val="90000"/>
              <a:buFont typeface="Monotype Sorts" pitchFamily="2" charset="2"/>
              <a:buNone/>
            </a:pPr>
            <a:r>
              <a:rPr lang="en-US" altLang="zh-CN" sz="2200" dirty="0">
                <a:latin typeface="Times New Roman" panose="02020603050405020304" pitchFamily="18" charset="0"/>
                <a:ea typeface="黑体" panose="02010609060101010101" pitchFamily="49" charset="-122"/>
                <a:cs typeface="Times New Roman" panose="02020603050405020304" pitchFamily="18" charset="0"/>
              </a:rPr>
              <a:t>        </a:t>
            </a:r>
            <a:r>
              <a:rPr lang="zh-CN" altLang="en-US" sz="2200" dirty="0">
                <a:latin typeface="Times New Roman" panose="02020603050405020304" pitchFamily="18" charset="0"/>
                <a:ea typeface="黑体" panose="02010609060101010101" pitchFamily="49" charset="-122"/>
                <a:cs typeface="Times New Roman" panose="02020603050405020304" pitchFamily="18" charset="0"/>
              </a:rPr>
              <a:t>线圈是空心的</a:t>
            </a:r>
            <a:r>
              <a:rPr lang="zh-CN" altLang="en-US" sz="2200" b="1"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sz="22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空心</a:t>
            </a:r>
            <a:r>
              <a:rPr lang="zh-CN" altLang="en-US" sz="2200" b="1" dirty="0">
                <a:latin typeface="Times New Roman" panose="02020603050405020304" pitchFamily="18" charset="0"/>
                <a:ea typeface="黑体" panose="02010609060101010101" pitchFamily="49" charset="-122"/>
                <a:cs typeface="Times New Roman" panose="02020603050405020304" pitchFamily="18" charset="0"/>
              </a:rPr>
              <a:t>变压器；线圈中加入铁氧体磁芯，</a:t>
            </a:r>
            <a:r>
              <a:rPr lang="zh-CN" altLang="en-US" sz="22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铁氧体磁芯</a:t>
            </a:r>
            <a:r>
              <a:rPr lang="zh-CN" altLang="en-US" sz="2200" b="1" dirty="0">
                <a:latin typeface="Times New Roman" panose="02020603050405020304" pitchFamily="18" charset="0"/>
                <a:ea typeface="黑体" panose="02010609060101010101" pitchFamily="49" charset="-122"/>
                <a:cs typeface="Times New Roman" panose="02020603050405020304" pitchFamily="18" charset="0"/>
              </a:rPr>
              <a:t>变压器；线圈中插入铁芯，</a:t>
            </a:r>
            <a:r>
              <a:rPr lang="zh-CN" altLang="en-US" sz="22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铁芯</a:t>
            </a:r>
            <a:r>
              <a:rPr lang="zh-CN" altLang="en-US" sz="2200" b="1" dirty="0">
                <a:latin typeface="Times New Roman" panose="02020603050405020304" pitchFamily="18" charset="0"/>
                <a:ea typeface="黑体" panose="02010609060101010101" pitchFamily="49" charset="-122"/>
                <a:cs typeface="Times New Roman" panose="02020603050405020304" pitchFamily="18" charset="0"/>
              </a:rPr>
              <a:t>变压器。</a:t>
            </a:r>
            <a:endParaRPr lang="en-US" altLang="zh-CN" sz="2200" b="1" dirty="0">
              <a:latin typeface="Times New Roman" panose="02020603050405020304" pitchFamily="18" charset="0"/>
              <a:ea typeface="黑体" panose="02010609060101010101" pitchFamily="49" charset="-122"/>
              <a:cs typeface="Times New Roman" panose="02020603050405020304" pitchFamily="18" charset="0"/>
            </a:endParaRPr>
          </a:p>
          <a:p>
            <a:pPr algn="just">
              <a:lnSpc>
                <a:spcPct val="130000"/>
              </a:lnSpc>
              <a:buClr>
                <a:srgbClr val="CC3399"/>
              </a:buClr>
              <a:buSzPct val="90000"/>
              <a:buFont typeface="Monotype Sorts" pitchFamily="2" charset="2"/>
              <a:buNone/>
            </a:pPr>
            <a:endParaRPr lang="zh-CN" altLang="en-US" sz="1800" dirty="0">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ctrTitle"/>
          </p:nvPr>
        </p:nvSpPr>
        <p:spPr>
          <a:xfrm>
            <a:off x="533400" y="1066800"/>
            <a:ext cx="5029200" cy="609600"/>
          </a:xfrm>
        </p:spPr>
        <p:txBody>
          <a:bodyPr>
            <a:normAutofit fontScale="90000"/>
          </a:bodyPr>
          <a:lstStyle/>
          <a:p>
            <a:br>
              <a:rPr lang="zh-CN" altLang="en-US" dirty="0">
                <a:ea typeface="华文行楷" pitchFamily="2" charset="-122"/>
              </a:rPr>
            </a:br>
            <a:endParaRPr lang="zh-CN" altLang="en-US" dirty="0">
              <a:ea typeface="华文行楷" pitchFamily="2" charset="-122"/>
            </a:endParaRPr>
          </a:p>
        </p:txBody>
      </p:sp>
      <p:sp>
        <p:nvSpPr>
          <p:cNvPr id="71683" name="Rectangle 3"/>
          <p:cNvSpPr>
            <a:spLocks noGrp="1" noChangeArrowheads="1"/>
          </p:cNvSpPr>
          <p:nvPr>
            <p:ph type="subTitle" idx="1"/>
          </p:nvPr>
        </p:nvSpPr>
        <p:spPr>
          <a:xfrm>
            <a:off x="-36512" y="0"/>
            <a:ext cx="2516088" cy="635308"/>
          </a:xfrm>
          <a:solidFill>
            <a:schemeClr val="bg1">
              <a:lumMod val="95000"/>
            </a:schemeClr>
          </a:solidFill>
        </p:spPr>
        <p:txBody>
          <a:bodyPr vert="horz" lIns="91440" tIns="45720" rIns="91440" bIns="45720" rtlCol="0" anchor="t">
            <a:normAutofit/>
          </a:bodyPr>
          <a:lstStyle/>
          <a:p>
            <a:pPr>
              <a:lnSpc>
                <a:spcPct val="90000"/>
              </a:lnSpc>
              <a:spcBef>
                <a:spcPct val="0"/>
              </a:spcBef>
            </a:pPr>
            <a:r>
              <a:rPr lang="zh-CN" altLang="en-US" sz="3600" b="1" dirty="0">
                <a:latin typeface="华文行楷" panose="02010800040101010101" pitchFamily="2" charset="-122"/>
                <a:ea typeface="华文行楷" panose="02010800040101010101" pitchFamily="2" charset="-122"/>
                <a:cs typeface="+mj-cs"/>
              </a:rPr>
              <a:t>四、二极管</a:t>
            </a:r>
          </a:p>
        </p:txBody>
      </p:sp>
      <p:sp>
        <p:nvSpPr>
          <p:cNvPr id="2" name="灯片编号占位符 1">
            <a:extLst>
              <a:ext uri="{FF2B5EF4-FFF2-40B4-BE49-F238E27FC236}">
                <a16:creationId xmlns:a16="http://schemas.microsoft.com/office/drawing/2014/main" id="{19843D84-7784-9E51-417B-726A64EA31C1}"/>
              </a:ext>
            </a:extLst>
          </p:cNvPr>
          <p:cNvSpPr>
            <a:spLocks noGrp="1"/>
          </p:cNvSpPr>
          <p:nvPr>
            <p:ph type="sldNum" sz="quarter" idx="12"/>
          </p:nvPr>
        </p:nvSpPr>
        <p:spPr/>
        <p:txBody>
          <a:bodyPr/>
          <a:lstStyle/>
          <a:p>
            <a:pPr>
              <a:defRPr/>
            </a:pPr>
            <a:fld id="{47A4CA45-135E-4AE6-A55B-F30C83FDB90E}" type="slidenum">
              <a:rPr lang="zh-CN" altLang="en-US" smtClean="0"/>
              <a:pPr>
                <a:defRPr/>
              </a:pPr>
              <a:t>61</a:t>
            </a:fld>
            <a:endParaRPr lang="en-US" altLang="zh-CN"/>
          </a:p>
        </p:txBody>
      </p:sp>
      <p:sp>
        <p:nvSpPr>
          <p:cNvPr id="71686" name="Rectangle 6"/>
          <p:cNvSpPr>
            <a:spLocks noChangeArrowheads="1"/>
          </p:cNvSpPr>
          <p:nvPr/>
        </p:nvSpPr>
        <p:spPr bwMode="auto">
          <a:xfrm>
            <a:off x="320452" y="852914"/>
            <a:ext cx="8503096" cy="5152171"/>
          </a:xfrm>
          <a:prstGeom prst="rect">
            <a:avLst/>
          </a:prstGeom>
          <a:noFill/>
          <a:ln w="9525">
            <a:noFill/>
            <a:miter lim="800000"/>
            <a:headEnd/>
            <a:tailEnd/>
          </a:ln>
          <a:effectLst/>
        </p:spPr>
        <p:txBody>
          <a:bodyPr/>
          <a:lstStyle/>
          <a:p>
            <a:pPr marL="228600" indent="-228600" defTabSz="685800">
              <a:lnSpc>
                <a:spcPct val="104000"/>
              </a:lnSpc>
              <a:spcBef>
                <a:spcPts val="600"/>
              </a:spcBef>
              <a:buClr>
                <a:schemeClr val="accent1"/>
              </a:buClr>
              <a:buSzPct val="100000"/>
            </a:pPr>
            <a:r>
              <a:rPr lang="en-US" sz="2200" b="1" dirty="0">
                <a:solidFill>
                  <a:schemeClr val="accent1"/>
                </a:solidFill>
                <a:latin typeface="宋体" pitchFamily="2" charset="-122"/>
              </a:rPr>
              <a:t>1.</a:t>
            </a:r>
            <a:r>
              <a:rPr lang="zh-CN" altLang="en-US" sz="2200" b="1" dirty="0">
                <a:solidFill>
                  <a:schemeClr val="accent1"/>
                </a:solidFill>
                <a:latin typeface="宋体" pitchFamily="2" charset="-122"/>
              </a:rPr>
              <a:t>二极管的构成</a:t>
            </a:r>
          </a:p>
          <a:p>
            <a:pPr>
              <a:spcBef>
                <a:spcPct val="20000"/>
              </a:spcBef>
              <a:buFont typeface="Wingdings" pitchFamily="2" charset="2"/>
              <a:buNone/>
            </a:pPr>
            <a:r>
              <a:rPr lang="zh-CN" altLang="en-US" sz="2800" dirty="0">
                <a:latin typeface="宋体" pitchFamily="2" charset="-122"/>
              </a:rPr>
              <a:t>    </a:t>
            </a:r>
            <a:r>
              <a:rPr lang="zh-CN" altLang="en-US" sz="2200" dirty="0">
                <a:latin typeface="Times New Roman" panose="02020603050405020304" pitchFamily="18" charset="0"/>
                <a:ea typeface="黑体" panose="02010609060101010101" pitchFamily="49" charset="-122"/>
                <a:cs typeface="Times New Roman" panose="02020603050405020304" pitchFamily="18" charset="0"/>
              </a:rPr>
              <a:t>在半导体材料硅或锗晶体中掺入三价元素杂质可构成缺壳粒的</a:t>
            </a:r>
            <a:r>
              <a:rPr lang="en-US" sz="2200" dirty="0">
                <a:latin typeface="Times New Roman" panose="02020603050405020304" pitchFamily="18" charset="0"/>
                <a:ea typeface="黑体" panose="02010609060101010101" pitchFamily="49" charset="-122"/>
                <a:cs typeface="Times New Roman" panose="02020603050405020304" pitchFamily="18" charset="0"/>
              </a:rPr>
              <a:t>P</a:t>
            </a:r>
            <a:r>
              <a:rPr lang="zh-CN" altLang="en-US" sz="2200" dirty="0">
                <a:latin typeface="Times New Roman" panose="02020603050405020304" pitchFamily="18" charset="0"/>
                <a:ea typeface="黑体" panose="02010609060101010101" pitchFamily="49" charset="-122"/>
                <a:cs typeface="Times New Roman" panose="02020603050405020304" pitchFamily="18" charset="0"/>
              </a:rPr>
              <a:t>型半导体，掺入五价元素杂质可构成多余壳粒的</a:t>
            </a:r>
            <a:r>
              <a:rPr lang="en-US" sz="2200" dirty="0">
                <a:latin typeface="Times New Roman" panose="02020603050405020304" pitchFamily="18" charset="0"/>
                <a:ea typeface="黑体" panose="02010609060101010101" pitchFamily="49" charset="-122"/>
                <a:cs typeface="Times New Roman" panose="02020603050405020304" pitchFamily="18" charset="0"/>
              </a:rPr>
              <a:t>N</a:t>
            </a:r>
            <a:r>
              <a:rPr lang="zh-CN" altLang="en-US" sz="2200" dirty="0">
                <a:latin typeface="Times New Roman" panose="02020603050405020304" pitchFamily="18" charset="0"/>
                <a:ea typeface="黑体" panose="02010609060101010101" pitchFamily="49" charset="-122"/>
                <a:cs typeface="Times New Roman" panose="02020603050405020304" pitchFamily="18" charset="0"/>
              </a:rPr>
              <a:t>形半导体。两种半导体接触在一起的点或面构成</a:t>
            </a:r>
            <a:r>
              <a:rPr lang="en-US" sz="2200" dirty="0">
                <a:latin typeface="Times New Roman" panose="02020603050405020304" pitchFamily="18" charset="0"/>
                <a:ea typeface="黑体" panose="02010609060101010101" pitchFamily="49" charset="-122"/>
                <a:cs typeface="Times New Roman" panose="02020603050405020304" pitchFamily="18" charset="0"/>
              </a:rPr>
              <a:t>PN</a:t>
            </a:r>
            <a:r>
              <a:rPr lang="zh-CN" altLang="en-US" sz="2200" dirty="0">
                <a:latin typeface="Times New Roman" panose="02020603050405020304" pitchFamily="18" charset="0"/>
                <a:ea typeface="黑体" panose="02010609060101010101" pitchFamily="49" charset="-122"/>
                <a:cs typeface="Times New Roman" panose="02020603050405020304" pitchFamily="18" charset="0"/>
              </a:rPr>
              <a:t>结，由</a:t>
            </a:r>
            <a:r>
              <a:rPr lang="en-US" sz="2200" dirty="0">
                <a:latin typeface="Times New Roman" panose="02020603050405020304" pitchFamily="18" charset="0"/>
                <a:ea typeface="黑体" panose="02010609060101010101" pitchFamily="49" charset="-122"/>
                <a:cs typeface="Times New Roman" panose="02020603050405020304" pitchFamily="18" charset="0"/>
              </a:rPr>
              <a:t>PN</a:t>
            </a:r>
            <a:r>
              <a:rPr lang="zh-CN" altLang="en-US" sz="2200" dirty="0">
                <a:latin typeface="Times New Roman" panose="02020603050405020304" pitchFamily="18" charset="0"/>
                <a:ea typeface="黑体" panose="02010609060101010101" pitchFamily="49" charset="-122"/>
                <a:cs typeface="Times New Roman" panose="02020603050405020304" pitchFamily="18" charset="0"/>
              </a:rPr>
              <a:t>结构成二极管。</a:t>
            </a:r>
            <a:endParaRPr lang="en-US" altLang="zh-CN" sz="2200" dirty="0">
              <a:latin typeface="Times New Roman" panose="02020603050405020304" pitchFamily="18" charset="0"/>
              <a:ea typeface="黑体" panose="02010609060101010101" pitchFamily="49" charset="-122"/>
              <a:cs typeface="Times New Roman" panose="02020603050405020304" pitchFamily="18" charset="0"/>
            </a:endParaRPr>
          </a:p>
          <a:p>
            <a:pPr>
              <a:spcBef>
                <a:spcPct val="20000"/>
              </a:spcBef>
              <a:buFont typeface="Wingdings" pitchFamily="2" charset="2"/>
              <a:buNone/>
            </a:pPr>
            <a:endParaRPr lang="en-US" altLang="zh-CN" sz="2200" dirty="0">
              <a:latin typeface="Times New Roman" panose="02020603050405020304" pitchFamily="18" charset="0"/>
              <a:ea typeface="黑体" panose="02010609060101010101" pitchFamily="49" charset="-122"/>
              <a:cs typeface="Times New Roman" panose="02020603050405020304" pitchFamily="18" charset="0"/>
            </a:endParaRPr>
          </a:p>
          <a:p>
            <a:pPr>
              <a:spcBef>
                <a:spcPct val="20000"/>
              </a:spcBef>
              <a:buFont typeface="Wingdings" pitchFamily="2" charset="2"/>
              <a:buNone/>
            </a:pPr>
            <a:endParaRPr lang="en-US" altLang="zh-CN" sz="2200" dirty="0">
              <a:latin typeface="Times New Roman" panose="02020603050405020304" pitchFamily="18" charset="0"/>
              <a:ea typeface="黑体" panose="02010609060101010101" pitchFamily="49" charset="-122"/>
              <a:cs typeface="Times New Roman" panose="02020603050405020304" pitchFamily="18" charset="0"/>
            </a:endParaRPr>
          </a:p>
          <a:p>
            <a:pPr>
              <a:spcBef>
                <a:spcPct val="20000"/>
              </a:spcBef>
              <a:buFont typeface="Wingdings" pitchFamily="2" charset="2"/>
              <a:buNone/>
            </a:pPr>
            <a:endParaRPr lang="en-US" altLang="zh-CN" sz="2200" dirty="0">
              <a:latin typeface="Times New Roman" panose="02020603050405020304" pitchFamily="18" charset="0"/>
              <a:ea typeface="黑体" panose="02010609060101010101" pitchFamily="49" charset="-122"/>
              <a:cs typeface="Times New Roman" panose="02020603050405020304" pitchFamily="18" charset="0"/>
            </a:endParaRPr>
          </a:p>
          <a:p>
            <a:pPr>
              <a:spcBef>
                <a:spcPct val="20000"/>
              </a:spcBef>
              <a:buFont typeface="Wingdings" pitchFamily="2" charset="2"/>
              <a:buNone/>
            </a:pPr>
            <a:endParaRPr lang="en-US" altLang="zh-CN" sz="2200" dirty="0">
              <a:latin typeface="Times New Roman" panose="02020603050405020304" pitchFamily="18" charset="0"/>
              <a:ea typeface="黑体" panose="02010609060101010101" pitchFamily="49" charset="-122"/>
              <a:cs typeface="Times New Roman" panose="02020603050405020304" pitchFamily="18" charset="0"/>
            </a:endParaRPr>
          </a:p>
          <a:p>
            <a:pPr>
              <a:spcBef>
                <a:spcPct val="20000"/>
              </a:spcBef>
              <a:buFont typeface="Wingdings" pitchFamily="2" charset="2"/>
              <a:buNone/>
            </a:pPr>
            <a:endParaRPr lang="en-US" altLang="zh-CN" sz="2200" dirty="0">
              <a:latin typeface="Times New Roman" panose="02020603050405020304" pitchFamily="18" charset="0"/>
              <a:ea typeface="黑体" panose="02010609060101010101" pitchFamily="49" charset="-122"/>
              <a:cs typeface="Times New Roman" panose="02020603050405020304" pitchFamily="18" charset="0"/>
            </a:endParaRPr>
          </a:p>
          <a:p>
            <a:pPr>
              <a:spcBef>
                <a:spcPct val="20000"/>
              </a:spcBef>
              <a:buFont typeface="Wingdings" pitchFamily="2" charset="2"/>
              <a:buNone/>
            </a:pPr>
            <a:endParaRPr lang="en-US" altLang="zh-CN" sz="2200" dirty="0">
              <a:latin typeface="Times New Roman" panose="02020603050405020304" pitchFamily="18" charset="0"/>
              <a:ea typeface="黑体" panose="02010609060101010101" pitchFamily="49" charset="-122"/>
              <a:cs typeface="Times New Roman" panose="02020603050405020304" pitchFamily="18" charset="0"/>
            </a:endParaRPr>
          </a:p>
          <a:p>
            <a:pPr>
              <a:spcBef>
                <a:spcPct val="20000"/>
              </a:spcBef>
              <a:buFont typeface="Wingdings" pitchFamily="2" charset="2"/>
              <a:buNone/>
            </a:pPr>
            <a:r>
              <a:rPr lang="zh-CN" altLang="en-US" sz="2200" dirty="0">
                <a:latin typeface="Times New Roman" panose="02020603050405020304" pitchFamily="18" charset="0"/>
                <a:ea typeface="黑体" panose="02010609060101010101" pitchFamily="49" charset="-122"/>
                <a:cs typeface="Times New Roman" panose="02020603050405020304" pitchFamily="18" charset="0"/>
              </a:rPr>
              <a:t>        当</a:t>
            </a:r>
            <a:r>
              <a:rPr lang="en-US" altLang="zh-CN" sz="2200" dirty="0">
                <a:latin typeface="Times New Roman" panose="02020603050405020304" pitchFamily="18" charset="0"/>
                <a:ea typeface="黑体" panose="02010609060101010101" pitchFamily="49" charset="-122"/>
                <a:cs typeface="Times New Roman" panose="02020603050405020304" pitchFamily="18" charset="0"/>
              </a:rPr>
              <a:t>PN</a:t>
            </a:r>
            <a:r>
              <a:rPr lang="zh-CN" altLang="en-US" sz="2200" dirty="0">
                <a:latin typeface="Times New Roman" panose="02020603050405020304" pitchFamily="18" charset="0"/>
                <a:ea typeface="黑体" panose="02010609060101010101" pitchFamily="49" charset="-122"/>
                <a:cs typeface="Times New Roman" panose="02020603050405020304" pitchFamily="18" charset="0"/>
              </a:rPr>
              <a:t>结两端加上不同极性的直流电压时，其导电性能将产生很大的差异。这就是</a:t>
            </a:r>
            <a:r>
              <a:rPr lang="en-US" altLang="zh-CN" sz="22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PN</a:t>
            </a:r>
            <a:r>
              <a:rPr lang="zh-CN" altLang="en-US" sz="22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节的单向导电性</a:t>
            </a:r>
            <a:r>
              <a:rPr lang="zh-CN" altLang="en-US" sz="2200"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200" dirty="0">
                <a:latin typeface="Times New Roman" panose="02020603050405020304" pitchFamily="18" charset="0"/>
                <a:ea typeface="黑体" panose="02010609060101010101" pitchFamily="49" charset="-122"/>
                <a:cs typeface="Times New Roman" panose="02020603050405020304" pitchFamily="18" charset="0"/>
              </a:rPr>
              <a:t>P</a:t>
            </a:r>
            <a:r>
              <a:rPr lang="zh-CN" altLang="en-US" sz="2200" dirty="0">
                <a:latin typeface="Times New Roman" panose="02020603050405020304" pitchFamily="18" charset="0"/>
                <a:ea typeface="黑体" panose="02010609060101010101" pitchFamily="49" charset="-122"/>
                <a:cs typeface="Times New Roman" panose="02020603050405020304" pitchFamily="18" charset="0"/>
              </a:rPr>
              <a:t>型半导体引出的电极叫正极；</a:t>
            </a:r>
            <a:r>
              <a:rPr lang="en-US" altLang="zh-CN" sz="2200" dirty="0">
                <a:latin typeface="Times New Roman" panose="02020603050405020304" pitchFamily="18" charset="0"/>
                <a:ea typeface="黑体" panose="02010609060101010101" pitchFamily="49" charset="-122"/>
                <a:cs typeface="Times New Roman" panose="02020603050405020304" pitchFamily="18" charset="0"/>
              </a:rPr>
              <a:t>N</a:t>
            </a:r>
            <a:r>
              <a:rPr lang="zh-CN" altLang="en-US" sz="2200" dirty="0">
                <a:latin typeface="Times New Roman" panose="02020603050405020304" pitchFamily="18" charset="0"/>
                <a:ea typeface="黑体" panose="02010609060101010101" pitchFamily="49" charset="-122"/>
                <a:cs typeface="Times New Roman" panose="02020603050405020304" pitchFamily="18" charset="0"/>
              </a:rPr>
              <a:t>型半导体引出的电极叫负极。</a:t>
            </a:r>
          </a:p>
          <a:p>
            <a:pPr>
              <a:spcBef>
                <a:spcPct val="20000"/>
              </a:spcBef>
              <a:buFont typeface="Wingdings" pitchFamily="2" charset="2"/>
              <a:buNone/>
            </a:pPr>
            <a:endParaRPr lang="zh-CN" altLang="en-US" sz="2800" dirty="0">
              <a:latin typeface="宋体" pitchFamily="2" charset="-122"/>
            </a:endParaRPr>
          </a:p>
        </p:txBody>
      </p:sp>
      <p:pic>
        <p:nvPicPr>
          <p:cNvPr id="6" name="图片 5">
            <a:extLst>
              <a:ext uri="{FF2B5EF4-FFF2-40B4-BE49-F238E27FC236}">
                <a16:creationId xmlns:a16="http://schemas.microsoft.com/office/drawing/2014/main" id="{C03B0587-0702-2E05-1FBF-90DD7F57C2CC}"/>
              </a:ext>
            </a:extLst>
          </p:cNvPr>
          <p:cNvPicPr>
            <a:picLocks noChangeAspect="1"/>
          </p:cNvPicPr>
          <p:nvPr/>
        </p:nvPicPr>
        <p:blipFill>
          <a:blip r:embed="rId2"/>
          <a:stretch>
            <a:fillRect/>
          </a:stretch>
        </p:blipFill>
        <p:spPr>
          <a:xfrm>
            <a:off x="533400" y="2799650"/>
            <a:ext cx="3528763" cy="1800000"/>
          </a:xfrm>
          <a:prstGeom prst="rect">
            <a:avLst/>
          </a:prstGeom>
        </p:spPr>
      </p:pic>
      <p:pic>
        <p:nvPicPr>
          <p:cNvPr id="8" name="图片 7">
            <a:extLst>
              <a:ext uri="{FF2B5EF4-FFF2-40B4-BE49-F238E27FC236}">
                <a16:creationId xmlns:a16="http://schemas.microsoft.com/office/drawing/2014/main" id="{A96559DF-FFCE-91DF-224F-FAE3E5C19EC7}"/>
              </a:ext>
            </a:extLst>
          </p:cNvPr>
          <p:cNvPicPr>
            <a:picLocks noChangeAspect="1"/>
          </p:cNvPicPr>
          <p:nvPr/>
        </p:nvPicPr>
        <p:blipFill>
          <a:blip r:embed="rId3"/>
          <a:srcRect b="5646"/>
          <a:stretch/>
        </p:blipFill>
        <p:spPr>
          <a:xfrm>
            <a:off x="4275111" y="2814654"/>
            <a:ext cx="3933985" cy="1800000"/>
          </a:xfrm>
          <a:prstGeom prst="rect">
            <a:avLst/>
          </a:prstGeom>
        </p:spPr>
      </p:pic>
      <p:pic>
        <p:nvPicPr>
          <p:cNvPr id="4" name="图片 3">
            <a:extLst>
              <a:ext uri="{FF2B5EF4-FFF2-40B4-BE49-F238E27FC236}">
                <a16:creationId xmlns:a16="http://schemas.microsoft.com/office/drawing/2014/main" id="{86D4C6C2-6B4E-B742-85AC-5C980201C21E}"/>
              </a:ext>
            </a:extLst>
          </p:cNvPr>
          <p:cNvPicPr>
            <a:picLocks noChangeAspect="1"/>
          </p:cNvPicPr>
          <p:nvPr/>
        </p:nvPicPr>
        <p:blipFill>
          <a:blip r:embed="rId4"/>
          <a:stretch>
            <a:fillRect/>
          </a:stretch>
        </p:blipFill>
        <p:spPr>
          <a:xfrm>
            <a:off x="2618927" y="2390081"/>
            <a:ext cx="3312368" cy="849145"/>
          </a:xfrm>
          <a:prstGeom prst="rect">
            <a:avLst/>
          </a:prstGeom>
        </p:spPr>
      </p:pic>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2706" name="Picture 2"/>
          <p:cNvPicPr>
            <a:picLocks noChangeAspect="1" noChangeArrowheads="1"/>
          </p:cNvPicPr>
          <p:nvPr/>
        </p:nvPicPr>
        <p:blipFill>
          <a:blip r:embed="rId2" cstate="print"/>
          <a:srcRect/>
          <a:stretch>
            <a:fillRect/>
          </a:stretch>
        </p:blipFill>
        <p:spPr bwMode="auto">
          <a:xfrm>
            <a:off x="349025" y="3643765"/>
            <a:ext cx="2224930" cy="1440000"/>
          </a:xfrm>
          <a:prstGeom prst="rect">
            <a:avLst/>
          </a:prstGeom>
          <a:noFill/>
          <a:ln w="9525">
            <a:noFill/>
            <a:miter lim="800000"/>
            <a:headEnd/>
            <a:tailEnd/>
          </a:ln>
        </p:spPr>
      </p:pic>
      <p:sp>
        <p:nvSpPr>
          <p:cNvPr id="72707" name="Text Box 3"/>
          <p:cNvSpPr txBox="1">
            <a:spLocks noChangeArrowheads="1"/>
          </p:cNvSpPr>
          <p:nvPr/>
        </p:nvSpPr>
        <p:spPr bwMode="auto">
          <a:xfrm>
            <a:off x="556445" y="5085184"/>
            <a:ext cx="2163863" cy="523220"/>
          </a:xfrm>
          <a:prstGeom prst="rect">
            <a:avLst/>
          </a:prstGeom>
          <a:noFill/>
          <a:ln w="9525">
            <a:noFill/>
            <a:miter lim="800000"/>
            <a:headEnd/>
            <a:tailEnd/>
          </a:ln>
          <a:effectLst/>
        </p:spPr>
        <p:txBody>
          <a:bodyPr wrap="square">
            <a:spAutoFit/>
          </a:bodyPr>
          <a:lstStyle/>
          <a:p>
            <a:pPr>
              <a:spcBef>
                <a:spcPct val="50000"/>
              </a:spcBef>
            </a:pPr>
            <a:r>
              <a:rPr lang="zh-CN" altLang="en-US" sz="2800" dirty="0"/>
              <a:t>稳压二极管</a:t>
            </a:r>
          </a:p>
        </p:txBody>
      </p:sp>
      <p:pic>
        <p:nvPicPr>
          <p:cNvPr id="72708" name="Picture 4"/>
          <p:cNvPicPr>
            <a:picLocks noChangeAspect="1" noChangeArrowheads="1"/>
          </p:cNvPicPr>
          <p:nvPr/>
        </p:nvPicPr>
        <p:blipFill>
          <a:blip r:embed="rId3" cstate="print"/>
          <a:srcRect/>
          <a:stretch>
            <a:fillRect/>
          </a:stretch>
        </p:blipFill>
        <p:spPr bwMode="auto">
          <a:xfrm>
            <a:off x="5938493" y="1110479"/>
            <a:ext cx="2664078" cy="1440000"/>
          </a:xfrm>
          <a:prstGeom prst="rect">
            <a:avLst/>
          </a:prstGeom>
          <a:noFill/>
          <a:ln w="9525">
            <a:noFill/>
            <a:miter lim="800000"/>
            <a:headEnd/>
            <a:tailEnd/>
          </a:ln>
        </p:spPr>
      </p:pic>
      <p:sp>
        <p:nvSpPr>
          <p:cNvPr id="72709" name="Text Box 5"/>
          <p:cNvSpPr txBox="1">
            <a:spLocks noChangeArrowheads="1"/>
          </p:cNvSpPr>
          <p:nvPr/>
        </p:nvSpPr>
        <p:spPr bwMode="auto">
          <a:xfrm>
            <a:off x="6108077" y="2673291"/>
            <a:ext cx="2376487" cy="517525"/>
          </a:xfrm>
          <a:prstGeom prst="rect">
            <a:avLst/>
          </a:prstGeom>
          <a:noFill/>
          <a:ln w="9525">
            <a:noFill/>
            <a:miter lim="800000"/>
            <a:headEnd/>
            <a:tailEnd/>
          </a:ln>
          <a:effectLst/>
        </p:spPr>
        <p:txBody>
          <a:bodyPr>
            <a:spAutoFit/>
          </a:bodyPr>
          <a:lstStyle/>
          <a:p>
            <a:pPr>
              <a:spcBef>
                <a:spcPct val="50000"/>
              </a:spcBef>
            </a:pPr>
            <a:r>
              <a:rPr lang="zh-CN" altLang="en-US" sz="2800" dirty="0"/>
              <a:t>变容二极管</a:t>
            </a:r>
          </a:p>
        </p:txBody>
      </p:sp>
      <p:pic>
        <p:nvPicPr>
          <p:cNvPr id="72710" name="Picture 6"/>
          <p:cNvPicPr>
            <a:picLocks noChangeAspect="1" noChangeArrowheads="1"/>
          </p:cNvPicPr>
          <p:nvPr/>
        </p:nvPicPr>
        <p:blipFill>
          <a:blip r:embed="rId4" cstate="print"/>
          <a:srcRect/>
          <a:stretch>
            <a:fillRect/>
          </a:stretch>
        </p:blipFill>
        <p:spPr bwMode="auto">
          <a:xfrm>
            <a:off x="3257740" y="3626379"/>
            <a:ext cx="2016508" cy="1440000"/>
          </a:xfrm>
          <a:prstGeom prst="rect">
            <a:avLst/>
          </a:prstGeom>
          <a:noFill/>
          <a:ln w="9525">
            <a:noFill/>
            <a:miter lim="800000"/>
            <a:headEnd/>
            <a:tailEnd/>
          </a:ln>
        </p:spPr>
      </p:pic>
      <p:sp>
        <p:nvSpPr>
          <p:cNvPr id="72711" name="Text Box 7"/>
          <p:cNvSpPr txBox="1">
            <a:spLocks noChangeArrowheads="1"/>
          </p:cNvSpPr>
          <p:nvPr/>
        </p:nvSpPr>
        <p:spPr bwMode="auto">
          <a:xfrm>
            <a:off x="2939229" y="5105269"/>
            <a:ext cx="3168848" cy="523220"/>
          </a:xfrm>
          <a:prstGeom prst="rect">
            <a:avLst/>
          </a:prstGeom>
          <a:noFill/>
          <a:ln w="9525">
            <a:noFill/>
            <a:miter lim="800000"/>
            <a:headEnd/>
            <a:tailEnd/>
          </a:ln>
          <a:effectLst/>
        </p:spPr>
        <p:txBody>
          <a:bodyPr wrap="square">
            <a:spAutoFit/>
          </a:bodyPr>
          <a:lstStyle/>
          <a:p>
            <a:pPr>
              <a:spcBef>
                <a:spcPct val="50000"/>
              </a:spcBef>
            </a:pPr>
            <a:r>
              <a:rPr lang="zh-CN" altLang="en-US" sz="2800" dirty="0"/>
              <a:t>双向击穿二极管</a:t>
            </a:r>
          </a:p>
        </p:txBody>
      </p:sp>
      <p:pic>
        <p:nvPicPr>
          <p:cNvPr id="72712" name="Picture 8"/>
          <p:cNvPicPr>
            <a:picLocks noChangeAspect="1" noChangeArrowheads="1"/>
          </p:cNvPicPr>
          <p:nvPr/>
        </p:nvPicPr>
        <p:blipFill>
          <a:blip r:embed="rId5" cstate="print"/>
          <a:srcRect/>
          <a:stretch>
            <a:fillRect/>
          </a:stretch>
        </p:blipFill>
        <p:spPr bwMode="auto">
          <a:xfrm>
            <a:off x="6220614" y="3635072"/>
            <a:ext cx="2099836" cy="1440000"/>
          </a:xfrm>
          <a:prstGeom prst="rect">
            <a:avLst/>
          </a:prstGeom>
          <a:noFill/>
          <a:ln w="9525">
            <a:noFill/>
            <a:miter lim="800000"/>
            <a:headEnd/>
            <a:tailEnd/>
          </a:ln>
        </p:spPr>
      </p:pic>
      <p:sp>
        <p:nvSpPr>
          <p:cNvPr id="72713" name="Text Box 9"/>
          <p:cNvSpPr txBox="1">
            <a:spLocks noChangeArrowheads="1"/>
          </p:cNvSpPr>
          <p:nvPr/>
        </p:nvSpPr>
        <p:spPr bwMode="auto">
          <a:xfrm>
            <a:off x="6295918" y="5085184"/>
            <a:ext cx="2376487" cy="523220"/>
          </a:xfrm>
          <a:prstGeom prst="rect">
            <a:avLst/>
          </a:prstGeom>
          <a:noFill/>
          <a:ln w="9525">
            <a:noFill/>
            <a:miter lim="800000"/>
            <a:headEnd/>
            <a:tailEnd/>
          </a:ln>
          <a:effectLst/>
        </p:spPr>
        <p:txBody>
          <a:bodyPr wrap="square">
            <a:spAutoFit/>
          </a:bodyPr>
          <a:lstStyle/>
          <a:p>
            <a:pPr>
              <a:spcBef>
                <a:spcPct val="50000"/>
              </a:spcBef>
            </a:pPr>
            <a:r>
              <a:rPr lang="zh-CN" altLang="en-US" sz="2800" dirty="0"/>
              <a:t>双向二极管</a:t>
            </a:r>
          </a:p>
        </p:txBody>
      </p:sp>
      <p:sp>
        <p:nvSpPr>
          <p:cNvPr id="2" name="灯片编号占位符 1">
            <a:extLst>
              <a:ext uri="{FF2B5EF4-FFF2-40B4-BE49-F238E27FC236}">
                <a16:creationId xmlns:a16="http://schemas.microsoft.com/office/drawing/2014/main" id="{DE5D9678-E56B-37B3-A21A-AFFA19928BBF}"/>
              </a:ext>
            </a:extLst>
          </p:cNvPr>
          <p:cNvSpPr>
            <a:spLocks noGrp="1"/>
          </p:cNvSpPr>
          <p:nvPr>
            <p:ph type="sldNum" sz="quarter" idx="12"/>
          </p:nvPr>
        </p:nvSpPr>
        <p:spPr/>
        <p:txBody>
          <a:bodyPr/>
          <a:lstStyle/>
          <a:p>
            <a:pPr>
              <a:defRPr/>
            </a:pPr>
            <a:fld id="{5FAFB815-62BA-464E-901C-79D108092E38}" type="slidenum">
              <a:rPr lang="zh-CN" altLang="en-US" smtClean="0"/>
              <a:pPr>
                <a:defRPr/>
              </a:pPr>
              <a:t>62</a:t>
            </a:fld>
            <a:endParaRPr lang="en-US" altLang="zh-CN"/>
          </a:p>
        </p:txBody>
      </p:sp>
      <p:sp>
        <p:nvSpPr>
          <p:cNvPr id="4" name="文本框 3">
            <a:extLst>
              <a:ext uri="{FF2B5EF4-FFF2-40B4-BE49-F238E27FC236}">
                <a16:creationId xmlns:a16="http://schemas.microsoft.com/office/drawing/2014/main" id="{387FBB44-1B92-6863-B37D-86BF283056D4}"/>
              </a:ext>
            </a:extLst>
          </p:cNvPr>
          <p:cNvSpPr txBox="1"/>
          <p:nvPr/>
        </p:nvSpPr>
        <p:spPr>
          <a:xfrm>
            <a:off x="410369" y="182267"/>
            <a:ext cx="4578350" cy="365421"/>
          </a:xfrm>
          <a:prstGeom prst="rect">
            <a:avLst/>
          </a:prstGeom>
          <a:noFill/>
        </p:spPr>
        <p:txBody>
          <a:bodyPr wrap="square">
            <a:spAutoFit/>
          </a:bodyPr>
          <a:lstStyle/>
          <a:p>
            <a:pPr marL="228600" indent="-228600" defTabSz="685800">
              <a:lnSpc>
                <a:spcPct val="104000"/>
              </a:lnSpc>
              <a:spcBef>
                <a:spcPts val="600"/>
              </a:spcBef>
              <a:buClr>
                <a:schemeClr val="accent1"/>
              </a:buClr>
              <a:buSzPct val="100000"/>
            </a:pPr>
            <a:r>
              <a:rPr lang="en-US" altLang="zh-CN" sz="1800" b="1" dirty="0">
                <a:solidFill>
                  <a:schemeClr val="accent1"/>
                </a:solidFill>
                <a:latin typeface="宋体" pitchFamily="2" charset="-122"/>
              </a:rPr>
              <a:t>2.</a:t>
            </a:r>
            <a:r>
              <a:rPr lang="zh-CN" altLang="en-US" sz="1800" b="1" dirty="0">
                <a:solidFill>
                  <a:schemeClr val="accent1"/>
                </a:solidFill>
                <a:latin typeface="宋体" pitchFamily="2" charset="-122"/>
              </a:rPr>
              <a:t>二极管的符号：</a:t>
            </a:r>
          </a:p>
        </p:txBody>
      </p:sp>
      <p:pic>
        <p:nvPicPr>
          <p:cNvPr id="5" name="Picture 7">
            <a:extLst>
              <a:ext uri="{FF2B5EF4-FFF2-40B4-BE49-F238E27FC236}">
                <a16:creationId xmlns:a16="http://schemas.microsoft.com/office/drawing/2014/main" id="{4AE31249-E18D-4AA3-D52A-B6F87DD3A53E}"/>
              </a:ext>
            </a:extLst>
          </p:cNvPr>
          <p:cNvPicPr>
            <a:picLocks noChangeAspect="1" noChangeArrowheads="1"/>
          </p:cNvPicPr>
          <p:nvPr/>
        </p:nvPicPr>
        <p:blipFill>
          <a:blip r:embed="rId6" cstate="print"/>
          <a:srcRect/>
          <a:stretch>
            <a:fillRect/>
          </a:stretch>
        </p:blipFill>
        <p:spPr bwMode="auto">
          <a:xfrm>
            <a:off x="452378" y="1171091"/>
            <a:ext cx="2121577" cy="1440000"/>
          </a:xfrm>
          <a:prstGeom prst="rect">
            <a:avLst/>
          </a:prstGeom>
          <a:noFill/>
          <a:ln w="9525">
            <a:noFill/>
            <a:miter lim="800000"/>
            <a:headEnd/>
            <a:tailEnd/>
          </a:ln>
        </p:spPr>
      </p:pic>
      <p:sp>
        <p:nvSpPr>
          <p:cNvPr id="6" name="Text Box 8">
            <a:extLst>
              <a:ext uri="{FF2B5EF4-FFF2-40B4-BE49-F238E27FC236}">
                <a16:creationId xmlns:a16="http://schemas.microsoft.com/office/drawing/2014/main" id="{E313343F-D404-E59F-60E5-F09DD0A162E0}"/>
              </a:ext>
            </a:extLst>
          </p:cNvPr>
          <p:cNvSpPr txBox="1">
            <a:spLocks noChangeArrowheads="1"/>
          </p:cNvSpPr>
          <p:nvPr/>
        </p:nvSpPr>
        <p:spPr bwMode="auto">
          <a:xfrm>
            <a:off x="467519" y="2760171"/>
            <a:ext cx="2232025" cy="523220"/>
          </a:xfrm>
          <a:prstGeom prst="rect">
            <a:avLst/>
          </a:prstGeom>
          <a:noFill/>
          <a:ln w="9525">
            <a:noFill/>
            <a:miter lim="800000"/>
            <a:headEnd/>
            <a:tailEnd/>
          </a:ln>
          <a:effectLst/>
        </p:spPr>
        <p:txBody>
          <a:bodyPr wrap="square">
            <a:spAutoFit/>
          </a:bodyPr>
          <a:lstStyle/>
          <a:p>
            <a:pPr>
              <a:spcBef>
                <a:spcPct val="50000"/>
              </a:spcBef>
            </a:pPr>
            <a:r>
              <a:rPr lang="zh-CN" altLang="en-US" sz="2800" dirty="0"/>
              <a:t>普通二极管</a:t>
            </a:r>
          </a:p>
        </p:txBody>
      </p:sp>
      <p:pic>
        <p:nvPicPr>
          <p:cNvPr id="7" name="Picture 9">
            <a:extLst>
              <a:ext uri="{FF2B5EF4-FFF2-40B4-BE49-F238E27FC236}">
                <a16:creationId xmlns:a16="http://schemas.microsoft.com/office/drawing/2014/main" id="{5A0CD85F-121C-BE1A-D5D1-0B53BDCE9A2B}"/>
              </a:ext>
            </a:extLst>
          </p:cNvPr>
          <p:cNvPicPr>
            <a:picLocks noChangeAspect="1" noChangeArrowheads="1"/>
          </p:cNvPicPr>
          <p:nvPr/>
        </p:nvPicPr>
        <p:blipFill>
          <a:blip r:embed="rId7" cstate="print"/>
          <a:srcRect/>
          <a:stretch>
            <a:fillRect/>
          </a:stretch>
        </p:blipFill>
        <p:spPr bwMode="auto">
          <a:xfrm>
            <a:off x="2942781" y="1110243"/>
            <a:ext cx="2423944" cy="1440000"/>
          </a:xfrm>
          <a:prstGeom prst="rect">
            <a:avLst/>
          </a:prstGeom>
          <a:noFill/>
          <a:ln w="9525">
            <a:noFill/>
            <a:miter lim="800000"/>
            <a:headEnd/>
            <a:tailEnd/>
          </a:ln>
        </p:spPr>
      </p:pic>
      <p:sp>
        <p:nvSpPr>
          <p:cNvPr id="8" name="Text Box 10">
            <a:extLst>
              <a:ext uri="{FF2B5EF4-FFF2-40B4-BE49-F238E27FC236}">
                <a16:creationId xmlns:a16="http://schemas.microsoft.com/office/drawing/2014/main" id="{873BA262-D0F9-8941-926B-311BA8407BDB}"/>
              </a:ext>
            </a:extLst>
          </p:cNvPr>
          <p:cNvSpPr txBox="1">
            <a:spLocks noChangeArrowheads="1"/>
          </p:cNvSpPr>
          <p:nvPr/>
        </p:nvSpPr>
        <p:spPr bwMode="auto">
          <a:xfrm>
            <a:off x="3228316" y="2760171"/>
            <a:ext cx="2075356" cy="523220"/>
          </a:xfrm>
          <a:prstGeom prst="rect">
            <a:avLst/>
          </a:prstGeom>
          <a:noFill/>
          <a:ln w="9525">
            <a:noFill/>
            <a:miter lim="800000"/>
            <a:headEnd/>
            <a:tailEnd/>
          </a:ln>
          <a:effectLst/>
        </p:spPr>
        <p:txBody>
          <a:bodyPr wrap="square">
            <a:spAutoFit/>
          </a:bodyPr>
          <a:lstStyle/>
          <a:p>
            <a:pPr>
              <a:spcBef>
                <a:spcPct val="50000"/>
              </a:spcBef>
            </a:pPr>
            <a:r>
              <a:rPr lang="zh-CN" altLang="en-US" sz="2800" dirty="0"/>
              <a:t>发光二极管</a:t>
            </a:r>
          </a:p>
        </p:txBody>
      </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a:xfrm>
            <a:off x="468313" y="250825"/>
            <a:ext cx="8229600" cy="1384300"/>
          </a:xfrm>
        </p:spPr>
        <p:txBody>
          <a:bodyPr/>
          <a:lstStyle/>
          <a:p>
            <a:pPr marL="228600" indent="-228600">
              <a:lnSpc>
                <a:spcPct val="104000"/>
              </a:lnSpc>
              <a:spcBef>
                <a:spcPts val="600"/>
              </a:spcBef>
              <a:buClr>
                <a:schemeClr val="accent1"/>
              </a:buClr>
              <a:buSzPct val="100000"/>
            </a:pPr>
            <a:r>
              <a:rPr lang="en-US" sz="2200" b="1" dirty="0">
                <a:solidFill>
                  <a:schemeClr val="accent1"/>
                </a:solidFill>
                <a:latin typeface="宋体" pitchFamily="2" charset="-122"/>
                <a:ea typeface="+mn-ea"/>
                <a:cs typeface="+mn-cs"/>
              </a:rPr>
              <a:t>3.</a:t>
            </a:r>
            <a:r>
              <a:rPr lang="zh-CN" altLang="en-US" sz="2200" b="1" dirty="0">
                <a:solidFill>
                  <a:schemeClr val="accent1"/>
                </a:solidFill>
                <a:latin typeface="宋体" pitchFamily="2" charset="-122"/>
                <a:ea typeface="+mn-ea"/>
                <a:cs typeface="+mn-cs"/>
              </a:rPr>
              <a:t>二极管的分类和类型 </a:t>
            </a:r>
          </a:p>
        </p:txBody>
      </p:sp>
      <p:sp>
        <p:nvSpPr>
          <p:cNvPr id="73731" name="Rectangle 3"/>
          <p:cNvSpPr>
            <a:spLocks noGrp="1" noChangeArrowheads="1"/>
          </p:cNvSpPr>
          <p:nvPr>
            <p:ph idx="1"/>
          </p:nvPr>
        </p:nvSpPr>
        <p:spPr>
          <a:xfrm>
            <a:off x="219536" y="913278"/>
            <a:ext cx="8435975" cy="5036001"/>
          </a:xfrm>
        </p:spPr>
        <p:txBody>
          <a:bodyPr>
            <a:normAutofit/>
          </a:bodyPr>
          <a:lstStyle/>
          <a:p>
            <a:pPr>
              <a:buFont typeface="Wingdings" pitchFamily="2" charset="2"/>
              <a:buNone/>
            </a:pPr>
            <a:r>
              <a:rPr lang="zh-CN" dirty="0"/>
              <a:t>  </a:t>
            </a:r>
            <a:r>
              <a:rPr lang="zh-CN" sz="2400" dirty="0"/>
              <a:t>       </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二极管种类有很多：</a:t>
            </a:r>
            <a:endParaRPr lang="en-US" altLang="zh-CN" sz="2400" dirty="0">
              <a:latin typeface="Times New Roman" panose="02020603050405020304" pitchFamily="18" charset="0"/>
              <a:ea typeface="黑体" panose="02010609060101010101" pitchFamily="49" charset="-122"/>
              <a:cs typeface="Times New Roman" panose="02020603050405020304" pitchFamily="18" charset="0"/>
            </a:endParaRPr>
          </a:p>
          <a:p>
            <a:pPr>
              <a:buFont typeface="Wingdings" panose="05000000000000000000" pitchFamily="2" charset="2"/>
              <a:buChar char="Ø"/>
            </a:pP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    </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按照所用的</a:t>
            </a:r>
            <a:r>
              <a:rPr lang="zh-CN" altLang="en-US" sz="24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半导体材料</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，可分为锗二极管（</a:t>
            </a:r>
            <a:r>
              <a:rPr lang="en-US" sz="2400" dirty="0">
                <a:latin typeface="Times New Roman" panose="02020603050405020304" pitchFamily="18" charset="0"/>
                <a:ea typeface="黑体" panose="02010609060101010101" pitchFamily="49" charset="-122"/>
                <a:cs typeface="Times New Roman" panose="02020603050405020304" pitchFamily="18" charset="0"/>
              </a:rPr>
              <a:t>Ge</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管）和硅二极管（</a:t>
            </a:r>
            <a:r>
              <a:rPr lang="en-US" sz="2400" dirty="0">
                <a:latin typeface="Times New Roman" panose="02020603050405020304" pitchFamily="18" charset="0"/>
                <a:ea typeface="黑体" panose="02010609060101010101" pitchFamily="49" charset="-122"/>
                <a:cs typeface="Times New Roman" panose="02020603050405020304" pitchFamily="18" charset="0"/>
              </a:rPr>
              <a:t>Si</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管）。</a:t>
            </a:r>
            <a:endParaRPr lang="en-US" altLang="zh-CN" sz="2400" dirty="0">
              <a:latin typeface="Times New Roman" panose="02020603050405020304" pitchFamily="18" charset="0"/>
              <a:ea typeface="黑体" panose="02010609060101010101" pitchFamily="49" charset="-122"/>
              <a:cs typeface="Times New Roman" panose="02020603050405020304" pitchFamily="18" charset="0"/>
            </a:endParaRPr>
          </a:p>
          <a:p>
            <a:pPr>
              <a:buFont typeface="Wingdings" panose="05000000000000000000" pitchFamily="2" charset="2"/>
              <a:buChar char="Ø"/>
            </a:pP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   </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根据其</a:t>
            </a:r>
            <a:r>
              <a:rPr lang="zh-CN" altLang="en-US" sz="24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不同用途</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，可分为检波二极管、整流二极管、稳压二极 管、开关二极管、光敏二极管、发光二极管、贴片变容二极管等。</a:t>
            </a:r>
            <a:endParaRPr lang="en-US" altLang="zh-CN" sz="2400" dirty="0">
              <a:latin typeface="Times New Roman" panose="02020603050405020304" pitchFamily="18" charset="0"/>
              <a:ea typeface="黑体" panose="02010609060101010101" pitchFamily="49" charset="-122"/>
              <a:cs typeface="Times New Roman" panose="02020603050405020304" pitchFamily="18" charset="0"/>
            </a:endParaRPr>
          </a:p>
          <a:p>
            <a:pPr>
              <a:buFont typeface="Wingdings" panose="05000000000000000000" pitchFamily="2" charset="2"/>
              <a:buChar char="Ø"/>
            </a:pPr>
            <a:r>
              <a:rPr lang="en-US" altLang="zh-CN" sz="2400" dirty="0">
                <a:latin typeface="Times New Roman" panose="02020603050405020304" pitchFamily="18" charset="0"/>
                <a:ea typeface="黑体" panose="02010609060101010101" pitchFamily="49" charset="-122"/>
                <a:cs typeface="Times New Roman" panose="02020603050405020304" pitchFamily="18" charset="0"/>
              </a:rPr>
              <a:t>    </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按照</a:t>
            </a:r>
            <a:r>
              <a:rPr lang="zh-CN" altLang="en-US" sz="24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管芯结构</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，又可分为点接触型二极管、面接触型二极管及平面型二极管。</a:t>
            </a:r>
            <a:endParaRPr lang="en-US" altLang="zh-CN" sz="2400" dirty="0">
              <a:latin typeface="Times New Roman" panose="02020603050405020304" pitchFamily="18" charset="0"/>
              <a:ea typeface="黑体" panose="02010609060101010101" pitchFamily="49" charset="-122"/>
              <a:cs typeface="Times New Roman" panose="02020603050405020304" pitchFamily="18" charset="0"/>
            </a:endParaRPr>
          </a:p>
          <a:p>
            <a:pPr>
              <a:buFont typeface="Wingdings" panose="05000000000000000000" pitchFamily="2" charset="2"/>
              <a:buChar char="Ø"/>
            </a:pP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    根据</a:t>
            </a:r>
            <a:r>
              <a:rPr lang="zh-CN" altLang="en-US" sz="2400" b="1"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制作工艺</a:t>
            </a:r>
            <a:r>
              <a:rPr lang="zh-CN" altLang="en-US" sz="2400" dirty="0">
                <a:latin typeface="Times New Roman" panose="02020603050405020304" pitchFamily="18" charset="0"/>
                <a:ea typeface="黑体" panose="02010609060101010101" pitchFamily="49" charset="-122"/>
                <a:cs typeface="Times New Roman" panose="02020603050405020304" pitchFamily="18" charset="0"/>
              </a:rPr>
              <a:t>，面接触型、点接触型。</a:t>
            </a:r>
          </a:p>
        </p:txBody>
      </p:sp>
      <p:sp>
        <p:nvSpPr>
          <p:cNvPr id="2" name="灯片编号占位符 1">
            <a:extLst>
              <a:ext uri="{FF2B5EF4-FFF2-40B4-BE49-F238E27FC236}">
                <a16:creationId xmlns:a16="http://schemas.microsoft.com/office/drawing/2014/main" id="{600D2F9A-24E1-4FF5-78FC-77ED58F9910F}"/>
              </a:ext>
            </a:extLst>
          </p:cNvPr>
          <p:cNvSpPr>
            <a:spLocks noGrp="1"/>
          </p:cNvSpPr>
          <p:nvPr>
            <p:ph type="sldNum" sz="quarter" idx="12"/>
          </p:nvPr>
        </p:nvSpPr>
        <p:spPr/>
        <p:txBody>
          <a:bodyPr/>
          <a:lstStyle/>
          <a:p>
            <a:pPr>
              <a:defRPr/>
            </a:pPr>
            <a:fld id="{5FAFB815-62BA-464E-901C-79D108092E38}" type="slidenum">
              <a:rPr lang="zh-CN" altLang="en-US" smtClean="0"/>
              <a:pPr>
                <a:defRPr/>
              </a:pPr>
              <a:t>63</a:t>
            </a:fld>
            <a:endParaRPr lang="en-US" altLang="zh-CN"/>
          </a:p>
        </p:txBody>
      </p:sp>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ext Box 2"/>
          <p:cNvSpPr txBox="1">
            <a:spLocks noChangeArrowheads="1"/>
          </p:cNvSpPr>
          <p:nvPr/>
        </p:nvSpPr>
        <p:spPr bwMode="auto">
          <a:xfrm>
            <a:off x="179512" y="980728"/>
            <a:ext cx="8964488" cy="5084533"/>
          </a:xfrm>
          <a:prstGeom prst="rect">
            <a:avLst/>
          </a:prstGeom>
          <a:noFill/>
          <a:ln w="9525">
            <a:noFill/>
            <a:miter lim="800000"/>
            <a:headEnd/>
            <a:tailEnd/>
          </a:ln>
          <a:effectLst/>
        </p:spPr>
        <p:txBody>
          <a:bodyPr wrap="square">
            <a:spAutoFit/>
          </a:bodyPr>
          <a:lstStyle/>
          <a:p>
            <a:pPr>
              <a:lnSpc>
                <a:spcPct val="114000"/>
              </a:lnSpc>
              <a:spcBef>
                <a:spcPct val="50000"/>
              </a:spcBef>
            </a:pP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1</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）正向特性 </a:t>
            </a:r>
          </a:p>
          <a:p>
            <a:pPr>
              <a:lnSpc>
                <a:spcPct val="114000"/>
              </a:lnSpc>
              <a:spcBef>
                <a:spcPct val="50000"/>
              </a:spcBef>
            </a:pP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        在电子电路中，将二极管的正极接在高电位端，负极接在低电位端，二极管就会导通，这种连接方式，称为正向偏置。必须说明，当加在二极管两端的正向电压很小时，二极管仍然不能导通，流过二极管的正向电流十分微弱。只有当正向电压达到某一数值（这一数值称为“门槛电压”，锗管约为</a:t>
            </a:r>
            <a:r>
              <a:rPr lang="en-US" sz="2000" dirty="0">
                <a:latin typeface="Times New Roman" panose="02020603050405020304" pitchFamily="18" charset="0"/>
                <a:ea typeface="黑体" panose="02010609060101010101" pitchFamily="49" charset="-122"/>
                <a:cs typeface="Times New Roman" panose="02020603050405020304" pitchFamily="18" charset="0"/>
              </a:rPr>
              <a:t>0.2V</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，硅管约为</a:t>
            </a:r>
            <a:r>
              <a:rPr lang="en-US" sz="2000" dirty="0">
                <a:latin typeface="Times New Roman" panose="02020603050405020304" pitchFamily="18" charset="0"/>
                <a:ea typeface="黑体" panose="02010609060101010101" pitchFamily="49" charset="-122"/>
                <a:cs typeface="Times New Roman" panose="02020603050405020304" pitchFamily="18" charset="0"/>
              </a:rPr>
              <a:t>0.6V</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）以后，二极管才能真正导通。</a:t>
            </a:r>
            <a:r>
              <a:rPr lang="zh-CN" altLang="en-US" sz="200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导通后二极管两端的电压基本上保持不变（锗管约为</a:t>
            </a:r>
            <a:r>
              <a:rPr lang="en-US" sz="200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0.3V</a:t>
            </a:r>
            <a:r>
              <a:rPr lang="zh-CN" altLang="en-US" sz="200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，硅管约为</a:t>
            </a:r>
            <a:r>
              <a:rPr lang="en-US" sz="200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0.7V</a:t>
            </a:r>
            <a:r>
              <a:rPr lang="zh-CN" altLang="en-US" sz="2000" dirty="0">
                <a:solidFill>
                  <a:srgbClr val="C00000"/>
                </a:solidFill>
                <a:latin typeface="Times New Roman" panose="02020603050405020304" pitchFamily="18" charset="0"/>
                <a:ea typeface="黑体" panose="02010609060101010101" pitchFamily="49" charset="-122"/>
                <a:cs typeface="Times New Roman" panose="02020603050405020304" pitchFamily="18" charset="0"/>
              </a:rPr>
              <a:t>），称为二极管的“正向压降”</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 </a:t>
            </a:r>
            <a:endParaRPr lang="en-US" altLang="zh-CN" sz="2000" dirty="0">
              <a:latin typeface="Times New Roman" panose="02020603050405020304" pitchFamily="18" charset="0"/>
              <a:ea typeface="黑体" panose="02010609060101010101" pitchFamily="49" charset="-122"/>
              <a:cs typeface="Times New Roman" panose="02020603050405020304" pitchFamily="18" charset="0"/>
            </a:endParaRPr>
          </a:p>
          <a:p>
            <a:pPr>
              <a:lnSpc>
                <a:spcPct val="114000"/>
              </a:lnSpc>
              <a:spcBef>
                <a:spcPct val="50000"/>
              </a:spcBef>
            </a:pP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sz="2000" dirty="0">
                <a:latin typeface="Times New Roman" panose="02020603050405020304" pitchFamily="18" charset="0"/>
                <a:ea typeface="黑体" panose="02010609060101010101" pitchFamily="49" charset="-122"/>
                <a:cs typeface="Times New Roman" panose="02020603050405020304" pitchFamily="18" charset="0"/>
              </a:rPr>
              <a:t>2</a:t>
            </a: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）反向特性</a:t>
            </a:r>
          </a:p>
          <a:p>
            <a:pPr>
              <a:lnSpc>
                <a:spcPct val="114000"/>
              </a:lnSpc>
              <a:spcBef>
                <a:spcPct val="50000"/>
              </a:spcBef>
            </a:pPr>
            <a:r>
              <a:rPr lang="zh-CN" altLang="en-US" sz="2000" dirty="0">
                <a:latin typeface="Times New Roman" panose="02020603050405020304" pitchFamily="18" charset="0"/>
                <a:ea typeface="黑体" panose="02010609060101010101" pitchFamily="49" charset="-122"/>
                <a:cs typeface="Times New Roman" panose="02020603050405020304" pitchFamily="18" charset="0"/>
              </a:rPr>
              <a:t>        在电子电路中，二极管的正极接在低电位端，负极接在高电位端，此时二极管中几乎没有电流流过，此时二极管处于截止状态，这种连接方式，称为反向偏置。二极管处于反向偏置时，仍然会有微弱的反向电流流过二极管，称为漏电流。当二极管两端的反向电压增大到某一数值，反向电流会急剧增大，二极管将失去单方向导电特性，这种状态称为二极管的击穿。 </a:t>
            </a:r>
          </a:p>
        </p:txBody>
      </p:sp>
      <p:sp>
        <p:nvSpPr>
          <p:cNvPr id="74755" name="Text Box 3"/>
          <p:cNvSpPr txBox="1">
            <a:spLocks noChangeArrowheads="1"/>
          </p:cNvSpPr>
          <p:nvPr/>
        </p:nvSpPr>
        <p:spPr bwMode="auto">
          <a:xfrm>
            <a:off x="179512" y="170448"/>
            <a:ext cx="5400675" cy="426142"/>
          </a:xfrm>
          <a:prstGeom prst="rect">
            <a:avLst/>
          </a:prstGeom>
          <a:noFill/>
          <a:ln w="9525">
            <a:noFill/>
            <a:miter lim="800000"/>
            <a:headEnd/>
            <a:tailEnd/>
          </a:ln>
          <a:effectLst/>
        </p:spPr>
        <p:txBody>
          <a:bodyPr>
            <a:spAutoFit/>
          </a:bodyPr>
          <a:lstStyle/>
          <a:p>
            <a:pPr marL="228600" indent="-228600" defTabSz="685800">
              <a:lnSpc>
                <a:spcPct val="104000"/>
              </a:lnSpc>
              <a:spcBef>
                <a:spcPts val="600"/>
              </a:spcBef>
              <a:buClr>
                <a:schemeClr val="accent1"/>
              </a:buClr>
              <a:buSzPct val="100000"/>
            </a:pPr>
            <a:r>
              <a:rPr lang="en-US" sz="2200" b="1" dirty="0">
                <a:solidFill>
                  <a:schemeClr val="accent1"/>
                </a:solidFill>
                <a:latin typeface="宋体" pitchFamily="2" charset="-122"/>
              </a:rPr>
              <a:t>4. </a:t>
            </a:r>
            <a:r>
              <a:rPr lang="zh-CN" altLang="en-US" sz="2200" b="1" dirty="0">
                <a:solidFill>
                  <a:schemeClr val="accent1"/>
                </a:solidFill>
                <a:latin typeface="宋体" pitchFamily="2" charset="-122"/>
              </a:rPr>
              <a:t>二极管的导电特性</a:t>
            </a:r>
          </a:p>
        </p:txBody>
      </p:sp>
      <p:sp>
        <p:nvSpPr>
          <p:cNvPr id="2" name="灯片编号占位符 1">
            <a:extLst>
              <a:ext uri="{FF2B5EF4-FFF2-40B4-BE49-F238E27FC236}">
                <a16:creationId xmlns:a16="http://schemas.microsoft.com/office/drawing/2014/main" id="{A28F998E-CA1F-EEC9-2FA1-117E4C1F6193}"/>
              </a:ext>
            </a:extLst>
          </p:cNvPr>
          <p:cNvSpPr>
            <a:spLocks noGrp="1"/>
          </p:cNvSpPr>
          <p:nvPr>
            <p:ph type="sldNum" sz="quarter" idx="12"/>
          </p:nvPr>
        </p:nvSpPr>
        <p:spPr/>
        <p:txBody>
          <a:bodyPr/>
          <a:lstStyle/>
          <a:p>
            <a:pPr>
              <a:defRPr/>
            </a:pPr>
            <a:fld id="{5FAFB815-62BA-464E-901C-79D108092E38}" type="slidenum">
              <a:rPr lang="zh-CN" altLang="en-US" smtClean="0"/>
              <a:pPr>
                <a:defRPr/>
              </a:pPr>
              <a:t>64</a:t>
            </a:fld>
            <a:endParaRPr lang="en-US" altLang="zh-CN"/>
          </a:p>
        </p:txBody>
      </p:sp>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ChangeArrowheads="1"/>
          </p:cNvSpPr>
          <p:nvPr/>
        </p:nvSpPr>
        <p:spPr bwMode="auto">
          <a:xfrm>
            <a:off x="392672" y="99554"/>
            <a:ext cx="2869696" cy="426142"/>
          </a:xfrm>
          <a:prstGeom prst="rect">
            <a:avLst/>
          </a:prstGeom>
          <a:noFill/>
          <a:ln w="9525">
            <a:noFill/>
            <a:miter lim="800000"/>
            <a:headEnd/>
            <a:tailEnd/>
          </a:ln>
          <a:effectLst/>
        </p:spPr>
        <p:txBody>
          <a:bodyPr>
            <a:spAutoFit/>
          </a:bodyPr>
          <a:lstStyle/>
          <a:p>
            <a:pPr marL="228600" indent="-228600" defTabSz="685800">
              <a:lnSpc>
                <a:spcPct val="104000"/>
              </a:lnSpc>
              <a:spcBef>
                <a:spcPts val="600"/>
              </a:spcBef>
              <a:buClr>
                <a:schemeClr val="accent1"/>
              </a:buClr>
              <a:buSzPct val="100000"/>
            </a:pPr>
            <a:r>
              <a:rPr lang="en-US" sz="2200" b="1" dirty="0">
                <a:solidFill>
                  <a:schemeClr val="accent1"/>
                </a:solidFill>
                <a:latin typeface="宋体" pitchFamily="2" charset="-122"/>
              </a:rPr>
              <a:t>5. </a:t>
            </a:r>
            <a:r>
              <a:rPr lang="zh-CN" altLang="en-US" sz="2200" b="1" dirty="0">
                <a:solidFill>
                  <a:schemeClr val="accent1"/>
                </a:solidFill>
                <a:latin typeface="宋体" pitchFamily="2" charset="-122"/>
              </a:rPr>
              <a:t>二极管的主要参数</a:t>
            </a:r>
          </a:p>
        </p:txBody>
      </p:sp>
      <p:sp>
        <p:nvSpPr>
          <p:cNvPr id="76803" name="Text Box 3"/>
          <p:cNvSpPr txBox="1">
            <a:spLocks noChangeArrowheads="1"/>
          </p:cNvSpPr>
          <p:nvPr/>
        </p:nvSpPr>
        <p:spPr bwMode="auto">
          <a:xfrm>
            <a:off x="611188" y="1268413"/>
            <a:ext cx="8208962" cy="366712"/>
          </a:xfrm>
          <a:prstGeom prst="rect">
            <a:avLst/>
          </a:prstGeom>
          <a:noFill/>
          <a:ln w="9525">
            <a:noFill/>
            <a:miter lim="800000"/>
            <a:headEnd/>
            <a:tailEnd/>
          </a:ln>
          <a:effectLst/>
        </p:spPr>
        <p:txBody>
          <a:bodyPr>
            <a:spAutoFit/>
          </a:bodyPr>
          <a:lstStyle/>
          <a:p>
            <a:pPr>
              <a:spcBef>
                <a:spcPct val="50000"/>
              </a:spcBef>
            </a:pPr>
            <a:endParaRPr lang="zh-CN" altLang="en-US" sz="1800"/>
          </a:p>
        </p:txBody>
      </p:sp>
      <p:sp>
        <p:nvSpPr>
          <p:cNvPr id="76804" name="Text Box 4"/>
          <p:cNvSpPr txBox="1">
            <a:spLocks noChangeArrowheads="1"/>
          </p:cNvSpPr>
          <p:nvPr/>
        </p:nvSpPr>
        <p:spPr bwMode="auto">
          <a:xfrm>
            <a:off x="0" y="836712"/>
            <a:ext cx="9374048" cy="6001643"/>
          </a:xfrm>
          <a:prstGeom prst="rect">
            <a:avLst/>
          </a:prstGeom>
          <a:noFill/>
          <a:ln w="9525">
            <a:noFill/>
            <a:miter lim="800000"/>
            <a:headEnd/>
            <a:tailEnd/>
          </a:ln>
          <a:effectLst/>
        </p:spPr>
        <p:txBody>
          <a:bodyPr wrap="square">
            <a:spAutoFit/>
          </a:bodyPr>
          <a:lstStyle/>
          <a:p>
            <a:pPr>
              <a:spcBef>
                <a:spcPct val="50000"/>
              </a:spcBef>
            </a:pPr>
            <a:r>
              <a:rPr lang="zh-CN" altLang="en-US" sz="2000" b="1" dirty="0"/>
              <a:t>       </a:t>
            </a:r>
            <a:r>
              <a:rPr lang="zh-CN" altLang="en-US" sz="2200" b="1" dirty="0"/>
              <a:t>用来表示二极管的性能好坏和适用范围的技术指标，称为二极管的参数。不同类型的二极管有不同的特性参数。对初学者而言，必须了解以下几个主要参数：</a:t>
            </a:r>
            <a:endParaRPr lang="en-US" altLang="zh-CN" sz="2200" b="1" dirty="0"/>
          </a:p>
          <a:p>
            <a:pPr>
              <a:spcBef>
                <a:spcPct val="50000"/>
              </a:spcBef>
            </a:pPr>
            <a:r>
              <a:rPr lang="zh-CN" altLang="en-US" sz="2200" b="1" dirty="0">
                <a:latin typeface="宋体" pitchFamily="2" charset="-122"/>
              </a:rPr>
              <a:t>（</a:t>
            </a:r>
            <a:r>
              <a:rPr lang="en-US" altLang="zh-CN" sz="2200" b="1" dirty="0">
                <a:solidFill>
                  <a:srgbClr val="C00000"/>
                </a:solidFill>
                <a:latin typeface="宋体" pitchFamily="2" charset="-122"/>
              </a:rPr>
              <a:t>1</a:t>
            </a:r>
            <a:r>
              <a:rPr lang="zh-CN" altLang="en-US" sz="2200" b="1" dirty="0">
                <a:solidFill>
                  <a:srgbClr val="C00000"/>
                </a:solidFill>
                <a:latin typeface="宋体" pitchFamily="2" charset="-122"/>
              </a:rPr>
              <a:t>）额定正向工作电流</a:t>
            </a:r>
            <a:endParaRPr lang="en-US" altLang="zh-CN" sz="2200" b="1" dirty="0">
              <a:solidFill>
                <a:srgbClr val="C00000"/>
              </a:solidFill>
              <a:latin typeface="宋体" pitchFamily="2" charset="-122"/>
            </a:endParaRPr>
          </a:p>
          <a:p>
            <a:pPr>
              <a:spcBef>
                <a:spcPct val="50000"/>
              </a:spcBef>
            </a:pPr>
            <a:r>
              <a:rPr lang="zh-CN" altLang="en-US" sz="2200" b="1" dirty="0">
                <a:latin typeface="宋体" pitchFamily="2" charset="-122"/>
              </a:rPr>
              <a:t>    是指二极管</a:t>
            </a:r>
            <a:r>
              <a:rPr lang="zh-CN" altLang="en-US" sz="2200" b="1" dirty="0">
                <a:solidFill>
                  <a:srgbClr val="C00000"/>
                </a:solidFill>
                <a:latin typeface="宋体" pitchFamily="2" charset="-122"/>
              </a:rPr>
              <a:t>长期连续工作时允许通过的最大正向电流值</a:t>
            </a:r>
            <a:r>
              <a:rPr lang="zh-CN" altLang="en-US" sz="2200" b="1" dirty="0">
                <a:latin typeface="宋体" pitchFamily="2" charset="-122"/>
              </a:rPr>
              <a:t>。因为电流通过管子时会使管芯发热，温度上升，温度超过容许限度（硅管为</a:t>
            </a:r>
            <a:r>
              <a:rPr lang="en-US" altLang="zh-CN" sz="2200" b="1" dirty="0">
                <a:latin typeface="宋体" pitchFamily="2" charset="-122"/>
              </a:rPr>
              <a:t>140</a:t>
            </a:r>
            <a:r>
              <a:rPr lang="en-US" altLang="zh-CN" sz="2200" b="1" dirty="0"/>
              <a:t>℃</a:t>
            </a:r>
            <a:r>
              <a:rPr lang="zh-CN" altLang="en-US" sz="2200" b="1" dirty="0"/>
              <a:t>左右</a:t>
            </a:r>
            <a:r>
              <a:rPr lang="zh-CN" altLang="en-US" sz="2200" b="1" dirty="0">
                <a:latin typeface="宋体" pitchFamily="2" charset="-122"/>
              </a:rPr>
              <a:t>，锗管为</a:t>
            </a:r>
            <a:r>
              <a:rPr lang="en-US" altLang="zh-CN" sz="2200" b="1" dirty="0">
                <a:latin typeface="宋体" pitchFamily="2" charset="-122"/>
              </a:rPr>
              <a:t>90 </a:t>
            </a:r>
            <a:r>
              <a:rPr lang="en-US" altLang="zh-CN" sz="2200" b="1" dirty="0"/>
              <a:t>℃</a:t>
            </a:r>
            <a:r>
              <a:rPr lang="zh-CN" altLang="en-US" sz="2200" b="1" dirty="0"/>
              <a:t>左右</a:t>
            </a:r>
            <a:r>
              <a:rPr lang="zh-CN" altLang="en-US" sz="2200" b="1" dirty="0">
                <a:latin typeface="宋体" pitchFamily="2" charset="-122"/>
              </a:rPr>
              <a:t>）时，就会使管芯过热而损坏。所以，二极管使用中不要超过二极管额定正向工作电流值。例如，常用的</a:t>
            </a:r>
            <a:r>
              <a:rPr lang="en-US" altLang="zh-CN" sz="2200" b="1" dirty="0">
                <a:latin typeface="宋体" pitchFamily="2" charset="-122"/>
              </a:rPr>
              <a:t>IN4001</a:t>
            </a:r>
            <a:r>
              <a:rPr lang="zh-CN" altLang="en-US" sz="2200" b="1" dirty="0">
                <a:latin typeface="宋体" pitchFamily="2" charset="-122"/>
              </a:rPr>
              <a:t>－</a:t>
            </a:r>
            <a:r>
              <a:rPr lang="en-US" altLang="zh-CN" sz="2200" b="1" dirty="0">
                <a:latin typeface="宋体" pitchFamily="2" charset="-122"/>
              </a:rPr>
              <a:t>4007</a:t>
            </a:r>
            <a:r>
              <a:rPr lang="zh-CN" altLang="en-US" sz="2200" b="1" dirty="0">
                <a:latin typeface="宋体" pitchFamily="2" charset="-122"/>
              </a:rPr>
              <a:t>型锗二极管的额定正向工作电流为</a:t>
            </a:r>
            <a:r>
              <a:rPr lang="en-US" altLang="zh-CN" sz="2200" b="1" dirty="0">
                <a:latin typeface="宋体" pitchFamily="2" charset="-122"/>
              </a:rPr>
              <a:t>1A</a:t>
            </a:r>
            <a:r>
              <a:rPr lang="zh-CN" altLang="en-US" sz="2200" b="1" dirty="0">
                <a:latin typeface="宋体" pitchFamily="2" charset="-122"/>
              </a:rPr>
              <a:t>。 </a:t>
            </a:r>
            <a:endParaRPr lang="en-US" altLang="zh-CN" sz="2200" b="1" dirty="0">
              <a:latin typeface="宋体" pitchFamily="2" charset="-122"/>
            </a:endParaRPr>
          </a:p>
          <a:p>
            <a:pPr>
              <a:spcBef>
                <a:spcPct val="50000"/>
              </a:spcBef>
            </a:pPr>
            <a:r>
              <a:rPr lang="zh-CN" altLang="en-US" sz="2200" b="1" dirty="0">
                <a:latin typeface="宋体" pitchFamily="2" charset="-122"/>
              </a:rPr>
              <a:t>（</a:t>
            </a:r>
            <a:r>
              <a:rPr lang="en-US" altLang="zh-CN" sz="2200" b="1" dirty="0">
                <a:solidFill>
                  <a:srgbClr val="C00000"/>
                </a:solidFill>
                <a:latin typeface="宋体" pitchFamily="2" charset="-122"/>
              </a:rPr>
              <a:t>2</a:t>
            </a:r>
            <a:r>
              <a:rPr lang="zh-CN" altLang="en-US" sz="2200" b="1" dirty="0">
                <a:solidFill>
                  <a:srgbClr val="C00000"/>
                </a:solidFill>
                <a:latin typeface="宋体" pitchFamily="2" charset="-122"/>
              </a:rPr>
              <a:t>）最高反向工作电压</a:t>
            </a:r>
          </a:p>
          <a:p>
            <a:pPr>
              <a:spcBef>
                <a:spcPct val="50000"/>
              </a:spcBef>
            </a:pPr>
            <a:r>
              <a:rPr lang="zh-CN" altLang="en-US" sz="2200" b="1" dirty="0">
                <a:latin typeface="宋体" pitchFamily="2" charset="-122"/>
              </a:rPr>
              <a:t>    最高反向工作电压是指防止击穿，使用时反向电压极限值。为了保证使用安全，规定了最高反向工作电压值。例如，</a:t>
            </a:r>
            <a:r>
              <a:rPr lang="en-US" altLang="zh-CN" sz="2200" b="1" dirty="0">
                <a:latin typeface="宋体" pitchFamily="2" charset="-122"/>
              </a:rPr>
              <a:t>IN4001</a:t>
            </a:r>
            <a:r>
              <a:rPr lang="zh-CN" altLang="en-US" sz="2200" b="1" dirty="0">
                <a:latin typeface="宋体" pitchFamily="2" charset="-122"/>
              </a:rPr>
              <a:t>二极管反向耐压为</a:t>
            </a:r>
            <a:r>
              <a:rPr lang="en-US" altLang="zh-CN" sz="2200" b="1" dirty="0">
                <a:latin typeface="宋体" pitchFamily="2" charset="-122"/>
              </a:rPr>
              <a:t>50V</a:t>
            </a:r>
            <a:r>
              <a:rPr lang="zh-CN" altLang="en-US" sz="2200" b="1" dirty="0">
                <a:latin typeface="宋体" pitchFamily="2" charset="-122"/>
              </a:rPr>
              <a:t>，</a:t>
            </a:r>
            <a:r>
              <a:rPr lang="en-US" altLang="zh-CN" sz="2200" b="1" dirty="0">
                <a:latin typeface="宋体" pitchFamily="2" charset="-122"/>
              </a:rPr>
              <a:t>IN4007</a:t>
            </a:r>
            <a:r>
              <a:rPr lang="zh-CN" altLang="en-US" sz="2200" b="1" dirty="0">
                <a:latin typeface="宋体" pitchFamily="2" charset="-122"/>
              </a:rPr>
              <a:t>反向耐压为</a:t>
            </a:r>
            <a:r>
              <a:rPr lang="en-US" altLang="zh-CN" sz="2200" b="1" dirty="0">
                <a:latin typeface="宋体" pitchFamily="2" charset="-122"/>
              </a:rPr>
              <a:t>1000V</a:t>
            </a:r>
            <a:r>
              <a:rPr lang="zh-CN" altLang="en-US" sz="2200" b="1" dirty="0">
                <a:latin typeface="宋体" pitchFamily="2" charset="-122"/>
              </a:rPr>
              <a:t>。 </a:t>
            </a:r>
            <a:endParaRPr lang="en-US" altLang="zh-CN" sz="2200" b="1" dirty="0">
              <a:latin typeface="宋体" pitchFamily="2" charset="-122"/>
            </a:endParaRPr>
          </a:p>
          <a:p>
            <a:pPr>
              <a:spcBef>
                <a:spcPct val="50000"/>
              </a:spcBef>
            </a:pPr>
            <a:endParaRPr lang="zh-CN" altLang="en-US" b="1" dirty="0">
              <a:latin typeface="宋体" pitchFamily="2" charset="-122"/>
            </a:endParaRPr>
          </a:p>
          <a:p>
            <a:pPr>
              <a:spcBef>
                <a:spcPct val="50000"/>
              </a:spcBef>
            </a:pPr>
            <a:r>
              <a:rPr lang="zh-CN" altLang="en-US" dirty="0"/>
              <a:t> </a:t>
            </a:r>
          </a:p>
        </p:txBody>
      </p:sp>
      <p:sp>
        <p:nvSpPr>
          <p:cNvPr id="2" name="灯片编号占位符 1">
            <a:extLst>
              <a:ext uri="{FF2B5EF4-FFF2-40B4-BE49-F238E27FC236}">
                <a16:creationId xmlns:a16="http://schemas.microsoft.com/office/drawing/2014/main" id="{7B8B91D7-A9EA-F0A3-F864-535DB6F17E60}"/>
              </a:ext>
            </a:extLst>
          </p:cNvPr>
          <p:cNvSpPr>
            <a:spLocks noGrp="1"/>
          </p:cNvSpPr>
          <p:nvPr>
            <p:ph type="sldNum" sz="quarter" idx="12"/>
          </p:nvPr>
        </p:nvSpPr>
        <p:spPr/>
        <p:txBody>
          <a:bodyPr/>
          <a:lstStyle/>
          <a:p>
            <a:pPr>
              <a:defRPr/>
            </a:pPr>
            <a:fld id="{5FAFB815-62BA-464E-901C-79D108092E38}" type="slidenum">
              <a:rPr lang="zh-CN" altLang="en-US" smtClean="0"/>
              <a:pPr>
                <a:defRPr/>
              </a:pPr>
              <a:t>65</a:t>
            </a:fld>
            <a:endParaRPr lang="en-US" altLang="zh-CN"/>
          </a:p>
        </p:txBody>
      </p:sp>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ext Box 2"/>
          <p:cNvSpPr txBox="1">
            <a:spLocks noChangeArrowheads="1"/>
          </p:cNvSpPr>
          <p:nvPr/>
        </p:nvSpPr>
        <p:spPr bwMode="auto">
          <a:xfrm>
            <a:off x="539750" y="404813"/>
            <a:ext cx="8135938" cy="366712"/>
          </a:xfrm>
          <a:prstGeom prst="rect">
            <a:avLst/>
          </a:prstGeom>
          <a:noFill/>
          <a:ln w="9525">
            <a:noFill/>
            <a:miter lim="800000"/>
            <a:headEnd/>
            <a:tailEnd/>
          </a:ln>
          <a:effectLst/>
        </p:spPr>
        <p:txBody>
          <a:bodyPr>
            <a:spAutoFit/>
          </a:bodyPr>
          <a:lstStyle/>
          <a:p>
            <a:pPr>
              <a:spcBef>
                <a:spcPct val="50000"/>
              </a:spcBef>
            </a:pPr>
            <a:endParaRPr lang="zh-CN" altLang="en-US" sz="1800"/>
          </a:p>
        </p:txBody>
      </p:sp>
      <p:sp>
        <p:nvSpPr>
          <p:cNvPr id="78851" name="Text Box 3"/>
          <p:cNvSpPr txBox="1">
            <a:spLocks noChangeArrowheads="1"/>
          </p:cNvSpPr>
          <p:nvPr/>
        </p:nvSpPr>
        <p:spPr bwMode="auto">
          <a:xfrm>
            <a:off x="539750" y="333375"/>
            <a:ext cx="8135938" cy="365125"/>
          </a:xfrm>
          <a:prstGeom prst="rect">
            <a:avLst/>
          </a:prstGeom>
          <a:noFill/>
          <a:ln w="9525">
            <a:noFill/>
            <a:miter lim="800000"/>
            <a:headEnd/>
            <a:tailEnd/>
          </a:ln>
          <a:effectLst/>
        </p:spPr>
        <p:txBody>
          <a:bodyPr>
            <a:spAutoFit/>
          </a:bodyPr>
          <a:lstStyle/>
          <a:p>
            <a:pPr>
              <a:spcBef>
                <a:spcPct val="50000"/>
              </a:spcBef>
            </a:pPr>
            <a:endParaRPr lang="zh-CN" altLang="en-US" sz="1800"/>
          </a:p>
        </p:txBody>
      </p:sp>
      <p:sp>
        <p:nvSpPr>
          <p:cNvPr id="78852" name="Text Box 4"/>
          <p:cNvSpPr txBox="1">
            <a:spLocks noChangeArrowheads="1"/>
          </p:cNvSpPr>
          <p:nvPr/>
        </p:nvSpPr>
        <p:spPr bwMode="auto">
          <a:xfrm>
            <a:off x="17480" y="980728"/>
            <a:ext cx="9019015" cy="4944110"/>
          </a:xfrm>
          <a:prstGeom prst="rect">
            <a:avLst/>
          </a:prstGeom>
          <a:noFill/>
          <a:ln w="9525">
            <a:noFill/>
            <a:miter lim="800000"/>
            <a:headEnd/>
            <a:tailEnd/>
          </a:ln>
          <a:effectLst/>
        </p:spPr>
        <p:txBody>
          <a:bodyPr wrap="square">
            <a:spAutoFit/>
          </a:bodyPr>
          <a:lstStyle/>
          <a:p>
            <a:pPr>
              <a:spcBef>
                <a:spcPct val="50000"/>
              </a:spcBef>
            </a:pPr>
            <a:r>
              <a:rPr lang="zh-CN" altLang="en-US" sz="2200" b="1" dirty="0">
                <a:solidFill>
                  <a:srgbClr val="C00000"/>
                </a:solidFill>
                <a:latin typeface="宋体" pitchFamily="2" charset="-122"/>
              </a:rPr>
              <a:t>（</a:t>
            </a:r>
            <a:r>
              <a:rPr lang="en-US" altLang="zh-CN" sz="2200" b="1" dirty="0">
                <a:solidFill>
                  <a:srgbClr val="C00000"/>
                </a:solidFill>
                <a:latin typeface="宋体" pitchFamily="2" charset="-122"/>
              </a:rPr>
              <a:t>3</a:t>
            </a:r>
            <a:r>
              <a:rPr lang="zh-CN" altLang="en-US" sz="2200" b="1" dirty="0">
                <a:solidFill>
                  <a:srgbClr val="C00000"/>
                </a:solidFill>
                <a:latin typeface="宋体" pitchFamily="2" charset="-122"/>
              </a:rPr>
              <a:t>）反向电流 </a:t>
            </a:r>
            <a:endParaRPr lang="en-US" altLang="zh-CN" sz="2200" b="1" dirty="0">
              <a:solidFill>
                <a:srgbClr val="C00000"/>
              </a:solidFill>
              <a:latin typeface="宋体" pitchFamily="2" charset="-122"/>
            </a:endParaRPr>
          </a:p>
          <a:p>
            <a:pPr>
              <a:spcBef>
                <a:spcPct val="50000"/>
              </a:spcBef>
            </a:pPr>
            <a:r>
              <a:rPr lang="zh-CN" altLang="en-US" sz="2200" b="1" dirty="0"/>
              <a:t>      </a:t>
            </a:r>
            <a:r>
              <a:rPr lang="zh-CN" altLang="en-US" sz="2200" b="1" dirty="0">
                <a:solidFill>
                  <a:srgbClr val="C00000"/>
                </a:solidFill>
                <a:latin typeface="宋体" pitchFamily="2" charset="-122"/>
              </a:rPr>
              <a:t>指二极管在未击穿时的反向电流</a:t>
            </a:r>
            <a:r>
              <a:rPr lang="zh-CN" altLang="en-US" sz="2200" b="1" dirty="0">
                <a:latin typeface="宋体" pitchFamily="2" charset="-122"/>
              </a:rPr>
              <a:t>。其值越小，管子的单向导电性能越好。值得注意的是反向电流与温度有着密切的关系，大约温度每升高</a:t>
            </a:r>
            <a:r>
              <a:rPr lang="en-US" altLang="zh-CN" sz="2200" b="1" dirty="0">
                <a:latin typeface="宋体" pitchFamily="2" charset="-122"/>
              </a:rPr>
              <a:t>10 ℃ </a:t>
            </a:r>
            <a:r>
              <a:rPr lang="zh-CN" altLang="en-US" sz="2200" b="1" dirty="0">
                <a:latin typeface="宋体" pitchFamily="2" charset="-122"/>
              </a:rPr>
              <a:t>，反向电流增大一倍。</a:t>
            </a:r>
          </a:p>
          <a:p>
            <a:pPr>
              <a:lnSpc>
                <a:spcPct val="150000"/>
              </a:lnSpc>
              <a:spcBef>
                <a:spcPct val="50000"/>
              </a:spcBef>
            </a:pPr>
            <a:r>
              <a:rPr lang="zh-CN" altLang="en-US" sz="2200" b="1" dirty="0">
                <a:latin typeface="宋体" pitchFamily="2" charset="-122"/>
              </a:rPr>
              <a:t>    例如</a:t>
            </a:r>
            <a:r>
              <a:rPr lang="en-US" sz="2200" b="1" dirty="0">
                <a:latin typeface="宋体" pitchFamily="2" charset="-122"/>
              </a:rPr>
              <a:t>2AP1</a:t>
            </a:r>
            <a:r>
              <a:rPr lang="zh-CN" altLang="en-US" sz="2200" b="1" dirty="0">
                <a:latin typeface="宋体" pitchFamily="2" charset="-122"/>
              </a:rPr>
              <a:t>型锗二极管，在</a:t>
            </a:r>
            <a:r>
              <a:rPr lang="en-US" sz="2200" b="1" dirty="0">
                <a:latin typeface="宋体" pitchFamily="2" charset="-122"/>
              </a:rPr>
              <a:t>25 ℃</a:t>
            </a:r>
            <a:r>
              <a:rPr lang="zh-CN" altLang="en-US" sz="2200" b="1" dirty="0">
                <a:latin typeface="宋体" pitchFamily="2" charset="-122"/>
              </a:rPr>
              <a:t>时反向电流若为</a:t>
            </a:r>
            <a:r>
              <a:rPr lang="en-US" sz="2200" b="1" dirty="0">
                <a:latin typeface="宋体" pitchFamily="2" charset="-122"/>
              </a:rPr>
              <a:t>250uA</a:t>
            </a:r>
            <a:r>
              <a:rPr lang="zh-CN" altLang="en-US" sz="2200" b="1" dirty="0">
                <a:latin typeface="宋体" pitchFamily="2" charset="-122"/>
              </a:rPr>
              <a:t>，温度升高到</a:t>
            </a:r>
            <a:r>
              <a:rPr lang="en-US" sz="2200" b="1" dirty="0">
                <a:latin typeface="宋体" pitchFamily="2" charset="-122"/>
              </a:rPr>
              <a:t>35 ℃ </a:t>
            </a:r>
            <a:r>
              <a:rPr lang="zh-CN" altLang="en-US" sz="2200" b="1" dirty="0">
                <a:latin typeface="宋体" pitchFamily="2" charset="-122"/>
              </a:rPr>
              <a:t>，反向电流将上升到</a:t>
            </a:r>
            <a:r>
              <a:rPr lang="en-US" sz="2200" b="1" dirty="0">
                <a:latin typeface="宋体" pitchFamily="2" charset="-122"/>
              </a:rPr>
              <a:t>500uA</a:t>
            </a:r>
            <a:r>
              <a:rPr lang="zh-CN" altLang="en-US" sz="2200" b="1" dirty="0">
                <a:latin typeface="宋体" pitchFamily="2" charset="-122"/>
              </a:rPr>
              <a:t>，依此类推，在</a:t>
            </a:r>
            <a:r>
              <a:rPr lang="en-US" sz="2200" b="1" dirty="0">
                <a:latin typeface="宋体" pitchFamily="2" charset="-122"/>
              </a:rPr>
              <a:t>75 ℃</a:t>
            </a:r>
            <a:r>
              <a:rPr lang="zh-CN" altLang="en-US" sz="2200" b="1" dirty="0">
                <a:latin typeface="宋体" pitchFamily="2" charset="-122"/>
              </a:rPr>
              <a:t>时，它的反向电流已达</a:t>
            </a:r>
            <a:r>
              <a:rPr lang="en-US" sz="2200" b="1" dirty="0">
                <a:latin typeface="宋体" pitchFamily="2" charset="-122"/>
              </a:rPr>
              <a:t>8mA</a:t>
            </a:r>
            <a:r>
              <a:rPr lang="zh-CN" altLang="en-US" sz="2200" b="1" dirty="0">
                <a:latin typeface="宋体" pitchFamily="2" charset="-122"/>
              </a:rPr>
              <a:t>，不仅</a:t>
            </a:r>
            <a:r>
              <a:rPr lang="zh-CN" altLang="en-US" sz="2200" b="1" dirty="0">
                <a:solidFill>
                  <a:srgbClr val="C00000"/>
                </a:solidFill>
                <a:latin typeface="宋体" pitchFamily="2" charset="-122"/>
              </a:rPr>
              <a:t>失去了单方向导电特性，还会使管子过热而损坏</a:t>
            </a:r>
            <a:r>
              <a:rPr lang="zh-CN" altLang="en-US" sz="2200" b="1" dirty="0">
                <a:latin typeface="宋体" pitchFamily="2" charset="-122"/>
              </a:rPr>
              <a:t>。</a:t>
            </a:r>
            <a:endParaRPr lang="en-US" altLang="zh-CN" sz="2200" b="1" dirty="0">
              <a:latin typeface="宋体" pitchFamily="2" charset="-122"/>
            </a:endParaRPr>
          </a:p>
          <a:p>
            <a:pPr>
              <a:lnSpc>
                <a:spcPct val="150000"/>
              </a:lnSpc>
              <a:spcBef>
                <a:spcPct val="50000"/>
              </a:spcBef>
            </a:pPr>
            <a:r>
              <a:rPr lang="en-US" altLang="zh-CN" sz="2200" b="1" dirty="0">
                <a:latin typeface="宋体" pitchFamily="2" charset="-122"/>
              </a:rPr>
              <a:t>    </a:t>
            </a:r>
            <a:r>
              <a:rPr lang="zh-CN" altLang="en-US" sz="2200" b="1" dirty="0">
                <a:latin typeface="宋体" pitchFamily="2" charset="-122"/>
              </a:rPr>
              <a:t>又如，</a:t>
            </a:r>
            <a:r>
              <a:rPr lang="en-US" sz="2200" b="1" dirty="0">
                <a:latin typeface="宋体" pitchFamily="2" charset="-122"/>
              </a:rPr>
              <a:t>2CP10</a:t>
            </a:r>
            <a:r>
              <a:rPr lang="zh-CN" altLang="en-US" sz="2200" b="1" dirty="0">
                <a:latin typeface="宋体" pitchFamily="2" charset="-122"/>
              </a:rPr>
              <a:t>型硅二极管，</a:t>
            </a:r>
            <a:r>
              <a:rPr lang="en-US" sz="2200" b="1" dirty="0">
                <a:latin typeface="宋体" pitchFamily="2" charset="-122"/>
              </a:rPr>
              <a:t>25 ℃</a:t>
            </a:r>
            <a:r>
              <a:rPr lang="zh-CN" altLang="en-US" sz="2200" b="1" dirty="0">
                <a:latin typeface="宋体" pitchFamily="2" charset="-122"/>
              </a:rPr>
              <a:t>时反向电流仅为</a:t>
            </a:r>
            <a:r>
              <a:rPr lang="en-US" sz="2200" b="1" dirty="0">
                <a:latin typeface="宋体" pitchFamily="2" charset="-122"/>
              </a:rPr>
              <a:t>5uA</a:t>
            </a:r>
            <a:r>
              <a:rPr lang="zh-CN" altLang="en-US" sz="2200" b="1" dirty="0">
                <a:latin typeface="宋体" pitchFamily="2" charset="-122"/>
              </a:rPr>
              <a:t>，温度升高到</a:t>
            </a:r>
            <a:r>
              <a:rPr lang="en-US" sz="2200" b="1" dirty="0">
                <a:latin typeface="宋体" pitchFamily="2" charset="-122"/>
              </a:rPr>
              <a:t>75 ℃</a:t>
            </a:r>
            <a:r>
              <a:rPr lang="zh-CN" altLang="en-US" sz="2200" b="1" dirty="0">
                <a:latin typeface="宋体" pitchFamily="2" charset="-122"/>
              </a:rPr>
              <a:t>时，反向电流也不过</a:t>
            </a:r>
            <a:r>
              <a:rPr lang="en-US" sz="2200" b="1" dirty="0">
                <a:latin typeface="宋体" pitchFamily="2" charset="-122"/>
              </a:rPr>
              <a:t>160uA</a:t>
            </a:r>
            <a:r>
              <a:rPr lang="zh-CN" altLang="en-US" sz="2200" b="1" dirty="0">
                <a:latin typeface="宋体" pitchFamily="2" charset="-122"/>
              </a:rPr>
              <a:t>。故硅二极管比锗二极管在高温下具有较好的稳定性。 </a:t>
            </a:r>
          </a:p>
        </p:txBody>
      </p:sp>
      <p:sp>
        <p:nvSpPr>
          <p:cNvPr id="2" name="灯片编号占位符 1">
            <a:extLst>
              <a:ext uri="{FF2B5EF4-FFF2-40B4-BE49-F238E27FC236}">
                <a16:creationId xmlns:a16="http://schemas.microsoft.com/office/drawing/2014/main" id="{AE491D92-A376-E049-AFF0-FA0280EEF4AC}"/>
              </a:ext>
            </a:extLst>
          </p:cNvPr>
          <p:cNvSpPr>
            <a:spLocks noGrp="1"/>
          </p:cNvSpPr>
          <p:nvPr>
            <p:ph type="sldNum" sz="quarter" idx="12"/>
          </p:nvPr>
        </p:nvSpPr>
        <p:spPr/>
        <p:txBody>
          <a:bodyPr/>
          <a:lstStyle/>
          <a:p>
            <a:pPr>
              <a:defRPr/>
            </a:pPr>
            <a:fld id="{5FAFB815-62BA-464E-901C-79D108092E38}" type="slidenum">
              <a:rPr lang="zh-CN" altLang="en-US" smtClean="0"/>
              <a:pPr>
                <a:defRPr/>
              </a:pPr>
              <a:t>66</a:t>
            </a:fld>
            <a:endParaRPr lang="en-US" altLang="zh-CN"/>
          </a:p>
        </p:txBody>
      </p:sp>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Text Box 2"/>
          <p:cNvSpPr txBox="1">
            <a:spLocks noChangeArrowheads="1"/>
          </p:cNvSpPr>
          <p:nvPr/>
        </p:nvSpPr>
        <p:spPr bwMode="auto">
          <a:xfrm>
            <a:off x="827088" y="333375"/>
            <a:ext cx="6408737" cy="471924"/>
          </a:xfrm>
          <a:prstGeom prst="rect">
            <a:avLst/>
          </a:prstGeom>
          <a:noFill/>
          <a:ln w="9525">
            <a:noFill/>
            <a:miter lim="800000"/>
            <a:headEnd/>
            <a:tailEnd/>
          </a:ln>
          <a:effectLst/>
        </p:spPr>
        <p:txBody>
          <a:bodyPr>
            <a:spAutoFit/>
          </a:bodyPr>
          <a:lstStyle/>
          <a:p>
            <a:pPr>
              <a:lnSpc>
                <a:spcPct val="114000"/>
              </a:lnSpc>
              <a:spcBef>
                <a:spcPct val="50000"/>
              </a:spcBef>
            </a:pPr>
            <a:endParaRPr lang="zh-CN" altLang="en-US"/>
          </a:p>
        </p:txBody>
      </p:sp>
      <p:sp>
        <p:nvSpPr>
          <p:cNvPr id="79875" name="Text Box 3"/>
          <p:cNvSpPr txBox="1">
            <a:spLocks noChangeArrowheads="1"/>
          </p:cNvSpPr>
          <p:nvPr/>
        </p:nvSpPr>
        <p:spPr bwMode="auto">
          <a:xfrm>
            <a:off x="387348" y="177178"/>
            <a:ext cx="7056437" cy="461665"/>
          </a:xfrm>
          <a:prstGeom prst="rect">
            <a:avLst/>
          </a:prstGeom>
          <a:noFill/>
          <a:ln w="9525">
            <a:noFill/>
            <a:miter lim="800000"/>
            <a:headEnd/>
            <a:tailEnd/>
          </a:ln>
          <a:effectLst/>
        </p:spPr>
        <p:txBody>
          <a:bodyPr>
            <a:spAutoFit/>
          </a:bodyPr>
          <a:lstStyle/>
          <a:p>
            <a:pPr>
              <a:lnSpc>
                <a:spcPct val="114000"/>
              </a:lnSpc>
              <a:spcBef>
                <a:spcPct val="50000"/>
              </a:spcBef>
            </a:pPr>
            <a:r>
              <a:rPr lang="en-US" sz="2200" b="1" dirty="0">
                <a:solidFill>
                  <a:schemeClr val="accent1"/>
                </a:solidFill>
                <a:latin typeface="宋体" pitchFamily="2" charset="-122"/>
              </a:rPr>
              <a:t>6.</a:t>
            </a:r>
            <a:r>
              <a:rPr lang="zh-CN" altLang="en-US" sz="2200" b="1" dirty="0">
                <a:solidFill>
                  <a:schemeClr val="accent1"/>
                </a:solidFill>
                <a:latin typeface="宋体" pitchFamily="2" charset="-122"/>
              </a:rPr>
              <a:t>二极管的命名规则</a:t>
            </a:r>
          </a:p>
        </p:txBody>
      </p:sp>
      <p:sp>
        <p:nvSpPr>
          <p:cNvPr id="79876" name="Text Box 4"/>
          <p:cNvSpPr txBox="1">
            <a:spLocks noChangeArrowheads="1"/>
          </p:cNvSpPr>
          <p:nvPr/>
        </p:nvSpPr>
        <p:spPr bwMode="auto">
          <a:xfrm>
            <a:off x="683418" y="961505"/>
            <a:ext cx="8065046" cy="5046190"/>
          </a:xfrm>
          <a:prstGeom prst="rect">
            <a:avLst/>
          </a:prstGeom>
          <a:noFill/>
          <a:ln w="9525">
            <a:noFill/>
            <a:miter lim="800000"/>
            <a:headEnd/>
            <a:tailEnd/>
          </a:ln>
          <a:effectLst/>
        </p:spPr>
        <p:txBody>
          <a:bodyPr wrap="square">
            <a:spAutoFit/>
          </a:bodyPr>
          <a:lstStyle/>
          <a:p>
            <a:pPr>
              <a:lnSpc>
                <a:spcPct val="114000"/>
              </a:lnSpc>
              <a:spcBef>
                <a:spcPct val="50000"/>
              </a:spcBef>
            </a:pPr>
            <a:r>
              <a:rPr lang="zh-CN" altLang="en-US" dirty="0"/>
              <a:t>          </a:t>
            </a:r>
            <a:r>
              <a:rPr lang="zh-CN" altLang="en-US" sz="2200" b="1" dirty="0">
                <a:latin typeface="宋体" pitchFamily="2" charset="-122"/>
              </a:rPr>
              <a:t>不同国家对二极管的命名规则有所不同，下面我们简单介绍一下中国和美国对二极管的命名规则：</a:t>
            </a:r>
          </a:p>
          <a:p>
            <a:pPr>
              <a:lnSpc>
                <a:spcPct val="114000"/>
              </a:lnSpc>
              <a:spcBef>
                <a:spcPct val="50000"/>
              </a:spcBef>
            </a:pPr>
            <a:r>
              <a:rPr lang="zh-CN" altLang="en-US" sz="2200" b="1" dirty="0">
                <a:latin typeface="宋体" pitchFamily="2" charset="-122"/>
              </a:rPr>
              <a:t>（</a:t>
            </a:r>
            <a:r>
              <a:rPr lang="en-US" sz="2200" b="1" dirty="0">
                <a:latin typeface="宋体" pitchFamily="2" charset="-122"/>
              </a:rPr>
              <a:t>1</a:t>
            </a:r>
            <a:r>
              <a:rPr lang="zh-CN" altLang="en-US" sz="2200" b="1" dirty="0">
                <a:latin typeface="宋体" pitchFamily="2" charset="-122"/>
              </a:rPr>
              <a:t>）中国半导体器件型号命名方法 </a:t>
            </a:r>
          </a:p>
          <a:p>
            <a:pPr>
              <a:lnSpc>
                <a:spcPct val="114000"/>
              </a:lnSpc>
              <a:spcBef>
                <a:spcPct val="50000"/>
              </a:spcBef>
            </a:pPr>
            <a:r>
              <a:rPr lang="zh-CN" altLang="en-US" sz="2200" b="1" dirty="0">
                <a:latin typeface="宋体" pitchFamily="2" charset="-122"/>
              </a:rPr>
              <a:t>    中国的半导体器件型号由五个部分组成：</a:t>
            </a:r>
            <a:endParaRPr lang="en-US" altLang="zh-CN" sz="2200" b="1" dirty="0">
              <a:latin typeface="宋体" pitchFamily="2" charset="-122"/>
            </a:endParaRPr>
          </a:p>
          <a:p>
            <a:pPr>
              <a:lnSpc>
                <a:spcPct val="114000"/>
              </a:lnSpc>
              <a:spcBef>
                <a:spcPct val="50000"/>
              </a:spcBef>
            </a:pPr>
            <a:r>
              <a:rPr lang="zh-CN" altLang="en-US" sz="2200" b="1" dirty="0">
                <a:latin typeface="宋体" pitchFamily="2" charset="-122"/>
              </a:rPr>
              <a:t>第一部分：用数字表示半导体器件有效电极数目。</a:t>
            </a:r>
          </a:p>
          <a:p>
            <a:pPr>
              <a:lnSpc>
                <a:spcPct val="114000"/>
              </a:lnSpc>
              <a:spcBef>
                <a:spcPct val="50000"/>
              </a:spcBef>
            </a:pPr>
            <a:r>
              <a:rPr lang="zh-CN" altLang="en-US" sz="2200" b="1" dirty="0">
                <a:latin typeface="宋体" pitchFamily="2" charset="-122"/>
              </a:rPr>
              <a:t>          </a:t>
            </a:r>
            <a:r>
              <a:rPr lang="en-US" altLang="zh-CN" sz="2200" b="1" dirty="0">
                <a:latin typeface="宋体" pitchFamily="2" charset="-122"/>
              </a:rPr>
              <a:t>2 —— </a:t>
            </a:r>
            <a:r>
              <a:rPr lang="zh-CN" altLang="en-US" sz="2200" b="1" dirty="0">
                <a:latin typeface="宋体" pitchFamily="2" charset="-122"/>
              </a:rPr>
              <a:t>二极管</a:t>
            </a:r>
          </a:p>
          <a:p>
            <a:pPr>
              <a:lnSpc>
                <a:spcPct val="114000"/>
              </a:lnSpc>
              <a:spcBef>
                <a:spcPct val="50000"/>
              </a:spcBef>
            </a:pPr>
            <a:r>
              <a:rPr lang="zh-CN" altLang="en-US" sz="2200" b="1" dirty="0">
                <a:latin typeface="宋体" pitchFamily="2" charset="-122"/>
              </a:rPr>
              <a:t>          </a:t>
            </a:r>
            <a:r>
              <a:rPr lang="en-US" altLang="zh-CN" sz="2200" b="1" dirty="0">
                <a:latin typeface="宋体" pitchFamily="2" charset="-122"/>
              </a:rPr>
              <a:t>3 —— </a:t>
            </a:r>
            <a:r>
              <a:rPr lang="zh-CN" altLang="en-US" sz="2200" b="1" dirty="0">
                <a:latin typeface="宋体" pitchFamily="2" charset="-122"/>
              </a:rPr>
              <a:t>三极管 </a:t>
            </a:r>
            <a:br>
              <a:rPr lang="zh-CN" altLang="en-US" sz="2200" b="1" dirty="0">
                <a:latin typeface="宋体" pitchFamily="2" charset="-122"/>
              </a:rPr>
            </a:br>
            <a:r>
              <a:rPr lang="zh-CN" altLang="en-US" sz="2200" b="1" dirty="0">
                <a:latin typeface="宋体" pitchFamily="2" charset="-122"/>
              </a:rPr>
              <a:t>第二部分：用汉语拼音字母表示半导体器件的材料和极性。</a:t>
            </a:r>
            <a:endParaRPr lang="en-US" altLang="zh-CN" sz="2200" b="1" dirty="0">
              <a:latin typeface="宋体" pitchFamily="2" charset="-122"/>
            </a:endParaRPr>
          </a:p>
          <a:p>
            <a:pPr>
              <a:lnSpc>
                <a:spcPct val="114000"/>
              </a:lnSpc>
              <a:spcBef>
                <a:spcPct val="50000"/>
              </a:spcBef>
            </a:pPr>
            <a:r>
              <a:rPr lang="zh-CN" altLang="en-US" sz="2200" b="1" dirty="0">
                <a:latin typeface="宋体" pitchFamily="2" charset="-122"/>
              </a:rPr>
              <a:t>第三部分：用汉语拼音字母表示半导体器件的类型。</a:t>
            </a:r>
          </a:p>
          <a:p>
            <a:pPr>
              <a:lnSpc>
                <a:spcPct val="114000"/>
              </a:lnSpc>
              <a:spcBef>
                <a:spcPct val="50000"/>
              </a:spcBef>
            </a:pPr>
            <a:endParaRPr lang="zh-CN" altLang="en-US" dirty="0">
              <a:latin typeface="宋体" pitchFamily="2" charset="-122"/>
            </a:endParaRPr>
          </a:p>
        </p:txBody>
      </p:sp>
      <p:sp>
        <p:nvSpPr>
          <p:cNvPr id="2" name="灯片编号占位符 1">
            <a:extLst>
              <a:ext uri="{FF2B5EF4-FFF2-40B4-BE49-F238E27FC236}">
                <a16:creationId xmlns:a16="http://schemas.microsoft.com/office/drawing/2014/main" id="{691D102B-3690-CB9C-8981-8C41E687F889}"/>
              </a:ext>
            </a:extLst>
          </p:cNvPr>
          <p:cNvSpPr>
            <a:spLocks noGrp="1"/>
          </p:cNvSpPr>
          <p:nvPr>
            <p:ph type="sldNum" sz="quarter" idx="12"/>
          </p:nvPr>
        </p:nvSpPr>
        <p:spPr/>
        <p:txBody>
          <a:bodyPr/>
          <a:lstStyle/>
          <a:p>
            <a:pPr>
              <a:defRPr/>
            </a:pPr>
            <a:fld id="{5FAFB815-62BA-464E-901C-79D108092E38}" type="slidenum">
              <a:rPr lang="zh-CN" altLang="en-US" smtClean="0"/>
              <a:pPr>
                <a:defRPr/>
              </a:pPr>
              <a:t>67</a:t>
            </a:fld>
            <a:endParaRPr lang="en-US" altLang="zh-CN"/>
          </a:p>
        </p:txBody>
      </p:sp>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ext Box 2"/>
          <p:cNvSpPr txBox="1">
            <a:spLocks noChangeArrowheads="1"/>
          </p:cNvSpPr>
          <p:nvPr/>
        </p:nvSpPr>
        <p:spPr bwMode="auto">
          <a:xfrm>
            <a:off x="684213" y="333375"/>
            <a:ext cx="7991475" cy="365125"/>
          </a:xfrm>
          <a:prstGeom prst="rect">
            <a:avLst/>
          </a:prstGeom>
          <a:noFill/>
          <a:ln w="9525">
            <a:noFill/>
            <a:miter lim="800000"/>
            <a:headEnd/>
            <a:tailEnd/>
          </a:ln>
          <a:effectLst/>
        </p:spPr>
        <p:txBody>
          <a:bodyPr>
            <a:spAutoFit/>
          </a:bodyPr>
          <a:lstStyle/>
          <a:p>
            <a:pPr>
              <a:spcBef>
                <a:spcPct val="50000"/>
              </a:spcBef>
            </a:pPr>
            <a:endParaRPr lang="zh-CN" altLang="en-US" sz="1800"/>
          </a:p>
        </p:txBody>
      </p:sp>
      <p:sp>
        <p:nvSpPr>
          <p:cNvPr id="80899" name="Text Box 3"/>
          <p:cNvSpPr txBox="1">
            <a:spLocks noChangeArrowheads="1"/>
          </p:cNvSpPr>
          <p:nvPr/>
        </p:nvSpPr>
        <p:spPr bwMode="auto">
          <a:xfrm>
            <a:off x="251520" y="1124744"/>
            <a:ext cx="4608512" cy="4570482"/>
          </a:xfrm>
          <a:prstGeom prst="rect">
            <a:avLst/>
          </a:prstGeom>
          <a:noFill/>
          <a:ln w="9525">
            <a:noFill/>
            <a:miter lim="800000"/>
            <a:headEnd/>
            <a:tailEnd/>
          </a:ln>
          <a:effectLst/>
        </p:spPr>
        <p:txBody>
          <a:bodyPr wrap="square">
            <a:spAutoFit/>
          </a:bodyPr>
          <a:lstStyle/>
          <a:p>
            <a:pPr algn="ctr">
              <a:spcBef>
                <a:spcPct val="50000"/>
              </a:spcBef>
            </a:pPr>
            <a:r>
              <a:rPr lang="zh-CN" altLang="en-US" sz="2400" b="1" dirty="0">
                <a:latin typeface="宋体" pitchFamily="2" charset="-122"/>
              </a:rPr>
              <a:t>第二部分</a:t>
            </a:r>
            <a:endParaRPr lang="zh-CN" altLang="en-US" sz="2400" b="1" dirty="0"/>
          </a:p>
          <a:p>
            <a:pPr algn="ctr">
              <a:spcBef>
                <a:spcPct val="50000"/>
              </a:spcBef>
            </a:pPr>
            <a:endParaRPr lang="en-US" altLang="zh-CN" dirty="0">
              <a:latin typeface="宋体" pitchFamily="2" charset="-122"/>
            </a:endParaRPr>
          </a:p>
          <a:p>
            <a:pPr>
              <a:spcBef>
                <a:spcPct val="50000"/>
              </a:spcBef>
            </a:pPr>
            <a:r>
              <a:rPr lang="zh-CN" altLang="en-US" sz="2000" dirty="0">
                <a:latin typeface="宋体" pitchFamily="2" charset="-122"/>
              </a:rPr>
              <a:t>表示二极管时：</a:t>
            </a:r>
            <a:r>
              <a:rPr lang="en-US" sz="2000" dirty="0">
                <a:latin typeface="宋体" pitchFamily="2" charset="-122"/>
              </a:rPr>
              <a:t>A ——  N</a:t>
            </a:r>
            <a:r>
              <a:rPr lang="zh-CN" altLang="en-US" sz="2000" dirty="0">
                <a:latin typeface="宋体" pitchFamily="2" charset="-122"/>
              </a:rPr>
              <a:t>型锗材料</a:t>
            </a:r>
          </a:p>
          <a:p>
            <a:pPr>
              <a:spcBef>
                <a:spcPct val="50000"/>
              </a:spcBef>
            </a:pPr>
            <a:r>
              <a:rPr lang="zh-CN" altLang="en-US" sz="2000" dirty="0">
                <a:latin typeface="宋体" pitchFamily="2" charset="-122"/>
              </a:rPr>
              <a:t>              </a:t>
            </a:r>
            <a:r>
              <a:rPr lang="en-US" sz="2000" dirty="0">
                <a:latin typeface="宋体" pitchFamily="2" charset="-122"/>
              </a:rPr>
              <a:t>B ——  P</a:t>
            </a:r>
            <a:r>
              <a:rPr lang="zh-CN" altLang="en-US" sz="2000" dirty="0">
                <a:latin typeface="宋体" pitchFamily="2" charset="-122"/>
              </a:rPr>
              <a:t>型锗材料</a:t>
            </a:r>
          </a:p>
          <a:p>
            <a:pPr>
              <a:spcBef>
                <a:spcPct val="50000"/>
              </a:spcBef>
            </a:pPr>
            <a:r>
              <a:rPr lang="zh-CN" altLang="en-US" sz="2000" dirty="0">
                <a:latin typeface="宋体" pitchFamily="2" charset="-122"/>
              </a:rPr>
              <a:t>              </a:t>
            </a:r>
            <a:r>
              <a:rPr lang="en-US" sz="2000" dirty="0">
                <a:latin typeface="宋体" pitchFamily="2" charset="-122"/>
              </a:rPr>
              <a:t>C ——  N</a:t>
            </a:r>
            <a:r>
              <a:rPr lang="zh-CN" altLang="en-US" sz="2000" dirty="0">
                <a:latin typeface="宋体" pitchFamily="2" charset="-122"/>
              </a:rPr>
              <a:t>型硅材料</a:t>
            </a:r>
          </a:p>
          <a:p>
            <a:pPr>
              <a:spcBef>
                <a:spcPct val="50000"/>
              </a:spcBef>
            </a:pPr>
            <a:r>
              <a:rPr lang="zh-CN" altLang="en-US" sz="2000" dirty="0">
                <a:latin typeface="宋体" pitchFamily="2" charset="-122"/>
              </a:rPr>
              <a:t>              </a:t>
            </a:r>
            <a:r>
              <a:rPr lang="en-US" sz="2000" dirty="0">
                <a:latin typeface="宋体" pitchFamily="2" charset="-122"/>
              </a:rPr>
              <a:t>D ——  P</a:t>
            </a:r>
            <a:r>
              <a:rPr lang="zh-CN" altLang="en-US" sz="2000" dirty="0">
                <a:latin typeface="宋体" pitchFamily="2" charset="-122"/>
              </a:rPr>
              <a:t>型硅材料</a:t>
            </a:r>
          </a:p>
          <a:p>
            <a:pPr>
              <a:spcBef>
                <a:spcPct val="50000"/>
              </a:spcBef>
            </a:pPr>
            <a:r>
              <a:rPr lang="zh-CN" altLang="en-US" sz="2000" dirty="0">
                <a:latin typeface="宋体" pitchFamily="2" charset="-122"/>
              </a:rPr>
              <a:t>表示三极管时：</a:t>
            </a:r>
            <a:r>
              <a:rPr lang="en-US" sz="2000" dirty="0">
                <a:latin typeface="宋体" pitchFamily="2" charset="-122"/>
              </a:rPr>
              <a:t>A ——  PNP</a:t>
            </a:r>
            <a:r>
              <a:rPr lang="zh-CN" altLang="en-US" sz="2000" dirty="0">
                <a:latin typeface="宋体" pitchFamily="2" charset="-122"/>
              </a:rPr>
              <a:t>型锗材料</a:t>
            </a:r>
          </a:p>
          <a:p>
            <a:pPr>
              <a:spcBef>
                <a:spcPct val="50000"/>
              </a:spcBef>
            </a:pPr>
            <a:r>
              <a:rPr lang="zh-CN" altLang="en-US" sz="2000" dirty="0">
                <a:latin typeface="宋体" pitchFamily="2" charset="-122"/>
              </a:rPr>
              <a:t>              </a:t>
            </a:r>
            <a:r>
              <a:rPr lang="en-US" sz="2000" dirty="0">
                <a:latin typeface="宋体" pitchFamily="2" charset="-122"/>
              </a:rPr>
              <a:t>B ——  NPN</a:t>
            </a:r>
            <a:r>
              <a:rPr lang="zh-CN" altLang="en-US" sz="2000" dirty="0">
                <a:latin typeface="宋体" pitchFamily="2" charset="-122"/>
              </a:rPr>
              <a:t>型锗材料</a:t>
            </a:r>
          </a:p>
          <a:p>
            <a:pPr>
              <a:spcBef>
                <a:spcPct val="50000"/>
              </a:spcBef>
            </a:pPr>
            <a:r>
              <a:rPr lang="zh-CN" altLang="en-US" sz="2000" dirty="0">
                <a:latin typeface="宋体" pitchFamily="2" charset="-122"/>
              </a:rPr>
              <a:t>              </a:t>
            </a:r>
            <a:r>
              <a:rPr lang="en-US" sz="2000" dirty="0">
                <a:latin typeface="宋体" pitchFamily="2" charset="-122"/>
              </a:rPr>
              <a:t>C ——  PNP</a:t>
            </a:r>
            <a:r>
              <a:rPr lang="zh-CN" altLang="en-US" sz="2000" dirty="0">
                <a:latin typeface="宋体" pitchFamily="2" charset="-122"/>
              </a:rPr>
              <a:t>型硅材料</a:t>
            </a:r>
          </a:p>
          <a:p>
            <a:pPr>
              <a:spcBef>
                <a:spcPct val="50000"/>
              </a:spcBef>
            </a:pPr>
            <a:r>
              <a:rPr lang="zh-CN" altLang="en-US" sz="2000" dirty="0">
                <a:latin typeface="宋体" pitchFamily="2" charset="-122"/>
              </a:rPr>
              <a:t>              </a:t>
            </a:r>
            <a:r>
              <a:rPr lang="en-US" sz="2000" dirty="0">
                <a:latin typeface="宋体" pitchFamily="2" charset="-122"/>
              </a:rPr>
              <a:t>D ——  NPN</a:t>
            </a:r>
            <a:r>
              <a:rPr lang="zh-CN" altLang="en-US" sz="2000" dirty="0">
                <a:latin typeface="宋体" pitchFamily="2" charset="-122"/>
              </a:rPr>
              <a:t>型硅材料 </a:t>
            </a:r>
          </a:p>
        </p:txBody>
      </p:sp>
      <p:sp>
        <p:nvSpPr>
          <p:cNvPr id="2" name="灯片编号占位符 1">
            <a:extLst>
              <a:ext uri="{FF2B5EF4-FFF2-40B4-BE49-F238E27FC236}">
                <a16:creationId xmlns:a16="http://schemas.microsoft.com/office/drawing/2014/main" id="{0EA2A230-90CB-22B3-7722-C247C64D37D2}"/>
              </a:ext>
            </a:extLst>
          </p:cNvPr>
          <p:cNvSpPr>
            <a:spLocks noGrp="1"/>
          </p:cNvSpPr>
          <p:nvPr>
            <p:ph type="sldNum" sz="quarter" idx="12"/>
          </p:nvPr>
        </p:nvSpPr>
        <p:spPr/>
        <p:txBody>
          <a:bodyPr/>
          <a:lstStyle/>
          <a:p>
            <a:pPr>
              <a:defRPr/>
            </a:pPr>
            <a:fld id="{5FAFB815-62BA-464E-901C-79D108092E38}" type="slidenum">
              <a:rPr lang="zh-CN" altLang="en-US" smtClean="0"/>
              <a:pPr>
                <a:defRPr/>
              </a:pPr>
              <a:t>68</a:t>
            </a:fld>
            <a:endParaRPr lang="en-US" altLang="zh-CN"/>
          </a:p>
        </p:txBody>
      </p:sp>
      <p:sp>
        <p:nvSpPr>
          <p:cNvPr id="81924" name="Text Box 4"/>
          <p:cNvSpPr txBox="1">
            <a:spLocks noChangeArrowheads="1"/>
          </p:cNvSpPr>
          <p:nvPr/>
        </p:nvSpPr>
        <p:spPr bwMode="auto">
          <a:xfrm>
            <a:off x="5905663" y="1093199"/>
            <a:ext cx="2771875" cy="5032147"/>
          </a:xfrm>
          <a:prstGeom prst="rect">
            <a:avLst/>
          </a:prstGeom>
          <a:noFill/>
          <a:ln w="9525">
            <a:noFill/>
            <a:miter lim="800000"/>
            <a:headEnd/>
            <a:tailEnd/>
          </a:ln>
          <a:effectLst/>
        </p:spPr>
        <p:txBody>
          <a:bodyPr wrap="square">
            <a:spAutoFit/>
          </a:bodyPr>
          <a:lstStyle/>
          <a:p>
            <a:pPr algn="ctr">
              <a:spcBef>
                <a:spcPct val="50000"/>
              </a:spcBef>
            </a:pPr>
            <a:r>
              <a:rPr lang="zh-CN" altLang="en-US" sz="2400" b="1" dirty="0">
                <a:latin typeface="宋体" pitchFamily="2" charset="-122"/>
              </a:rPr>
              <a:t>第三部分</a:t>
            </a:r>
            <a:endParaRPr lang="en-US" altLang="zh-CN" sz="2400" b="1" dirty="0">
              <a:latin typeface="宋体" pitchFamily="2" charset="-122"/>
            </a:endParaRPr>
          </a:p>
          <a:p>
            <a:pPr algn="ctr">
              <a:spcBef>
                <a:spcPct val="50000"/>
              </a:spcBef>
            </a:pPr>
            <a:endParaRPr lang="en-US" dirty="0">
              <a:latin typeface="宋体" pitchFamily="2" charset="-122"/>
            </a:endParaRPr>
          </a:p>
          <a:p>
            <a:pPr>
              <a:spcBef>
                <a:spcPct val="50000"/>
              </a:spcBef>
            </a:pPr>
            <a:r>
              <a:rPr lang="en-US" sz="2000" dirty="0">
                <a:latin typeface="宋体" pitchFamily="2" charset="-122"/>
              </a:rPr>
              <a:t>P —— </a:t>
            </a:r>
            <a:r>
              <a:rPr lang="zh-CN" altLang="en-US" sz="2000" dirty="0">
                <a:latin typeface="宋体" pitchFamily="2" charset="-122"/>
              </a:rPr>
              <a:t>普通管</a:t>
            </a:r>
          </a:p>
          <a:p>
            <a:pPr>
              <a:spcBef>
                <a:spcPct val="50000"/>
              </a:spcBef>
            </a:pPr>
            <a:r>
              <a:rPr lang="en-US" sz="2000" dirty="0">
                <a:latin typeface="宋体" pitchFamily="2" charset="-122"/>
              </a:rPr>
              <a:t>W —— </a:t>
            </a:r>
            <a:r>
              <a:rPr lang="zh-CN" altLang="en-US" sz="2000" dirty="0">
                <a:latin typeface="宋体" pitchFamily="2" charset="-122"/>
              </a:rPr>
              <a:t>稳压管</a:t>
            </a:r>
          </a:p>
          <a:p>
            <a:pPr>
              <a:spcBef>
                <a:spcPct val="50000"/>
              </a:spcBef>
            </a:pPr>
            <a:r>
              <a:rPr lang="en-US" sz="2000" dirty="0">
                <a:latin typeface="宋体" pitchFamily="2" charset="-122"/>
              </a:rPr>
              <a:t>Z —— </a:t>
            </a:r>
            <a:r>
              <a:rPr lang="zh-CN" altLang="en-US" sz="2000" dirty="0">
                <a:latin typeface="宋体" pitchFamily="2" charset="-122"/>
              </a:rPr>
              <a:t>整流管</a:t>
            </a:r>
          </a:p>
          <a:p>
            <a:pPr>
              <a:spcBef>
                <a:spcPct val="50000"/>
              </a:spcBef>
            </a:pPr>
            <a:r>
              <a:rPr lang="en-US" sz="2000" dirty="0">
                <a:latin typeface="宋体" pitchFamily="2" charset="-122"/>
              </a:rPr>
              <a:t>N —— </a:t>
            </a:r>
            <a:r>
              <a:rPr lang="zh-CN" altLang="en-US" sz="2000" dirty="0">
                <a:latin typeface="宋体" pitchFamily="2" charset="-122"/>
              </a:rPr>
              <a:t>阻尼管</a:t>
            </a:r>
          </a:p>
          <a:p>
            <a:pPr>
              <a:spcBef>
                <a:spcPct val="50000"/>
              </a:spcBef>
            </a:pPr>
            <a:r>
              <a:rPr lang="en-US" sz="2000" dirty="0">
                <a:latin typeface="宋体" pitchFamily="2" charset="-122"/>
              </a:rPr>
              <a:t>K —— </a:t>
            </a:r>
            <a:r>
              <a:rPr lang="zh-CN" altLang="en-US" sz="2000" dirty="0">
                <a:latin typeface="宋体" pitchFamily="2" charset="-122"/>
              </a:rPr>
              <a:t>开关管</a:t>
            </a:r>
          </a:p>
          <a:p>
            <a:pPr>
              <a:spcBef>
                <a:spcPct val="50000"/>
              </a:spcBef>
            </a:pPr>
            <a:r>
              <a:rPr lang="en-US" sz="2000" dirty="0">
                <a:latin typeface="宋体" pitchFamily="2" charset="-122"/>
              </a:rPr>
              <a:t>X —— </a:t>
            </a:r>
            <a:r>
              <a:rPr lang="zh-CN" altLang="en-US" sz="2000" dirty="0">
                <a:latin typeface="宋体" pitchFamily="2" charset="-122"/>
              </a:rPr>
              <a:t>低频小功率管</a:t>
            </a:r>
          </a:p>
          <a:p>
            <a:pPr>
              <a:spcBef>
                <a:spcPct val="50000"/>
              </a:spcBef>
            </a:pPr>
            <a:r>
              <a:rPr lang="en-US" sz="2000" dirty="0">
                <a:latin typeface="宋体" pitchFamily="2" charset="-122"/>
              </a:rPr>
              <a:t>G —— </a:t>
            </a:r>
            <a:r>
              <a:rPr lang="zh-CN" altLang="en-US" sz="2000" dirty="0">
                <a:latin typeface="宋体" pitchFamily="2" charset="-122"/>
              </a:rPr>
              <a:t>高频小功率管</a:t>
            </a:r>
          </a:p>
          <a:p>
            <a:pPr>
              <a:spcBef>
                <a:spcPct val="50000"/>
              </a:spcBef>
            </a:pPr>
            <a:r>
              <a:rPr lang="en-US" sz="2000" dirty="0">
                <a:latin typeface="宋体" pitchFamily="2" charset="-122"/>
              </a:rPr>
              <a:t>D —— </a:t>
            </a:r>
            <a:r>
              <a:rPr lang="zh-CN" altLang="en-US" sz="2000" dirty="0">
                <a:latin typeface="宋体" pitchFamily="2" charset="-122"/>
              </a:rPr>
              <a:t>低频大功率管</a:t>
            </a:r>
          </a:p>
          <a:p>
            <a:pPr>
              <a:spcBef>
                <a:spcPct val="50000"/>
              </a:spcBef>
            </a:pPr>
            <a:r>
              <a:rPr lang="en-US" sz="2000" dirty="0">
                <a:latin typeface="宋体" pitchFamily="2" charset="-122"/>
              </a:rPr>
              <a:t>A —— </a:t>
            </a:r>
            <a:r>
              <a:rPr lang="zh-CN" altLang="en-US" sz="2000" dirty="0">
                <a:latin typeface="宋体" pitchFamily="2" charset="-122"/>
              </a:rPr>
              <a:t>高频大功率管</a:t>
            </a:r>
            <a:endParaRPr lang="zh-CN" altLang="en-US" dirty="0">
              <a:latin typeface="宋体" pitchFamily="2" charset="-122"/>
            </a:endParaRPr>
          </a:p>
        </p:txBody>
      </p:sp>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Text Box 2"/>
          <p:cNvSpPr txBox="1">
            <a:spLocks noChangeArrowheads="1"/>
          </p:cNvSpPr>
          <p:nvPr/>
        </p:nvSpPr>
        <p:spPr bwMode="auto">
          <a:xfrm>
            <a:off x="670427" y="843106"/>
            <a:ext cx="7416800" cy="769441"/>
          </a:xfrm>
          <a:prstGeom prst="rect">
            <a:avLst/>
          </a:prstGeom>
          <a:noFill/>
          <a:ln w="9525">
            <a:noFill/>
            <a:miter lim="800000"/>
            <a:headEnd/>
            <a:tailEnd/>
          </a:ln>
          <a:effectLst/>
        </p:spPr>
        <p:txBody>
          <a:bodyPr>
            <a:spAutoFit/>
          </a:bodyPr>
          <a:lstStyle/>
          <a:p>
            <a:pPr>
              <a:spcBef>
                <a:spcPct val="50000"/>
              </a:spcBef>
            </a:pPr>
            <a:r>
              <a:rPr lang="zh-CN" altLang="en-US" sz="2200" b="1" dirty="0">
                <a:latin typeface="宋体" pitchFamily="2" charset="-122"/>
              </a:rPr>
              <a:t>第四部分：用数字表示序号 </a:t>
            </a:r>
            <a:br>
              <a:rPr lang="zh-CN" altLang="en-US" sz="2200" b="1" dirty="0">
                <a:latin typeface="宋体" pitchFamily="2" charset="-122"/>
              </a:rPr>
            </a:br>
            <a:r>
              <a:rPr lang="zh-CN" altLang="en-US" sz="2200" b="1" dirty="0">
                <a:latin typeface="宋体" pitchFamily="2" charset="-122"/>
              </a:rPr>
              <a:t>第五部分：用汉语拼音字母表示规格号 </a:t>
            </a:r>
          </a:p>
        </p:txBody>
      </p:sp>
      <p:sp>
        <p:nvSpPr>
          <p:cNvPr id="82947" name="Text Box 3"/>
          <p:cNvSpPr txBox="1">
            <a:spLocks noChangeArrowheads="1"/>
          </p:cNvSpPr>
          <p:nvPr/>
        </p:nvSpPr>
        <p:spPr bwMode="auto">
          <a:xfrm>
            <a:off x="1907704" y="1684389"/>
            <a:ext cx="7561262" cy="461665"/>
          </a:xfrm>
          <a:prstGeom prst="rect">
            <a:avLst/>
          </a:prstGeom>
          <a:noFill/>
          <a:ln w="9525">
            <a:noFill/>
            <a:miter lim="800000"/>
            <a:headEnd/>
            <a:tailEnd/>
          </a:ln>
          <a:effectLst/>
        </p:spPr>
        <p:txBody>
          <a:bodyPr>
            <a:spAutoFit/>
          </a:bodyPr>
          <a:lstStyle/>
          <a:p>
            <a:pPr lvl="1"/>
            <a:r>
              <a:rPr lang="zh-CN" altLang="en-US" b="1" dirty="0">
                <a:latin typeface="宋体" pitchFamily="2" charset="-122"/>
              </a:rPr>
              <a:t>例如</a:t>
            </a:r>
            <a:r>
              <a:rPr lang="en-US" b="1" dirty="0">
                <a:latin typeface="宋体" pitchFamily="2" charset="-122"/>
              </a:rPr>
              <a:t>: 2AP9A </a:t>
            </a:r>
            <a:r>
              <a:rPr lang="en-US" dirty="0">
                <a:latin typeface="宋体"/>
              </a:rPr>
              <a:t>——</a:t>
            </a:r>
            <a:r>
              <a:rPr lang="en-US" dirty="0"/>
              <a:t> </a:t>
            </a:r>
            <a:r>
              <a:rPr lang="zh-CN" altLang="en-US" b="1" dirty="0">
                <a:latin typeface="宋体" pitchFamily="2" charset="-122"/>
              </a:rPr>
              <a:t>普通</a:t>
            </a:r>
            <a:r>
              <a:rPr lang="zh-CN" altLang="en-US" b="1" dirty="0"/>
              <a:t>锗</a:t>
            </a:r>
            <a:r>
              <a:rPr lang="zh-CN" altLang="en-US" b="1" dirty="0">
                <a:latin typeface="宋体" pitchFamily="2" charset="-122"/>
              </a:rPr>
              <a:t>二极管</a:t>
            </a:r>
            <a:endParaRPr lang="zh-CN" altLang="en-US" dirty="0">
              <a:latin typeface="宋体" pitchFamily="2" charset="-122"/>
            </a:endParaRPr>
          </a:p>
        </p:txBody>
      </p:sp>
      <p:sp>
        <p:nvSpPr>
          <p:cNvPr id="82948" name="Text Box 4"/>
          <p:cNvSpPr txBox="1">
            <a:spLocks noChangeArrowheads="1"/>
          </p:cNvSpPr>
          <p:nvPr/>
        </p:nvSpPr>
        <p:spPr bwMode="auto">
          <a:xfrm>
            <a:off x="387082" y="2219709"/>
            <a:ext cx="8748712" cy="4108817"/>
          </a:xfrm>
          <a:prstGeom prst="rect">
            <a:avLst/>
          </a:prstGeom>
          <a:noFill/>
          <a:ln w="9525">
            <a:noFill/>
            <a:miter lim="800000"/>
            <a:headEnd/>
            <a:tailEnd/>
          </a:ln>
          <a:effectLst/>
        </p:spPr>
        <p:txBody>
          <a:bodyPr>
            <a:spAutoFit/>
          </a:bodyPr>
          <a:lstStyle/>
          <a:p>
            <a:pPr>
              <a:spcBef>
                <a:spcPct val="50000"/>
              </a:spcBef>
            </a:pPr>
            <a:r>
              <a:rPr lang="zh-CN" altLang="en-US" sz="2200" b="1" dirty="0">
                <a:latin typeface="宋体" pitchFamily="2" charset="-122"/>
              </a:rPr>
              <a:t>（</a:t>
            </a:r>
            <a:r>
              <a:rPr lang="en-US" sz="2200" b="1" dirty="0">
                <a:latin typeface="宋体" pitchFamily="2" charset="-122"/>
              </a:rPr>
              <a:t>2</a:t>
            </a:r>
            <a:r>
              <a:rPr lang="zh-CN" altLang="en-US" sz="2200" b="1" dirty="0">
                <a:latin typeface="宋体" pitchFamily="2" charset="-122"/>
              </a:rPr>
              <a:t>）美国半导体分立器件型号命名方法 </a:t>
            </a:r>
          </a:p>
          <a:p>
            <a:pPr>
              <a:spcBef>
                <a:spcPct val="50000"/>
              </a:spcBef>
            </a:pPr>
            <a:r>
              <a:rPr lang="zh-CN" altLang="en-US" sz="2200" b="1" dirty="0">
                <a:latin typeface="宋体" pitchFamily="2" charset="-122"/>
              </a:rPr>
              <a:t>           美国晶体管或其他半导体器件的命名法较混乱。美国电子工业协会半导体分立器件命名方法如下：</a:t>
            </a:r>
          </a:p>
          <a:p>
            <a:pPr>
              <a:spcBef>
                <a:spcPct val="50000"/>
              </a:spcBef>
            </a:pPr>
            <a:r>
              <a:rPr lang="zh-CN" altLang="en-US" sz="2200" b="1" dirty="0">
                <a:latin typeface="宋体" pitchFamily="2" charset="-122"/>
              </a:rPr>
              <a:t> </a:t>
            </a:r>
            <a:br>
              <a:rPr lang="zh-CN" altLang="en-US" sz="2200" b="1" dirty="0">
                <a:latin typeface="宋体" pitchFamily="2" charset="-122"/>
              </a:rPr>
            </a:br>
            <a:r>
              <a:rPr lang="zh-CN" altLang="en-US" sz="2200" b="1" dirty="0">
                <a:latin typeface="宋体" pitchFamily="2" charset="-122"/>
              </a:rPr>
              <a:t>第一部分：用符号表示器件用途的类型。</a:t>
            </a:r>
          </a:p>
          <a:p>
            <a:pPr>
              <a:spcBef>
                <a:spcPct val="50000"/>
              </a:spcBef>
            </a:pPr>
            <a:r>
              <a:rPr lang="zh-CN" altLang="en-US" sz="2200" b="1" dirty="0">
                <a:latin typeface="宋体" pitchFamily="2" charset="-122"/>
              </a:rPr>
              <a:t>          </a:t>
            </a:r>
            <a:r>
              <a:rPr lang="en-US" sz="2200" b="1" dirty="0">
                <a:latin typeface="宋体" pitchFamily="2" charset="-122"/>
              </a:rPr>
              <a:t>JAN   —— </a:t>
            </a:r>
            <a:r>
              <a:rPr lang="zh-CN" altLang="en-US" sz="2200" b="1" dirty="0">
                <a:latin typeface="宋体" pitchFamily="2" charset="-122"/>
              </a:rPr>
              <a:t>军级              </a:t>
            </a:r>
            <a:r>
              <a:rPr lang="en-US" sz="2200" b="1" dirty="0">
                <a:latin typeface="宋体" pitchFamily="2" charset="-122"/>
              </a:rPr>
              <a:t>JANTX —— </a:t>
            </a:r>
            <a:r>
              <a:rPr lang="zh-CN" altLang="en-US" sz="2200" b="1" dirty="0">
                <a:latin typeface="宋体" pitchFamily="2" charset="-122"/>
              </a:rPr>
              <a:t>特军级</a:t>
            </a:r>
            <a:endParaRPr lang="en-US" altLang="zh-CN" sz="2200" b="1" dirty="0">
              <a:latin typeface="宋体" pitchFamily="2" charset="-122"/>
            </a:endParaRPr>
          </a:p>
          <a:p>
            <a:pPr>
              <a:spcBef>
                <a:spcPct val="50000"/>
              </a:spcBef>
            </a:pPr>
            <a:r>
              <a:rPr lang="zh-CN" altLang="en-US" sz="2400" dirty="0">
                <a:latin typeface="宋体" pitchFamily="2" charset="-122"/>
              </a:rPr>
              <a:t>         </a:t>
            </a:r>
            <a:r>
              <a:rPr lang="en-US" altLang="zh-CN" sz="2200" b="1" dirty="0">
                <a:latin typeface="宋体" pitchFamily="2" charset="-122"/>
              </a:rPr>
              <a:t>JANTXV —— </a:t>
            </a:r>
            <a:r>
              <a:rPr lang="zh-CN" altLang="en-US" sz="2200" b="1" dirty="0">
                <a:latin typeface="宋体" pitchFamily="2" charset="-122"/>
              </a:rPr>
              <a:t>超特军级          </a:t>
            </a:r>
            <a:r>
              <a:rPr lang="en-US" altLang="zh-CN" sz="2200" b="1" dirty="0">
                <a:latin typeface="宋体" pitchFamily="2" charset="-122"/>
              </a:rPr>
              <a:t>JANS   —— </a:t>
            </a:r>
            <a:r>
              <a:rPr lang="zh-CN" altLang="en-US" sz="2200" b="1" dirty="0">
                <a:latin typeface="宋体" pitchFamily="2" charset="-122"/>
              </a:rPr>
              <a:t>宇航级</a:t>
            </a:r>
          </a:p>
          <a:p>
            <a:pPr>
              <a:spcBef>
                <a:spcPct val="50000"/>
              </a:spcBef>
            </a:pPr>
            <a:r>
              <a:rPr lang="zh-CN" altLang="en-US" sz="2200" b="1" dirty="0">
                <a:latin typeface="宋体" pitchFamily="2" charset="-122"/>
              </a:rPr>
              <a:t>         （无）  </a:t>
            </a:r>
            <a:r>
              <a:rPr lang="en-US" altLang="zh-CN" sz="2200" b="1" dirty="0">
                <a:latin typeface="宋体" pitchFamily="2" charset="-122"/>
              </a:rPr>
              <a:t>—— </a:t>
            </a:r>
            <a:r>
              <a:rPr lang="zh-CN" altLang="en-US" sz="2200" b="1" dirty="0">
                <a:latin typeface="宋体" pitchFamily="2" charset="-122"/>
              </a:rPr>
              <a:t>非军用品</a:t>
            </a:r>
          </a:p>
          <a:p>
            <a:pPr>
              <a:spcBef>
                <a:spcPct val="50000"/>
              </a:spcBef>
            </a:pPr>
            <a:endParaRPr lang="zh-CN" altLang="en-US" dirty="0"/>
          </a:p>
        </p:txBody>
      </p:sp>
      <p:sp>
        <p:nvSpPr>
          <p:cNvPr id="2" name="灯片编号占位符 1">
            <a:extLst>
              <a:ext uri="{FF2B5EF4-FFF2-40B4-BE49-F238E27FC236}">
                <a16:creationId xmlns:a16="http://schemas.microsoft.com/office/drawing/2014/main" id="{AEDF67B0-25D3-0D51-BB27-A4AE45991232}"/>
              </a:ext>
            </a:extLst>
          </p:cNvPr>
          <p:cNvSpPr>
            <a:spLocks noGrp="1"/>
          </p:cNvSpPr>
          <p:nvPr>
            <p:ph type="sldNum" sz="quarter" idx="12"/>
          </p:nvPr>
        </p:nvSpPr>
        <p:spPr/>
        <p:txBody>
          <a:bodyPr/>
          <a:lstStyle/>
          <a:p>
            <a:pPr>
              <a:defRPr/>
            </a:pPr>
            <a:fld id="{5FAFB815-62BA-464E-901C-79D108092E38}" type="slidenum">
              <a:rPr lang="zh-CN" altLang="en-US" smtClean="0"/>
              <a:pPr>
                <a:defRPr/>
              </a:pPr>
              <a:t>69</a:t>
            </a:fld>
            <a:endParaRPr lang="en-US" altLang="zh-CN"/>
          </a:p>
        </p:txBody>
      </p:sp>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1" name="Text Box 3"/>
          <p:cNvSpPr txBox="1">
            <a:spLocks noChangeArrowheads="1"/>
          </p:cNvSpPr>
          <p:nvPr/>
        </p:nvSpPr>
        <p:spPr bwMode="auto">
          <a:xfrm>
            <a:off x="395349" y="836712"/>
            <a:ext cx="8748651" cy="6355586"/>
          </a:xfrm>
          <a:prstGeom prst="rect">
            <a:avLst/>
          </a:prstGeom>
          <a:noFill/>
          <a:ln w="9525">
            <a:noFill/>
            <a:miter lim="800000"/>
            <a:headEnd/>
            <a:tailEnd/>
          </a:ln>
          <a:effectLst/>
        </p:spPr>
        <p:txBody>
          <a:bodyPr wrap="square">
            <a:spAutoFit/>
          </a:bodyPr>
          <a:lstStyle/>
          <a:p>
            <a:pPr>
              <a:spcBef>
                <a:spcPct val="50000"/>
              </a:spcBef>
            </a:pPr>
            <a:r>
              <a:rPr lang="zh-CN" altLang="en-US" sz="2200" b="1" dirty="0">
                <a:latin typeface="宋体" pitchFamily="2" charset="-122"/>
              </a:rPr>
              <a:t>第二部分：用数字表示</a:t>
            </a:r>
            <a:r>
              <a:rPr lang="en-US" sz="2200" b="1" dirty="0">
                <a:latin typeface="宋体" pitchFamily="2" charset="-122"/>
              </a:rPr>
              <a:t>PN</a:t>
            </a:r>
            <a:r>
              <a:rPr lang="zh-CN" altLang="en-US" sz="2200" b="1" dirty="0">
                <a:latin typeface="宋体" pitchFamily="2" charset="-122"/>
              </a:rPr>
              <a:t>结数目</a:t>
            </a:r>
          </a:p>
          <a:p>
            <a:pPr>
              <a:spcBef>
                <a:spcPct val="50000"/>
              </a:spcBef>
            </a:pPr>
            <a:r>
              <a:rPr lang="zh-CN" altLang="en-US" dirty="0">
                <a:latin typeface="宋体" pitchFamily="2" charset="-122"/>
              </a:rPr>
              <a:t>          </a:t>
            </a:r>
            <a:r>
              <a:rPr lang="en-US" dirty="0">
                <a:latin typeface="宋体" pitchFamily="2" charset="-122"/>
              </a:rPr>
              <a:t>1 </a:t>
            </a:r>
            <a:r>
              <a:rPr lang="en-US" dirty="0">
                <a:latin typeface="宋体"/>
              </a:rPr>
              <a:t>——</a:t>
            </a:r>
            <a:r>
              <a:rPr lang="en-US" dirty="0"/>
              <a:t> </a:t>
            </a:r>
            <a:r>
              <a:rPr lang="zh-CN" altLang="en-US" dirty="0">
                <a:latin typeface="宋体" pitchFamily="2" charset="-122"/>
              </a:rPr>
              <a:t>二极管</a:t>
            </a:r>
          </a:p>
          <a:p>
            <a:pPr>
              <a:spcBef>
                <a:spcPct val="50000"/>
              </a:spcBef>
            </a:pPr>
            <a:r>
              <a:rPr lang="zh-CN" altLang="en-US" dirty="0">
                <a:latin typeface="宋体" pitchFamily="2" charset="-122"/>
              </a:rPr>
              <a:t>          </a:t>
            </a:r>
            <a:r>
              <a:rPr lang="en-US" dirty="0">
                <a:latin typeface="宋体" pitchFamily="2" charset="-122"/>
              </a:rPr>
              <a:t>2 </a:t>
            </a:r>
            <a:r>
              <a:rPr lang="en-US" dirty="0">
                <a:latin typeface="宋体"/>
              </a:rPr>
              <a:t>——</a:t>
            </a:r>
            <a:r>
              <a:rPr lang="en-US" dirty="0"/>
              <a:t> </a:t>
            </a:r>
            <a:r>
              <a:rPr lang="zh-CN" altLang="en-US" dirty="0">
                <a:latin typeface="宋体" pitchFamily="2" charset="-122"/>
              </a:rPr>
              <a:t>三极管</a:t>
            </a:r>
          </a:p>
          <a:p>
            <a:pPr>
              <a:spcBef>
                <a:spcPct val="50000"/>
              </a:spcBef>
            </a:pPr>
            <a:r>
              <a:rPr lang="zh-CN" altLang="en-US" dirty="0">
                <a:latin typeface="宋体" pitchFamily="2" charset="-122"/>
              </a:rPr>
              <a:t>          </a:t>
            </a:r>
            <a:r>
              <a:rPr lang="en-US" dirty="0">
                <a:latin typeface="宋体" pitchFamily="2" charset="-122"/>
              </a:rPr>
              <a:t>3 </a:t>
            </a:r>
            <a:r>
              <a:rPr lang="en-US" dirty="0">
                <a:latin typeface="宋体"/>
              </a:rPr>
              <a:t>——</a:t>
            </a:r>
            <a:r>
              <a:rPr lang="en-US" dirty="0"/>
              <a:t> </a:t>
            </a:r>
            <a:r>
              <a:rPr lang="zh-CN" altLang="en-US" dirty="0">
                <a:latin typeface="宋体" pitchFamily="2" charset="-122"/>
              </a:rPr>
              <a:t>三个</a:t>
            </a:r>
            <a:r>
              <a:rPr lang="en-US" dirty="0">
                <a:latin typeface="宋体" pitchFamily="2" charset="-122"/>
              </a:rPr>
              <a:t>PN</a:t>
            </a:r>
            <a:r>
              <a:rPr lang="zh-CN" altLang="en-US" dirty="0">
                <a:latin typeface="宋体" pitchFamily="2" charset="-122"/>
              </a:rPr>
              <a:t>结器件</a:t>
            </a:r>
          </a:p>
          <a:p>
            <a:pPr>
              <a:spcBef>
                <a:spcPct val="50000"/>
              </a:spcBef>
            </a:pPr>
            <a:r>
              <a:rPr lang="zh-CN" altLang="en-US" dirty="0">
                <a:latin typeface="宋体" pitchFamily="2" charset="-122"/>
              </a:rPr>
              <a:t>          </a:t>
            </a:r>
            <a:r>
              <a:rPr lang="en-US" dirty="0">
                <a:latin typeface="宋体" pitchFamily="2" charset="-122"/>
              </a:rPr>
              <a:t>n </a:t>
            </a:r>
            <a:r>
              <a:rPr lang="en-US" dirty="0">
                <a:latin typeface="宋体"/>
              </a:rPr>
              <a:t>——</a:t>
            </a:r>
            <a:r>
              <a:rPr lang="en-US" dirty="0"/>
              <a:t>  </a:t>
            </a:r>
            <a:r>
              <a:rPr lang="en-US" dirty="0">
                <a:latin typeface="宋体" pitchFamily="2" charset="-122"/>
              </a:rPr>
              <a:t>n</a:t>
            </a:r>
            <a:r>
              <a:rPr lang="zh-CN" altLang="en-US" dirty="0">
                <a:latin typeface="宋体" pitchFamily="2" charset="-122"/>
              </a:rPr>
              <a:t>个</a:t>
            </a:r>
            <a:r>
              <a:rPr lang="en-US" dirty="0">
                <a:latin typeface="宋体" pitchFamily="2" charset="-122"/>
              </a:rPr>
              <a:t>PN</a:t>
            </a:r>
            <a:r>
              <a:rPr lang="zh-CN" altLang="en-US" dirty="0">
                <a:latin typeface="宋体" pitchFamily="2" charset="-122"/>
              </a:rPr>
              <a:t>结器件</a:t>
            </a:r>
            <a:endParaRPr lang="en-US" altLang="zh-CN" dirty="0">
              <a:latin typeface="宋体" pitchFamily="2" charset="-122"/>
            </a:endParaRPr>
          </a:p>
          <a:p>
            <a:pPr>
              <a:spcBef>
                <a:spcPct val="50000"/>
              </a:spcBef>
            </a:pPr>
            <a:r>
              <a:rPr lang="zh-CN" altLang="en-US" sz="2200" b="1" dirty="0">
                <a:latin typeface="宋体" pitchFamily="2" charset="-122"/>
              </a:rPr>
              <a:t>第三部分：美国电子工业协会（</a:t>
            </a:r>
            <a:r>
              <a:rPr lang="en-US" altLang="zh-CN" sz="2200" b="1" dirty="0">
                <a:latin typeface="宋体" pitchFamily="2" charset="-122"/>
              </a:rPr>
              <a:t>EIA</a:t>
            </a:r>
            <a:r>
              <a:rPr lang="zh-CN" altLang="en-US" sz="2200" b="1" dirty="0">
                <a:latin typeface="宋体" pitchFamily="2" charset="-122"/>
              </a:rPr>
              <a:t>）注册标志</a:t>
            </a:r>
          </a:p>
          <a:p>
            <a:pPr>
              <a:spcBef>
                <a:spcPct val="50000"/>
              </a:spcBef>
            </a:pPr>
            <a:r>
              <a:rPr lang="zh-CN" altLang="en-US" dirty="0">
                <a:latin typeface="宋体" pitchFamily="2" charset="-122"/>
              </a:rPr>
              <a:t>          </a:t>
            </a:r>
            <a:r>
              <a:rPr lang="en-US" altLang="zh-CN" dirty="0">
                <a:latin typeface="宋体" pitchFamily="2" charset="-122"/>
              </a:rPr>
              <a:t>N </a:t>
            </a:r>
            <a:r>
              <a:rPr lang="en-US" altLang="zh-CN" dirty="0">
                <a:latin typeface="宋体"/>
              </a:rPr>
              <a:t>——</a:t>
            </a:r>
            <a:r>
              <a:rPr lang="en-US" altLang="zh-CN" dirty="0"/>
              <a:t> </a:t>
            </a:r>
            <a:r>
              <a:rPr lang="zh-CN" altLang="en-US" dirty="0">
                <a:latin typeface="宋体" pitchFamily="2" charset="-122"/>
              </a:rPr>
              <a:t>该器件已在美国电子工业协会（</a:t>
            </a:r>
            <a:r>
              <a:rPr lang="en-US" altLang="zh-CN" dirty="0">
                <a:latin typeface="宋体" pitchFamily="2" charset="-122"/>
              </a:rPr>
              <a:t>EIA</a:t>
            </a:r>
            <a:r>
              <a:rPr lang="zh-CN" altLang="en-US" dirty="0">
                <a:latin typeface="宋体" pitchFamily="2" charset="-122"/>
              </a:rPr>
              <a:t>）注册登记。</a:t>
            </a:r>
            <a:endParaRPr lang="en-US" altLang="zh-CN" dirty="0">
              <a:latin typeface="宋体" pitchFamily="2" charset="-122"/>
            </a:endParaRPr>
          </a:p>
          <a:p>
            <a:pPr>
              <a:spcBef>
                <a:spcPct val="50000"/>
              </a:spcBef>
            </a:pPr>
            <a:r>
              <a:rPr lang="zh-CN" altLang="en-US" sz="2200" b="1" dirty="0">
                <a:latin typeface="宋体" pitchFamily="2" charset="-122"/>
              </a:rPr>
              <a:t>第四部分：美国电子工业协会登记顺序号。</a:t>
            </a:r>
          </a:p>
          <a:p>
            <a:pPr>
              <a:spcBef>
                <a:spcPct val="50000"/>
              </a:spcBef>
            </a:pPr>
            <a:r>
              <a:rPr lang="zh-CN" altLang="en-US" dirty="0">
                <a:latin typeface="宋体" pitchFamily="2" charset="-122"/>
              </a:rPr>
              <a:t>          多位数字 </a:t>
            </a:r>
            <a:r>
              <a:rPr lang="en-US" altLang="zh-CN" dirty="0">
                <a:latin typeface="宋体"/>
              </a:rPr>
              <a:t>——</a:t>
            </a:r>
            <a:r>
              <a:rPr lang="en-US" altLang="zh-CN" dirty="0"/>
              <a:t> </a:t>
            </a:r>
            <a:r>
              <a:rPr lang="zh-CN" altLang="en-US" dirty="0">
                <a:latin typeface="宋体" pitchFamily="2" charset="-122"/>
              </a:rPr>
              <a:t>该器件在美国电子工业 协会登记的顺序号。 </a:t>
            </a:r>
            <a:br>
              <a:rPr lang="zh-CN" altLang="en-US" dirty="0">
                <a:latin typeface="宋体" pitchFamily="2" charset="-122"/>
              </a:rPr>
            </a:br>
            <a:br>
              <a:rPr lang="zh-CN" altLang="en-US" dirty="0">
                <a:latin typeface="宋体" pitchFamily="2" charset="-122"/>
              </a:rPr>
            </a:br>
            <a:r>
              <a:rPr lang="zh-CN" altLang="en-US" sz="2200" b="1" dirty="0">
                <a:latin typeface="宋体" pitchFamily="2" charset="-122"/>
              </a:rPr>
              <a:t>第五部分：用字母表示器件分档。</a:t>
            </a:r>
            <a:r>
              <a:rPr lang="en-US" altLang="zh-CN" sz="2200" b="1" dirty="0">
                <a:latin typeface="宋体" pitchFamily="2" charset="-122"/>
              </a:rPr>
              <a:t>A</a:t>
            </a:r>
            <a:r>
              <a:rPr lang="zh-CN" altLang="en-US" sz="2200" b="1" dirty="0">
                <a:latin typeface="宋体" pitchFamily="2" charset="-122"/>
              </a:rPr>
              <a:t>、</a:t>
            </a:r>
            <a:r>
              <a:rPr lang="en-US" altLang="zh-CN" sz="2200" b="1" dirty="0">
                <a:latin typeface="宋体" pitchFamily="2" charset="-122"/>
              </a:rPr>
              <a:t>B</a:t>
            </a:r>
            <a:r>
              <a:rPr lang="zh-CN" altLang="en-US" sz="2200" b="1" dirty="0">
                <a:latin typeface="宋体" pitchFamily="2" charset="-122"/>
              </a:rPr>
              <a:t>、</a:t>
            </a:r>
            <a:r>
              <a:rPr lang="en-US" altLang="zh-CN" sz="2200" b="1" dirty="0">
                <a:latin typeface="宋体" pitchFamily="2" charset="-122"/>
              </a:rPr>
              <a:t>C</a:t>
            </a:r>
            <a:r>
              <a:rPr lang="zh-CN" altLang="en-US" sz="2200" b="1" dirty="0">
                <a:latin typeface="宋体" pitchFamily="2" charset="-122"/>
              </a:rPr>
              <a:t>、</a:t>
            </a:r>
            <a:r>
              <a:rPr lang="en-US" altLang="zh-CN" sz="2200" b="1" dirty="0">
                <a:latin typeface="宋体" pitchFamily="2" charset="-122"/>
              </a:rPr>
              <a:t>D……  —— </a:t>
            </a:r>
            <a:r>
              <a:rPr lang="zh-CN" altLang="en-US" sz="2200" b="1" dirty="0">
                <a:latin typeface="宋体" pitchFamily="2" charset="-122"/>
              </a:rPr>
              <a:t>同一型号器件的不同档别</a:t>
            </a:r>
            <a:r>
              <a:rPr lang="zh-CN" altLang="en-US" dirty="0">
                <a:latin typeface="宋体" pitchFamily="2" charset="-122"/>
              </a:rPr>
              <a:t>。</a:t>
            </a:r>
          </a:p>
          <a:p>
            <a:pPr>
              <a:spcBef>
                <a:spcPct val="50000"/>
              </a:spcBef>
            </a:pPr>
            <a:r>
              <a:rPr lang="zh-CN" altLang="en-US" dirty="0">
                <a:latin typeface="宋体" pitchFamily="2" charset="-122"/>
              </a:rPr>
              <a:t>           例如：</a:t>
            </a:r>
            <a:r>
              <a:rPr lang="en-US" altLang="zh-CN" dirty="0">
                <a:latin typeface="宋体" pitchFamily="2" charset="-122"/>
              </a:rPr>
              <a:t>1N4001 </a:t>
            </a:r>
            <a:r>
              <a:rPr lang="en-US" altLang="zh-CN" dirty="0">
                <a:latin typeface="宋体"/>
              </a:rPr>
              <a:t>——</a:t>
            </a:r>
            <a:r>
              <a:rPr lang="en-US" altLang="zh-CN" dirty="0"/>
              <a:t> </a:t>
            </a:r>
          </a:p>
          <a:p>
            <a:pPr>
              <a:spcBef>
                <a:spcPct val="50000"/>
              </a:spcBef>
            </a:pPr>
            <a:r>
              <a:rPr lang="zh-CN" altLang="en-US" dirty="0">
                <a:latin typeface="宋体" pitchFamily="2" charset="-122"/>
              </a:rPr>
              <a:t> </a:t>
            </a:r>
          </a:p>
          <a:p>
            <a:pPr>
              <a:spcBef>
                <a:spcPct val="50000"/>
              </a:spcBef>
            </a:pPr>
            <a:r>
              <a:rPr lang="zh-CN" altLang="en-US" dirty="0"/>
              <a:t> </a:t>
            </a:r>
            <a:br>
              <a:rPr lang="zh-CN" altLang="en-US" dirty="0"/>
            </a:br>
            <a:endParaRPr lang="zh-CN" altLang="en-US" dirty="0"/>
          </a:p>
        </p:txBody>
      </p:sp>
      <p:sp>
        <p:nvSpPr>
          <p:cNvPr id="2" name="灯片编号占位符 1">
            <a:extLst>
              <a:ext uri="{FF2B5EF4-FFF2-40B4-BE49-F238E27FC236}">
                <a16:creationId xmlns:a16="http://schemas.microsoft.com/office/drawing/2014/main" id="{C4E8F459-596B-FFFE-7E23-255914D266CE}"/>
              </a:ext>
            </a:extLst>
          </p:cNvPr>
          <p:cNvSpPr>
            <a:spLocks noGrp="1"/>
          </p:cNvSpPr>
          <p:nvPr>
            <p:ph type="sldNum" sz="quarter" idx="12"/>
          </p:nvPr>
        </p:nvSpPr>
        <p:spPr/>
        <p:txBody>
          <a:bodyPr/>
          <a:lstStyle/>
          <a:p>
            <a:pPr>
              <a:defRPr/>
            </a:pPr>
            <a:fld id="{5FAFB815-62BA-464E-901C-79D108092E38}" type="slidenum">
              <a:rPr lang="zh-CN" altLang="en-US" smtClean="0"/>
              <a:pPr>
                <a:defRPr/>
              </a:pPr>
              <a:t>70</a:t>
            </a:fld>
            <a:endParaRPr lang="en-US" altLang="zh-CN"/>
          </a:p>
        </p:txBody>
      </p:sp>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ext Box 2"/>
          <p:cNvSpPr txBox="1">
            <a:spLocks noChangeArrowheads="1"/>
          </p:cNvSpPr>
          <p:nvPr/>
        </p:nvSpPr>
        <p:spPr bwMode="auto">
          <a:xfrm>
            <a:off x="467544" y="248563"/>
            <a:ext cx="7416800" cy="430887"/>
          </a:xfrm>
          <a:prstGeom prst="rect">
            <a:avLst/>
          </a:prstGeom>
          <a:noFill/>
          <a:ln w="9525">
            <a:noFill/>
            <a:miter lim="800000"/>
            <a:headEnd/>
            <a:tailEnd/>
          </a:ln>
          <a:effectLst/>
        </p:spPr>
        <p:txBody>
          <a:bodyPr>
            <a:spAutoFit/>
          </a:bodyPr>
          <a:lstStyle/>
          <a:p>
            <a:pPr>
              <a:spcBef>
                <a:spcPct val="50000"/>
              </a:spcBef>
            </a:pPr>
            <a:r>
              <a:rPr lang="en-US" sz="2200" b="1" dirty="0">
                <a:solidFill>
                  <a:schemeClr val="accent1"/>
                </a:solidFill>
                <a:latin typeface="宋体" pitchFamily="2" charset="-122"/>
              </a:rPr>
              <a:t>7. </a:t>
            </a:r>
            <a:r>
              <a:rPr lang="zh-CN" altLang="en-US" sz="2200" b="1" dirty="0">
                <a:solidFill>
                  <a:schemeClr val="accent1"/>
                </a:solidFill>
                <a:latin typeface="宋体" pitchFamily="2" charset="-122"/>
              </a:rPr>
              <a:t>几种常见的二极管</a:t>
            </a:r>
          </a:p>
        </p:txBody>
      </p:sp>
      <p:pic>
        <p:nvPicPr>
          <p:cNvPr id="86019" name="Picture 3" descr="稳压二极管"/>
          <p:cNvPicPr>
            <a:picLocks noChangeAspect="1" noChangeArrowheads="1"/>
          </p:cNvPicPr>
          <p:nvPr/>
        </p:nvPicPr>
        <p:blipFill>
          <a:blip r:embed="rId3" cstate="print"/>
          <a:srcRect/>
          <a:stretch>
            <a:fillRect/>
          </a:stretch>
        </p:blipFill>
        <p:spPr bwMode="auto">
          <a:xfrm>
            <a:off x="4572000" y="908050"/>
            <a:ext cx="3962400" cy="1582738"/>
          </a:xfrm>
          <a:prstGeom prst="rect">
            <a:avLst/>
          </a:prstGeom>
          <a:noFill/>
          <a:ln w="9525">
            <a:noFill/>
            <a:miter lim="800000"/>
            <a:headEnd/>
            <a:tailEnd/>
          </a:ln>
        </p:spPr>
      </p:pic>
      <p:graphicFrame>
        <p:nvGraphicFramePr>
          <p:cNvPr id="86020" name="Object 4"/>
          <p:cNvGraphicFramePr>
            <a:graphicFrameLocks noGrp="1" noChangeAspect="1"/>
          </p:cNvGraphicFramePr>
          <p:nvPr>
            <p:ph/>
          </p:nvPr>
        </p:nvGraphicFramePr>
        <p:xfrm>
          <a:off x="1166813" y="1639888"/>
          <a:ext cx="2374900" cy="827087"/>
        </p:xfrm>
        <a:graphic>
          <a:graphicData uri="http://schemas.openxmlformats.org/presentationml/2006/ole">
            <mc:AlternateContent xmlns:mc="http://schemas.openxmlformats.org/markup-compatibility/2006">
              <mc:Choice xmlns:v="urn:schemas-microsoft-com:vml" Requires="v">
                <p:oleObj r:id="rId4" imgW="1943417" imgH="676592" progId="Word.Picture.8">
                  <p:embed/>
                </p:oleObj>
              </mc:Choice>
              <mc:Fallback>
                <p:oleObj r:id="rId4" imgW="1943417" imgH="676592" progId="Word.Picture.8">
                  <p:embed/>
                  <p:pic>
                    <p:nvPicPr>
                      <p:cNvPr id="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66813" y="1639888"/>
                        <a:ext cx="2374900" cy="8270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灯片编号占位符 1">
            <a:extLst>
              <a:ext uri="{FF2B5EF4-FFF2-40B4-BE49-F238E27FC236}">
                <a16:creationId xmlns:a16="http://schemas.microsoft.com/office/drawing/2014/main" id="{A5954EF6-58C0-F15A-1A86-7AEA9AD949FA}"/>
              </a:ext>
            </a:extLst>
          </p:cNvPr>
          <p:cNvSpPr>
            <a:spLocks noGrp="1"/>
          </p:cNvSpPr>
          <p:nvPr>
            <p:ph type="sldNum" sz="quarter" idx="12"/>
          </p:nvPr>
        </p:nvSpPr>
        <p:spPr/>
        <p:txBody>
          <a:bodyPr/>
          <a:lstStyle/>
          <a:p>
            <a:fld id="{F01E0188-923C-4F1E-B791-BE5C95D6091A}" type="slidenum">
              <a:rPr lang="zh-CN" altLang="en-US" smtClean="0"/>
              <a:pPr/>
              <a:t>71</a:t>
            </a:fld>
            <a:endParaRPr lang="en-US"/>
          </a:p>
        </p:txBody>
      </p:sp>
      <p:pic>
        <p:nvPicPr>
          <p:cNvPr id="86021" name="Picture 5" descr="P1010002"/>
          <p:cNvPicPr>
            <a:picLocks noChangeAspect="1" noChangeArrowheads="1"/>
          </p:cNvPicPr>
          <p:nvPr/>
        </p:nvPicPr>
        <p:blipFill>
          <a:blip r:embed="rId6" cstate="print"/>
          <a:srcRect/>
          <a:stretch>
            <a:fillRect/>
          </a:stretch>
        </p:blipFill>
        <p:spPr bwMode="auto">
          <a:xfrm>
            <a:off x="4787900" y="3644900"/>
            <a:ext cx="3505200" cy="2160588"/>
          </a:xfrm>
          <a:prstGeom prst="rect">
            <a:avLst/>
          </a:prstGeom>
          <a:noFill/>
          <a:ln w="9525">
            <a:noFill/>
            <a:miter lim="800000"/>
            <a:headEnd/>
            <a:tailEnd/>
          </a:ln>
        </p:spPr>
      </p:pic>
      <p:sp>
        <p:nvSpPr>
          <p:cNvPr id="86022" name="Text Box 6"/>
          <p:cNvSpPr txBox="1">
            <a:spLocks noChangeArrowheads="1"/>
          </p:cNvSpPr>
          <p:nvPr/>
        </p:nvSpPr>
        <p:spPr bwMode="auto">
          <a:xfrm>
            <a:off x="755650" y="2565400"/>
            <a:ext cx="3168650" cy="517525"/>
          </a:xfrm>
          <a:prstGeom prst="rect">
            <a:avLst/>
          </a:prstGeom>
          <a:noFill/>
          <a:ln w="9525">
            <a:noFill/>
            <a:miter lim="800000"/>
            <a:headEnd/>
            <a:tailEnd/>
          </a:ln>
          <a:effectLst/>
        </p:spPr>
        <p:txBody>
          <a:bodyPr/>
          <a:lstStyle>
            <a:defPPr>
              <a:defRPr lang="en-US"/>
            </a:defPPr>
            <a:lvl1pPr>
              <a:spcBef>
                <a:spcPct val="20000"/>
              </a:spcBef>
              <a:buFont typeface="Wingdings" pitchFamily="2" charset="2"/>
              <a:buNone/>
              <a:defRPr sz="2800" b="1">
                <a:latin typeface="Times New Roman" pitchFamily="18" charset="0"/>
              </a:defRPr>
            </a:lvl1pPr>
            <a:lvl2pPr lvl="1" indent="0" algn="ctr" defTabSz="685800">
              <a:lnSpc>
                <a:spcPct val="120000"/>
              </a:lnSpc>
              <a:spcBef>
                <a:spcPct val="0"/>
              </a:spcBef>
              <a:buClr>
                <a:srgbClr val="CC3399"/>
              </a:buClr>
              <a:buSzPct val="100000"/>
              <a:buFont typeface="Monotype Sorts" pitchFamily="2" charset="2"/>
              <a:buNone/>
              <a:defRPr b="1" cap="none" baseline="0">
                <a:effectLst/>
                <a:latin typeface="+mn-ea"/>
              </a:defRPr>
            </a:lvl2pPr>
            <a:lvl3pPr marL="685800" indent="0" algn="ctr" defTabSz="685800">
              <a:lnSpc>
                <a:spcPct val="120000"/>
              </a:lnSpc>
              <a:spcBef>
                <a:spcPts val="500"/>
              </a:spcBef>
              <a:buClr>
                <a:schemeClr val="accent1"/>
              </a:buClr>
              <a:buSzPct val="100000"/>
              <a:buFont typeface="Arial" panose="020B0604020202020204" pitchFamily="34" charset="0"/>
              <a:buNone/>
              <a:defRPr sz="1350" cap="none">
                <a:effectLst/>
              </a:defRPr>
            </a:lvl3pPr>
            <a:lvl4pPr marL="1028700" indent="0" algn="ctr" defTabSz="685800">
              <a:lnSpc>
                <a:spcPct val="120000"/>
              </a:lnSpc>
              <a:spcBef>
                <a:spcPts val="500"/>
              </a:spcBef>
              <a:buClr>
                <a:schemeClr val="accent1"/>
              </a:buClr>
              <a:buSzPct val="100000"/>
              <a:buFont typeface="Arial" panose="020B0604020202020204" pitchFamily="34" charset="0"/>
              <a:buNone/>
              <a:defRPr sz="1200" cap="none" baseline="0">
                <a:effectLst/>
              </a:defRPr>
            </a:lvl4pPr>
            <a:lvl5pPr marL="1371600" indent="0" algn="ctr" defTabSz="685800">
              <a:lnSpc>
                <a:spcPct val="120000"/>
              </a:lnSpc>
              <a:spcBef>
                <a:spcPts val="500"/>
              </a:spcBef>
              <a:buClr>
                <a:schemeClr val="accent1"/>
              </a:buClr>
              <a:buSzPct val="100000"/>
              <a:buFont typeface="Arial" panose="020B0604020202020204" pitchFamily="34" charset="0"/>
              <a:buNone/>
              <a:defRPr sz="1200" cap="none">
                <a:effectLst/>
              </a:defRPr>
            </a:lvl5pPr>
            <a:lvl6pPr marL="1714500" indent="0" algn="ctr" defTabSz="914400">
              <a:lnSpc>
                <a:spcPct val="120000"/>
              </a:lnSpc>
              <a:spcBef>
                <a:spcPts val="500"/>
              </a:spcBef>
              <a:buClr>
                <a:schemeClr val="accent1"/>
              </a:buClr>
              <a:buSzPct val="100000"/>
              <a:buFont typeface="Arial" panose="020B0604020202020204" pitchFamily="34" charset="0"/>
              <a:buNone/>
              <a:defRPr sz="1200">
                <a:effectLst/>
              </a:defRPr>
            </a:lvl6pPr>
            <a:lvl7pPr marL="2057400" indent="0" algn="ctr" defTabSz="914400">
              <a:lnSpc>
                <a:spcPct val="120000"/>
              </a:lnSpc>
              <a:spcBef>
                <a:spcPts val="500"/>
              </a:spcBef>
              <a:buClr>
                <a:schemeClr val="accent1"/>
              </a:buClr>
              <a:buSzPct val="100000"/>
              <a:buFont typeface="Arial" panose="020B0604020202020204" pitchFamily="34" charset="0"/>
              <a:buNone/>
              <a:defRPr sz="1200">
                <a:effectLst/>
              </a:defRPr>
            </a:lvl7pPr>
            <a:lvl8pPr marL="2400300" indent="0" algn="ctr" defTabSz="914400">
              <a:lnSpc>
                <a:spcPct val="120000"/>
              </a:lnSpc>
              <a:spcBef>
                <a:spcPts val="500"/>
              </a:spcBef>
              <a:buClr>
                <a:schemeClr val="accent1"/>
              </a:buClr>
              <a:buSzPct val="100000"/>
              <a:buFont typeface="Arial" panose="020B0604020202020204" pitchFamily="34" charset="0"/>
              <a:buNone/>
              <a:defRPr sz="1200" baseline="0">
                <a:effectLst/>
              </a:defRPr>
            </a:lvl8pPr>
            <a:lvl9pPr marL="2743200" indent="0" algn="ctr" defTabSz="914400">
              <a:lnSpc>
                <a:spcPct val="120000"/>
              </a:lnSpc>
              <a:spcBef>
                <a:spcPts val="500"/>
              </a:spcBef>
              <a:buClr>
                <a:schemeClr val="accent1"/>
              </a:buClr>
              <a:buSzPct val="100000"/>
              <a:buFont typeface="Arial" panose="020B0604020202020204" pitchFamily="34" charset="0"/>
              <a:buNone/>
              <a:defRPr sz="1200" baseline="0">
                <a:effectLst/>
              </a:defRPr>
            </a:lvl9pPr>
          </a:lstStyle>
          <a:p>
            <a:r>
              <a:rPr lang="zh-CN" altLang="en-US" dirty="0"/>
              <a:t>贴片式稳压二极管</a:t>
            </a:r>
          </a:p>
        </p:txBody>
      </p:sp>
      <p:sp>
        <p:nvSpPr>
          <p:cNvPr id="86023" name="Text Box 7"/>
          <p:cNvSpPr txBox="1">
            <a:spLocks noChangeArrowheads="1"/>
          </p:cNvSpPr>
          <p:nvPr/>
        </p:nvSpPr>
        <p:spPr bwMode="auto">
          <a:xfrm>
            <a:off x="5003800" y="2636838"/>
            <a:ext cx="3671888" cy="519112"/>
          </a:xfrm>
          <a:prstGeom prst="rect">
            <a:avLst/>
          </a:prstGeom>
          <a:noFill/>
          <a:ln w="9525">
            <a:noFill/>
            <a:miter lim="800000"/>
            <a:headEnd/>
            <a:tailEnd/>
          </a:ln>
          <a:effectLst/>
        </p:spPr>
        <p:txBody>
          <a:bodyPr/>
          <a:lstStyle>
            <a:defPPr>
              <a:defRPr lang="en-US"/>
            </a:defPPr>
            <a:lvl1pPr>
              <a:spcBef>
                <a:spcPct val="20000"/>
              </a:spcBef>
              <a:buFont typeface="Wingdings" pitchFamily="2" charset="2"/>
              <a:buNone/>
              <a:defRPr sz="2800" b="1">
                <a:latin typeface="Times New Roman" pitchFamily="18" charset="0"/>
              </a:defRPr>
            </a:lvl1pPr>
            <a:lvl2pPr lvl="1" indent="0" algn="ctr" defTabSz="685800">
              <a:lnSpc>
                <a:spcPct val="120000"/>
              </a:lnSpc>
              <a:spcBef>
                <a:spcPct val="0"/>
              </a:spcBef>
              <a:buClr>
                <a:srgbClr val="CC3399"/>
              </a:buClr>
              <a:buSzPct val="100000"/>
              <a:buFont typeface="Monotype Sorts" pitchFamily="2" charset="2"/>
              <a:buNone/>
              <a:defRPr b="1" cap="none" baseline="0">
                <a:effectLst/>
                <a:latin typeface="+mn-ea"/>
              </a:defRPr>
            </a:lvl2pPr>
            <a:lvl3pPr marL="685800" indent="0" algn="ctr" defTabSz="685800">
              <a:lnSpc>
                <a:spcPct val="120000"/>
              </a:lnSpc>
              <a:spcBef>
                <a:spcPts val="500"/>
              </a:spcBef>
              <a:buClr>
                <a:schemeClr val="accent1"/>
              </a:buClr>
              <a:buSzPct val="100000"/>
              <a:buFont typeface="Arial" panose="020B0604020202020204" pitchFamily="34" charset="0"/>
              <a:buNone/>
              <a:defRPr sz="1350" cap="none">
                <a:effectLst/>
              </a:defRPr>
            </a:lvl3pPr>
            <a:lvl4pPr marL="1028700" indent="0" algn="ctr" defTabSz="685800">
              <a:lnSpc>
                <a:spcPct val="120000"/>
              </a:lnSpc>
              <a:spcBef>
                <a:spcPts val="500"/>
              </a:spcBef>
              <a:buClr>
                <a:schemeClr val="accent1"/>
              </a:buClr>
              <a:buSzPct val="100000"/>
              <a:buFont typeface="Arial" panose="020B0604020202020204" pitchFamily="34" charset="0"/>
              <a:buNone/>
              <a:defRPr sz="1200" cap="none" baseline="0">
                <a:effectLst/>
              </a:defRPr>
            </a:lvl4pPr>
            <a:lvl5pPr marL="1371600" indent="0" algn="ctr" defTabSz="685800">
              <a:lnSpc>
                <a:spcPct val="120000"/>
              </a:lnSpc>
              <a:spcBef>
                <a:spcPts val="500"/>
              </a:spcBef>
              <a:buClr>
                <a:schemeClr val="accent1"/>
              </a:buClr>
              <a:buSzPct val="100000"/>
              <a:buFont typeface="Arial" panose="020B0604020202020204" pitchFamily="34" charset="0"/>
              <a:buNone/>
              <a:defRPr sz="1200" cap="none">
                <a:effectLst/>
              </a:defRPr>
            </a:lvl5pPr>
            <a:lvl6pPr marL="1714500" indent="0" algn="ctr" defTabSz="914400">
              <a:lnSpc>
                <a:spcPct val="120000"/>
              </a:lnSpc>
              <a:spcBef>
                <a:spcPts val="500"/>
              </a:spcBef>
              <a:buClr>
                <a:schemeClr val="accent1"/>
              </a:buClr>
              <a:buSzPct val="100000"/>
              <a:buFont typeface="Arial" panose="020B0604020202020204" pitchFamily="34" charset="0"/>
              <a:buNone/>
              <a:defRPr sz="1200">
                <a:effectLst/>
              </a:defRPr>
            </a:lvl6pPr>
            <a:lvl7pPr marL="2057400" indent="0" algn="ctr" defTabSz="914400">
              <a:lnSpc>
                <a:spcPct val="120000"/>
              </a:lnSpc>
              <a:spcBef>
                <a:spcPts val="500"/>
              </a:spcBef>
              <a:buClr>
                <a:schemeClr val="accent1"/>
              </a:buClr>
              <a:buSzPct val="100000"/>
              <a:buFont typeface="Arial" panose="020B0604020202020204" pitchFamily="34" charset="0"/>
              <a:buNone/>
              <a:defRPr sz="1200">
                <a:effectLst/>
              </a:defRPr>
            </a:lvl7pPr>
            <a:lvl8pPr marL="2400300" indent="0" algn="ctr" defTabSz="914400">
              <a:lnSpc>
                <a:spcPct val="120000"/>
              </a:lnSpc>
              <a:spcBef>
                <a:spcPts val="500"/>
              </a:spcBef>
              <a:buClr>
                <a:schemeClr val="accent1"/>
              </a:buClr>
              <a:buSzPct val="100000"/>
              <a:buFont typeface="Arial" panose="020B0604020202020204" pitchFamily="34" charset="0"/>
              <a:buNone/>
              <a:defRPr sz="1200" baseline="0">
                <a:effectLst/>
              </a:defRPr>
            </a:lvl8pPr>
            <a:lvl9pPr marL="2743200" indent="0" algn="ctr" defTabSz="914400">
              <a:lnSpc>
                <a:spcPct val="120000"/>
              </a:lnSpc>
              <a:spcBef>
                <a:spcPts val="500"/>
              </a:spcBef>
              <a:buClr>
                <a:schemeClr val="accent1"/>
              </a:buClr>
              <a:buSzPct val="100000"/>
              <a:buFont typeface="Arial" panose="020B0604020202020204" pitchFamily="34" charset="0"/>
              <a:buNone/>
              <a:defRPr sz="1200" baseline="0">
                <a:effectLst/>
              </a:defRPr>
            </a:lvl9pPr>
          </a:lstStyle>
          <a:p>
            <a:r>
              <a:rPr lang="zh-CN" altLang="en-US" dirty="0"/>
              <a:t>直插式稳压二极管</a:t>
            </a:r>
          </a:p>
        </p:txBody>
      </p:sp>
      <p:sp>
        <p:nvSpPr>
          <p:cNvPr id="86024" name="Text Box 8"/>
          <p:cNvSpPr txBox="1">
            <a:spLocks noChangeArrowheads="1"/>
          </p:cNvSpPr>
          <p:nvPr/>
        </p:nvSpPr>
        <p:spPr bwMode="auto">
          <a:xfrm>
            <a:off x="5435600" y="5949950"/>
            <a:ext cx="3095625" cy="517525"/>
          </a:xfrm>
          <a:prstGeom prst="rect">
            <a:avLst/>
          </a:prstGeom>
          <a:noFill/>
          <a:ln w="9525">
            <a:noFill/>
            <a:miter lim="800000"/>
            <a:headEnd/>
            <a:tailEnd/>
          </a:ln>
          <a:effectLst/>
        </p:spPr>
        <p:txBody>
          <a:bodyPr/>
          <a:lstStyle>
            <a:defPPr>
              <a:defRPr lang="en-US"/>
            </a:defPPr>
            <a:lvl1pPr>
              <a:spcBef>
                <a:spcPct val="20000"/>
              </a:spcBef>
              <a:buFont typeface="Wingdings" pitchFamily="2" charset="2"/>
              <a:buNone/>
              <a:defRPr sz="2800" b="1">
                <a:latin typeface="Times New Roman" pitchFamily="18" charset="0"/>
              </a:defRPr>
            </a:lvl1pPr>
            <a:lvl2pPr lvl="1" indent="0" algn="ctr" defTabSz="685800">
              <a:lnSpc>
                <a:spcPct val="120000"/>
              </a:lnSpc>
              <a:spcBef>
                <a:spcPct val="0"/>
              </a:spcBef>
              <a:buClr>
                <a:srgbClr val="CC3399"/>
              </a:buClr>
              <a:buSzPct val="100000"/>
              <a:buFont typeface="Monotype Sorts" pitchFamily="2" charset="2"/>
              <a:buNone/>
              <a:defRPr b="1" cap="none" baseline="0">
                <a:effectLst/>
                <a:latin typeface="+mn-ea"/>
              </a:defRPr>
            </a:lvl2pPr>
            <a:lvl3pPr marL="685800" indent="0" algn="ctr" defTabSz="685800">
              <a:lnSpc>
                <a:spcPct val="120000"/>
              </a:lnSpc>
              <a:spcBef>
                <a:spcPts val="500"/>
              </a:spcBef>
              <a:buClr>
                <a:schemeClr val="accent1"/>
              </a:buClr>
              <a:buSzPct val="100000"/>
              <a:buFont typeface="Arial" panose="020B0604020202020204" pitchFamily="34" charset="0"/>
              <a:buNone/>
              <a:defRPr sz="1350" cap="none">
                <a:effectLst/>
              </a:defRPr>
            </a:lvl3pPr>
            <a:lvl4pPr marL="1028700" indent="0" algn="ctr" defTabSz="685800">
              <a:lnSpc>
                <a:spcPct val="120000"/>
              </a:lnSpc>
              <a:spcBef>
                <a:spcPts val="500"/>
              </a:spcBef>
              <a:buClr>
                <a:schemeClr val="accent1"/>
              </a:buClr>
              <a:buSzPct val="100000"/>
              <a:buFont typeface="Arial" panose="020B0604020202020204" pitchFamily="34" charset="0"/>
              <a:buNone/>
              <a:defRPr sz="1200" cap="none" baseline="0">
                <a:effectLst/>
              </a:defRPr>
            </a:lvl4pPr>
            <a:lvl5pPr marL="1371600" indent="0" algn="ctr" defTabSz="685800">
              <a:lnSpc>
                <a:spcPct val="120000"/>
              </a:lnSpc>
              <a:spcBef>
                <a:spcPts val="500"/>
              </a:spcBef>
              <a:buClr>
                <a:schemeClr val="accent1"/>
              </a:buClr>
              <a:buSzPct val="100000"/>
              <a:buFont typeface="Arial" panose="020B0604020202020204" pitchFamily="34" charset="0"/>
              <a:buNone/>
              <a:defRPr sz="1200" cap="none">
                <a:effectLst/>
              </a:defRPr>
            </a:lvl5pPr>
            <a:lvl6pPr marL="1714500" indent="0" algn="ctr" defTabSz="914400">
              <a:lnSpc>
                <a:spcPct val="120000"/>
              </a:lnSpc>
              <a:spcBef>
                <a:spcPts val="500"/>
              </a:spcBef>
              <a:buClr>
                <a:schemeClr val="accent1"/>
              </a:buClr>
              <a:buSzPct val="100000"/>
              <a:buFont typeface="Arial" panose="020B0604020202020204" pitchFamily="34" charset="0"/>
              <a:buNone/>
              <a:defRPr sz="1200">
                <a:effectLst/>
              </a:defRPr>
            </a:lvl6pPr>
            <a:lvl7pPr marL="2057400" indent="0" algn="ctr" defTabSz="914400">
              <a:lnSpc>
                <a:spcPct val="120000"/>
              </a:lnSpc>
              <a:spcBef>
                <a:spcPts val="500"/>
              </a:spcBef>
              <a:buClr>
                <a:schemeClr val="accent1"/>
              </a:buClr>
              <a:buSzPct val="100000"/>
              <a:buFont typeface="Arial" panose="020B0604020202020204" pitchFamily="34" charset="0"/>
              <a:buNone/>
              <a:defRPr sz="1200">
                <a:effectLst/>
              </a:defRPr>
            </a:lvl7pPr>
            <a:lvl8pPr marL="2400300" indent="0" algn="ctr" defTabSz="914400">
              <a:lnSpc>
                <a:spcPct val="120000"/>
              </a:lnSpc>
              <a:spcBef>
                <a:spcPts val="500"/>
              </a:spcBef>
              <a:buClr>
                <a:schemeClr val="accent1"/>
              </a:buClr>
              <a:buSzPct val="100000"/>
              <a:buFont typeface="Arial" panose="020B0604020202020204" pitchFamily="34" charset="0"/>
              <a:buNone/>
              <a:defRPr sz="1200" baseline="0">
                <a:effectLst/>
              </a:defRPr>
            </a:lvl8pPr>
            <a:lvl9pPr marL="2743200" indent="0" algn="ctr" defTabSz="914400">
              <a:lnSpc>
                <a:spcPct val="120000"/>
              </a:lnSpc>
              <a:spcBef>
                <a:spcPts val="500"/>
              </a:spcBef>
              <a:buClr>
                <a:schemeClr val="accent1"/>
              </a:buClr>
              <a:buSzPct val="100000"/>
              <a:buFont typeface="Arial" panose="020B0604020202020204" pitchFamily="34" charset="0"/>
              <a:buNone/>
              <a:defRPr sz="1200" baseline="0">
                <a:effectLst/>
              </a:defRPr>
            </a:lvl9pPr>
          </a:lstStyle>
          <a:p>
            <a:r>
              <a:rPr lang="zh-CN" altLang="en-US" dirty="0"/>
              <a:t>发光二极管</a:t>
            </a:r>
          </a:p>
        </p:txBody>
      </p:sp>
      <p:sp>
        <p:nvSpPr>
          <p:cNvPr id="86025" name="Text Box 9"/>
          <p:cNvSpPr txBox="1">
            <a:spLocks noChangeArrowheads="1"/>
          </p:cNvSpPr>
          <p:nvPr/>
        </p:nvSpPr>
        <p:spPr bwMode="auto">
          <a:xfrm>
            <a:off x="971550" y="5661025"/>
            <a:ext cx="2305050" cy="517525"/>
          </a:xfrm>
          <a:prstGeom prst="rect">
            <a:avLst/>
          </a:prstGeom>
          <a:noFill/>
          <a:ln w="9525">
            <a:noFill/>
            <a:miter lim="800000"/>
            <a:headEnd/>
            <a:tailEnd/>
          </a:ln>
          <a:effectLst/>
        </p:spPr>
        <p:txBody>
          <a:bodyPr/>
          <a:lstStyle>
            <a:defPPr>
              <a:defRPr lang="en-US"/>
            </a:defPPr>
            <a:lvl1pPr>
              <a:spcBef>
                <a:spcPct val="20000"/>
              </a:spcBef>
              <a:buFont typeface="Wingdings" pitchFamily="2" charset="2"/>
              <a:buNone/>
              <a:defRPr sz="2800" b="1">
                <a:latin typeface="Times New Roman" pitchFamily="18" charset="0"/>
              </a:defRPr>
            </a:lvl1pPr>
            <a:lvl2pPr lvl="1" indent="0" algn="ctr" defTabSz="685800">
              <a:lnSpc>
                <a:spcPct val="120000"/>
              </a:lnSpc>
              <a:spcBef>
                <a:spcPct val="0"/>
              </a:spcBef>
              <a:buClr>
                <a:srgbClr val="CC3399"/>
              </a:buClr>
              <a:buSzPct val="100000"/>
              <a:buFont typeface="Monotype Sorts" pitchFamily="2" charset="2"/>
              <a:buNone/>
              <a:defRPr b="1" cap="none" baseline="0">
                <a:effectLst/>
                <a:latin typeface="+mn-ea"/>
              </a:defRPr>
            </a:lvl2pPr>
            <a:lvl3pPr marL="685800" indent="0" algn="ctr" defTabSz="685800">
              <a:lnSpc>
                <a:spcPct val="120000"/>
              </a:lnSpc>
              <a:spcBef>
                <a:spcPts val="500"/>
              </a:spcBef>
              <a:buClr>
                <a:schemeClr val="accent1"/>
              </a:buClr>
              <a:buSzPct val="100000"/>
              <a:buFont typeface="Arial" panose="020B0604020202020204" pitchFamily="34" charset="0"/>
              <a:buNone/>
              <a:defRPr sz="1350" cap="none">
                <a:effectLst/>
              </a:defRPr>
            </a:lvl3pPr>
            <a:lvl4pPr marL="1028700" indent="0" algn="ctr" defTabSz="685800">
              <a:lnSpc>
                <a:spcPct val="120000"/>
              </a:lnSpc>
              <a:spcBef>
                <a:spcPts val="500"/>
              </a:spcBef>
              <a:buClr>
                <a:schemeClr val="accent1"/>
              </a:buClr>
              <a:buSzPct val="100000"/>
              <a:buFont typeface="Arial" panose="020B0604020202020204" pitchFamily="34" charset="0"/>
              <a:buNone/>
              <a:defRPr sz="1200" cap="none" baseline="0">
                <a:effectLst/>
              </a:defRPr>
            </a:lvl4pPr>
            <a:lvl5pPr marL="1371600" indent="0" algn="ctr" defTabSz="685800">
              <a:lnSpc>
                <a:spcPct val="120000"/>
              </a:lnSpc>
              <a:spcBef>
                <a:spcPts val="500"/>
              </a:spcBef>
              <a:buClr>
                <a:schemeClr val="accent1"/>
              </a:buClr>
              <a:buSzPct val="100000"/>
              <a:buFont typeface="Arial" panose="020B0604020202020204" pitchFamily="34" charset="0"/>
              <a:buNone/>
              <a:defRPr sz="1200" cap="none">
                <a:effectLst/>
              </a:defRPr>
            </a:lvl5pPr>
            <a:lvl6pPr marL="1714500" indent="0" algn="ctr" defTabSz="914400">
              <a:lnSpc>
                <a:spcPct val="120000"/>
              </a:lnSpc>
              <a:spcBef>
                <a:spcPts val="500"/>
              </a:spcBef>
              <a:buClr>
                <a:schemeClr val="accent1"/>
              </a:buClr>
              <a:buSzPct val="100000"/>
              <a:buFont typeface="Arial" panose="020B0604020202020204" pitchFamily="34" charset="0"/>
              <a:buNone/>
              <a:defRPr sz="1200">
                <a:effectLst/>
              </a:defRPr>
            </a:lvl6pPr>
            <a:lvl7pPr marL="2057400" indent="0" algn="ctr" defTabSz="914400">
              <a:lnSpc>
                <a:spcPct val="120000"/>
              </a:lnSpc>
              <a:spcBef>
                <a:spcPts val="500"/>
              </a:spcBef>
              <a:buClr>
                <a:schemeClr val="accent1"/>
              </a:buClr>
              <a:buSzPct val="100000"/>
              <a:buFont typeface="Arial" panose="020B0604020202020204" pitchFamily="34" charset="0"/>
              <a:buNone/>
              <a:defRPr sz="1200">
                <a:effectLst/>
              </a:defRPr>
            </a:lvl7pPr>
            <a:lvl8pPr marL="2400300" indent="0" algn="ctr" defTabSz="914400">
              <a:lnSpc>
                <a:spcPct val="120000"/>
              </a:lnSpc>
              <a:spcBef>
                <a:spcPts val="500"/>
              </a:spcBef>
              <a:buClr>
                <a:schemeClr val="accent1"/>
              </a:buClr>
              <a:buSzPct val="100000"/>
              <a:buFont typeface="Arial" panose="020B0604020202020204" pitchFamily="34" charset="0"/>
              <a:buNone/>
              <a:defRPr sz="1200" baseline="0">
                <a:effectLst/>
              </a:defRPr>
            </a:lvl8pPr>
            <a:lvl9pPr marL="2743200" indent="0" algn="ctr" defTabSz="914400">
              <a:lnSpc>
                <a:spcPct val="120000"/>
              </a:lnSpc>
              <a:spcBef>
                <a:spcPts val="500"/>
              </a:spcBef>
              <a:buClr>
                <a:schemeClr val="accent1"/>
              </a:buClr>
              <a:buSzPct val="100000"/>
              <a:buFont typeface="Arial" panose="020B0604020202020204" pitchFamily="34" charset="0"/>
              <a:buNone/>
              <a:defRPr sz="1200" baseline="0">
                <a:effectLst/>
              </a:defRPr>
            </a:lvl9pPr>
          </a:lstStyle>
          <a:p>
            <a:r>
              <a:rPr lang="zh-CN" altLang="en-US" dirty="0"/>
              <a:t>发光二极管</a:t>
            </a:r>
          </a:p>
        </p:txBody>
      </p:sp>
      <p:pic>
        <p:nvPicPr>
          <p:cNvPr id="86026" name="Picture 10"/>
          <p:cNvPicPr>
            <a:picLocks noChangeAspect="1" noChangeArrowheads="1"/>
          </p:cNvPicPr>
          <p:nvPr/>
        </p:nvPicPr>
        <p:blipFill>
          <a:blip r:embed="rId7" cstate="print"/>
          <a:srcRect/>
          <a:stretch>
            <a:fillRect/>
          </a:stretch>
        </p:blipFill>
        <p:spPr bwMode="auto">
          <a:xfrm>
            <a:off x="1619250" y="3429000"/>
            <a:ext cx="1143000" cy="2087563"/>
          </a:xfrm>
          <a:prstGeom prst="rect">
            <a:avLst/>
          </a:prstGeom>
          <a:noFill/>
          <a:ln w="9525">
            <a:noFill/>
            <a:miter lim="800000"/>
            <a:headEnd/>
            <a:tailEnd/>
          </a:ln>
        </p:spPr>
      </p:pic>
    </p:spTree>
  </p:cSld>
  <p:clrMapOvr>
    <a:masterClrMapping/>
  </p:clrMapOvr>
  <p:transition spd="slow">
    <p:random/>
    <p:sndAc>
      <p:stSnd>
        <p:snd r:embed="rId2" name="chimes.wav"/>
      </p:stSnd>
    </p:sndAc>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ctrTitle"/>
          </p:nvPr>
        </p:nvSpPr>
        <p:spPr>
          <a:xfrm>
            <a:off x="533400" y="1066800"/>
            <a:ext cx="5029200" cy="609600"/>
          </a:xfrm>
        </p:spPr>
        <p:txBody>
          <a:bodyPr>
            <a:normAutofit fontScale="90000"/>
          </a:bodyPr>
          <a:lstStyle/>
          <a:p>
            <a:br>
              <a:rPr lang="zh-CN" altLang="en-US">
                <a:ea typeface="华文行楷" pitchFamily="2" charset="-122"/>
              </a:rPr>
            </a:br>
            <a:endParaRPr lang="zh-CN" altLang="en-US">
              <a:ea typeface="华文行楷" pitchFamily="2" charset="-122"/>
            </a:endParaRPr>
          </a:p>
        </p:txBody>
      </p:sp>
      <p:sp>
        <p:nvSpPr>
          <p:cNvPr id="87045" name="Rectangle 5"/>
          <p:cNvSpPr>
            <a:spLocks noGrp="1" noChangeArrowheads="1"/>
          </p:cNvSpPr>
          <p:nvPr>
            <p:ph type="subTitle" idx="1"/>
          </p:nvPr>
        </p:nvSpPr>
        <p:spPr>
          <a:xfrm>
            <a:off x="251520" y="2869892"/>
            <a:ext cx="2974975" cy="457200"/>
          </a:xfrm>
          <a:noFill/>
          <a:ln/>
        </p:spPr>
        <p:txBody>
          <a:bodyPr>
            <a:noAutofit/>
          </a:bodyPr>
          <a:lstStyle/>
          <a:p>
            <a:pPr marL="457200" lvl="1" indent="0">
              <a:lnSpc>
                <a:spcPct val="120000"/>
              </a:lnSpc>
              <a:spcBef>
                <a:spcPct val="0"/>
              </a:spcBef>
              <a:buClr>
                <a:srgbClr val="CC3399"/>
              </a:buClr>
              <a:buFont typeface="Monotype Sorts" pitchFamily="2" charset="2"/>
              <a:buNone/>
            </a:pPr>
            <a:r>
              <a:rPr lang="zh-CN" altLang="en-US" sz="1800" b="1" dirty="0">
                <a:latin typeface="+mn-ea"/>
              </a:rPr>
              <a:t>二极管的丝印</a:t>
            </a:r>
          </a:p>
        </p:txBody>
      </p:sp>
      <p:sp>
        <p:nvSpPr>
          <p:cNvPr id="2" name="灯片编号占位符 1">
            <a:extLst>
              <a:ext uri="{FF2B5EF4-FFF2-40B4-BE49-F238E27FC236}">
                <a16:creationId xmlns:a16="http://schemas.microsoft.com/office/drawing/2014/main" id="{5357BF80-5C9D-86F0-AFB7-D60B16F54C1C}"/>
              </a:ext>
            </a:extLst>
          </p:cNvPr>
          <p:cNvSpPr>
            <a:spLocks noGrp="1"/>
          </p:cNvSpPr>
          <p:nvPr>
            <p:ph type="sldNum" sz="quarter" idx="12"/>
          </p:nvPr>
        </p:nvSpPr>
        <p:spPr/>
        <p:txBody>
          <a:bodyPr/>
          <a:lstStyle/>
          <a:p>
            <a:pPr>
              <a:defRPr/>
            </a:pPr>
            <a:fld id="{47A4CA45-135E-4AE6-A55B-F30C83FDB90E}" type="slidenum">
              <a:rPr lang="zh-CN" altLang="en-US" smtClean="0"/>
              <a:pPr>
                <a:defRPr/>
              </a:pPr>
              <a:t>72</a:t>
            </a:fld>
            <a:endParaRPr lang="en-US" altLang="zh-CN"/>
          </a:p>
        </p:txBody>
      </p:sp>
      <p:sp>
        <p:nvSpPr>
          <p:cNvPr id="87043" name="Rectangle 3"/>
          <p:cNvSpPr>
            <a:spLocks noChangeArrowheads="1"/>
          </p:cNvSpPr>
          <p:nvPr/>
        </p:nvSpPr>
        <p:spPr bwMode="auto">
          <a:xfrm>
            <a:off x="1066800" y="2057400"/>
            <a:ext cx="8077200" cy="1219200"/>
          </a:xfrm>
          <a:prstGeom prst="rect">
            <a:avLst/>
          </a:prstGeom>
          <a:noFill/>
          <a:ln w="9525">
            <a:noFill/>
            <a:miter lim="800000"/>
            <a:headEnd/>
            <a:tailEnd/>
          </a:ln>
          <a:effectLst/>
        </p:spPr>
        <p:txBody>
          <a:bodyPr/>
          <a:lstStyle/>
          <a:p>
            <a:pPr lvl="1">
              <a:spcBef>
                <a:spcPct val="20000"/>
              </a:spcBef>
              <a:buFontTx/>
              <a:buBlip>
                <a:blip r:embed="rId2"/>
              </a:buBlip>
            </a:pPr>
            <a:endParaRPr lang="zh-TW" sz="2800" b="1">
              <a:solidFill>
                <a:srgbClr val="008000"/>
              </a:solidFill>
              <a:effectLst>
                <a:outerShdw blurRad="38100" dist="38100" dir="2700000" algn="tl">
                  <a:srgbClr val="000000"/>
                </a:outerShdw>
              </a:effectLst>
              <a:latin typeface="楷体_GB2312" pitchFamily="49" charset="-122"/>
              <a:ea typeface="楷体_GB2312" pitchFamily="49" charset="-122"/>
            </a:endParaRPr>
          </a:p>
        </p:txBody>
      </p:sp>
      <p:sp>
        <p:nvSpPr>
          <p:cNvPr id="87044" name="Rectangle 4"/>
          <p:cNvSpPr>
            <a:spLocks noChangeArrowheads="1"/>
          </p:cNvSpPr>
          <p:nvPr/>
        </p:nvSpPr>
        <p:spPr bwMode="auto">
          <a:xfrm>
            <a:off x="1143000" y="3962400"/>
            <a:ext cx="7620000" cy="914400"/>
          </a:xfrm>
          <a:prstGeom prst="rect">
            <a:avLst/>
          </a:prstGeom>
          <a:noFill/>
          <a:ln w="9525">
            <a:noFill/>
            <a:miter lim="800000"/>
            <a:headEnd/>
            <a:tailEnd/>
          </a:ln>
          <a:effectLst/>
        </p:spPr>
        <p:txBody>
          <a:bodyPr/>
          <a:lstStyle/>
          <a:p>
            <a:pPr>
              <a:spcBef>
                <a:spcPct val="20000"/>
              </a:spcBef>
              <a:buFont typeface="Wingdings" pitchFamily="2" charset="2"/>
              <a:buNone/>
            </a:pPr>
            <a:endParaRPr lang="zh-CN" altLang="en-US" sz="2000">
              <a:latin typeface="楷体_GB2312" pitchFamily="49" charset="-122"/>
              <a:ea typeface="楷体_GB2312" pitchFamily="49" charset="-122"/>
            </a:endParaRPr>
          </a:p>
        </p:txBody>
      </p:sp>
      <p:sp>
        <p:nvSpPr>
          <p:cNvPr id="87046" name="Rectangle 6"/>
          <p:cNvSpPr>
            <a:spLocks noChangeArrowheads="1"/>
          </p:cNvSpPr>
          <p:nvPr/>
        </p:nvSpPr>
        <p:spPr bwMode="auto">
          <a:xfrm>
            <a:off x="4576936" y="2742283"/>
            <a:ext cx="2971800" cy="457200"/>
          </a:xfrm>
          <a:prstGeom prst="rect">
            <a:avLst/>
          </a:prstGeom>
          <a:noFill/>
          <a:ln/>
        </p:spPr>
        <p:txBody>
          <a:bodyPr vert="horz" lIns="91440" tIns="91440" rIns="91440" bIns="91440" rtlCol="0">
            <a:normAutofit fontScale="92500" lnSpcReduction="10000"/>
          </a:bodyPr>
          <a:lstStyle/>
          <a:p>
            <a:pPr lvl="1" algn="ctr" defTabSz="685800">
              <a:lnSpc>
                <a:spcPct val="120000"/>
              </a:lnSpc>
              <a:spcBef>
                <a:spcPct val="0"/>
              </a:spcBef>
              <a:buClr>
                <a:srgbClr val="CC3399"/>
              </a:buClr>
              <a:buSzPct val="100000"/>
            </a:pPr>
            <a:r>
              <a:rPr lang="zh-CN" altLang="en-US" b="1" dirty="0">
                <a:latin typeface="+mn-ea"/>
              </a:rPr>
              <a:t>整流二极管的安装</a:t>
            </a:r>
          </a:p>
        </p:txBody>
      </p:sp>
      <p:pic>
        <p:nvPicPr>
          <p:cNvPr id="87047" name="Picture 7"/>
          <p:cNvPicPr>
            <a:picLocks noChangeAspect="1" noChangeArrowheads="1"/>
          </p:cNvPicPr>
          <p:nvPr/>
        </p:nvPicPr>
        <p:blipFill>
          <a:blip r:embed="rId3" cstate="print"/>
          <a:srcRect/>
          <a:stretch>
            <a:fillRect/>
          </a:stretch>
        </p:blipFill>
        <p:spPr bwMode="auto">
          <a:xfrm>
            <a:off x="107504" y="900927"/>
            <a:ext cx="3931957" cy="1884631"/>
          </a:xfrm>
          <a:prstGeom prst="rect">
            <a:avLst/>
          </a:prstGeom>
          <a:noFill/>
          <a:ln w="9525">
            <a:noFill/>
            <a:miter lim="800000"/>
            <a:headEnd/>
            <a:tailEnd/>
          </a:ln>
        </p:spPr>
      </p:pic>
      <p:pic>
        <p:nvPicPr>
          <p:cNvPr id="87048" name="Picture 8"/>
          <p:cNvPicPr>
            <a:picLocks noChangeAspect="1" noChangeArrowheads="1"/>
          </p:cNvPicPr>
          <p:nvPr/>
        </p:nvPicPr>
        <p:blipFill>
          <a:blip r:embed="rId4" cstate="print"/>
          <a:srcRect/>
          <a:stretch>
            <a:fillRect/>
          </a:stretch>
        </p:blipFill>
        <p:spPr bwMode="auto">
          <a:xfrm>
            <a:off x="4182570" y="877235"/>
            <a:ext cx="3931957" cy="1865048"/>
          </a:xfrm>
          <a:prstGeom prst="rect">
            <a:avLst/>
          </a:prstGeom>
          <a:noFill/>
          <a:ln w="9525">
            <a:noFill/>
            <a:miter lim="800000"/>
            <a:headEnd/>
            <a:tailEnd/>
          </a:ln>
        </p:spPr>
      </p:pic>
      <p:pic>
        <p:nvPicPr>
          <p:cNvPr id="88066" name="Picture 2"/>
          <p:cNvPicPr>
            <a:picLocks noChangeAspect="1" noChangeArrowheads="1"/>
          </p:cNvPicPr>
          <p:nvPr/>
        </p:nvPicPr>
        <p:blipFill>
          <a:blip r:embed="rId5" cstate="print"/>
          <a:srcRect/>
          <a:stretch>
            <a:fillRect/>
          </a:stretch>
        </p:blipFill>
        <p:spPr bwMode="auto">
          <a:xfrm>
            <a:off x="5335514" y="3098740"/>
            <a:ext cx="1626067" cy="2611353"/>
          </a:xfrm>
          <a:prstGeom prst="rect">
            <a:avLst/>
          </a:prstGeom>
          <a:noFill/>
          <a:ln w="9525">
            <a:noFill/>
            <a:miter lim="800000"/>
            <a:headEnd/>
            <a:tailEnd/>
          </a:ln>
        </p:spPr>
      </p:pic>
      <p:pic>
        <p:nvPicPr>
          <p:cNvPr id="88067" name="Picture 3"/>
          <p:cNvPicPr>
            <a:picLocks noChangeAspect="1" noChangeArrowheads="1"/>
          </p:cNvPicPr>
          <p:nvPr/>
        </p:nvPicPr>
        <p:blipFill>
          <a:blip r:embed="rId6" cstate="print"/>
          <a:srcRect/>
          <a:stretch>
            <a:fillRect/>
          </a:stretch>
        </p:blipFill>
        <p:spPr bwMode="auto">
          <a:xfrm>
            <a:off x="533400" y="3411426"/>
            <a:ext cx="3352800" cy="1924050"/>
          </a:xfrm>
          <a:prstGeom prst="rect">
            <a:avLst/>
          </a:prstGeom>
          <a:noFill/>
          <a:ln w="9525">
            <a:noFill/>
            <a:miter lim="800000"/>
            <a:headEnd/>
            <a:tailEnd/>
          </a:ln>
        </p:spPr>
      </p:pic>
      <p:sp>
        <p:nvSpPr>
          <p:cNvPr id="3" name="Rectangle 5">
            <a:extLst>
              <a:ext uri="{FF2B5EF4-FFF2-40B4-BE49-F238E27FC236}">
                <a16:creationId xmlns:a16="http://schemas.microsoft.com/office/drawing/2014/main" id="{0FC07339-6A20-A059-90A7-1A7B8B8D4F5D}"/>
              </a:ext>
            </a:extLst>
          </p:cNvPr>
          <p:cNvSpPr txBox="1">
            <a:spLocks noChangeArrowheads="1"/>
          </p:cNvSpPr>
          <p:nvPr/>
        </p:nvSpPr>
        <p:spPr>
          <a:xfrm>
            <a:off x="4566568" y="5711536"/>
            <a:ext cx="2974975" cy="457200"/>
          </a:xfrm>
          <a:prstGeom prst="rect">
            <a:avLst/>
          </a:prstGeom>
          <a:noFill/>
          <a:ln/>
        </p:spPr>
        <p:txBody>
          <a:bodyPr vert="horz" lIns="91440" tIns="91440" rIns="91440" bIns="91440" rtlCol="0">
            <a:normAutofit fontScale="92500" lnSpcReduction="10000"/>
          </a:bodyPr>
          <a:lstStyle>
            <a:lvl1pPr marL="0" indent="0" algn="l" defTabSz="685800" rtl="0" eaLnBrk="1" latinLnBrk="0" hangingPunct="1">
              <a:lnSpc>
                <a:spcPct val="120000"/>
              </a:lnSpc>
              <a:spcBef>
                <a:spcPts val="1000"/>
              </a:spcBef>
              <a:buClr>
                <a:schemeClr val="accent1"/>
              </a:buClr>
              <a:buSzPct val="100000"/>
              <a:buFont typeface="Arial" panose="020B0604020202020204" pitchFamily="34" charset="0"/>
              <a:buNone/>
              <a:defRPr sz="1600" b="0" kern="1200" cap="none">
                <a:solidFill>
                  <a:schemeClr val="tx1"/>
                </a:solidFill>
                <a:effectLst/>
                <a:latin typeface="+mn-lt"/>
                <a:ea typeface="+mn-ea"/>
                <a:cs typeface="+mn-cs"/>
              </a:defRPr>
            </a:lvl1pPr>
            <a:lvl2pPr marL="342900" indent="0" algn="ctr" defTabSz="685800" rtl="0" eaLnBrk="1" latinLnBrk="0" hangingPunct="1">
              <a:lnSpc>
                <a:spcPct val="120000"/>
              </a:lnSpc>
              <a:spcBef>
                <a:spcPts val="500"/>
              </a:spcBef>
              <a:buClr>
                <a:schemeClr val="accent1"/>
              </a:buClr>
              <a:buSzPct val="100000"/>
              <a:buFont typeface="Arial" panose="020B0604020202020204" pitchFamily="34" charset="0"/>
              <a:buNone/>
              <a:defRPr sz="1500" kern="1200" cap="none" baseline="0">
                <a:solidFill>
                  <a:schemeClr val="tx1"/>
                </a:solidFill>
                <a:effectLst/>
                <a:latin typeface="+mn-lt"/>
                <a:ea typeface="+mn-ea"/>
                <a:cs typeface="+mn-cs"/>
              </a:defRPr>
            </a:lvl2pPr>
            <a:lvl3pPr marL="685800" indent="0" algn="ctr" defTabSz="685800" rtl="0" eaLnBrk="1" latinLnBrk="0" hangingPunct="1">
              <a:lnSpc>
                <a:spcPct val="120000"/>
              </a:lnSpc>
              <a:spcBef>
                <a:spcPts val="500"/>
              </a:spcBef>
              <a:buClr>
                <a:schemeClr val="accent1"/>
              </a:buClr>
              <a:buSzPct val="100000"/>
              <a:buFont typeface="Arial" panose="020B0604020202020204" pitchFamily="34" charset="0"/>
              <a:buNone/>
              <a:defRPr sz="1350" kern="1200" cap="none">
                <a:solidFill>
                  <a:schemeClr val="tx1"/>
                </a:solidFill>
                <a:effectLst/>
                <a:latin typeface="+mn-lt"/>
                <a:ea typeface="+mn-ea"/>
                <a:cs typeface="+mn-cs"/>
              </a:defRPr>
            </a:lvl3pPr>
            <a:lvl4pPr marL="1028700" indent="0" algn="ctr" defTabSz="685800" rtl="0" eaLnBrk="1" latinLnBrk="0" hangingPunct="1">
              <a:lnSpc>
                <a:spcPct val="120000"/>
              </a:lnSpc>
              <a:spcBef>
                <a:spcPts val="500"/>
              </a:spcBef>
              <a:buClr>
                <a:schemeClr val="accent1"/>
              </a:buClr>
              <a:buSzPct val="100000"/>
              <a:buFont typeface="Arial" panose="020B0604020202020204" pitchFamily="34" charset="0"/>
              <a:buNone/>
              <a:defRPr sz="1200" kern="1200" cap="none" baseline="0">
                <a:solidFill>
                  <a:schemeClr val="tx1"/>
                </a:solidFill>
                <a:effectLst/>
                <a:latin typeface="+mn-lt"/>
                <a:ea typeface="+mn-ea"/>
                <a:cs typeface="+mn-cs"/>
              </a:defRPr>
            </a:lvl4pPr>
            <a:lvl5pPr marL="1371600" indent="0" algn="ctr" defTabSz="685800" rtl="0" eaLnBrk="1" latinLnBrk="0" hangingPunct="1">
              <a:lnSpc>
                <a:spcPct val="120000"/>
              </a:lnSpc>
              <a:spcBef>
                <a:spcPts val="500"/>
              </a:spcBef>
              <a:buClr>
                <a:schemeClr val="accent1"/>
              </a:buClr>
              <a:buSzPct val="100000"/>
              <a:buFont typeface="Arial" panose="020B0604020202020204" pitchFamily="34" charset="0"/>
              <a:buNone/>
              <a:defRPr sz="1200" kern="1200" cap="none">
                <a:solidFill>
                  <a:schemeClr val="tx1"/>
                </a:solidFill>
                <a:effectLst/>
                <a:latin typeface="+mn-lt"/>
                <a:ea typeface="+mn-ea"/>
                <a:cs typeface="+mn-cs"/>
              </a:defRPr>
            </a:lvl5pPr>
            <a:lvl6pPr marL="1714500" indent="0" algn="ctr" defTabSz="914400" rtl="0" eaLnBrk="1" latinLnBrk="0" hangingPunct="1">
              <a:lnSpc>
                <a:spcPct val="120000"/>
              </a:lnSpc>
              <a:spcBef>
                <a:spcPts val="500"/>
              </a:spcBef>
              <a:buClr>
                <a:schemeClr val="accent1"/>
              </a:buClr>
              <a:buSzPct val="100000"/>
              <a:buFont typeface="Arial" panose="020B0604020202020204" pitchFamily="34" charset="0"/>
              <a:buNone/>
              <a:defRPr sz="1200" kern="1200">
                <a:solidFill>
                  <a:schemeClr val="tx1"/>
                </a:solidFill>
                <a:effectLst/>
                <a:latin typeface="+mn-lt"/>
                <a:ea typeface="+mn-ea"/>
                <a:cs typeface="+mn-cs"/>
              </a:defRPr>
            </a:lvl6pPr>
            <a:lvl7pPr marL="2057400" indent="0" algn="ctr" defTabSz="914400" rtl="0" eaLnBrk="1" latinLnBrk="0" hangingPunct="1">
              <a:lnSpc>
                <a:spcPct val="120000"/>
              </a:lnSpc>
              <a:spcBef>
                <a:spcPts val="500"/>
              </a:spcBef>
              <a:buClr>
                <a:schemeClr val="accent1"/>
              </a:buClr>
              <a:buSzPct val="100000"/>
              <a:buFont typeface="Arial" panose="020B0604020202020204" pitchFamily="34" charset="0"/>
              <a:buNone/>
              <a:defRPr sz="1200" kern="1200">
                <a:solidFill>
                  <a:schemeClr val="tx1"/>
                </a:solidFill>
                <a:effectLst/>
                <a:latin typeface="+mn-lt"/>
                <a:ea typeface="+mn-ea"/>
                <a:cs typeface="+mn-cs"/>
              </a:defRPr>
            </a:lvl7pPr>
            <a:lvl8pPr marL="2400300" indent="0" algn="ctr" defTabSz="914400" rtl="0" eaLnBrk="1" latinLnBrk="0" hangingPunct="1">
              <a:lnSpc>
                <a:spcPct val="120000"/>
              </a:lnSpc>
              <a:spcBef>
                <a:spcPts val="500"/>
              </a:spcBef>
              <a:buClr>
                <a:schemeClr val="accent1"/>
              </a:buClr>
              <a:buSzPct val="100000"/>
              <a:buFont typeface="Arial" panose="020B0604020202020204" pitchFamily="34" charset="0"/>
              <a:buNone/>
              <a:defRPr sz="1200" kern="1200" baseline="0">
                <a:solidFill>
                  <a:schemeClr val="tx1"/>
                </a:solidFill>
                <a:effectLst/>
                <a:latin typeface="+mn-lt"/>
                <a:ea typeface="+mn-ea"/>
                <a:cs typeface="+mn-cs"/>
              </a:defRPr>
            </a:lvl8pPr>
            <a:lvl9pPr marL="2743200" indent="0" algn="ctr" defTabSz="914400" rtl="0" eaLnBrk="1" latinLnBrk="0" hangingPunct="1">
              <a:lnSpc>
                <a:spcPct val="120000"/>
              </a:lnSpc>
              <a:spcBef>
                <a:spcPts val="500"/>
              </a:spcBef>
              <a:buClr>
                <a:schemeClr val="accent1"/>
              </a:buClr>
              <a:buSzPct val="100000"/>
              <a:buFont typeface="Arial" panose="020B0604020202020204" pitchFamily="34" charset="0"/>
              <a:buNone/>
              <a:defRPr sz="1200" kern="1200" baseline="0">
                <a:solidFill>
                  <a:schemeClr val="tx1"/>
                </a:solidFill>
                <a:effectLst/>
                <a:latin typeface="+mn-lt"/>
                <a:ea typeface="+mn-ea"/>
                <a:cs typeface="+mn-cs"/>
              </a:defRPr>
            </a:lvl9pPr>
          </a:lstStyle>
          <a:p>
            <a:pPr marL="457200" lvl="1">
              <a:spcBef>
                <a:spcPct val="0"/>
              </a:spcBef>
              <a:buClr>
                <a:srgbClr val="CC3399"/>
              </a:buClr>
              <a:buFont typeface="Monotype Sorts" pitchFamily="2" charset="2"/>
              <a:buNone/>
            </a:pPr>
            <a:r>
              <a:rPr lang="zh-CN" altLang="en-US" sz="1800" b="1" dirty="0">
                <a:latin typeface="+mn-ea"/>
              </a:rPr>
              <a:t>发光二极管</a:t>
            </a:r>
          </a:p>
        </p:txBody>
      </p:sp>
    </p:spTree>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7" name="Rectangle 3"/>
          <p:cNvSpPr>
            <a:spLocks noGrp="1" noChangeArrowheads="1"/>
          </p:cNvSpPr>
          <p:nvPr>
            <p:ph idx="1"/>
          </p:nvPr>
        </p:nvSpPr>
        <p:spPr>
          <a:xfrm>
            <a:off x="539552" y="836712"/>
            <a:ext cx="8424936" cy="5040560"/>
          </a:xfrm>
        </p:spPr>
        <p:txBody>
          <a:bodyPr>
            <a:normAutofit fontScale="77500" lnSpcReduction="20000"/>
          </a:bodyPr>
          <a:lstStyle/>
          <a:p>
            <a:pPr marL="0" defTabSz="457200">
              <a:lnSpc>
                <a:spcPct val="170000"/>
              </a:lnSpc>
              <a:spcBef>
                <a:spcPct val="50000"/>
              </a:spcBef>
            </a:pPr>
            <a:r>
              <a:rPr lang="zh-CN" altLang="en-US" sz="2200" b="1" dirty="0">
                <a:latin typeface="宋体" pitchFamily="2" charset="-122"/>
              </a:rPr>
              <a:t>发光二极管简称</a:t>
            </a:r>
            <a:r>
              <a:rPr lang="en-US" altLang="zh-CN" sz="2200" b="1" dirty="0">
                <a:latin typeface="宋体" pitchFamily="2" charset="-122"/>
              </a:rPr>
              <a:t>LED</a:t>
            </a:r>
            <a:r>
              <a:rPr lang="zh-CN" altLang="en-US" sz="2200" b="1" dirty="0">
                <a:latin typeface="宋体" pitchFamily="2" charset="-122"/>
              </a:rPr>
              <a:t>，采用砷化镓、镓铝砷、和磷化镓等材料制成，其内部结构为一个</a:t>
            </a:r>
            <a:r>
              <a:rPr lang="en-US" altLang="zh-CN" sz="2200" b="1" dirty="0">
                <a:latin typeface="宋体" pitchFamily="2" charset="-122"/>
              </a:rPr>
              <a:t>PN</a:t>
            </a:r>
            <a:r>
              <a:rPr lang="zh-CN" altLang="en-US" sz="2200" b="1" dirty="0">
                <a:latin typeface="宋体" pitchFamily="2" charset="-122"/>
              </a:rPr>
              <a:t>结，</a:t>
            </a:r>
            <a:r>
              <a:rPr lang="zh-CN" altLang="en-US" sz="2200" b="1" dirty="0">
                <a:solidFill>
                  <a:srgbClr val="C00000"/>
                </a:solidFill>
                <a:latin typeface="宋体" pitchFamily="2" charset="-122"/>
              </a:rPr>
              <a:t>具有单向导电性</a:t>
            </a:r>
            <a:r>
              <a:rPr lang="zh-CN" altLang="en-US" sz="2200" b="1" dirty="0">
                <a:latin typeface="宋体" pitchFamily="2" charset="-122"/>
              </a:rPr>
              <a:t>。 当在发光二极管</a:t>
            </a:r>
            <a:r>
              <a:rPr lang="en-US" altLang="zh-CN" sz="2200" b="1" dirty="0">
                <a:latin typeface="宋体" pitchFamily="2" charset="-122"/>
              </a:rPr>
              <a:t>PN</a:t>
            </a:r>
            <a:r>
              <a:rPr lang="zh-CN" altLang="en-US" sz="2200" b="1" dirty="0">
                <a:latin typeface="宋体" pitchFamily="2" charset="-122"/>
              </a:rPr>
              <a:t>结上加正向电压时，</a:t>
            </a:r>
            <a:r>
              <a:rPr lang="en-US" altLang="zh-CN" sz="2200" b="1" dirty="0">
                <a:latin typeface="宋体" pitchFamily="2" charset="-122"/>
              </a:rPr>
              <a:t>PN</a:t>
            </a:r>
            <a:r>
              <a:rPr lang="zh-CN" altLang="en-US" sz="2200" b="1" dirty="0">
                <a:latin typeface="宋体" pitchFamily="2" charset="-122"/>
              </a:rPr>
              <a:t>结势垒降低，载流子的扩散运动大于漂移运动，致使</a:t>
            </a:r>
            <a:r>
              <a:rPr lang="en-US" altLang="zh-CN" sz="2200" b="1" dirty="0">
                <a:latin typeface="宋体" pitchFamily="2" charset="-122"/>
              </a:rPr>
              <a:t>P</a:t>
            </a:r>
            <a:r>
              <a:rPr lang="zh-CN" altLang="en-US" sz="2200" b="1" dirty="0">
                <a:latin typeface="宋体" pitchFamily="2" charset="-122"/>
              </a:rPr>
              <a:t>区的空穴注入到</a:t>
            </a:r>
            <a:r>
              <a:rPr lang="en-US" altLang="zh-CN" sz="2200" b="1" dirty="0">
                <a:latin typeface="宋体" pitchFamily="2" charset="-122"/>
              </a:rPr>
              <a:t>N</a:t>
            </a:r>
            <a:r>
              <a:rPr lang="zh-CN" altLang="en-US" sz="2200" b="1" dirty="0">
                <a:latin typeface="宋体" pitchFamily="2" charset="-122"/>
              </a:rPr>
              <a:t>区，</a:t>
            </a:r>
            <a:r>
              <a:rPr lang="en-US" altLang="zh-CN" sz="2200" b="1" dirty="0">
                <a:latin typeface="宋体" pitchFamily="2" charset="-122"/>
              </a:rPr>
              <a:t>N</a:t>
            </a:r>
            <a:r>
              <a:rPr lang="zh-CN" altLang="en-US" sz="2200" b="1" dirty="0">
                <a:latin typeface="宋体" pitchFamily="2" charset="-122"/>
              </a:rPr>
              <a:t>区的电子注入到</a:t>
            </a:r>
            <a:r>
              <a:rPr lang="en-US" altLang="zh-CN" sz="2200" b="1" dirty="0">
                <a:latin typeface="宋体" pitchFamily="2" charset="-122"/>
              </a:rPr>
              <a:t>P</a:t>
            </a:r>
            <a:r>
              <a:rPr lang="zh-CN" altLang="en-US" sz="2200" b="1" dirty="0">
                <a:latin typeface="宋体" pitchFamily="2" charset="-122"/>
              </a:rPr>
              <a:t>区，这样相互注入的空穴与电子相遇后会产生复合，复合时产生的能量大部分以光的形式出现，因此而发光。</a:t>
            </a:r>
          </a:p>
          <a:p>
            <a:pPr marL="0" defTabSz="457200">
              <a:lnSpc>
                <a:spcPct val="170000"/>
              </a:lnSpc>
              <a:spcBef>
                <a:spcPct val="50000"/>
              </a:spcBef>
            </a:pPr>
            <a:r>
              <a:rPr lang="zh-CN" altLang="en-US" sz="2200" b="1" dirty="0">
                <a:latin typeface="宋体" pitchFamily="2" charset="-122"/>
              </a:rPr>
              <a:t> 发光二极管在制作时，使用的</a:t>
            </a:r>
            <a:r>
              <a:rPr lang="zh-CN" altLang="en-US" sz="2200" b="1" dirty="0">
                <a:solidFill>
                  <a:srgbClr val="C00000"/>
                </a:solidFill>
                <a:latin typeface="宋体" pitchFamily="2" charset="-122"/>
              </a:rPr>
              <a:t>材料有所不同，那么就可以发出不同颜色的光</a:t>
            </a:r>
            <a:r>
              <a:rPr lang="zh-CN" altLang="en-US" sz="2200" b="1" dirty="0">
                <a:latin typeface="宋体" pitchFamily="2" charset="-122"/>
              </a:rPr>
              <a:t>。 发光二极管的发光颜色有：红色光、黄色光、绿色光、红外光等。 发光二极管的外形有：圆形、长方形、三角形、正方形、组合形、特殊形等。 </a:t>
            </a:r>
          </a:p>
          <a:p>
            <a:pPr marL="0" defTabSz="457200">
              <a:lnSpc>
                <a:spcPct val="170000"/>
              </a:lnSpc>
              <a:spcBef>
                <a:spcPct val="50000"/>
              </a:spcBef>
            </a:pPr>
            <a:r>
              <a:rPr lang="zh-CN" altLang="en-US" sz="2200" b="1" dirty="0">
                <a:latin typeface="宋体" pitchFamily="2" charset="-122"/>
              </a:rPr>
              <a:t>常用的发光二极管应用电路有四种，即</a:t>
            </a:r>
            <a:r>
              <a:rPr lang="zh-CN" altLang="en-US" sz="2200" b="1" dirty="0">
                <a:solidFill>
                  <a:srgbClr val="C00000"/>
                </a:solidFill>
                <a:latin typeface="宋体" pitchFamily="2" charset="-122"/>
              </a:rPr>
              <a:t>直流驱动电路、交流驱动电路、脉冲驱动电路、变色发光驱动电路</a:t>
            </a:r>
            <a:r>
              <a:rPr lang="zh-CN" altLang="en-US" sz="2200" b="1" dirty="0">
                <a:latin typeface="宋体" pitchFamily="2" charset="-122"/>
              </a:rPr>
              <a:t>。 使用</a:t>
            </a:r>
            <a:r>
              <a:rPr lang="en-US" altLang="zh-CN" sz="2200" b="1" dirty="0">
                <a:latin typeface="宋体" pitchFamily="2" charset="-122"/>
              </a:rPr>
              <a:t>LED</a:t>
            </a:r>
            <a:r>
              <a:rPr lang="zh-CN" altLang="en-US" sz="2200" b="1" dirty="0">
                <a:latin typeface="宋体" pitchFamily="2" charset="-122"/>
              </a:rPr>
              <a:t>作指示电路时，应该串接限流电阻，该电阻的阻值大小应根据不同的使用电压和</a:t>
            </a:r>
            <a:r>
              <a:rPr lang="en-US" altLang="zh-CN" sz="2200" b="1" dirty="0">
                <a:latin typeface="宋体" pitchFamily="2" charset="-122"/>
              </a:rPr>
              <a:t>LED</a:t>
            </a:r>
            <a:r>
              <a:rPr lang="zh-CN" altLang="en-US" sz="2200" b="1" dirty="0">
                <a:latin typeface="宋体" pitchFamily="2" charset="-122"/>
              </a:rPr>
              <a:t>所需工作电流来选择。 发光二极管的压降一般为</a:t>
            </a:r>
            <a:r>
              <a:rPr lang="en-US" altLang="zh-CN" sz="2200" b="1" dirty="0">
                <a:latin typeface="宋体" pitchFamily="2" charset="-122"/>
              </a:rPr>
              <a:t>1.5~2.0 V</a:t>
            </a:r>
            <a:r>
              <a:rPr lang="zh-CN" altLang="en-US" sz="2200" b="1" dirty="0">
                <a:latin typeface="宋体" pitchFamily="2" charset="-122"/>
              </a:rPr>
              <a:t>，其工作电流一般取</a:t>
            </a:r>
            <a:r>
              <a:rPr lang="en-US" altLang="zh-CN" sz="2200" b="1" dirty="0">
                <a:latin typeface="宋体" pitchFamily="2" charset="-122"/>
              </a:rPr>
              <a:t>10~20 mA</a:t>
            </a:r>
            <a:r>
              <a:rPr lang="zh-CN" altLang="en-US" sz="2200" b="1" dirty="0">
                <a:latin typeface="宋体" pitchFamily="2" charset="-122"/>
              </a:rPr>
              <a:t>为宜。 </a:t>
            </a:r>
          </a:p>
        </p:txBody>
      </p:sp>
      <p:sp>
        <p:nvSpPr>
          <p:cNvPr id="2" name="灯片编号占位符 1">
            <a:extLst>
              <a:ext uri="{FF2B5EF4-FFF2-40B4-BE49-F238E27FC236}">
                <a16:creationId xmlns:a16="http://schemas.microsoft.com/office/drawing/2014/main" id="{7865CD9F-D5E5-D270-8359-E210E221C4A3}"/>
              </a:ext>
            </a:extLst>
          </p:cNvPr>
          <p:cNvSpPr>
            <a:spLocks noGrp="1"/>
          </p:cNvSpPr>
          <p:nvPr>
            <p:ph type="sldNum" sz="quarter" idx="12"/>
          </p:nvPr>
        </p:nvSpPr>
        <p:spPr/>
        <p:txBody>
          <a:bodyPr/>
          <a:lstStyle/>
          <a:p>
            <a:pPr>
              <a:defRPr/>
            </a:pPr>
            <a:fld id="{5FAFB815-62BA-464E-901C-79D108092E38}" type="slidenum">
              <a:rPr lang="zh-CN" altLang="en-US" smtClean="0"/>
              <a:pPr>
                <a:defRPr/>
              </a:pPr>
              <a:t>73</a:t>
            </a:fld>
            <a:endParaRPr lang="en-US" altLang="zh-CN"/>
          </a:p>
        </p:txBody>
      </p:sp>
    </p:spTree>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a:xfrm>
            <a:off x="0" y="1"/>
            <a:ext cx="2664296" cy="635308"/>
          </a:xfrm>
          <a:solidFill>
            <a:schemeClr val="bg1">
              <a:lumMod val="95000"/>
            </a:schemeClr>
          </a:solidFill>
        </p:spPr>
        <p:txBody>
          <a:bodyPr vert="horz" lIns="91440" tIns="45720" rIns="91440" bIns="45720" rtlCol="0" anchor="t">
            <a:normAutofit/>
          </a:bodyPr>
          <a:lstStyle/>
          <a:p>
            <a:r>
              <a:rPr lang="zh-CN" altLang="en-US" sz="3600" b="1" dirty="0">
                <a:latin typeface="华文行楷" panose="02010800040101010101" pitchFamily="2" charset="-122"/>
                <a:ea typeface="华文行楷" panose="02010800040101010101" pitchFamily="2" charset="-122"/>
              </a:rPr>
              <a:t> 五、三极管</a:t>
            </a:r>
          </a:p>
        </p:txBody>
      </p:sp>
      <p:sp>
        <p:nvSpPr>
          <p:cNvPr id="90115" name="Rectangle 3"/>
          <p:cNvSpPr>
            <a:spLocks noGrp="1" noChangeArrowheads="1"/>
          </p:cNvSpPr>
          <p:nvPr>
            <p:ph idx="1"/>
          </p:nvPr>
        </p:nvSpPr>
        <p:spPr>
          <a:xfrm>
            <a:off x="179512" y="908720"/>
            <a:ext cx="8640960" cy="4464496"/>
          </a:xfrm>
        </p:spPr>
        <p:txBody>
          <a:bodyPr/>
          <a:lstStyle/>
          <a:p>
            <a:pPr marL="0" indent="-609600" defTabSz="457200">
              <a:lnSpc>
                <a:spcPct val="114000"/>
              </a:lnSpc>
              <a:spcBef>
                <a:spcPct val="50000"/>
              </a:spcBef>
              <a:buFont typeface="Wingdings" pitchFamily="2" charset="2"/>
              <a:buNone/>
            </a:pPr>
            <a:r>
              <a:rPr lang="zh-CN" sz="2400" dirty="0"/>
              <a:t>        </a:t>
            </a:r>
            <a:r>
              <a:rPr lang="zh-CN" altLang="en-US" sz="2200" b="1" dirty="0">
                <a:latin typeface="宋体" pitchFamily="2" charset="-122"/>
              </a:rPr>
              <a:t>半导体三极管有两大类</a:t>
            </a:r>
            <a:r>
              <a:rPr lang="en-US" sz="2200" b="1" dirty="0">
                <a:latin typeface="宋体" pitchFamily="2" charset="-122"/>
              </a:rPr>
              <a:t>——</a:t>
            </a:r>
            <a:r>
              <a:rPr lang="zh-CN" altLang="en-US" sz="2200" b="1" dirty="0">
                <a:latin typeface="宋体" pitchFamily="2" charset="-122"/>
              </a:rPr>
              <a:t>双极型半导体三极管和场效应半导体三极管。场效应管在集成电路中经常用到，这里我们只介绍双极型三极管。</a:t>
            </a:r>
          </a:p>
          <a:p>
            <a:pPr marL="0" indent="-609600" defTabSz="457200">
              <a:lnSpc>
                <a:spcPct val="114000"/>
              </a:lnSpc>
              <a:spcBef>
                <a:spcPct val="50000"/>
              </a:spcBef>
              <a:buFont typeface="Wingdings" pitchFamily="2" charset="2"/>
              <a:buNone/>
            </a:pPr>
            <a:r>
              <a:rPr lang="en-US" sz="2200" b="1" dirty="0">
                <a:latin typeface="宋体" pitchFamily="2" charset="-122"/>
              </a:rPr>
              <a:t>1. </a:t>
            </a:r>
            <a:r>
              <a:rPr lang="zh-CN" altLang="en-US" sz="2200" b="1" dirty="0">
                <a:latin typeface="宋体" pitchFamily="2" charset="-122"/>
              </a:rPr>
              <a:t>双极型三极管（</a:t>
            </a:r>
            <a:r>
              <a:rPr lang="en-US" sz="2200" b="1" dirty="0">
                <a:latin typeface="宋体" pitchFamily="2" charset="-122"/>
              </a:rPr>
              <a:t>BJT</a:t>
            </a:r>
            <a:r>
              <a:rPr lang="zh-CN" altLang="en-US" sz="2200" b="1" dirty="0">
                <a:latin typeface="宋体" pitchFamily="2" charset="-122"/>
              </a:rPr>
              <a:t>）的结构</a:t>
            </a:r>
          </a:p>
          <a:p>
            <a:pPr marL="0" indent="-609600" defTabSz="457200">
              <a:lnSpc>
                <a:spcPct val="114000"/>
              </a:lnSpc>
              <a:spcBef>
                <a:spcPct val="50000"/>
              </a:spcBef>
              <a:buFont typeface="Wingdings" pitchFamily="2" charset="2"/>
              <a:buNone/>
            </a:pPr>
            <a:r>
              <a:rPr lang="zh-CN" altLang="en-US" sz="2200" b="1" dirty="0">
                <a:latin typeface="宋体" pitchFamily="2" charset="-122"/>
              </a:rPr>
              <a:t>     </a:t>
            </a:r>
            <a:r>
              <a:rPr lang="en-US" sz="2200" b="1" dirty="0">
                <a:latin typeface="宋体" pitchFamily="2" charset="-122"/>
              </a:rPr>
              <a:t>BJT</a:t>
            </a:r>
            <a:r>
              <a:rPr lang="zh-CN" altLang="en-US" sz="2200" b="1" dirty="0">
                <a:latin typeface="宋体" pitchFamily="2" charset="-122"/>
              </a:rPr>
              <a:t>是通过一定的工艺，将两个</a:t>
            </a:r>
            <a:r>
              <a:rPr lang="en-US" sz="2200" b="1" dirty="0">
                <a:latin typeface="宋体" pitchFamily="2" charset="-122"/>
              </a:rPr>
              <a:t>PN</a:t>
            </a:r>
            <a:r>
              <a:rPr lang="zh-CN" altLang="en-US" sz="2200" b="1" dirty="0">
                <a:latin typeface="宋体" pitchFamily="2" charset="-122"/>
              </a:rPr>
              <a:t>结结合在一起的器件，，由于</a:t>
            </a:r>
            <a:r>
              <a:rPr lang="en-US" sz="2200" b="1" dirty="0">
                <a:latin typeface="宋体" pitchFamily="2" charset="-122"/>
              </a:rPr>
              <a:t>PN</a:t>
            </a:r>
            <a:r>
              <a:rPr lang="zh-CN" altLang="en-US" sz="2200" b="1" dirty="0">
                <a:latin typeface="宋体" pitchFamily="2" charset="-122"/>
              </a:rPr>
              <a:t>结的相互影响，是</a:t>
            </a:r>
            <a:r>
              <a:rPr lang="en-US" sz="2200" b="1" dirty="0">
                <a:latin typeface="宋体" pitchFamily="2" charset="-122"/>
              </a:rPr>
              <a:t>BJT</a:t>
            </a:r>
            <a:r>
              <a:rPr lang="zh-CN" altLang="en-US" sz="2200" b="1" dirty="0">
                <a:latin typeface="宋体" pitchFamily="2" charset="-122"/>
              </a:rPr>
              <a:t>表现出不同于单个</a:t>
            </a:r>
            <a:r>
              <a:rPr lang="en-US" sz="2200" b="1" dirty="0">
                <a:latin typeface="宋体" pitchFamily="2" charset="-122"/>
              </a:rPr>
              <a:t>PN</a:t>
            </a:r>
            <a:r>
              <a:rPr lang="zh-CN" altLang="en-US" sz="2200" b="1" dirty="0">
                <a:latin typeface="宋体" pitchFamily="2" charset="-122"/>
              </a:rPr>
              <a:t>结的特性而具有电流放大作用。</a:t>
            </a:r>
            <a:r>
              <a:rPr lang="en-US" sz="2200" b="1" dirty="0">
                <a:latin typeface="宋体" pitchFamily="2" charset="-122"/>
              </a:rPr>
              <a:t>BJT</a:t>
            </a:r>
            <a:r>
              <a:rPr lang="zh-CN" altLang="en-US" sz="2200" b="1" dirty="0">
                <a:latin typeface="宋体" pitchFamily="2" charset="-122"/>
              </a:rPr>
              <a:t>又常称为晶体管。</a:t>
            </a:r>
          </a:p>
        </p:txBody>
      </p:sp>
      <p:sp>
        <p:nvSpPr>
          <p:cNvPr id="2" name="灯片编号占位符 1">
            <a:extLst>
              <a:ext uri="{FF2B5EF4-FFF2-40B4-BE49-F238E27FC236}">
                <a16:creationId xmlns:a16="http://schemas.microsoft.com/office/drawing/2014/main" id="{BBB583D1-F40C-C263-472E-2CB90E410DC7}"/>
              </a:ext>
            </a:extLst>
          </p:cNvPr>
          <p:cNvSpPr>
            <a:spLocks noGrp="1"/>
          </p:cNvSpPr>
          <p:nvPr>
            <p:ph type="sldNum" sz="quarter" idx="12"/>
          </p:nvPr>
        </p:nvSpPr>
        <p:spPr/>
        <p:txBody>
          <a:bodyPr/>
          <a:lstStyle/>
          <a:p>
            <a:pPr>
              <a:defRPr/>
            </a:pPr>
            <a:fld id="{5FAFB815-62BA-464E-901C-79D108092E38}" type="slidenum">
              <a:rPr lang="zh-CN" altLang="en-US" smtClean="0"/>
              <a:pPr>
                <a:defRPr/>
              </a:pPr>
              <a:t>74</a:t>
            </a:fld>
            <a:endParaRPr lang="en-US" altLang="zh-CN"/>
          </a:p>
        </p:txBody>
      </p:sp>
    </p:spTree>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Text Box 2"/>
          <p:cNvSpPr txBox="1">
            <a:spLocks noChangeArrowheads="1"/>
          </p:cNvSpPr>
          <p:nvPr/>
        </p:nvSpPr>
        <p:spPr bwMode="auto">
          <a:xfrm>
            <a:off x="684213" y="898679"/>
            <a:ext cx="7416800" cy="3017429"/>
          </a:xfrm>
          <a:prstGeom prst="rect">
            <a:avLst/>
          </a:prstGeom>
          <a:noFill/>
          <a:ln w="9525">
            <a:noFill/>
            <a:miter lim="800000"/>
            <a:headEnd/>
            <a:tailEnd/>
          </a:ln>
          <a:effectLst/>
        </p:spPr>
        <p:txBody>
          <a:bodyPr>
            <a:spAutoFit/>
          </a:bodyPr>
          <a:lstStyle/>
          <a:p>
            <a:pPr>
              <a:spcBef>
                <a:spcPct val="50000"/>
              </a:spcBef>
            </a:pPr>
            <a:r>
              <a:rPr lang="en-US" sz="2200" b="1" dirty="0">
                <a:latin typeface="宋体" pitchFamily="2" charset="-122"/>
              </a:rPr>
              <a:t>2.BJT</a:t>
            </a:r>
            <a:r>
              <a:rPr lang="zh-CN" altLang="en-US" sz="2200" b="1" dirty="0">
                <a:latin typeface="宋体" pitchFamily="2" charset="-122"/>
              </a:rPr>
              <a:t>的分类</a:t>
            </a:r>
            <a:endParaRPr lang="en-US" altLang="zh-CN" sz="2200" b="1" dirty="0">
              <a:latin typeface="宋体" pitchFamily="2" charset="-122"/>
            </a:endParaRPr>
          </a:p>
          <a:p>
            <a:pPr>
              <a:spcBef>
                <a:spcPct val="50000"/>
              </a:spcBef>
            </a:pPr>
            <a:r>
              <a:rPr lang="zh-CN" altLang="en-US" sz="2200" b="1" dirty="0">
                <a:latin typeface="宋体" pitchFamily="2" charset="-122"/>
              </a:rPr>
              <a:t>    晶体管的种类很多，按频率分，有高频管、低频管；按功率分，有小功率管、中功率管、大功率管；按半导体材料分，有硅管、锗管，按结构分，有</a:t>
            </a:r>
            <a:r>
              <a:rPr lang="en-US" altLang="zh-CN" sz="2200" b="1" dirty="0">
                <a:latin typeface="宋体" pitchFamily="2" charset="-122"/>
              </a:rPr>
              <a:t>NPN</a:t>
            </a:r>
            <a:r>
              <a:rPr lang="zh-CN" altLang="en-US" sz="2200" b="1" dirty="0">
                <a:latin typeface="宋体" pitchFamily="2" charset="-122"/>
              </a:rPr>
              <a:t>型三极管和</a:t>
            </a:r>
            <a:r>
              <a:rPr lang="en-US" altLang="zh-CN" sz="2200" b="1" dirty="0">
                <a:latin typeface="宋体" pitchFamily="2" charset="-122"/>
              </a:rPr>
              <a:t>PNP</a:t>
            </a:r>
            <a:r>
              <a:rPr lang="zh-CN" altLang="en-US" sz="2200" b="1" dirty="0">
                <a:latin typeface="宋体" pitchFamily="2" charset="-122"/>
              </a:rPr>
              <a:t>型三极管；按封状形式分，有直插三极管、贴片三极管等。</a:t>
            </a:r>
            <a:endParaRPr lang="en-US" altLang="zh-CN" sz="2200" b="1" dirty="0">
              <a:latin typeface="宋体" pitchFamily="2" charset="-122"/>
            </a:endParaRPr>
          </a:p>
          <a:p>
            <a:pPr>
              <a:spcBef>
                <a:spcPct val="50000"/>
              </a:spcBef>
            </a:pPr>
            <a:r>
              <a:rPr lang="en-US" altLang="zh-CN" sz="2200" b="1" dirty="0">
                <a:latin typeface="宋体" pitchFamily="2" charset="-122"/>
              </a:rPr>
              <a:t>3. </a:t>
            </a:r>
            <a:r>
              <a:rPr lang="zh-CN" altLang="en-US" sz="2200" b="1" dirty="0">
                <a:latin typeface="宋体" pitchFamily="2" charset="-122"/>
              </a:rPr>
              <a:t>三极管的符号</a:t>
            </a:r>
          </a:p>
          <a:p>
            <a:pPr>
              <a:spcBef>
                <a:spcPct val="50000"/>
              </a:spcBef>
            </a:pPr>
            <a:endParaRPr lang="zh-CN" altLang="en-US" sz="2200" b="1" dirty="0">
              <a:latin typeface="宋体" pitchFamily="2" charset="-122"/>
            </a:endParaRPr>
          </a:p>
        </p:txBody>
      </p:sp>
      <p:sp>
        <p:nvSpPr>
          <p:cNvPr id="91139" name="Text Box 3"/>
          <p:cNvSpPr txBox="1">
            <a:spLocks noChangeArrowheads="1"/>
          </p:cNvSpPr>
          <p:nvPr/>
        </p:nvSpPr>
        <p:spPr bwMode="auto">
          <a:xfrm>
            <a:off x="539750" y="1700213"/>
            <a:ext cx="8208963" cy="523220"/>
          </a:xfrm>
          <a:prstGeom prst="rect">
            <a:avLst/>
          </a:prstGeom>
          <a:noFill/>
          <a:ln w="9525">
            <a:noFill/>
            <a:miter lim="800000"/>
            <a:headEnd/>
            <a:tailEnd/>
          </a:ln>
          <a:effectLst/>
        </p:spPr>
        <p:txBody>
          <a:bodyPr>
            <a:spAutoFit/>
          </a:bodyPr>
          <a:lstStyle/>
          <a:p>
            <a:pPr>
              <a:spcBef>
                <a:spcPct val="50000"/>
              </a:spcBef>
            </a:pPr>
            <a:r>
              <a:rPr lang="zh-CN" altLang="en-US" sz="2800" dirty="0">
                <a:latin typeface="宋体" pitchFamily="2" charset="-122"/>
              </a:rPr>
              <a:t>    </a:t>
            </a:r>
            <a:endParaRPr lang="zh-CN" altLang="en-US" sz="2200" b="1" dirty="0">
              <a:latin typeface="宋体" pitchFamily="2" charset="-122"/>
            </a:endParaRPr>
          </a:p>
        </p:txBody>
      </p:sp>
      <p:sp>
        <p:nvSpPr>
          <p:cNvPr id="5" name="Text Box 2">
            <a:extLst>
              <a:ext uri="{FF2B5EF4-FFF2-40B4-BE49-F238E27FC236}">
                <a16:creationId xmlns:a16="http://schemas.microsoft.com/office/drawing/2014/main" id="{58224008-C3B0-2ED2-FCB5-3925CD61DCB7}"/>
              </a:ext>
            </a:extLst>
          </p:cNvPr>
          <p:cNvSpPr txBox="1">
            <a:spLocks noChangeArrowheads="1"/>
          </p:cNvSpPr>
          <p:nvPr/>
        </p:nvSpPr>
        <p:spPr bwMode="auto">
          <a:xfrm>
            <a:off x="971600" y="5377571"/>
            <a:ext cx="1686550" cy="400110"/>
          </a:xfrm>
          <a:prstGeom prst="rect">
            <a:avLst/>
          </a:prstGeom>
          <a:noFill/>
          <a:ln w="9525">
            <a:noFill/>
            <a:miter lim="800000"/>
            <a:headEnd/>
            <a:tailEnd/>
          </a:ln>
          <a:effectLst/>
        </p:spPr>
        <p:txBody>
          <a:bodyPr wrap="square">
            <a:spAutoFit/>
          </a:bodyPr>
          <a:lstStyle/>
          <a:p>
            <a:pPr>
              <a:spcBef>
                <a:spcPct val="50000"/>
              </a:spcBef>
            </a:pPr>
            <a:r>
              <a:rPr lang="zh-CN" altLang="en-US" sz="2000" dirty="0"/>
              <a:t>型三极管</a:t>
            </a:r>
          </a:p>
        </p:txBody>
      </p:sp>
      <p:pic>
        <p:nvPicPr>
          <p:cNvPr id="8" name="Picture 5">
            <a:extLst>
              <a:ext uri="{FF2B5EF4-FFF2-40B4-BE49-F238E27FC236}">
                <a16:creationId xmlns:a16="http://schemas.microsoft.com/office/drawing/2014/main" id="{27577BD6-5D6D-7C36-50AE-FECEABAC3C62}"/>
              </a:ext>
            </a:extLst>
          </p:cNvPr>
          <p:cNvPicPr>
            <a:picLocks noChangeAspect="1" noChangeArrowheads="1"/>
          </p:cNvPicPr>
          <p:nvPr/>
        </p:nvPicPr>
        <p:blipFill>
          <a:blip r:embed="rId2" cstate="print"/>
          <a:srcRect/>
          <a:stretch>
            <a:fillRect/>
          </a:stretch>
        </p:blipFill>
        <p:spPr bwMode="auto">
          <a:xfrm>
            <a:off x="1053878" y="3684896"/>
            <a:ext cx="1152698" cy="1292757"/>
          </a:xfrm>
          <a:prstGeom prst="rect">
            <a:avLst/>
          </a:prstGeom>
          <a:noFill/>
          <a:ln w="9525">
            <a:noFill/>
            <a:miter lim="800000"/>
            <a:headEnd/>
            <a:tailEnd/>
          </a:ln>
        </p:spPr>
      </p:pic>
      <p:sp>
        <p:nvSpPr>
          <p:cNvPr id="2" name="灯片编号占位符 1">
            <a:extLst>
              <a:ext uri="{FF2B5EF4-FFF2-40B4-BE49-F238E27FC236}">
                <a16:creationId xmlns:a16="http://schemas.microsoft.com/office/drawing/2014/main" id="{384F8F04-D35E-AEEE-AB0A-208DBFAB56E9}"/>
              </a:ext>
            </a:extLst>
          </p:cNvPr>
          <p:cNvSpPr>
            <a:spLocks noGrp="1"/>
          </p:cNvSpPr>
          <p:nvPr>
            <p:ph type="sldNum" sz="quarter" idx="12"/>
          </p:nvPr>
        </p:nvSpPr>
        <p:spPr/>
        <p:txBody>
          <a:bodyPr/>
          <a:lstStyle/>
          <a:p>
            <a:pPr>
              <a:defRPr/>
            </a:pPr>
            <a:fld id="{5FAFB815-62BA-464E-901C-79D108092E38}" type="slidenum">
              <a:rPr lang="zh-CN" altLang="en-US" smtClean="0"/>
              <a:pPr>
                <a:defRPr/>
              </a:pPr>
              <a:t>75</a:t>
            </a:fld>
            <a:endParaRPr lang="en-US" altLang="zh-CN"/>
          </a:p>
        </p:txBody>
      </p:sp>
      <p:pic>
        <p:nvPicPr>
          <p:cNvPr id="4" name="图片 3">
            <a:extLst>
              <a:ext uri="{FF2B5EF4-FFF2-40B4-BE49-F238E27FC236}">
                <a16:creationId xmlns:a16="http://schemas.microsoft.com/office/drawing/2014/main" id="{A8341F62-2375-BBA5-4971-A40017C17440}"/>
              </a:ext>
            </a:extLst>
          </p:cNvPr>
          <p:cNvPicPr>
            <a:picLocks noChangeAspect="1"/>
          </p:cNvPicPr>
          <p:nvPr/>
        </p:nvPicPr>
        <p:blipFill>
          <a:blip r:embed="rId3"/>
          <a:stretch>
            <a:fillRect/>
          </a:stretch>
        </p:blipFill>
        <p:spPr>
          <a:xfrm>
            <a:off x="2537583" y="3500005"/>
            <a:ext cx="5652120" cy="2435273"/>
          </a:xfrm>
          <a:prstGeom prst="rect">
            <a:avLst/>
          </a:prstGeom>
        </p:spPr>
      </p:pic>
    </p:spTree>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Text Box 2"/>
          <p:cNvSpPr txBox="1">
            <a:spLocks noChangeArrowheads="1"/>
          </p:cNvSpPr>
          <p:nvPr/>
        </p:nvSpPr>
        <p:spPr bwMode="auto">
          <a:xfrm>
            <a:off x="251520" y="142152"/>
            <a:ext cx="6920781" cy="430887"/>
          </a:xfrm>
          <a:prstGeom prst="rect">
            <a:avLst/>
          </a:prstGeom>
          <a:noFill/>
          <a:ln w="9525">
            <a:noFill/>
            <a:miter lim="800000"/>
            <a:headEnd/>
            <a:tailEnd/>
          </a:ln>
          <a:effectLst/>
        </p:spPr>
        <p:txBody>
          <a:bodyPr wrap="square">
            <a:spAutoFit/>
          </a:bodyPr>
          <a:lstStyle/>
          <a:p>
            <a:pPr>
              <a:spcBef>
                <a:spcPct val="50000"/>
              </a:spcBef>
            </a:pPr>
            <a:r>
              <a:rPr lang="en-US" sz="2200" b="1" dirty="0">
                <a:latin typeface="宋体" pitchFamily="2" charset="-122"/>
              </a:rPr>
              <a:t>4.</a:t>
            </a:r>
            <a:r>
              <a:rPr lang="zh-CN" altLang="en-US" sz="2200" b="1" dirty="0">
                <a:latin typeface="宋体" pitchFamily="2" charset="-122"/>
              </a:rPr>
              <a:t>几种常见的晶体管</a:t>
            </a:r>
          </a:p>
        </p:txBody>
      </p:sp>
      <p:pic>
        <p:nvPicPr>
          <p:cNvPr id="93187" name="Picture 3" descr="三极管1"/>
          <p:cNvPicPr>
            <a:picLocks noChangeAspect="1" noChangeArrowheads="1"/>
          </p:cNvPicPr>
          <p:nvPr/>
        </p:nvPicPr>
        <p:blipFill>
          <a:blip r:embed="rId2" cstate="print"/>
          <a:srcRect/>
          <a:stretch>
            <a:fillRect/>
          </a:stretch>
        </p:blipFill>
        <p:spPr bwMode="auto">
          <a:xfrm>
            <a:off x="61075" y="900905"/>
            <a:ext cx="3173755" cy="2160000"/>
          </a:xfrm>
          <a:prstGeom prst="rect">
            <a:avLst/>
          </a:prstGeom>
          <a:noFill/>
          <a:ln w="9525">
            <a:noFill/>
            <a:miter lim="800000"/>
            <a:headEnd/>
            <a:tailEnd/>
          </a:ln>
        </p:spPr>
      </p:pic>
      <p:pic>
        <p:nvPicPr>
          <p:cNvPr id="93188" name="Picture 4" descr="三极管4"/>
          <p:cNvPicPr>
            <a:picLocks noChangeAspect="1" noChangeArrowheads="1"/>
          </p:cNvPicPr>
          <p:nvPr/>
        </p:nvPicPr>
        <p:blipFill>
          <a:blip r:embed="rId3" cstate="print"/>
          <a:srcRect/>
          <a:stretch>
            <a:fillRect/>
          </a:stretch>
        </p:blipFill>
        <p:spPr bwMode="auto">
          <a:xfrm>
            <a:off x="3218785" y="900905"/>
            <a:ext cx="3059877" cy="2160000"/>
          </a:xfrm>
          <a:prstGeom prst="rect">
            <a:avLst/>
          </a:prstGeom>
          <a:noFill/>
          <a:ln w="9525">
            <a:noFill/>
            <a:miter lim="800000"/>
            <a:headEnd/>
            <a:tailEnd/>
          </a:ln>
        </p:spPr>
      </p:pic>
      <p:pic>
        <p:nvPicPr>
          <p:cNvPr id="93189" name="Picture 5" descr="贴片三极管"/>
          <p:cNvPicPr>
            <a:picLocks noChangeAspect="1" noChangeArrowheads="1"/>
          </p:cNvPicPr>
          <p:nvPr/>
        </p:nvPicPr>
        <p:blipFill>
          <a:blip r:embed="rId4" cstate="print"/>
          <a:srcRect/>
          <a:stretch>
            <a:fillRect/>
          </a:stretch>
        </p:blipFill>
        <p:spPr bwMode="auto">
          <a:xfrm>
            <a:off x="6264000" y="886202"/>
            <a:ext cx="2880000" cy="2160000"/>
          </a:xfrm>
          <a:prstGeom prst="rect">
            <a:avLst/>
          </a:prstGeom>
          <a:noFill/>
          <a:ln w="9525">
            <a:noFill/>
            <a:miter lim="800000"/>
            <a:headEnd/>
            <a:tailEnd/>
          </a:ln>
        </p:spPr>
      </p:pic>
      <p:sp>
        <p:nvSpPr>
          <p:cNvPr id="93190" name="Text Box 6"/>
          <p:cNvSpPr txBox="1">
            <a:spLocks noChangeArrowheads="1"/>
          </p:cNvSpPr>
          <p:nvPr/>
        </p:nvSpPr>
        <p:spPr bwMode="auto">
          <a:xfrm>
            <a:off x="323528" y="3164151"/>
            <a:ext cx="2809875" cy="517525"/>
          </a:xfrm>
          <a:prstGeom prst="rect">
            <a:avLst/>
          </a:prstGeom>
          <a:noFill/>
          <a:ln w="9525">
            <a:noFill/>
            <a:miter lim="800000"/>
            <a:headEnd/>
            <a:tailEnd/>
          </a:ln>
          <a:effectLst/>
        </p:spPr>
        <p:txBody>
          <a:bodyPr/>
          <a:lstStyle>
            <a:defPPr>
              <a:defRPr lang="en-US"/>
            </a:defPPr>
            <a:lvl1pPr>
              <a:spcBef>
                <a:spcPct val="20000"/>
              </a:spcBef>
              <a:buFont typeface="Wingdings" pitchFamily="2" charset="2"/>
              <a:buNone/>
              <a:defRPr sz="2800" b="1">
                <a:latin typeface="Times New Roman" pitchFamily="18" charset="0"/>
              </a:defRPr>
            </a:lvl1pPr>
          </a:lstStyle>
          <a:p>
            <a:r>
              <a:rPr lang="zh-CN" altLang="en-US" dirty="0"/>
              <a:t>小功率晶体管</a:t>
            </a:r>
          </a:p>
        </p:txBody>
      </p:sp>
      <p:sp>
        <p:nvSpPr>
          <p:cNvPr id="93191" name="Text Box 7"/>
          <p:cNvSpPr txBox="1">
            <a:spLocks noChangeArrowheads="1"/>
          </p:cNvSpPr>
          <p:nvPr/>
        </p:nvSpPr>
        <p:spPr bwMode="auto">
          <a:xfrm>
            <a:off x="3635896" y="3130008"/>
            <a:ext cx="2519363" cy="517525"/>
          </a:xfrm>
          <a:prstGeom prst="rect">
            <a:avLst/>
          </a:prstGeom>
          <a:noFill/>
          <a:ln w="9525">
            <a:noFill/>
            <a:miter lim="800000"/>
            <a:headEnd/>
            <a:tailEnd/>
          </a:ln>
          <a:effectLst/>
        </p:spPr>
        <p:txBody>
          <a:bodyPr/>
          <a:lstStyle>
            <a:defPPr>
              <a:defRPr lang="en-US"/>
            </a:defPPr>
            <a:lvl1pPr>
              <a:spcBef>
                <a:spcPct val="20000"/>
              </a:spcBef>
              <a:buFont typeface="Wingdings" pitchFamily="2" charset="2"/>
              <a:buNone/>
              <a:defRPr sz="2800" b="1">
                <a:latin typeface="Times New Roman" pitchFamily="18" charset="0"/>
              </a:defRPr>
            </a:lvl1pPr>
          </a:lstStyle>
          <a:p>
            <a:r>
              <a:rPr lang="zh-CN" altLang="en-US" dirty="0"/>
              <a:t>大功率晶体管</a:t>
            </a:r>
          </a:p>
        </p:txBody>
      </p:sp>
      <p:sp>
        <p:nvSpPr>
          <p:cNvPr id="93192" name="Text Box 8"/>
          <p:cNvSpPr txBox="1">
            <a:spLocks noChangeArrowheads="1"/>
          </p:cNvSpPr>
          <p:nvPr/>
        </p:nvSpPr>
        <p:spPr bwMode="auto">
          <a:xfrm>
            <a:off x="6893728" y="3198439"/>
            <a:ext cx="2735263" cy="519112"/>
          </a:xfrm>
          <a:prstGeom prst="rect">
            <a:avLst/>
          </a:prstGeom>
          <a:noFill/>
          <a:ln w="9525">
            <a:noFill/>
            <a:miter lim="800000"/>
            <a:headEnd/>
            <a:tailEnd/>
          </a:ln>
          <a:effectLst/>
        </p:spPr>
        <p:txBody>
          <a:bodyPr/>
          <a:lstStyle>
            <a:defPPr>
              <a:defRPr lang="en-US"/>
            </a:defPPr>
            <a:lvl1pPr>
              <a:spcBef>
                <a:spcPct val="20000"/>
              </a:spcBef>
              <a:buFont typeface="Wingdings" pitchFamily="2" charset="2"/>
              <a:buNone/>
              <a:defRPr sz="2800" b="1">
                <a:latin typeface="Times New Roman" pitchFamily="18" charset="0"/>
              </a:defRPr>
            </a:lvl1pPr>
          </a:lstStyle>
          <a:p>
            <a:r>
              <a:rPr lang="zh-CN" altLang="en-US" dirty="0"/>
              <a:t>贴片三极管</a:t>
            </a:r>
          </a:p>
        </p:txBody>
      </p:sp>
      <p:sp>
        <p:nvSpPr>
          <p:cNvPr id="2" name="灯片编号占位符 1">
            <a:extLst>
              <a:ext uri="{FF2B5EF4-FFF2-40B4-BE49-F238E27FC236}">
                <a16:creationId xmlns:a16="http://schemas.microsoft.com/office/drawing/2014/main" id="{A0835875-DF98-DEA9-6633-F9AF2B5B746E}"/>
              </a:ext>
            </a:extLst>
          </p:cNvPr>
          <p:cNvSpPr>
            <a:spLocks noGrp="1"/>
          </p:cNvSpPr>
          <p:nvPr>
            <p:ph type="sldNum" sz="quarter" idx="12"/>
          </p:nvPr>
        </p:nvSpPr>
        <p:spPr/>
        <p:txBody>
          <a:bodyPr/>
          <a:lstStyle/>
          <a:p>
            <a:pPr>
              <a:defRPr/>
            </a:pPr>
            <a:fld id="{5FAFB815-62BA-464E-901C-79D108092E38}" type="slidenum">
              <a:rPr lang="zh-CN" altLang="en-US" smtClean="0"/>
              <a:pPr>
                <a:defRPr/>
              </a:pPr>
              <a:t>76</a:t>
            </a:fld>
            <a:endParaRPr lang="en-US" altLang="zh-CN"/>
          </a:p>
        </p:txBody>
      </p:sp>
      <p:pic>
        <p:nvPicPr>
          <p:cNvPr id="4" name="图片 3">
            <a:extLst>
              <a:ext uri="{FF2B5EF4-FFF2-40B4-BE49-F238E27FC236}">
                <a16:creationId xmlns:a16="http://schemas.microsoft.com/office/drawing/2014/main" id="{997D2352-D844-FB30-95B0-F1DB569F4443}"/>
              </a:ext>
            </a:extLst>
          </p:cNvPr>
          <p:cNvPicPr>
            <a:picLocks noChangeAspect="1"/>
          </p:cNvPicPr>
          <p:nvPr/>
        </p:nvPicPr>
        <p:blipFill>
          <a:blip r:embed="rId5"/>
          <a:stretch>
            <a:fillRect/>
          </a:stretch>
        </p:blipFill>
        <p:spPr>
          <a:xfrm>
            <a:off x="94956" y="3661212"/>
            <a:ext cx="3004567" cy="2160000"/>
          </a:xfrm>
          <a:prstGeom prst="rect">
            <a:avLst/>
          </a:prstGeom>
        </p:spPr>
      </p:pic>
      <p:sp>
        <p:nvSpPr>
          <p:cNvPr id="5" name="Text Box 8">
            <a:extLst>
              <a:ext uri="{FF2B5EF4-FFF2-40B4-BE49-F238E27FC236}">
                <a16:creationId xmlns:a16="http://schemas.microsoft.com/office/drawing/2014/main" id="{920BFD1F-A06C-34FB-377A-83B90875D9C9}"/>
              </a:ext>
            </a:extLst>
          </p:cNvPr>
          <p:cNvSpPr txBox="1">
            <a:spLocks noChangeArrowheads="1"/>
          </p:cNvSpPr>
          <p:nvPr/>
        </p:nvSpPr>
        <p:spPr bwMode="auto">
          <a:xfrm>
            <a:off x="589303" y="5715577"/>
            <a:ext cx="2735263" cy="519112"/>
          </a:xfrm>
          <a:prstGeom prst="rect">
            <a:avLst/>
          </a:prstGeom>
          <a:noFill/>
          <a:ln w="9525">
            <a:noFill/>
            <a:miter lim="800000"/>
            <a:headEnd/>
            <a:tailEnd/>
          </a:ln>
          <a:effectLst/>
        </p:spPr>
        <p:txBody>
          <a:bodyPr/>
          <a:lstStyle>
            <a:defPPr>
              <a:defRPr lang="en-US"/>
            </a:defPPr>
            <a:lvl1pPr>
              <a:spcBef>
                <a:spcPct val="20000"/>
              </a:spcBef>
              <a:buFont typeface="Wingdings" pitchFamily="2" charset="2"/>
              <a:buNone/>
              <a:defRPr sz="2800" b="1">
                <a:latin typeface="Times New Roman" pitchFamily="18" charset="0"/>
              </a:defRPr>
            </a:lvl1pPr>
          </a:lstStyle>
          <a:p>
            <a:r>
              <a:rPr lang="zh-CN" altLang="en-US" dirty="0"/>
              <a:t>光敏三极管</a:t>
            </a:r>
          </a:p>
        </p:txBody>
      </p:sp>
      <p:pic>
        <p:nvPicPr>
          <p:cNvPr id="7" name="图片 6">
            <a:extLst>
              <a:ext uri="{FF2B5EF4-FFF2-40B4-BE49-F238E27FC236}">
                <a16:creationId xmlns:a16="http://schemas.microsoft.com/office/drawing/2014/main" id="{447E0FE2-A792-5F8B-89B1-DFBED1FD7FAB}"/>
              </a:ext>
            </a:extLst>
          </p:cNvPr>
          <p:cNvPicPr>
            <a:picLocks noChangeAspect="1"/>
          </p:cNvPicPr>
          <p:nvPr/>
        </p:nvPicPr>
        <p:blipFill>
          <a:blip r:embed="rId6"/>
          <a:stretch>
            <a:fillRect/>
          </a:stretch>
        </p:blipFill>
        <p:spPr>
          <a:xfrm>
            <a:off x="3122355" y="3661212"/>
            <a:ext cx="2995714" cy="2160000"/>
          </a:xfrm>
          <a:prstGeom prst="rect">
            <a:avLst/>
          </a:prstGeom>
        </p:spPr>
      </p:pic>
      <p:sp>
        <p:nvSpPr>
          <p:cNvPr id="8" name="Text Box 8">
            <a:extLst>
              <a:ext uri="{FF2B5EF4-FFF2-40B4-BE49-F238E27FC236}">
                <a16:creationId xmlns:a16="http://schemas.microsoft.com/office/drawing/2014/main" id="{66FF6812-3155-11BC-CDEB-B12924DA5874}"/>
              </a:ext>
            </a:extLst>
          </p:cNvPr>
          <p:cNvSpPr txBox="1">
            <a:spLocks noChangeArrowheads="1"/>
          </p:cNvSpPr>
          <p:nvPr/>
        </p:nvSpPr>
        <p:spPr bwMode="auto">
          <a:xfrm>
            <a:off x="3546642" y="5718912"/>
            <a:ext cx="2735263" cy="519112"/>
          </a:xfrm>
          <a:prstGeom prst="rect">
            <a:avLst/>
          </a:prstGeom>
          <a:noFill/>
          <a:ln w="9525">
            <a:noFill/>
            <a:miter lim="800000"/>
            <a:headEnd/>
            <a:tailEnd/>
          </a:ln>
          <a:effectLst/>
        </p:spPr>
        <p:txBody>
          <a:bodyPr/>
          <a:lstStyle>
            <a:defPPr>
              <a:defRPr lang="en-US"/>
            </a:defPPr>
            <a:lvl1pPr>
              <a:spcBef>
                <a:spcPct val="20000"/>
              </a:spcBef>
              <a:buFont typeface="Wingdings" pitchFamily="2" charset="2"/>
              <a:buNone/>
              <a:defRPr sz="2800" b="1">
                <a:latin typeface="Times New Roman" pitchFamily="18" charset="0"/>
              </a:defRPr>
            </a:lvl1pPr>
          </a:lstStyle>
          <a:p>
            <a:r>
              <a:rPr lang="zh-CN" altLang="en-US" dirty="0"/>
              <a:t>功率三极管</a:t>
            </a:r>
          </a:p>
        </p:txBody>
      </p:sp>
      <p:pic>
        <p:nvPicPr>
          <p:cNvPr id="10" name="图片 9">
            <a:extLst>
              <a:ext uri="{FF2B5EF4-FFF2-40B4-BE49-F238E27FC236}">
                <a16:creationId xmlns:a16="http://schemas.microsoft.com/office/drawing/2014/main" id="{9211A843-A258-1A84-F9BD-EA7440EAE05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24887" y="3647533"/>
            <a:ext cx="3054018" cy="2160000"/>
          </a:xfrm>
          <a:prstGeom prst="rect">
            <a:avLst/>
          </a:prstGeom>
        </p:spPr>
      </p:pic>
      <p:sp>
        <p:nvSpPr>
          <p:cNvPr id="11" name="Text Box 8">
            <a:extLst>
              <a:ext uri="{FF2B5EF4-FFF2-40B4-BE49-F238E27FC236}">
                <a16:creationId xmlns:a16="http://schemas.microsoft.com/office/drawing/2014/main" id="{CC95B328-8A02-5644-710A-94EBB5A85E7E}"/>
              </a:ext>
            </a:extLst>
          </p:cNvPr>
          <p:cNvSpPr txBox="1">
            <a:spLocks noChangeArrowheads="1"/>
          </p:cNvSpPr>
          <p:nvPr/>
        </p:nvSpPr>
        <p:spPr bwMode="auto">
          <a:xfrm>
            <a:off x="6362773" y="5710188"/>
            <a:ext cx="2735263" cy="523220"/>
          </a:xfrm>
          <a:prstGeom prst="rect">
            <a:avLst/>
          </a:prstGeom>
          <a:noFill/>
          <a:ln w="9525">
            <a:noFill/>
            <a:miter lim="800000"/>
            <a:headEnd/>
            <a:tailEnd/>
          </a:ln>
          <a:effectLst/>
        </p:spPr>
        <p:txBody>
          <a:bodyPr/>
          <a:lstStyle>
            <a:defPPr>
              <a:defRPr lang="en-US"/>
            </a:defPPr>
            <a:lvl1pPr>
              <a:spcBef>
                <a:spcPct val="20000"/>
              </a:spcBef>
              <a:buFont typeface="Wingdings" pitchFamily="2" charset="2"/>
              <a:buNone/>
              <a:defRPr sz="2800" b="1">
                <a:latin typeface="Times New Roman" pitchFamily="18" charset="0"/>
              </a:defRPr>
            </a:lvl1pPr>
          </a:lstStyle>
          <a:p>
            <a:r>
              <a:rPr lang="zh-CN" altLang="en-US" dirty="0"/>
              <a:t>三端稳压三极管</a:t>
            </a:r>
          </a:p>
        </p:txBody>
      </p:sp>
    </p:spTree>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ctrTitle"/>
          </p:nvPr>
        </p:nvSpPr>
        <p:spPr>
          <a:xfrm>
            <a:off x="533400" y="1066800"/>
            <a:ext cx="5029200" cy="609600"/>
          </a:xfrm>
        </p:spPr>
        <p:txBody>
          <a:bodyPr>
            <a:normAutofit fontScale="90000"/>
          </a:bodyPr>
          <a:lstStyle/>
          <a:p>
            <a:br>
              <a:rPr lang="zh-CN" altLang="en-US">
                <a:ea typeface="华文行楷" pitchFamily="2" charset="-122"/>
              </a:rPr>
            </a:br>
            <a:endParaRPr lang="zh-CN" altLang="en-US">
              <a:ea typeface="华文行楷" pitchFamily="2" charset="-122"/>
            </a:endParaRPr>
          </a:p>
        </p:txBody>
      </p:sp>
      <p:sp>
        <p:nvSpPr>
          <p:cNvPr id="94213" name="Rectangle 5"/>
          <p:cNvSpPr>
            <a:spLocks noGrp="1" noChangeArrowheads="1"/>
          </p:cNvSpPr>
          <p:nvPr>
            <p:ph type="subTitle" idx="1"/>
          </p:nvPr>
        </p:nvSpPr>
        <p:spPr>
          <a:xfrm>
            <a:off x="323528" y="3693654"/>
            <a:ext cx="3499115" cy="835025"/>
          </a:xfrm>
          <a:noFill/>
          <a:ln w="9525">
            <a:noFill/>
            <a:miter lim="800000"/>
            <a:headEnd/>
            <a:tailEnd/>
          </a:ln>
          <a:effectLst/>
        </p:spPr>
        <p:txBody>
          <a:bodyPr>
            <a:normAutofit/>
          </a:bodyPr>
          <a:lstStyle/>
          <a:p>
            <a:pPr marL="457200" lvl="1" algn="l" defTabSz="457200"/>
            <a:r>
              <a:rPr lang="zh-CN" altLang="en-US" sz="2800" b="1" dirty="0"/>
              <a:t>直插晶体管的安装</a:t>
            </a:r>
            <a:endParaRPr lang="en-US" altLang="zh-CN" sz="2800" b="1" dirty="0"/>
          </a:p>
          <a:p>
            <a:pPr marL="457200" lvl="1" algn="l" defTabSz="457200"/>
            <a:endParaRPr lang="zh-CN" altLang="en-US" sz="1800" dirty="0"/>
          </a:p>
        </p:txBody>
      </p:sp>
      <p:sp>
        <p:nvSpPr>
          <p:cNvPr id="2" name="灯片编号占位符 1">
            <a:extLst>
              <a:ext uri="{FF2B5EF4-FFF2-40B4-BE49-F238E27FC236}">
                <a16:creationId xmlns:a16="http://schemas.microsoft.com/office/drawing/2014/main" id="{A54A58BA-1D69-461A-3217-7679C94998C4}"/>
              </a:ext>
            </a:extLst>
          </p:cNvPr>
          <p:cNvSpPr>
            <a:spLocks noGrp="1"/>
          </p:cNvSpPr>
          <p:nvPr>
            <p:ph type="sldNum" sz="quarter" idx="12"/>
          </p:nvPr>
        </p:nvSpPr>
        <p:spPr/>
        <p:txBody>
          <a:bodyPr/>
          <a:lstStyle/>
          <a:p>
            <a:pPr>
              <a:defRPr/>
            </a:pPr>
            <a:fld id="{47A4CA45-135E-4AE6-A55B-F30C83FDB90E}" type="slidenum">
              <a:rPr lang="zh-CN" altLang="en-US" smtClean="0"/>
              <a:pPr>
                <a:defRPr/>
              </a:pPr>
              <a:t>77</a:t>
            </a:fld>
            <a:endParaRPr lang="en-US" altLang="zh-CN"/>
          </a:p>
        </p:txBody>
      </p:sp>
      <p:sp>
        <p:nvSpPr>
          <p:cNvPr id="94211" name="Rectangle 3"/>
          <p:cNvSpPr>
            <a:spLocks noChangeArrowheads="1"/>
          </p:cNvSpPr>
          <p:nvPr/>
        </p:nvSpPr>
        <p:spPr bwMode="auto">
          <a:xfrm>
            <a:off x="838200" y="1676400"/>
            <a:ext cx="7620000" cy="1219200"/>
          </a:xfrm>
          <a:prstGeom prst="rect">
            <a:avLst/>
          </a:prstGeom>
          <a:noFill/>
          <a:ln w="9525">
            <a:noFill/>
            <a:miter lim="800000"/>
            <a:headEnd/>
            <a:tailEnd/>
          </a:ln>
          <a:effectLst/>
        </p:spPr>
        <p:txBody>
          <a:bodyPr/>
          <a:lstStyle/>
          <a:p>
            <a:pPr lvl="1">
              <a:spcBef>
                <a:spcPct val="20000"/>
              </a:spcBef>
            </a:pPr>
            <a:endParaRPr lang="zh-TW" sz="2400" b="1">
              <a:solidFill>
                <a:srgbClr val="008000"/>
              </a:solidFill>
              <a:effectLst>
                <a:outerShdw blurRad="38100" dist="38100" dir="2700000" algn="tl">
                  <a:srgbClr val="000000"/>
                </a:outerShdw>
              </a:effectLst>
              <a:latin typeface="楷体_GB2312" pitchFamily="49" charset="-122"/>
              <a:ea typeface="楷体_GB2312" pitchFamily="49" charset="-122"/>
            </a:endParaRPr>
          </a:p>
        </p:txBody>
      </p:sp>
      <p:sp>
        <p:nvSpPr>
          <p:cNvPr id="94212" name="Rectangle 4"/>
          <p:cNvSpPr>
            <a:spLocks noChangeArrowheads="1"/>
          </p:cNvSpPr>
          <p:nvPr/>
        </p:nvSpPr>
        <p:spPr bwMode="auto">
          <a:xfrm>
            <a:off x="1143000" y="3962400"/>
            <a:ext cx="7620000" cy="914400"/>
          </a:xfrm>
          <a:prstGeom prst="rect">
            <a:avLst/>
          </a:prstGeom>
          <a:noFill/>
          <a:ln w="9525">
            <a:noFill/>
            <a:miter lim="800000"/>
            <a:headEnd/>
            <a:tailEnd/>
          </a:ln>
          <a:effectLst/>
        </p:spPr>
        <p:txBody>
          <a:bodyPr/>
          <a:lstStyle/>
          <a:p>
            <a:pPr>
              <a:spcBef>
                <a:spcPct val="20000"/>
              </a:spcBef>
              <a:buFont typeface="Wingdings" pitchFamily="2" charset="2"/>
              <a:buNone/>
            </a:pPr>
            <a:endParaRPr lang="zh-CN" altLang="en-US" sz="2000">
              <a:latin typeface="楷体_GB2312" pitchFamily="49" charset="-122"/>
              <a:ea typeface="楷体_GB2312" pitchFamily="49" charset="-122"/>
            </a:endParaRPr>
          </a:p>
        </p:txBody>
      </p:sp>
      <p:pic>
        <p:nvPicPr>
          <p:cNvPr id="94214" name="Picture 6" descr="三极管3"/>
          <p:cNvPicPr>
            <a:picLocks noChangeAspect="1" noChangeArrowheads="1"/>
          </p:cNvPicPr>
          <p:nvPr/>
        </p:nvPicPr>
        <p:blipFill>
          <a:blip r:embed="rId2" cstate="print"/>
          <a:srcRect/>
          <a:stretch>
            <a:fillRect/>
          </a:stretch>
        </p:blipFill>
        <p:spPr bwMode="auto">
          <a:xfrm>
            <a:off x="323528" y="994884"/>
            <a:ext cx="3499115" cy="2624336"/>
          </a:xfrm>
          <a:prstGeom prst="rect">
            <a:avLst/>
          </a:prstGeom>
          <a:noFill/>
          <a:ln w="9525">
            <a:noFill/>
            <a:miter lim="800000"/>
            <a:headEnd/>
            <a:tailEnd/>
          </a:ln>
        </p:spPr>
      </p:pic>
      <p:pic>
        <p:nvPicPr>
          <p:cNvPr id="95234" name="Picture 2"/>
          <p:cNvPicPr>
            <a:picLocks noChangeAspect="1" noChangeArrowheads="1"/>
          </p:cNvPicPr>
          <p:nvPr/>
        </p:nvPicPr>
        <p:blipFill>
          <a:blip r:embed="rId3" cstate="print"/>
          <a:srcRect/>
          <a:stretch>
            <a:fillRect/>
          </a:stretch>
        </p:blipFill>
        <p:spPr bwMode="auto">
          <a:xfrm>
            <a:off x="4032515" y="994884"/>
            <a:ext cx="4677784" cy="2624337"/>
          </a:xfrm>
          <a:prstGeom prst="rect">
            <a:avLst/>
          </a:prstGeom>
          <a:noFill/>
          <a:ln w="9525">
            <a:noFill/>
            <a:miter lim="800000"/>
            <a:headEnd/>
            <a:tailEnd/>
          </a:ln>
        </p:spPr>
      </p:pic>
      <p:sp>
        <p:nvSpPr>
          <p:cNvPr id="3" name="Text Box 3">
            <a:extLst>
              <a:ext uri="{FF2B5EF4-FFF2-40B4-BE49-F238E27FC236}">
                <a16:creationId xmlns:a16="http://schemas.microsoft.com/office/drawing/2014/main" id="{0F47EF08-C957-572E-2A4D-C7BAF794F386}"/>
              </a:ext>
            </a:extLst>
          </p:cNvPr>
          <p:cNvSpPr txBox="1">
            <a:spLocks noChangeArrowheads="1"/>
          </p:cNvSpPr>
          <p:nvPr/>
        </p:nvSpPr>
        <p:spPr bwMode="auto">
          <a:xfrm>
            <a:off x="4860032" y="3805801"/>
            <a:ext cx="3309148" cy="523220"/>
          </a:xfrm>
          <a:prstGeom prst="rect">
            <a:avLst/>
          </a:prstGeom>
          <a:noFill/>
          <a:ln w="9525">
            <a:noFill/>
            <a:miter lim="800000"/>
            <a:headEnd/>
            <a:tailEnd/>
          </a:ln>
          <a:effectLst/>
        </p:spPr>
        <p:txBody>
          <a:bodyPr/>
          <a:lstStyle>
            <a:defPPr>
              <a:defRPr lang="en-US"/>
            </a:defPPr>
            <a:lvl1pPr>
              <a:spcBef>
                <a:spcPct val="20000"/>
              </a:spcBef>
              <a:buFont typeface="Wingdings" pitchFamily="2" charset="2"/>
              <a:buNone/>
              <a:defRPr sz="2800" b="1">
                <a:latin typeface="Times New Roman" pitchFamily="18" charset="0"/>
              </a:defRPr>
            </a:lvl1pPr>
          </a:lstStyle>
          <a:p>
            <a:r>
              <a:rPr lang="zh-CN" altLang="en-US" dirty="0"/>
              <a:t>贴片三极管的安装</a:t>
            </a:r>
          </a:p>
        </p:txBody>
      </p:sp>
    </p:spTree>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Text Box 2"/>
          <p:cNvSpPr txBox="1">
            <a:spLocks noChangeArrowheads="1"/>
          </p:cNvSpPr>
          <p:nvPr/>
        </p:nvSpPr>
        <p:spPr bwMode="auto">
          <a:xfrm>
            <a:off x="251520" y="229363"/>
            <a:ext cx="7129463" cy="430887"/>
          </a:xfrm>
          <a:prstGeom prst="rect">
            <a:avLst/>
          </a:prstGeom>
          <a:noFill/>
          <a:ln w="9525">
            <a:noFill/>
            <a:miter lim="800000"/>
            <a:headEnd/>
            <a:tailEnd/>
          </a:ln>
          <a:effectLst/>
        </p:spPr>
        <p:txBody>
          <a:bodyPr>
            <a:spAutoFit/>
          </a:bodyPr>
          <a:lstStyle/>
          <a:p>
            <a:pPr>
              <a:spcBef>
                <a:spcPct val="50000"/>
              </a:spcBef>
            </a:pPr>
            <a:r>
              <a:rPr lang="en-US" sz="2200" b="1" dirty="0">
                <a:latin typeface="宋体" pitchFamily="2" charset="-122"/>
              </a:rPr>
              <a:t>5.</a:t>
            </a:r>
            <a:r>
              <a:rPr lang="zh-CN" altLang="en-US" sz="2200" b="1" dirty="0">
                <a:latin typeface="宋体" pitchFamily="2" charset="-122"/>
              </a:rPr>
              <a:t>三极管的命名规则</a:t>
            </a:r>
          </a:p>
        </p:txBody>
      </p:sp>
      <p:sp>
        <p:nvSpPr>
          <p:cNvPr id="96259" name="Text Box 3"/>
          <p:cNvSpPr txBox="1">
            <a:spLocks noChangeArrowheads="1"/>
          </p:cNvSpPr>
          <p:nvPr/>
        </p:nvSpPr>
        <p:spPr bwMode="auto">
          <a:xfrm>
            <a:off x="685800" y="994494"/>
            <a:ext cx="6121400" cy="519112"/>
          </a:xfrm>
          <a:prstGeom prst="rect">
            <a:avLst/>
          </a:prstGeom>
          <a:noFill/>
          <a:ln w="9525">
            <a:noFill/>
            <a:miter lim="800000"/>
            <a:headEnd/>
            <a:tailEnd/>
          </a:ln>
          <a:effectLst/>
        </p:spPr>
        <p:txBody>
          <a:bodyPr>
            <a:spAutoFit/>
          </a:bodyPr>
          <a:lstStyle/>
          <a:p>
            <a:pPr>
              <a:spcBef>
                <a:spcPct val="50000"/>
              </a:spcBef>
            </a:pPr>
            <a:r>
              <a:rPr lang="zh-CN" altLang="en-US" sz="2800" dirty="0">
                <a:latin typeface="Times New Roman" panose="02020603050405020304" pitchFamily="18" charset="0"/>
                <a:cs typeface="Times New Roman" panose="02020603050405020304" pitchFamily="18" charset="0"/>
              </a:rPr>
              <a:t>例如：</a:t>
            </a:r>
            <a:r>
              <a:rPr lang="en-US" sz="2800" dirty="0">
                <a:latin typeface="Times New Roman" panose="02020603050405020304" pitchFamily="18" charset="0"/>
                <a:cs typeface="Times New Roman" panose="02020603050405020304" pitchFamily="18" charset="0"/>
              </a:rPr>
              <a:t>3DG18 </a:t>
            </a:r>
          </a:p>
        </p:txBody>
      </p:sp>
      <p:graphicFrame>
        <p:nvGraphicFramePr>
          <p:cNvPr id="96260" name="Group 4"/>
          <p:cNvGraphicFramePr>
            <a:graphicFrameLocks noGrp="1"/>
          </p:cNvGraphicFramePr>
          <p:nvPr>
            <p:ph/>
            <p:extLst>
              <p:ext uri="{D42A27DB-BD31-4B8C-83A1-F6EECF244321}">
                <p14:modId xmlns:p14="http://schemas.microsoft.com/office/powerpoint/2010/main" val="1797985814"/>
              </p:ext>
            </p:extLst>
          </p:nvPr>
        </p:nvGraphicFramePr>
        <p:xfrm>
          <a:off x="657445" y="1819290"/>
          <a:ext cx="7772400" cy="3717925"/>
        </p:xfrm>
        <a:graphic>
          <a:graphicData uri="http://schemas.openxmlformats.org/drawingml/2006/table">
            <a:tbl>
              <a:tblPr/>
              <a:tblGrid>
                <a:gridCol w="1943100">
                  <a:extLst>
                    <a:ext uri="{9D8B030D-6E8A-4147-A177-3AD203B41FA5}">
                      <a16:colId xmlns:a16="http://schemas.microsoft.com/office/drawing/2014/main" val="20000"/>
                    </a:ext>
                  </a:extLst>
                </a:gridCol>
                <a:gridCol w="1943100">
                  <a:extLst>
                    <a:ext uri="{9D8B030D-6E8A-4147-A177-3AD203B41FA5}">
                      <a16:colId xmlns:a16="http://schemas.microsoft.com/office/drawing/2014/main" val="20001"/>
                    </a:ext>
                  </a:extLst>
                </a:gridCol>
                <a:gridCol w="1943100">
                  <a:extLst>
                    <a:ext uri="{9D8B030D-6E8A-4147-A177-3AD203B41FA5}">
                      <a16:colId xmlns:a16="http://schemas.microsoft.com/office/drawing/2014/main" val="20002"/>
                    </a:ext>
                  </a:extLst>
                </a:gridCol>
                <a:gridCol w="1943100">
                  <a:extLst>
                    <a:ext uri="{9D8B030D-6E8A-4147-A177-3AD203B41FA5}">
                      <a16:colId xmlns:a16="http://schemas.microsoft.com/office/drawing/2014/main" val="20003"/>
                    </a:ext>
                  </a:extLst>
                </a:gridCol>
              </a:tblGrid>
              <a:tr h="742950">
                <a:tc>
                  <a:txBody>
                    <a:bodyPr/>
                    <a:lstStyle/>
                    <a:p>
                      <a:pPr marL="0" marR="0" lvl="0" indent="0" algn="ctr" defTabSz="914400" rtl="0" eaLnBrk="1" fontAlgn="base" latinLnBrk="0" hangingPunct="1">
                        <a:lnSpc>
                          <a:spcPct val="100000"/>
                        </a:lnSpc>
                        <a:spcBef>
                          <a:spcPct val="0"/>
                        </a:spcBef>
                        <a:spcAft>
                          <a:spcPct val="0"/>
                        </a:spcAft>
                        <a:buClrTx/>
                        <a:buSzTx/>
                        <a:buFont typeface="Times New Roman" pitchFamily="18" charset="0"/>
                        <a:buNone/>
                        <a:tabLst/>
                      </a:pPr>
                      <a:r>
                        <a:rPr kumimoji="0" lang="zh-CN" altLang="en-US" sz="28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型号</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Times New Roman" pitchFamily="18" charset="0"/>
                        <a:buNone/>
                        <a:tabLst/>
                      </a:pPr>
                      <a:r>
                        <a:rPr kumimoji="0" lang="zh-CN" altLang="en-US" sz="28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代号</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Times New Roman" pitchFamily="18" charset="0"/>
                        <a:buNone/>
                        <a:tabLst/>
                      </a:pPr>
                      <a:r>
                        <a:rPr kumimoji="0" lang="zh-CN" altLang="en-US" sz="28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型号</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Times New Roman" pitchFamily="18" charset="0"/>
                        <a:buNone/>
                        <a:tabLst/>
                      </a:pPr>
                      <a:r>
                        <a:rPr kumimoji="0" lang="zh-CN" altLang="en-US" sz="28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代号</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42950">
                <a:tc>
                  <a:txBody>
                    <a:bodyPr/>
                    <a:lstStyle/>
                    <a:p>
                      <a:pPr marL="0" marR="0" lvl="0" indent="0" algn="ctr" defTabSz="914400" rtl="0" eaLnBrk="1" fontAlgn="base" latinLnBrk="0" hangingPunct="1">
                        <a:lnSpc>
                          <a:spcPct val="100000"/>
                        </a:lnSpc>
                        <a:spcBef>
                          <a:spcPct val="0"/>
                        </a:spcBef>
                        <a:spcAft>
                          <a:spcPct val="0"/>
                        </a:spcAft>
                        <a:buClrTx/>
                        <a:buSzTx/>
                        <a:buFont typeface="Times New Roman" pitchFamily="18" charset="0"/>
                        <a:buNone/>
                        <a:tabLst/>
                      </a:pPr>
                      <a:r>
                        <a:rPr kumimoji="0" lang="en-US" sz="28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KC846A</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Times New Roman" pitchFamily="18" charset="0"/>
                        <a:buNone/>
                        <a:tabLst/>
                      </a:pPr>
                      <a:r>
                        <a:rPr kumimoji="0" lang="en-US" sz="28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1A</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Times New Roman" pitchFamily="18" charset="0"/>
                        <a:buNone/>
                        <a:tabLst/>
                      </a:pPr>
                      <a:r>
                        <a:rPr kumimoji="0" lang="en-US" sz="28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KC847C</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Times New Roman" pitchFamily="18" charset="0"/>
                        <a:buNone/>
                        <a:tabLst/>
                      </a:pPr>
                      <a:r>
                        <a:rPr kumimoji="0" lang="en-US" sz="28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1G</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46125">
                <a:tc>
                  <a:txBody>
                    <a:bodyPr/>
                    <a:lstStyle/>
                    <a:p>
                      <a:pPr marL="0" marR="0" lvl="0" indent="0" algn="ctr" defTabSz="914400" rtl="0" eaLnBrk="1" fontAlgn="base" latinLnBrk="0" hangingPunct="1">
                        <a:lnSpc>
                          <a:spcPct val="100000"/>
                        </a:lnSpc>
                        <a:spcBef>
                          <a:spcPct val="0"/>
                        </a:spcBef>
                        <a:spcAft>
                          <a:spcPct val="0"/>
                        </a:spcAft>
                        <a:buClrTx/>
                        <a:buSzTx/>
                        <a:buFont typeface="Times New Roman" pitchFamily="18" charset="0"/>
                        <a:buNone/>
                        <a:tabLst/>
                      </a:pPr>
                      <a:r>
                        <a:rPr kumimoji="0" lang="en-US" sz="28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KC846B</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Times New Roman" pitchFamily="18" charset="0"/>
                        <a:buNone/>
                        <a:tabLst/>
                      </a:pPr>
                      <a:r>
                        <a:rPr kumimoji="0" lang="en-US" sz="28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1BW</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Times New Roman" pitchFamily="18" charset="0"/>
                        <a:buNone/>
                        <a:tabLst/>
                      </a:pPr>
                      <a:r>
                        <a:rPr kumimoji="0" lang="en-US" sz="28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KC848A</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Times New Roman" pitchFamily="18" charset="0"/>
                        <a:buNone/>
                        <a:tabLst/>
                      </a:pPr>
                      <a:r>
                        <a:rPr kumimoji="0" lang="en-US" sz="28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1J</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39775">
                <a:tc>
                  <a:txBody>
                    <a:bodyPr/>
                    <a:lstStyle/>
                    <a:p>
                      <a:pPr marL="0" marR="0" lvl="0" indent="0" algn="ctr" defTabSz="914400" rtl="0" eaLnBrk="1" fontAlgn="base" latinLnBrk="0" hangingPunct="1">
                        <a:lnSpc>
                          <a:spcPct val="100000"/>
                        </a:lnSpc>
                        <a:spcBef>
                          <a:spcPct val="0"/>
                        </a:spcBef>
                        <a:spcAft>
                          <a:spcPct val="0"/>
                        </a:spcAft>
                        <a:buClrTx/>
                        <a:buSzTx/>
                        <a:buFont typeface="Times New Roman" pitchFamily="18" charset="0"/>
                        <a:buNone/>
                        <a:tabLst/>
                      </a:pPr>
                      <a:r>
                        <a:rPr kumimoji="0" lang="en-US" sz="28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KC847A</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Times New Roman" pitchFamily="18" charset="0"/>
                        <a:buNone/>
                        <a:tabLst/>
                      </a:pPr>
                      <a:r>
                        <a:rPr kumimoji="0" lang="en-US" sz="28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1E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Times New Roman" pitchFamily="18" charset="0"/>
                        <a:buNone/>
                        <a:tabLst/>
                      </a:pPr>
                      <a:r>
                        <a:rPr kumimoji="0" lang="en-US" sz="28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KC848B</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Times New Roman" pitchFamily="18" charset="0"/>
                        <a:buNone/>
                        <a:tabLst/>
                      </a:pPr>
                      <a:r>
                        <a:rPr kumimoji="0" lang="en-US" sz="28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1K</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746125">
                <a:tc>
                  <a:txBody>
                    <a:bodyPr/>
                    <a:lstStyle/>
                    <a:p>
                      <a:pPr marL="0" marR="0" lvl="0" indent="0" algn="ctr" defTabSz="914400" rtl="0" eaLnBrk="1" fontAlgn="base" latinLnBrk="0" hangingPunct="1">
                        <a:lnSpc>
                          <a:spcPct val="100000"/>
                        </a:lnSpc>
                        <a:spcBef>
                          <a:spcPct val="0"/>
                        </a:spcBef>
                        <a:spcAft>
                          <a:spcPct val="0"/>
                        </a:spcAft>
                        <a:buClrTx/>
                        <a:buSzTx/>
                        <a:buFont typeface="Times New Roman" pitchFamily="18" charset="0"/>
                        <a:buNone/>
                        <a:tabLst/>
                      </a:pPr>
                      <a:r>
                        <a:rPr kumimoji="0" lang="en-US" sz="28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KC847B</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Times New Roman" pitchFamily="18" charset="0"/>
                        <a:buNone/>
                        <a:tabLst/>
                      </a:pPr>
                      <a:r>
                        <a:rPr kumimoji="0" lang="en-US" sz="28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W1F</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Times New Roman" pitchFamily="18" charset="0"/>
                        <a:buNone/>
                        <a:tabLst/>
                      </a:pPr>
                      <a:r>
                        <a:rPr kumimoji="0" lang="en-US" sz="2800" b="1" i="0" u="none" strike="noStrike" cap="none" normalizeH="0" baseline="0">
                          <a:ln>
                            <a:noFill/>
                          </a:ln>
                          <a:solidFill>
                            <a:schemeClr val="tx1"/>
                          </a:solidFill>
                          <a:effectLst/>
                          <a:latin typeface="Times New Roman" panose="02020603050405020304" pitchFamily="18" charset="0"/>
                          <a:ea typeface="宋体" pitchFamily="2" charset="-122"/>
                          <a:cs typeface="Times New Roman" panose="02020603050405020304" pitchFamily="18" charset="0"/>
                        </a:rPr>
                        <a:t>KC848C</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 typeface="Times New Roman" pitchFamily="18" charset="0"/>
                        <a:buNone/>
                        <a:tabLst/>
                      </a:pPr>
                      <a:r>
                        <a:rPr kumimoji="0" lang="en-US" sz="2800" b="1" i="0" u="none" strike="noStrike" cap="none" normalizeH="0" baseline="0" dirty="0">
                          <a:ln>
                            <a:noFill/>
                          </a:ln>
                          <a:solidFill>
                            <a:schemeClr val="tx1"/>
                          </a:solidFill>
                          <a:effectLst/>
                          <a:latin typeface="Times New Roman" panose="02020603050405020304" pitchFamily="18" charset="0"/>
                          <a:ea typeface="宋体" pitchFamily="2" charset="-122"/>
                          <a:cs typeface="Times New Roman" panose="02020603050405020304" pitchFamily="18" charset="0"/>
                        </a:rPr>
                        <a:t>1L</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2" name="灯片编号占位符 1">
            <a:extLst>
              <a:ext uri="{FF2B5EF4-FFF2-40B4-BE49-F238E27FC236}">
                <a16:creationId xmlns:a16="http://schemas.microsoft.com/office/drawing/2014/main" id="{C06C5DD9-76C4-D8A7-F2EC-01B54E2EE3B5}"/>
              </a:ext>
            </a:extLst>
          </p:cNvPr>
          <p:cNvSpPr>
            <a:spLocks noGrp="1"/>
          </p:cNvSpPr>
          <p:nvPr>
            <p:ph type="sldNum" sz="quarter" idx="12"/>
          </p:nvPr>
        </p:nvSpPr>
        <p:spPr/>
        <p:txBody>
          <a:bodyPr/>
          <a:lstStyle/>
          <a:p>
            <a:fld id="{F01E0188-923C-4F1E-B791-BE5C95D6091A}" type="slidenum">
              <a:rPr lang="zh-CN" altLang="en-US" smtClean="0"/>
              <a:pPr/>
              <a:t>78</a:t>
            </a:fld>
            <a:endParaRPr lang="en-US"/>
          </a:p>
        </p:txBody>
      </p:sp>
    </p:spTree>
  </p:cSld>
  <p:clrMapOvr>
    <a:masterClrMapping/>
  </p:clrMapOvr>
  <p:transition spd="slow">
    <p:random/>
    <p:sndAc>
      <p:stSnd>
        <p:snd r:embed="rId2" name="chimes.wav"/>
      </p:stSnd>
    </p:sndAc>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ChangeArrowheads="1"/>
          </p:cNvSpPr>
          <p:nvPr/>
        </p:nvSpPr>
        <p:spPr bwMode="auto">
          <a:xfrm>
            <a:off x="1143000" y="3962400"/>
            <a:ext cx="7620000" cy="914400"/>
          </a:xfrm>
          <a:prstGeom prst="rect">
            <a:avLst/>
          </a:prstGeom>
          <a:noFill/>
          <a:ln w="9525">
            <a:noFill/>
            <a:miter lim="800000"/>
            <a:headEnd/>
            <a:tailEnd/>
          </a:ln>
          <a:effectLst/>
        </p:spPr>
        <p:txBody>
          <a:bodyPr/>
          <a:lstStyle/>
          <a:p>
            <a:pPr>
              <a:spcBef>
                <a:spcPct val="20000"/>
              </a:spcBef>
              <a:buFont typeface="Wingdings" pitchFamily="2" charset="2"/>
              <a:buNone/>
            </a:pPr>
            <a:endParaRPr lang="zh-CN" altLang="en-US">
              <a:latin typeface="楷体_GB2312" pitchFamily="49" charset="-122"/>
              <a:ea typeface="楷体_GB2312" pitchFamily="49" charset="-122"/>
            </a:endParaRPr>
          </a:p>
        </p:txBody>
      </p:sp>
      <p:sp>
        <p:nvSpPr>
          <p:cNvPr id="104452" name="Rectangle 4"/>
          <p:cNvSpPr>
            <a:spLocks noGrp="1" noChangeArrowheads="1"/>
          </p:cNvSpPr>
          <p:nvPr>
            <p:ph type="ctrTitle"/>
          </p:nvPr>
        </p:nvSpPr>
        <p:spPr>
          <a:xfrm>
            <a:off x="323528" y="796513"/>
            <a:ext cx="7992888" cy="2566215"/>
          </a:xfrm>
        </p:spPr>
        <p:txBody>
          <a:bodyPr wrap="square">
            <a:spAutoFit/>
          </a:bodyPr>
          <a:lstStyle/>
          <a:p>
            <a:pPr algn="l">
              <a:lnSpc>
                <a:spcPct val="150000"/>
              </a:lnSpc>
            </a:pPr>
            <a:r>
              <a:rPr lang="zh-CN" altLang="en-US" sz="2200" b="1" dirty="0">
                <a:latin typeface="宋体" pitchFamily="2" charset="-122"/>
                <a:ea typeface="+mn-ea"/>
                <a:cs typeface="+mn-cs"/>
              </a:rPr>
              <a:t>   把一个</a:t>
            </a:r>
            <a:r>
              <a:rPr lang="zh-CN" altLang="en-US" sz="2200" b="1" dirty="0">
                <a:solidFill>
                  <a:srgbClr val="C00000"/>
                </a:solidFill>
                <a:latin typeface="宋体" pitchFamily="2" charset="-122"/>
                <a:ea typeface="+mn-ea"/>
                <a:cs typeface="+mn-cs"/>
              </a:rPr>
              <a:t>电子单元电路</a:t>
            </a:r>
            <a:r>
              <a:rPr lang="zh-CN" altLang="en-US" sz="2200" b="1" dirty="0">
                <a:latin typeface="宋体" pitchFamily="2" charset="-122"/>
                <a:ea typeface="+mn-ea"/>
                <a:cs typeface="+mn-cs"/>
              </a:rPr>
              <a:t>或</a:t>
            </a:r>
            <a:r>
              <a:rPr lang="zh-CN" altLang="en-US" sz="2200" b="1" dirty="0">
                <a:solidFill>
                  <a:srgbClr val="C00000"/>
                </a:solidFill>
                <a:latin typeface="宋体" pitchFamily="2" charset="-122"/>
                <a:ea typeface="+mn-ea"/>
                <a:cs typeface="+mn-cs"/>
              </a:rPr>
              <a:t>某些功能、甚至某一整机的功能电路</a:t>
            </a:r>
            <a:r>
              <a:rPr lang="zh-CN" altLang="en-US" sz="2200" b="1" dirty="0">
                <a:latin typeface="宋体" pitchFamily="2" charset="-122"/>
                <a:ea typeface="+mn-ea"/>
                <a:cs typeface="+mn-cs"/>
              </a:rPr>
              <a:t>制作在一个晶片或瓷片之上，再封装在一个便于安装焊接的外壳之中。半导体集成电路习惯称“集成块”或“集成片子”，英文缩写“</a:t>
            </a:r>
            <a:r>
              <a:rPr lang="en-US" sz="2200" b="1" dirty="0">
                <a:latin typeface="宋体" pitchFamily="2" charset="-122"/>
                <a:ea typeface="+mn-ea"/>
                <a:cs typeface="+mn-cs"/>
              </a:rPr>
              <a:t>IC”,</a:t>
            </a:r>
            <a:r>
              <a:rPr lang="zh-CN" altLang="en-US" sz="2200" b="1" dirty="0">
                <a:latin typeface="宋体" pitchFamily="2" charset="-122"/>
                <a:ea typeface="+mn-ea"/>
                <a:cs typeface="+mn-cs"/>
              </a:rPr>
              <a:t>在线路板上一般用“</a:t>
            </a:r>
            <a:r>
              <a:rPr lang="en-US" sz="2200" b="1" dirty="0">
                <a:latin typeface="宋体" pitchFamily="2" charset="-122"/>
                <a:ea typeface="+mn-ea"/>
                <a:cs typeface="+mn-cs"/>
              </a:rPr>
              <a:t>U”</a:t>
            </a:r>
            <a:r>
              <a:rPr lang="zh-CN" altLang="en-US" sz="2200" b="1" dirty="0">
                <a:latin typeface="宋体" pitchFamily="2" charset="-122"/>
                <a:ea typeface="+mn-ea"/>
                <a:cs typeface="+mn-cs"/>
              </a:rPr>
              <a:t>表示。</a:t>
            </a:r>
            <a:br>
              <a:rPr lang="zh-CN" sz="2400" b="1" dirty="0">
                <a:solidFill>
                  <a:schemeClr val="tx1"/>
                </a:solidFill>
                <a:latin typeface="楷体_GB2312" pitchFamily="49" charset="-122"/>
                <a:ea typeface="楷体_GB2312" pitchFamily="49" charset="-122"/>
              </a:rPr>
            </a:br>
            <a:endParaRPr lang="zh-CN" sz="2400" b="1" dirty="0">
              <a:solidFill>
                <a:schemeClr val="tx1"/>
              </a:solidFill>
              <a:latin typeface="楷体_GB2312" pitchFamily="49" charset="-122"/>
              <a:ea typeface="楷体_GB2312" pitchFamily="49" charset="-122"/>
            </a:endParaRPr>
          </a:p>
        </p:txBody>
      </p:sp>
      <p:sp>
        <p:nvSpPr>
          <p:cNvPr id="104451" name="Rectangle 3"/>
          <p:cNvSpPr>
            <a:spLocks noGrp="1" noChangeArrowheads="1"/>
          </p:cNvSpPr>
          <p:nvPr>
            <p:ph type="subTitle" idx="1"/>
          </p:nvPr>
        </p:nvSpPr>
        <p:spPr>
          <a:xfrm>
            <a:off x="0" y="29301"/>
            <a:ext cx="2483768" cy="552906"/>
          </a:xfrm>
          <a:solidFill>
            <a:schemeClr val="bg1">
              <a:lumMod val="95000"/>
            </a:schemeClr>
          </a:solidFill>
        </p:spPr>
        <p:txBody>
          <a:bodyPr vert="horz" lIns="91440" tIns="45720" rIns="91440" bIns="45720" rtlCol="0" anchor="t">
            <a:noAutofit/>
          </a:bodyPr>
          <a:lstStyle/>
          <a:p>
            <a:pPr lvl="1"/>
            <a:r>
              <a:rPr lang="zh-CN" altLang="en-US" sz="2800" dirty="0">
                <a:latin typeface="华文行楷" panose="02010800040101010101" pitchFamily="2" charset="-122"/>
                <a:ea typeface="华文行楷" panose="02010800040101010101" pitchFamily="2" charset="-122"/>
              </a:rPr>
              <a:t>六、集成</a:t>
            </a:r>
            <a:r>
              <a:rPr lang="en-US" sz="2800" dirty="0">
                <a:latin typeface="Times New Roman" panose="02020603050405020304" pitchFamily="18" charset="0"/>
                <a:ea typeface="华文行楷" panose="02010800040101010101" pitchFamily="2" charset="-122"/>
                <a:cs typeface="Times New Roman" panose="02020603050405020304" pitchFamily="18" charset="0"/>
              </a:rPr>
              <a:t>IC</a:t>
            </a:r>
          </a:p>
        </p:txBody>
      </p:sp>
      <p:sp>
        <p:nvSpPr>
          <p:cNvPr id="2" name="灯片编号占位符 1">
            <a:extLst>
              <a:ext uri="{FF2B5EF4-FFF2-40B4-BE49-F238E27FC236}">
                <a16:creationId xmlns:a16="http://schemas.microsoft.com/office/drawing/2014/main" id="{2A26012F-21FD-F66E-9EB0-11309C7C264C}"/>
              </a:ext>
            </a:extLst>
          </p:cNvPr>
          <p:cNvSpPr>
            <a:spLocks noGrp="1"/>
          </p:cNvSpPr>
          <p:nvPr>
            <p:ph type="sldNum" sz="quarter" idx="12"/>
          </p:nvPr>
        </p:nvSpPr>
        <p:spPr/>
        <p:txBody>
          <a:bodyPr/>
          <a:lstStyle/>
          <a:p>
            <a:pPr>
              <a:defRPr/>
            </a:pPr>
            <a:fld id="{47A4CA45-135E-4AE6-A55B-F30C83FDB90E}" type="slidenum">
              <a:rPr lang="zh-CN" altLang="en-US" smtClean="0"/>
              <a:pPr>
                <a:defRPr/>
              </a:pPr>
              <a:t>79</a:t>
            </a:fld>
            <a:endParaRPr lang="en-US" altLang="zh-CN"/>
          </a:p>
        </p:txBody>
      </p:sp>
      <p:graphicFrame>
        <p:nvGraphicFramePr>
          <p:cNvPr id="104453" name="Object 5"/>
          <p:cNvGraphicFramePr>
            <a:graphicFrameLocks noChangeAspect="1"/>
          </p:cNvGraphicFramePr>
          <p:nvPr/>
        </p:nvGraphicFramePr>
        <p:xfrm>
          <a:off x="5868144" y="3933056"/>
          <a:ext cx="2626935" cy="990923"/>
        </p:xfrm>
        <a:graphic>
          <a:graphicData uri="http://schemas.openxmlformats.org/presentationml/2006/ole">
            <mc:AlternateContent xmlns:mc="http://schemas.openxmlformats.org/markup-compatibility/2006">
              <mc:Choice xmlns:v="urn:schemas-microsoft-com:vml" Requires="v">
                <p:oleObj r:id="rId2" imgW="2752381" imgH="990738" progId="PBrush">
                  <p:embed/>
                </p:oleObj>
              </mc:Choice>
              <mc:Fallback>
                <p:oleObj r:id="rId2" imgW="2752381" imgH="990738" progId="PBrush">
                  <p:embed/>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68144" y="3933056"/>
                        <a:ext cx="2626935" cy="99092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TextBox 5"/>
          <p:cNvSpPr txBox="1"/>
          <p:nvPr/>
        </p:nvSpPr>
        <p:spPr>
          <a:xfrm>
            <a:off x="6516216" y="5085184"/>
            <a:ext cx="1144865" cy="461665"/>
          </a:xfrm>
          <a:prstGeom prst="rect">
            <a:avLst/>
          </a:prstGeom>
          <a:noFill/>
        </p:spPr>
        <p:txBody>
          <a:bodyPr wrap="none" rtlCol="0">
            <a:spAutoFit/>
          </a:bodyPr>
          <a:lstStyle/>
          <a:p>
            <a:r>
              <a:rPr lang="zh-CN" altLang="en-US" dirty="0"/>
              <a:t>集成</a:t>
            </a:r>
            <a:r>
              <a:rPr lang="en-US" altLang="zh-CN" dirty="0"/>
              <a:t>IC</a:t>
            </a:r>
            <a:endParaRPr lang="zh-CN" altLang="en-US" dirty="0"/>
          </a:p>
        </p:txBody>
      </p:sp>
      <p:pic>
        <p:nvPicPr>
          <p:cNvPr id="3" name="图片 2">
            <a:extLst>
              <a:ext uri="{FF2B5EF4-FFF2-40B4-BE49-F238E27FC236}">
                <a16:creationId xmlns:a16="http://schemas.microsoft.com/office/drawing/2014/main" id="{DC546E65-E985-40AF-0678-24ABBEE3D43B}"/>
              </a:ext>
            </a:extLst>
          </p:cNvPr>
          <p:cNvPicPr>
            <a:picLocks noChangeAspect="1"/>
          </p:cNvPicPr>
          <p:nvPr/>
        </p:nvPicPr>
        <p:blipFill>
          <a:blip r:embed="rId4"/>
          <a:stretch>
            <a:fillRect/>
          </a:stretch>
        </p:blipFill>
        <p:spPr>
          <a:xfrm>
            <a:off x="1043608" y="3194424"/>
            <a:ext cx="2828789" cy="2121592"/>
          </a:xfrm>
          <a:prstGeom prst="rect">
            <a:avLst/>
          </a:prstGeom>
        </p:spPr>
      </p:pic>
      <p:sp>
        <p:nvSpPr>
          <p:cNvPr id="5" name="文本框 4">
            <a:extLst>
              <a:ext uri="{FF2B5EF4-FFF2-40B4-BE49-F238E27FC236}">
                <a16:creationId xmlns:a16="http://schemas.microsoft.com/office/drawing/2014/main" id="{E7FC80E6-467C-3B4C-D99E-D20C27BC40F5}"/>
              </a:ext>
            </a:extLst>
          </p:cNvPr>
          <p:cNvSpPr txBox="1"/>
          <p:nvPr/>
        </p:nvSpPr>
        <p:spPr>
          <a:xfrm>
            <a:off x="618921" y="5530322"/>
            <a:ext cx="4575386" cy="410882"/>
          </a:xfrm>
          <a:prstGeom prst="rect">
            <a:avLst/>
          </a:prstGeom>
          <a:noFill/>
        </p:spPr>
        <p:txBody>
          <a:bodyPr wrap="square">
            <a:spAutoFit/>
          </a:bodyPr>
          <a:lstStyle/>
          <a:p>
            <a:pPr marL="457200" lvl="1" indent="0">
              <a:lnSpc>
                <a:spcPct val="120000"/>
              </a:lnSpc>
              <a:spcBef>
                <a:spcPct val="0"/>
              </a:spcBef>
              <a:buClr>
                <a:srgbClr val="CC3399"/>
              </a:buClr>
              <a:buFont typeface="Monotype Sorts" pitchFamily="2" charset="2"/>
              <a:buNone/>
            </a:pPr>
            <a:r>
              <a:rPr lang="zh-CN" altLang="zh-CN" sz="1800" b="0" dirty="0">
                <a:solidFill>
                  <a:srgbClr val="660033"/>
                </a:solidFill>
                <a:latin typeface="华文行楷" pitchFamily="2" charset="-122"/>
                <a:ea typeface="华文行楷" pitchFamily="2" charset="-122"/>
              </a:rPr>
              <a:t>集成</a:t>
            </a:r>
            <a:r>
              <a:rPr lang="en-US" altLang="zh-CN" sz="1800" b="0" dirty="0">
                <a:solidFill>
                  <a:srgbClr val="660033"/>
                </a:solidFill>
                <a:latin typeface="楷体_GB2312" pitchFamily="49" charset="-122"/>
                <a:ea typeface="楷体_GB2312" pitchFamily="49" charset="-122"/>
              </a:rPr>
              <a:t>IC</a:t>
            </a:r>
            <a:r>
              <a:rPr lang="zh-CN" altLang="zh-CN" sz="1800" b="0" dirty="0">
                <a:solidFill>
                  <a:srgbClr val="660033"/>
                </a:solidFill>
                <a:latin typeface="华文行楷" pitchFamily="2" charset="-122"/>
                <a:ea typeface="华文行楷" pitchFamily="2" charset="-122"/>
              </a:rPr>
              <a:t>在线路板上的丝印</a:t>
            </a:r>
          </a:p>
        </p:txBody>
      </p:sp>
    </p:spTree>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ChangeArrowheads="1"/>
          </p:cNvSpPr>
          <p:nvPr/>
        </p:nvSpPr>
        <p:spPr bwMode="auto">
          <a:xfrm>
            <a:off x="1143000" y="3962400"/>
            <a:ext cx="7620000" cy="914400"/>
          </a:xfrm>
          <a:prstGeom prst="rect">
            <a:avLst/>
          </a:prstGeom>
          <a:noFill/>
          <a:ln w="9525">
            <a:noFill/>
            <a:miter lim="800000"/>
            <a:headEnd/>
            <a:tailEnd/>
          </a:ln>
          <a:effectLst/>
        </p:spPr>
        <p:txBody>
          <a:bodyPr/>
          <a:lstStyle/>
          <a:p>
            <a:pPr>
              <a:spcBef>
                <a:spcPct val="20000"/>
              </a:spcBef>
              <a:buFont typeface="Wingdings" pitchFamily="2" charset="2"/>
              <a:buNone/>
            </a:pPr>
            <a:endParaRPr lang="zh-CN" altLang="en-US" sz="2000">
              <a:latin typeface="楷体_GB2312" pitchFamily="49" charset="-122"/>
              <a:ea typeface="楷体_GB2312" pitchFamily="49" charset="-122"/>
            </a:endParaRPr>
          </a:p>
        </p:txBody>
      </p:sp>
      <p:sp>
        <p:nvSpPr>
          <p:cNvPr id="107523" name="Rectangle 3"/>
          <p:cNvSpPr>
            <a:spLocks noGrp="1" noChangeArrowheads="1"/>
          </p:cNvSpPr>
          <p:nvPr>
            <p:ph type="subTitle" idx="1"/>
          </p:nvPr>
        </p:nvSpPr>
        <p:spPr>
          <a:xfrm>
            <a:off x="1257300" y="5298862"/>
            <a:ext cx="6781800" cy="1066800"/>
          </a:xfrm>
          <a:noFill/>
          <a:ln/>
        </p:spPr>
        <p:txBody>
          <a:bodyPr/>
          <a:lstStyle/>
          <a:p>
            <a:pPr marL="457200" lvl="1" indent="0">
              <a:lnSpc>
                <a:spcPct val="120000"/>
              </a:lnSpc>
              <a:spcBef>
                <a:spcPct val="0"/>
              </a:spcBef>
              <a:buClr>
                <a:srgbClr val="CC3399"/>
              </a:buClr>
              <a:buFont typeface="Monotype Sorts" pitchFamily="2" charset="2"/>
              <a:buNone/>
            </a:pPr>
            <a:r>
              <a:rPr lang="en-US" sz="3600" b="0" dirty="0">
                <a:solidFill>
                  <a:srgbClr val="660033"/>
                </a:solidFill>
                <a:latin typeface="楷体_GB2312" pitchFamily="49" charset="-122"/>
                <a:ea typeface="楷体_GB2312" pitchFamily="49" charset="-122"/>
              </a:rPr>
              <a:t>IC</a:t>
            </a:r>
            <a:r>
              <a:rPr lang="zh-CN" sz="3600" b="0" dirty="0">
                <a:solidFill>
                  <a:srgbClr val="660033"/>
                </a:solidFill>
                <a:latin typeface="华文行楷" pitchFamily="2" charset="-122"/>
                <a:ea typeface="华文行楷" pitchFamily="2" charset="-122"/>
              </a:rPr>
              <a:t>的封装形式</a:t>
            </a:r>
          </a:p>
        </p:txBody>
      </p:sp>
      <p:sp>
        <p:nvSpPr>
          <p:cNvPr id="2" name="灯片编号占位符 1">
            <a:extLst>
              <a:ext uri="{FF2B5EF4-FFF2-40B4-BE49-F238E27FC236}">
                <a16:creationId xmlns:a16="http://schemas.microsoft.com/office/drawing/2014/main" id="{941DB291-3623-59A6-4D51-8A81A60CC31C}"/>
              </a:ext>
            </a:extLst>
          </p:cNvPr>
          <p:cNvSpPr>
            <a:spLocks noGrp="1"/>
          </p:cNvSpPr>
          <p:nvPr>
            <p:ph type="sldNum" sz="quarter" idx="12"/>
          </p:nvPr>
        </p:nvSpPr>
        <p:spPr/>
        <p:txBody>
          <a:bodyPr/>
          <a:lstStyle/>
          <a:p>
            <a:pPr>
              <a:defRPr/>
            </a:pPr>
            <a:fld id="{47A4CA45-135E-4AE6-A55B-F30C83FDB90E}" type="slidenum">
              <a:rPr lang="zh-CN" altLang="en-US" smtClean="0"/>
              <a:pPr>
                <a:defRPr/>
              </a:pPr>
              <a:t>80</a:t>
            </a:fld>
            <a:endParaRPr lang="en-US" altLang="zh-CN"/>
          </a:p>
        </p:txBody>
      </p:sp>
      <p:graphicFrame>
        <p:nvGraphicFramePr>
          <p:cNvPr id="107524" name="Object 4"/>
          <p:cNvGraphicFramePr>
            <a:graphicFrameLocks noChangeAspect="1"/>
          </p:cNvGraphicFramePr>
          <p:nvPr/>
        </p:nvGraphicFramePr>
        <p:xfrm>
          <a:off x="990600" y="1371600"/>
          <a:ext cx="3733800" cy="1752600"/>
        </p:xfrm>
        <a:graphic>
          <a:graphicData uri="http://schemas.openxmlformats.org/presentationml/2006/ole">
            <mc:AlternateContent xmlns:mc="http://schemas.openxmlformats.org/markup-compatibility/2006">
              <mc:Choice xmlns:v="urn:schemas-microsoft-com:vml" Requires="v">
                <p:oleObj r:id="rId2" imgW="2190476" imgH="1028844" progId="PBrush">
                  <p:embed/>
                </p:oleObj>
              </mc:Choice>
              <mc:Fallback>
                <p:oleObj r:id="rId2" imgW="2190476" imgH="1028844" progId="PBrush">
                  <p:embed/>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1371600"/>
                        <a:ext cx="3733800" cy="1752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7525" name="Object 5"/>
          <p:cNvGraphicFramePr>
            <a:graphicFrameLocks noChangeAspect="1"/>
          </p:cNvGraphicFramePr>
          <p:nvPr/>
        </p:nvGraphicFramePr>
        <p:xfrm>
          <a:off x="4724400" y="1371600"/>
          <a:ext cx="3505200" cy="1717675"/>
        </p:xfrm>
        <a:graphic>
          <a:graphicData uri="http://schemas.openxmlformats.org/presentationml/2006/ole">
            <mc:AlternateContent xmlns:mc="http://schemas.openxmlformats.org/markup-compatibility/2006">
              <mc:Choice xmlns:v="urn:schemas-microsoft-com:vml" Requires="v">
                <p:oleObj r:id="rId4" imgW="1733333" imgH="1028844" progId="PBrush">
                  <p:embed/>
                </p:oleObj>
              </mc:Choice>
              <mc:Fallback>
                <p:oleObj r:id="rId4" imgW="1733333" imgH="1028844" progId="PBrush">
                  <p:embed/>
                  <p:pic>
                    <p:nvPicPr>
                      <p:cNvPr id="0"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24400" y="1371600"/>
                        <a:ext cx="3505200" cy="1717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7526" name="Object 6"/>
          <p:cNvGraphicFramePr>
            <a:graphicFrameLocks noChangeAspect="1"/>
          </p:cNvGraphicFramePr>
          <p:nvPr/>
        </p:nvGraphicFramePr>
        <p:xfrm>
          <a:off x="990600" y="3124200"/>
          <a:ext cx="3657600" cy="2133600"/>
        </p:xfrm>
        <a:graphic>
          <a:graphicData uri="http://schemas.openxmlformats.org/presentationml/2006/ole">
            <mc:AlternateContent xmlns:mc="http://schemas.openxmlformats.org/markup-compatibility/2006">
              <mc:Choice xmlns:v="urn:schemas-microsoft-com:vml" Requires="v">
                <p:oleObj r:id="rId6" imgW="2209524" imgH="1028844" progId="PBrush">
                  <p:embed/>
                </p:oleObj>
              </mc:Choice>
              <mc:Fallback>
                <p:oleObj r:id="rId6" imgW="2209524" imgH="1028844" progId="PBrush">
                  <p:embed/>
                  <p:pic>
                    <p:nvPicPr>
                      <p:cNvPr id="0" name="Picture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90600" y="3124200"/>
                        <a:ext cx="3657600" cy="2133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7527" name="Object 7"/>
          <p:cNvGraphicFramePr>
            <a:graphicFrameLocks noChangeAspect="1"/>
          </p:cNvGraphicFramePr>
          <p:nvPr/>
        </p:nvGraphicFramePr>
        <p:xfrm>
          <a:off x="4648200" y="3124200"/>
          <a:ext cx="3581400" cy="2130425"/>
        </p:xfrm>
        <a:graphic>
          <a:graphicData uri="http://schemas.openxmlformats.org/presentationml/2006/ole">
            <mc:AlternateContent xmlns:mc="http://schemas.openxmlformats.org/markup-compatibility/2006">
              <mc:Choice xmlns:v="urn:schemas-microsoft-com:vml" Requires="v">
                <p:oleObj r:id="rId8" imgW="1762371" imgH="1047619" progId="PBrush">
                  <p:embed/>
                </p:oleObj>
              </mc:Choice>
              <mc:Fallback>
                <p:oleObj r:id="rId8" imgW="1762371" imgH="1047619" progId="PBrush">
                  <p:embed/>
                  <p:pic>
                    <p:nvPicPr>
                      <p:cNvPr id="0" name="Picture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648200" y="3124200"/>
                        <a:ext cx="3581400" cy="2130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ChangeArrowheads="1"/>
          </p:cNvSpPr>
          <p:nvPr/>
        </p:nvSpPr>
        <p:spPr bwMode="auto">
          <a:xfrm>
            <a:off x="1143000" y="3962400"/>
            <a:ext cx="7620000" cy="914400"/>
          </a:xfrm>
          <a:prstGeom prst="rect">
            <a:avLst/>
          </a:prstGeom>
          <a:noFill/>
          <a:ln w="9525">
            <a:noFill/>
            <a:miter lim="800000"/>
            <a:headEnd/>
            <a:tailEnd/>
          </a:ln>
          <a:effectLst/>
        </p:spPr>
        <p:txBody>
          <a:bodyPr/>
          <a:lstStyle/>
          <a:p>
            <a:pPr>
              <a:spcBef>
                <a:spcPct val="20000"/>
              </a:spcBef>
              <a:buFont typeface="Wingdings" pitchFamily="2" charset="2"/>
              <a:buNone/>
            </a:pPr>
            <a:endParaRPr lang="zh-CN" altLang="en-US" sz="2000">
              <a:latin typeface="楷体_GB2312" pitchFamily="49" charset="-122"/>
              <a:ea typeface="楷体_GB2312" pitchFamily="49" charset="-122"/>
            </a:endParaRPr>
          </a:p>
        </p:txBody>
      </p:sp>
      <p:sp>
        <p:nvSpPr>
          <p:cNvPr id="108547" name="Rectangle 3"/>
          <p:cNvSpPr>
            <a:spLocks noGrp="1" noChangeArrowheads="1"/>
          </p:cNvSpPr>
          <p:nvPr>
            <p:ph type="subTitle" idx="1"/>
          </p:nvPr>
        </p:nvSpPr>
        <p:spPr>
          <a:xfrm>
            <a:off x="1181100" y="5418138"/>
            <a:ext cx="6781800" cy="1066800"/>
          </a:xfrm>
          <a:noFill/>
          <a:ln/>
        </p:spPr>
        <p:txBody>
          <a:bodyPr/>
          <a:lstStyle/>
          <a:p>
            <a:pPr marL="457200" lvl="1" indent="0">
              <a:lnSpc>
                <a:spcPct val="120000"/>
              </a:lnSpc>
              <a:spcBef>
                <a:spcPct val="0"/>
              </a:spcBef>
              <a:buClr>
                <a:srgbClr val="CC3399"/>
              </a:buClr>
              <a:buFont typeface="Monotype Sorts" pitchFamily="2" charset="2"/>
              <a:buNone/>
            </a:pPr>
            <a:r>
              <a:rPr lang="en-US" sz="3600" b="0" dirty="0">
                <a:solidFill>
                  <a:srgbClr val="660033"/>
                </a:solidFill>
                <a:latin typeface="楷体_GB2312" pitchFamily="49" charset="-122"/>
                <a:ea typeface="楷体_GB2312" pitchFamily="49" charset="-122"/>
              </a:rPr>
              <a:t>IC</a:t>
            </a:r>
            <a:r>
              <a:rPr lang="zh-CN" sz="3600" b="0" dirty="0">
                <a:solidFill>
                  <a:srgbClr val="660033"/>
                </a:solidFill>
                <a:latin typeface="华文行楷" pitchFamily="2" charset="-122"/>
                <a:ea typeface="华文行楷" pitchFamily="2" charset="-122"/>
              </a:rPr>
              <a:t>的封装形式</a:t>
            </a:r>
          </a:p>
        </p:txBody>
      </p:sp>
      <p:sp>
        <p:nvSpPr>
          <p:cNvPr id="2" name="灯片编号占位符 1">
            <a:extLst>
              <a:ext uri="{FF2B5EF4-FFF2-40B4-BE49-F238E27FC236}">
                <a16:creationId xmlns:a16="http://schemas.microsoft.com/office/drawing/2014/main" id="{CEC30441-3F0D-7DA4-725C-882EDD843C3F}"/>
              </a:ext>
            </a:extLst>
          </p:cNvPr>
          <p:cNvSpPr>
            <a:spLocks noGrp="1"/>
          </p:cNvSpPr>
          <p:nvPr>
            <p:ph type="sldNum" sz="quarter" idx="12"/>
          </p:nvPr>
        </p:nvSpPr>
        <p:spPr/>
        <p:txBody>
          <a:bodyPr/>
          <a:lstStyle/>
          <a:p>
            <a:pPr>
              <a:defRPr/>
            </a:pPr>
            <a:fld id="{47A4CA45-135E-4AE6-A55B-F30C83FDB90E}" type="slidenum">
              <a:rPr lang="zh-CN" altLang="en-US" smtClean="0"/>
              <a:pPr>
                <a:defRPr/>
              </a:pPr>
              <a:t>81</a:t>
            </a:fld>
            <a:endParaRPr lang="en-US" altLang="zh-CN"/>
          </a:p>
        </p:txBody>
      </p:sp>
      <p:graphicFrame>
        <p:nvGraphicFramePr>
          <p:cNvPr id="108548" name="Object 4"/>
          <p:cNvGraphicFramePr>
            <a:graphicFrameLocks noChangeAspect="1"/>
          </p:cNvGraphicFramePr>
          <p:nvPr>
            <p:extLst>
              <p:ext uri="{D42A27DB-BD31-4B8C-83A1-F6EECF244321}">
                <p14:modId xmlns:p14="http://schemas.microsoft.com/office/powerpoint/2010/main" val="970841187"/>
              </p:ext>
            </p:extLst>
          </p:nvPr>
        </p:nvGraphicFramePr>
        <p:xfrm>
          <a:off x="1181100" y="836712"/>
          <a:ext cx="2895600" cy="2217738"/>
        </p:xfrm>
        <a:graphic>
          <a:graphicData uri="http://schemas.openxmlformats.org/presentationml/2006/ole">
            <mc:AlternateContent xmlns:mc="http://schemas.openxmlformats.org/markup-compatibility/2006">
              <mc:Choice xmlns:v="urn:schemas-microsoft-com:vml" Requires="v">
                <p:oleObj r:id="rId2" imgW="1504762" imgH="1152381" progId="PBrush">
                  <p:embed/>
                </p:oleObj>
              </mc:Choice>
              <mc:Fallback>
                <p:oleObj r:id="rId2" imgW="1504762" imgH="1152381" progId="PBrush">
                  <p:embed/>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1100" y="836712"/>
                        <a:ext cx="2895600" cy="22177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8549" name="Object 5"/>
          <p:cNvGraphicFramePr>
            <a:graphicFrameLocks noChangeAspect="1"/>
          </p:cNvGraphicFramePr>
          <p:nvPr>
            <p:extLst>
              <p:ext uri="{D42A27DB-BD31-4B8C-83A1-F6EECF244321}">
                <p14:modId xmlns:p14="http://schemas.microsoft.com/office/powerpoint/2010/main" val="2707052456"/>
              </p:ext>
            </p:extLst>
          </p:nvPr>
        </p:nvGraphicFramePr>
        <p:xfrm>
          <a:off x="4076700" y="836712"/>
          <a:ext cx="3505200" cy="2165350"/>
        </p:xfrm>
        <a:graphic>
          <a:graphicData uri="http://schemas.openxmlformats.org/presentationml/2006/ole">
            <mc:AlternateContent xmlns:mc="http://schemas.openxmlformats.org/markup-compatibility/2006">
              <mc:Choice xmlns:v="urn:schemas-microsoft-com:vml" Requires="v">
                <p:oleObj r:id="rId4" imgW="2114845" imgH="828791" progId="PBrush">
                  <p:embed/>
                </p:oleObj>
              </mc:Choice>
              <mc:Fallback>
                <p:oleObj r:id="rId4" imgW="2114845" imgH="828791" progId="PBrush">
                  <p:embed/>
                  <p:pic>
                    <p:nvPicPr>
                      <p:cNvPr id="0"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76700" y="836712"/>
                        <a:ext cx="3505200" cy="2165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8550" name="Object 6"/>
          <p:cNvGraphicFramePr>
            <a:graphicFrameLocks noChangeAspect="1"/>
          </p:cNvGraphicFramePr>
          <p:nvPr>
            <p:extLst>
              <p:ext uri="{D42A27DB-BD31-4B8C-83A1-F6EECF244321}">
                <p14:modId xmlns:p14="http://schemas.microsoft.com/office/powerpoint/2010/main" val="1768800093"/>
              </p:ext>
            </p:extLst>
          </p:nvPr>
        </p:nvGraphicFramePr>
        <p:xfrm>
          <a:off x="1181100" y="3046512"/>
          <a:ext cx="2895600" cy="2522538"/>
        </p:xfrm>
        <a:graphic>
          <a:graphicData uri="http://schemas.openxmlformats.org/presentationml/2006/ole">
            <mc:AlternateContent xmlns:mc="http://schemas.openxmlformats.org/markup-compatibility/2006">
              <mc:Choice xmlns:v="urn:schemas-microsoft-com:vml" Requires="v">
                <p:oleObj r:id="rId6" imgW="1409897" imgH="1228571" progId="PBrush">
                  <p:embed/>
                </p:oleObj>
              </mc:Choice>
              <mc:Fallback>
                <p:oleObj r:id="rId6" imgW="1409897" imgH="1228571" progId="PBrush">
                  <p:embed/>
                  <p:pic>
                    <p:nvPicPr>
                      <p:cNvPr id="0" name="Picture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81100" y="3046512"/>
                        <a:ext cx="2895600" cy="2522538"/>
                      </a:xfrm>
                      <a:prstGeom prst="rect">
                        <a:avLst/>
                      </a:prstGeom>
                      <a:noFill/>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8551" name="Object 7"/>
          <p:cNvGraphicFramePr>
            <a:graphicFrameLocks noChangeAspect="1"/>
          </p:cNvGraphicFramePr>
          <p:nvPr>
            <p:extLst>
              <p:ext uri="{D42A27DB-BD31-4B8C-83A1-F6EECF244321}">
                <p14:modId xmlns:p14="http://schemas.microsoft.com/office/powerpoint/2010/main" val="3330395503"/>
              </p:ext>
            </p:extLst>
          </p:nvPr>
        </p:nvGraphicFramePr>
        <p:xfrm>
          <a:off x="4076700" y="2970312"/>
          <a:ext cx="3505200" cy="2590800"/>
        </p:xfrm>
        <a:graphic>
          <a:graphicData uri="http://schemas.openxmlformats.org/presentationml/2006/ole">
            <mc:AlternateContent xmlns:mc="http://schemas.openxmlformats.org/markup-compatibility/2006">
              <mc:Choice xmlns:v="urn:schemas-microsoft-com:vml" Requires="v">
                <p:oleObj r:id="rId8" imgW="1571844" imgH="1171429" progId="PBrush">
                  <p:embed/>
                </p:oleObj>
              </mc:Choice>
              <mc:Fallback>
                <p:oleObj r:id="rId8" imgW="1571844" imgH="1171429" progId="PBrush">
                  <p:embed/>
                  <p:pic>
                    <p:nvPicPr>
                      <p:cNvPr id="0" name="Picture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076700" y="2970312"/>
                        <a:ext cx="3505200" cy="2590800"/>
                      </a:xfrm>
                      <a:prstGeom prst="rect">
                        <a:avLst/>
                      </a:prstGeom>
                      <a:noFill/>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advClick="0"/>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ChangeArrowheads="1"/>
          </p:cNvSpPr>
          <p:nvPr/>
        </p:nvSpPr>
        <p:spPr bwMode="auto">
          <a:xfrm>
            <a:off x="1061597" y="3575720"/>
            <a:ext cx="7620000" cy="914400"/>
          </a:xfrm>
          <a:prstGeom prst="rect">
            <a:avLst/>
          </a:prstGeom>
          <a:noFill/>
          <a:ln w="9525">
            <a:noFill/>
            <a:miter lim="800000"/>
            <a:headEnd/>
            <a:tailEnd/>
          </a:ln>
          <a:effectLst/>
        </p:spPr>
        <p:txBody>
          <a:bodyPr/>
          <a:lstStyle/>
          <a:p>
            <a:pPr>
              <a:spcBef>
                <a:spcPct val="20000"/>
              </a:spcBef>
              <a:buFont typeface="Wingdings" pitchFamily="2" charset="2"/>
              <a:buNone/>
            </a:pPr>
            <a:endParaRPr lang="zh-CN" altLang="en-US" sz="2000">
              <a:latin typeface="楷体_GB2312" pitchFamily="49" charset="-122"/>
              <a:ea typeface="楷体_GB2312" pitchFamily="49" charset="-122"/>
            </a:endParaRPr>
          </a:p>
        </p:txBody>
      </p:sp>
      <p:sp>
        <p:nvSpPr>
          <p:cNvPr id="109571" name="Rectangle 3"/>
          <p:cNvSpPr>
            <a:spLocks noGrp="1" noChangeArrowheads="1"/>
          </p:cNvSpPr>
          <p:nvPr>
            <p:ph type="subTitle" idx="1"/>
          </p:nvPr>
        </p:nvSpPr>
        <p:spPr>
          <a:xfrm>
            <a:off x="1042847" y="5467768"/>
            <a:ext cx="6781800" cy="1066800"/>
          </a:xfrm>
          <a:noFill/>
          <a:ln/>
        </p:spPr>
        <p:txBody>
          <a:bodyPr/>
          <a:lstStyle/>
          <a:p>
            <a:pPr marL="457200" lvl="1" indent="0">
              <a:lnSpc>
                <a:spcPct val="120000"/>
              </a:lnSpc>
              <a:spcBef>
                <a:spcPct val="0"/>
              </a:spcBef>
              <a:buClr>
                <a:srgbClr val="CC3399"/>
              </a:buClr>
              <a:buFont typeface="Monotype Sorts" pitchFamily="2" charset="2"/>
              <a:buNone/>
            </a:pPr>
            <a:r>
              <a:rPr lang="en-US" sz="3600" b="0" dirty="0">
                <a:solidFill>
                  <a:srgbClr val="660033"/>
                </a:solidFill>
                <a:latin typeface="楷体_GB2312" pitchFamily="49" charset="-122"/>
                <a:ea typeface="楷体_GB2312" pitchFamily="49" charset="-122"/>
              </a:rPr>
              <a:t>IC</a:t>
            </a:r>
            <a:r>
              <a:rPr lang="zh-CN" sz="3600" b="0" dirty="0">
                <a:solidFill>
                  <a:srgbClr val="660033"/>
                </a:solidFill>
                <a:latin typeface="华文行楷" pitchFamily="2" charset="-122"/>
                <a:ea typeface="华文行楷" pitchFamily="2" charset="-122"/>
              </a:rPr>
              <a:t>的封装形式</a:t>
            </a:r>
          </a:p>
        </p:txBody>
      </p:sp>
      <p:sp>
        <p:nvSpPr>
          <p:cNvPr id="2" name="灯片编号占位符 1">
            <a:extLst>
              <a:ext uri="{FF2B5EF4-FFF2-40B4-BE49-F238E27FC236}">
                <a16:creationId xmlns:a16="http://schemas.microsoft.com/office/drawing/2014/main" id="{5D80E20D-3EF1-A46B-DE4B-4E2F04B02597}"/>
              </a:ext>
            </a:extLst>
          </p:cNvPr>
          <p:cNvSpPr>
            <a:spLocks noGrp="1"/>
          </p:cNvSpPr>
          <p:nvPr>
            <p:ph type="sldNum" sz="quarter" idx="12"/>
          </p:nvPr>
        </p:nvSpPr>
        <p:spPr/>
        <p:txBody>
          <a:bodyPr/>
          <a:lstStyle/>
          <a:p>
            <a:pPr>
              <a:defRPr/>
            </a:pPr>
            <a:fld id="{47A4CA45-135E-4AE6-A55B-F30C83FDB90E}" type="slidenum">
              <a:rPr lang="zh-CN" altLang="en-US" smtClean="0"/>
              <a:pPr>
                <a:defRPr/>
              </a:pPr>
              <a:t>82</a:t>
            </a:fld>
            <a:endParaRPr lang="en-US" altLang="zh-CN"/>
          </a:p>
        </p:txBody>
      </p:sp>
      <p:graphicFrame>
        <p:nvGraphicFramePr>
          <p:cNvPr id="109572" name="Object 4"/>
          <p:cNvGraphicFramePr>
            <a:graphicFrameLocks noChangeAspect="1"/>
          </p:cNvGraphicFramePr>
          <p:nvPr>
            <p:extLst>
              <p:ext uri="{D42A27DB-BD31-4B8C-83A1-F6EECF244321}">
                <p14:modId xmlns:p14="http://schemas.microsoft.com/office/powerpoint/2010/main" val="2612116744"/>
              </p:ext>
            </p:extLst>
          </p:nvPr>
        </p:nvGraphicFramePr>
        <p:xfrm>
          <a:off x="985397" y="908720"/>
          <a:ext cx="2590800" cy="2276475"/>
        </p:xfrm>
        <a:graphic>
          <a:graphicData uri="http://schemas.openxmlformats.org/presentationml/2006/ole">
            <mc:AlternateContent xmlns:mc="http://schemas.openxmlformats.org/markup-compatibility/2006">
              <mc:Choice xmlns:v="urn:schemas-microsoft-com:vml" Requires="v">
                <p:oleObj r:id="rId2" imgW="1495634" imgH="1314286" progId="PBrush">
                  <p:embed/>
                </p:oleObj>
              </mc:Choice>
              <mc:Fallback>
                <p:oleObj r:id="rId2" imgW="1495634" imgH="1314286" progId="PBrush">
                  <p:embed/>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5397" y="908720"/>
                        <a:ext cx="2590800" cy="2276475"/>
                      </a:xfrm>
                      <a:prstGeom prst="rect">
                        <a:avLst/>
                      </a:prstGeom>
                      <a:noFill/>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9573" name="Object 5"/>
          <p:cNvGraphicFramePr>
            <a:graphicFrameLocks noChangeAspect="1"/>
          </p:cNvGraphicFramePr>
          <p:nvPr>
            <p:extLst>
              <p:ext uri="{D42A27DB-BD31-4B8C-83A1-F6EECF244321}">
                <p14:modId xmlns:p14="http://schemas.microsoft.com/office/powerpoint/2010/main" val="3719247242"/>
              </p:ext>
            </p:extLst>
          </p:nvPr>
        </p:nvGraphicFramePr>
        <p:xfrm>
          <a:off x="3576197" y="908720"/>
          <a:ext cx="2514600" cy="2297113"/>
        </p:xfrm>
        <a:graphic>
          <a:graphicData uri="http://schemas.openxmlformats.org/presentationml/2006/ole">
            <mc:AlternateContent xmlns:mc="http://schemas.openxmlformats.org/markup-compatibility/2006">
              <mc:Choice xmlns:v="urn:schemas-microsoft-com:vml" Requires="v">
                <p:oleObj r:id="rId4" imgW="990738" imgH="905001" progId="PBrush">
                  <p:embed/>
                </p:oleObj>
              </mc:Choice>
              <mc:Fallback>
                <p:oleObj r:id="rId4" imgW="990738" imgH="905001" progId="PBrush">
                  <p:embed/>
                  <p:pic>
                    <p:nvPicPr>
                      <p:cNvPr id="0"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76197" y="908720"/>
                        <a:ext cx="2514600" cy="2297113"/>
                      </a:xfrm>
                      <a:prstGeom prst="rect">
                        <a:avLst/>
                      </a:prstGeom>
                      <a:noFill/>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9574" name="Object 6"/>
          <p:cNvGraphicFramePr>
            <a:graphicFrameLocks noChangeAspect="1"/>
          </p:cNvGraphicFramePr>
          <p:nvPr>
            <p:extLst>
              <p:ext uri="{D42A27DB-BD31-4B8C-83A1-F6EECF244321}">
                <p14:modId xmlns:p14="http://schemas.microsoft.com/office/powerpoint/2010/main" val="3322400260"/>
              </p:ext>
            </p:extLst>
          </p:nvPr>
        </p:nvGraphicFramePr>
        <p:xfrm>
          <a:off x="6014597" y="908720"/>
          <a:ext cx="1905000" cy="2286000"/>
        </p:xfrm>
        <a:graphic>
          <a:graphicData uri="http://schemas.openxmlformats.org/presentationml/2006/ole">
            <mc:AlternateContent xmlns:mc="http://schemas.openxmlformats.org/markup-compatibility/2006">
              <mc:Choice xmlns:v="urn:schemas-microsoft-com:vml" Requires="v">
                <p:oleObj r:id="rId6" imgW="1590897" imgH="1171429" progId="PBrush">
                  <p:embed/>
                </p:oleObj>
              </mc:Choice>
              <mc:Fallback>
                <p:oleObj r:id="rId6" imgW="1590897" imgH="1171429" progId="PBrush">
                  <p:embed/>
                  <p:pic>
                    <p:nvPicPr>
                      <p:cNvPr id="0" name="Picture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14597" y="908720"/>
                        <a:ext cx="1905000" cy="2286000"/>
                      </a:xfrm>
                      <a:prstGeom prst="rect">
                        <a:avLst/>
                      </a:prstGeom>
                      <a:noFill/>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9575" name="Object 7"/>
          <p:cNvGraphicFramePr>
            <a:graphicFrameLocks noChangeAspect="1"/>
          </p:cNvGraphicFramePr>
          <p:nvPr>
            <p:extLst>
              <p:ext uri="{D42A27DB-BD31-4B8C-83A1-F6EECF244321}">
                <p14:modId xmlns:p14="http://schemas.microsoft.com/office/powerpoint/2010/main" val="86782446"/>
              </p:ext>
            </p:extLst>
          </p:nvPr>
        </p:nvGraphicFramePr>
        <p:xfrm>
          <a:off x="985397" y="3118520"/>
          <a:ext cx="2322513" cy="2514600"/>
        </p:xfrm>
        <a:graphic>
          <a:graphicData uri="http://schemas.openxmlformats.org/presentationml/2006/ole">
            <mc:AlternateContent xmlns:mc="http://schemas.openxmlformats.org/markup-compatibility/2006">
              <mc:Choice xmlns:v="urn:schemas-microsoft-com:vml" Requires="v">
                <p:oleObj r:id="rId8" imgW="1028844" imgH="1114581" progId="PBrush">
                  <p:embed/>
                </p:oleObj>
              </mc:Choice>
              <mc:Fallback>
                <p:oleObj r:id="rId8" imgW="1028844" imgH="1114581" progId="PBrush">
                  <p:embed/>
                  <p:pic>
                    <p:nvPicPr>
                      <p:cNvPr id="0" name="Picture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85397" y="3118520"/>
                        <a:ext cx="2322513" cy="2514600"/>
                      </a:xfrm>
                      <a:prstGeom prst="rect">
                        <a:avLst/>
                      </a:prstGeom>
                      <a:noFill/>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9576" name="Object 8"/>
          <p:cNvGraphicFramePr>
            <a:graphicFrameLocks noChangeAspect="1"/>
          </p:cNvGraphicFramePr>
          <p:nvPr>
            <p:extLst>
              <p:ext uri="{D42A27DB-BD31-4B8C-83A1-F6EECF244321}">
                <p14:modId xmlns:p14="http://schemas.microsoft.com/office/powerpoint/2010/main" val="705419396"/>
              </p:ext>
            </p:extLst>
          </p:nvPr>
        </p:nvGraphicFramePr>
        <p:xfrm>
          <a:off x="3271397" y="3194720"/>
          <a:ext cx="2203450" cy="2438400"/>
        </p:xfrm>
        <a:graphic>
          <a:graphicData uri="http://schemas.openxmlformats.org/presentationml/2006/ole">
            <mc:AlternateContent xmlns:mc="http://schemas.openxmlformats.org/markup-compatibility/2006">
              <mc:Choice xmlns:v="urn:schemas-microsoft-com:vml" Requires="v">
                <p:oleObj r:id="rId10" imgW="1609524" imgH="1781424" progId="PBrush">
                  <p:embed/>
                </p:oleObj>
              </mc:Choice>
              <mc:Fallback>
                <p:oleObj r:id="rId10" imgW="1609524" imgH="1781424" progId="PBrush">
                  <p:embed/>
                  <p:pic>
                    <p:nvPicPr>
                      <p:cNvPr id="0" name="Picture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271397" y="3194720"/>
                        <a:ext cx="2203450" cy="2438400"/>
                      </a:xfrm>
                      <a:prstGeom prst="rect">
                        <a:avLst/>
                      </a:prstGeom>
                      <a:noFill/>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9577" name="Object 9"/>
          <p:cNvGraphicFramePr>
            <a:graphicFrameLocks noChangeAspect="1"/>
          </p:cNvGraphicFramePr>
          <p:nvPr>
            <p:extLst>
              <p:ext uri="{D42A27DB-BD31-4B8C-83A1-F6EECF244321}">
                <p14:modId xmlns:p14="http://schemas.microsoft.com/office/powerpoint/2010/main" val="4287189644"/>
              </p:ext>
            </p:extLst>
          </p:nvPr>
        </p:nvGraphicFramePr>
        <p:xfrm>
          <a:off x="5481197" y="3194720"/>
          <a:ext cx="2438400" cy="2438400"/>
        </p:xfrm>
        <a:graphic>
          <a:graphicData uri="http://schemas.openxmlformats.org/presentationml/2006/ole">
            <mc:AlternateContent xmlns:mc="http://schemas.openxmlformats.org/markup-compatibility/2006">
              <mc:Choice xmlns:v="urn:schemas-microsoft-com:vml" Requires="v">
                <p:oleObj r:id="rId12" imgW="1467055" imgH="1619476" progId="PBrush">
                  <p:embed/>
                </p:oleObj>
              </mc:Choice>
              <mc:Fallback>
                <p:oleObj r:id="rId12" imgW="1467055" imgH="1619476" progId="PBrush">
                  <p:embed/>
                  <p:pic>
                    <p:nvPicPr>
                      <p:cNvPr id="0" name="Picture 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481197" y="3194720"/>
                        <a:ext cx="2438400" cy="2438400"/>
                      </a:xfrm>
                      <a:prstGeom prst="rect">
                        <a:avLst/>
                      </a:prstGeom>
                      <a:noFill/>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ChangeArrowheads="1"/>
          </p:cNvSpPr>
          <p:nvPr/>
        </p:nvSpPr>
        <p:spPr bwMode="auto">
          <a:xfrm>
            <a:off x="1143000" y="3962400"/>
            <a:ext cx="7620000" cy="914400"/>
          </a:xfrm>
          <a:prstGeom prst="rect">
            <a:avLst/>
          </a:prstGeom>
          <a:noFill/>
          <a:ln w="9525">
            <a:noFill/>
            <a:miter lim="800000"/>
            <a:headEnd/>
            <a:tailEnd/>
          </a:ln>
          <a:effectLst/>
        </p:spPr>
        <p:txBody>
          <a:bodyPr/>
          <a:lstStyle/>
          <a:p>
            <a:pPr>
              <a:spcBef>
                <a:spcPct val="20000"/>
              </a:spcBef>
              <a:buFont typeface="Wingdings" pitchFamily="2" charset="2"/>
              <a:buNone/>
            </a:pPr>
            <a:endParaRPr lang="zh-CN" altLang="en-US" sz="2000">
              <a:latin typeface="楷体_GB2312" pitchFamily="49" charset="-122"/>
              <a:ea typeface="楷体_GB2312" pitchFamily="49" charset="-122"/>
            </a:endParaRPr>
          </a:p>
        </p:txBody>
      </p:sp>
      <p:sp>
        <p:nvSpPr>
          <p:cNvPr id="110595" name="Rectangle 3"/>
          <p:cNvSpPr>
            <a:spLocks noGrp="1" noChangeArrowheads="1"/>
          </p:cNvSpPr>
          <p:nvPr>
            <p:ph type="subTitle" idx="1"/>
          </p:nvPr>
        </p:nvSpPr>
        <p:spPr>
          <a:xfrm>
            <a:off x="1003919" y="5373216"/>
            <a:ext cx="6781800" cy="1066800"/>
          </a:xfrm>
          <a:noFill/>
          <a:ln/>
        </p:spPr>
        <p:txBody>
          <a:bodyPr/>
          <a:lstStyle/>
          <a:p>
            <a:pPr marL="457200" lvl="1" indent="0">
              <a:lnSpc>
                <a:spcPct val="120000"/>
              </a:lnSpc>
              <a:spcBef>
                <a:spcPct val="0"/>
              </a:spcBef>
              <a:buClr>
                <a:srgbClr val="CC3399"/>
              </a:buClr>
              <a:buFont typeface="Monotype Sorts" pitchFamily="2" charset="2"/>
              <a:buNone/>
            </a:pPr>
            <a:r>
              <a:rPr lang="en-US" sz="3600" b="0" dirty="0">
                <a:solidFill>
                  <a:srgbClr val="660033"/>
                </a:solidFill>
                <a:latin typeface="楷体_GB2312" pitchFamily="49" charset="-122"/>
                <a:ea typeface="楷体_GB2312" pitchFamily="49" charset="-122"/>
              </a:rPr>
              <a:t>IC</a:t>
            </a:r>
            <a:r>
              <a:rPr lang="zh-CN" sz="3600" b="0" dirty="0">
                <a:solidFill>
                  <a:srgbClr val="660033"/>
                </a:solidFill>
                <a:latin typeface="华文行楷" pitchFamily="2" charset="-122"/>
                <a:ea typeface="华文行楷" pitchFamily="2" charset="-122"/>
              </a:rPr>
              <a:t>的封装形式</a:t>
            </a:r>
          </a:p>
        </p:txBody>
      </p:sp>
      <p:sp>
        <p:nvSpPr>
          <p:cNvPr id="2" name="灯片编号占位符 1">
            <a:extLst>
              <a:ext uri="{FF2B5EF4-FFF2-40B4-BE49-F238E27FC236}">
                <a16:creationId xmlns:a16="http://schemas.microsoft.com/office/drawing/2014/main" id="{59363CED-094C-ED0F-D67E-2F45B33AEE16}"/>
              </a:ext>
            </a:extLst>
          </p:cNvPr>
          <p:cNvSpPr>
            <a:spLocks noGrp="1"/>
          </p:cNvSpPr>
          <p:nvPr>
            <p:ph type="sldNum" sz="quarter" idx="12"/>
          </p:nvPr>
        </p:nvSpPr>
        <p:spPr/>
        <p:txBody>
          <a:bodyPr/>
          <a:lstStyle/>
          <a:p>
            <a:pPr>
              <a:defRPr/>
            </a:pPr>
            <a:fld id="{47A4CA45-135E-4AE6-A55B-F30C83FDB90E}" type="slidenum">
              <a:rPr lang="zh-CN" altLang="en-US" smtClean="0"/>
              <a:pPr>
                <a:defRPr/>
              </a:pPr>
              <a:t>83</a:t>
            </a:fld>
            <a:endParaRPr lang="en-US" altLang="zh-CN"/>
          </a:p>
        </p:txBody>
      </p:sp>
      <p:graphicFrame>
        <p:nvGraphicFramePr>
          <p:cNvPr id="110596" name="Object 4"/>
          <p:cNvGraphicFramePr>
            <a:graphicFrameLocks noChangeAspect="1"/>
          </p:cNvGraphicFramePr>
          <p:nvPr>
            <p:extLst>
              <p:ext uri="{D42A27DB-BD31-4B8C-83A1-F6EECF244321}">
                <p14:modId xmlns:p14="http://schemas.microsoft.com/office/powerpoint/2010/main" val="1153094411"/>
              </p:ext>
            </p:extLst>
          </p:nvPr>
        </p:nvGraphicFramePr>
        <p:xfrm>
          <a:off x="1148781" y="755676"/>
          <a:ext cx="2682651" cy="2359086"/>
        </p:xfrm>
        <a:graphic>
          <a:graphicData uri="http://schemas.openxmlformats.org/presentationml/2006/ole">
            <mc:AlternateContent xmlns:mc="http://schemas.openxmlformats.org/markup-compatibility/2006">
              <mc:Choice xmlns:v="urn:schemas-microsoft-com:vml" Requires="v">
                <p:oleObj r:id="rId2" imgW="1809524" imgH="1590897" progId="PBrush">
                  <p:embed/>
                </p:oleObj>
              </mc:Choice>
              <mc:Fallback>
                <p:oleObj r:id="rId2" imgW="1809524" imgH="1590897" progId="PBrush">
                  <p:embed/>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8781" y="755676"/>
                        <a:ext cx="2682651" cy="2359086"/>
                      </a:xfrm>
                      <a:prstGeom prst="rect">
                        <a:avLst/>
                      </a:prstGeom>
                      <a:noFill/>
                      <a:effectLst/>
                    </p:spPr>
                  </p:pic>
                </p:oleObj>
              </mc:Fallback>
            </mc:AlternateContent>
          </a:graphicData>
        </a:graphic>
      </p:graphicFrame>
      <p:graphicFrame>
        <p:nvGraphicFramePr>
          <p:cNvPr id="110597" name="Object 5"/>
          <p:cNvGraphicFramePr>
            <a:graphicFrameLocks noChangeAspect="1"/>
          </p:cNvGraphicFramePr>
          <p:nvPr>
            <p:extLst>
              <p:ext uri="{D42A27DB-BD31-4B8C-83A1-F6EECF244321}">
                <p14:modId xmlns:p14="http://schemas.microsoft.com/office/powerpoint/2010/main" val="3476297644"/>
              </p:ext>
            </p:extLst>
          </p:nvPr>
        </p:nvGraphicFramePr>
        <p:xfrm>
          <a:off x="3831432" y="770384"/>
          <a:ext cx="2329671" cy="2329671"/>
        </p:xfrm>
        <a:graphic>
          <a:graphicData uri="http://schemas.openxmlformats.org/presentationml/2006/ole">
            <mc:AlternateContent xmlns:mc="http://schemas.openxmlformats.org/markup-compatibility/2006">
              <mc:Choice xmlns:v="urn:schemas-microsoft-com:vml" Requires="v">
                <p:oleObj r:id="rId4" imgW="1114581" imgH="1114581" progId="PBrush">
                  <p:embed/>
                </p:oleObj>
              </mc:Choice>
              <mc:Fallback>
                <p:oleObj r:id="rId4" imgW="1114581" imgH="1114581" progId="PBrush">
                  <p:embed/>
                  <p:pic>
                    <p:nvPicPr>
                      <p:cNvPr id="0"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31432" y="770384"/>
                        <a:ext cx="2329671" cy="2329671"/>
                      </a:xfrm>
                      <a:prstGeom prst="rect">
                        <a:avLst/>
                      </a:prstGeom>
                      <a:noFill/>
                      <a:effectLst/>
                    </p:spPr>
                  </p:pic>
                </p:oleObj>
              </mc:Fallback>
            </mc:AlternateContent>
          </a:graphicData>
        </a:graphic>
      </p:graphicFrame>
      <p:graphicFrame>
        <p:nvGraphicFramePr>
          <p:cNvPr id="110598" name="Object 6"/>
          <p:cNvGraphicFramePr>
            <a:graphicFrameLocks noChangeAspect="1"/>
          </p:cNvGraphicFramePr>
          <p:nvPr>
            <p:extLst>
              <p:ext uri="{D42A27DB-BD31-4B8C-83A1-F6EECF244321}">
                <p14:modId xmlns:p14="http://schemas.microsoft.com/office/powerpoint/2010/main" val="427539807"/>
              </p:ext>
            </p:extLst>
          </p:nvPr>
        </p:nvGraphicFramePr>
        <p:xfrm>
          <a:off x="1143000" y="3091055"/>
          <a:ext cx="3247420" cy="2375265"/>
        </p:xfrm>
        <a:graphic>
          <a:graphicData uri="http://schemas.openxmlformats.org/presentationml/2006/ole">
            <mc:AlternateContent xmlns:mc="http://schemas.openxmlformats.org/markup-compatibility/2006">
              <mc:Choice xmlns:v="urn:schemas-microsoft-com:vml" Requires="v">
                <p:oleObj r:id="rId6" imgW="3296110" imgH="2409524" progId="PBrush">
                  <p:embed/>
                </p:oleObj>
              </mc:Choice>
              <mc:Fallback>
                <p:oleObj r:id="rId6" imgW="3296110" imgH="2409524" progId="PBrush">
                  <p:embed/>
                  <p:pic>
                    <p:nvPicPr>
                      <p:cNvPr id="0" name="Picture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43000" y="3091055"/>
                        <a:ext cx="3247420" cy="2375265"/>
                      </a:xfrm>
                      <a:prstGeom prst="rect">
                        <a:avLst/>
                      </a:prstGeom>
                      <a:noFill/>
                      <a:effectLst/>
                    </p:spPr>
                  </p:pic>
                </p:oleObj>
              </mc:Fallback>
            </mc:AlternateContent>
          </a:graphicData>
        </a:graphic>
      </p:graphicFrame>
      <p:graphicFrame>
        <p:nvGraphicFramePr>
          <p:cNvPr id="110599" name="Object 7"/>
          <p:cNvGraphicFramePr>
            <a:graphicFrameLocks noChangeAspect="1"/>
          </p:cNvGraphicFramePr>
          <p:nvPr>
            <p:extLst>
              <p:ext uri="{D42A27DB-BD31-4B8C-83A1-F6EECF244321}">
                <p14:modId xmlns:p14="http://schemas.microsoft.com/office/powerpoint/2010/main" val="1943078771"/>
              </p:ext>
            </p:extLst>
          </p:nvPr>
        </p:nvGraphicFramePr>
        <p:xfrm>
          <a:off x="4394819" y="3085347"/>
          <a:ext cx="3600400" cy="2366440"/>
        </p:xfrm>
        <a:graphic>
          <a:graphicData uri="http://schemas.openxmlformats.org/presentationml/2006/ole">
            <mc:AlternateContent xmlns:mc="http://schemas.openxmlformats.org/markup-compatibility/2006">
              <mc:Choice xmlns:v="urn:schemas-microsoft-com:vml" Requires="v">
                <p:oleObj r:id="rId8" imgW="3285714" imgH="2247619" progId="PBrush">
                  <p:embed/>
                </p:oleObj>
              </mc:Choice>
              <mc:Fallback>
                <p:oleObj r:id="rId8" imgW="3285714" imgH="2247619" progId="PBrush">
                  <p:embed/>
                  <p:pic>
                    <p:nvPicPr>
                      <p:cNvPr id="0" name="Picture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394819" y="3085347"/>
                        <a:ext cx="3600400" cy="2366440"/>
                      </a:xfrm>
                      <a:prstGeom prst="rect">
                        <a:avLst/>
                      </a:prstGeom>
                      <a:noFill/>
                      <a:effectLst/>
                    </p:spPr>
                  </p:pic>
                </p:oleObj>
              </mc:Fallback>
            </mc:AlternateContent>
          </a:graphicData>
        </a:graphic>
      </p:graphicFrame>
      <p:graphicFrame>
        <p:nvGraphicFramePr>
          <p:cNvPr id="110600" name="Object 8"/>
          <p:cNvGraphicFramePr>
            <a:graphicFrameLocks noChangeAspect="1"/>
          </p:cNvGraphicFramePr>
          <p:nvPr>
            <p:extLst>
              <p:ext uri="{D42A27DB-BD31-4B8C-83A1-F6EECF244321}">
                <p14:modId xmlns:p14="http://schemas.microsoft.com/office/powerpoint/2010/main" val="1277160262"/>
              </p:ext>
            </p:extLst>
          </p:nvPr>
        </p:nvGraphicFramePr>
        <p:xfrm>
          <a:off x="6159721" y="755676"/>
          <a:ext cx="1835498" cy="2329671"/>
        </p:xfrm>
        <a:graphic>
          <a:graphicData uri="http://schemas.openxmlformats.org/presentationml/2006/ole">
            <mc:AlternateContent xmlns:mc="http://schemas.openxmlformats.org/markup-compatibility/2006">
              <mc:Choice xmlns:v="urn:schemas-microsoft-com:vml" Requires="v">
                <p:oleObj r:id="rId10" imgW="1457143" imgH="1800476" progId="PBrush">
                  <p:embed/>
                </p:oleObj>
              </mc:Choice>
              <mc:Fallback>
                <p:oleObj r:id="rId10" imgW="1457143" imgH="1800476" progId="PBrush">
                  <p:embed/>
                  <p:pic>
                    <p:nvPicPr>
                      <p:cNvPr id="0" name="Picture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159721" y="755676"/>
                        <a:ext cx="1835498" cy="2329671"/>
                      </a:xfrm>
                      <a:prstGeom prst="rect">
                        <a:avLst/>
                      </a:prstGeom>
                      <a:noFill/>
                      <a:effectLst/>
                    </p:spPr>
                  </p:pic>
                </p:oleObj>
              </mc:Fallback>
            </mc:AlternateContent>
          </a:graphicData>
        </a:graphic>
      </p:graphicFrame>
    </p:spTree>
  </p:cSld>
  <p:clrMapOvr>
    <a:masterClrMapping/>
  </p:clrMapOv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ChangeArrowheads="1"/>
          </p:cNvSpPr>
          <p:nvPr/>
        </p:nvSpPr>
        <p:spPr bwMode="auto">
          <a:xfrm>
            <a:off x="1524000" y="4038600"/>
            <a:ext cx="7620000" cy="914400"/>
          </a:xfrm>
          <a:prstGeom prst="rect">
            <a:avLst/>
          </a:prstGeom>
          <a:noFill/>
          <a:ln w="9525">
            <a:noFill/>
            <a:miter lim="800000"/>
            <a:headEnd/>
            <a:tailEnd/>
          </a:ln>
          <a:effectLst/>
        </p:spPr>
        <p:txBody>
          <a:bodyPr/>
          <a:lstStyle/>
          <a:p>
            <a:pPr>
              <a:spcBef>
                <a:spcPct val="20000"/>
              </a:spcBef>
              <a:buFont typeface="Wingdings" pitchFamily="2" charset="2"/>
              <a:buNone/>
            </a:pPr>
            <a:endParaRPr lang="zh-CN" altLang="en-US" sz="2000">
              <a:latin typeface="楷体_GB2312" pitchFamily="49" charset="-122"/>
              <a:ea typeface="楷体_GB2312" pitchFamily="49" charset="-122"/>
            </a:endParaRPr>
          </a:p>
        </p:txBody>
      </p:sp>
      <p:sp>
        <p:nvSpPr>
          <p:cNvPr id="111619" name="Rectangle 3"/>
          <p:cNvSpPr>
            <a:spLocks noGrp="1" noChangeArrowheads="1"/>
          </p:cNvSpPr>
          <p:nvPr>
            <p:ph type="subTitle" idx="1"/>
          </p:nvPr>
        </p:nvSpPr>
        <p:spPr>
          <a:xfrm>
            <a:off x="683568" y="5517232"/>
            <a:ext cx="6781800" cy="1066800"/>
          </a:xfrm>
          <a:noFill/>
          <a:ln/>
        </p:spPr>
        <p:txBody>
          <a:bodyPr/>
          <a:lstStyle/>
          <a:p>
            <a:pPr marL="457200" lvl="1" indent="0">
              <a:lnSpc>
                <a:spcPct val="120000"/>
              </a:lnSpc>
              <a:spcBef>
                <a:spcPct val="0"/>
              </a:spcBef>
              <a:buClr>
                <a:srgbClr val="CC3399"/>
              </a:buClr>
              <a:buFont typeface="Monotype Sorts" pitchFamily="2" charset="2"/>
              <a:buNone/>
            </a:pPr>
            <a:r>
              <a:rPr lang="en-US" sz="3600" b="0" dirty="0">
                <a:solidFill>
                  <a:srgbClr val="660033"/>
                </a:solidFill>
                <a:latin typeface="楷体_GB2312" pitchFamily="49" charset="-122"/>
                <a:ea typeface="楷体_GB2312" pitchFamily="49" charset="-122"/>
              </a:rPr>
              <a:t>IC</a:t>
            </a:r>
            <a:r>
              <a:rPr lang="zh-CN" sz="3600" b="0" dirty="0">
                <a:solidFill>
                  <a:srgbClr val="660033"/>
                </a:solidFill>
                <a:latin typeface="楷体_GB2312" pitchFamily="49" charset="-122"/>
                <a:ea typeface="楷体_GB2312" pitchFamily="49" charset="-122"/>
              </a:rPr>
              <a:t>的封装</a:t>
            </a:r>
            <a:endParaRPr lang="zh-CN" sz="3600" b="0" dirty="0">
              <a:solidFill>
                <a:srgbClr val="660033"/>
              </a:solidFill>
              <a:latin typeface="华文行楷" pitchFamily="2" charset="-122"/>
              <a:ea typeface="华文行楷" pitchFamily="2" charset="-122"/>
            </a:endParaRPr>
          </a:p>
        </p:txBody>
      </p:sp>
      <p:sp>
        <p:nvSpPr>
          <p:cNvPr id="2" name="灯片编号占位符 1">
            <a:extLst>
              <a:ext uri="{FF2B5EF4-FFF2-40B4-BE49-F238E27FC236}">
                <a16:creationId xmlns:a16="http://schemas.microsoft.com/office/drawing/2014/main" id="{C27B49E3-0DA9-9A51-6E59-61A0C13ED647}"/>
              </a:ext>
            </a:extLst>
          </p:cNvPr>
          <p:cNvSpPr>
            <a:spLocks noGrp="1"/>
          </p:cNvSpPr>
          <p:nvPr>
            <p:ph type="sldNum" sz="quarter" idx="12"/>
          </p:nvPr>
        </p:nvSpPr>
        <p:spPr/>
        <p:txBody>
          <a:bodyPr/>
          <a:lstStyle/>
          <a:p>
            <a:pPr>
              <a:defRPr/>
            </a:pPr>
            <a:fld id="{47A4CA45-135E-4AE6-A55B-F30C83FDB90E}" type="slidenum">
              <a:rPr lang="zh-CN" altLang="en-US" smtClean="0"/>
              <a:pPr>
                <a:defRPr/>
              </a:pPr>
              <a:t>84</a:t>
            </a:fld>
            <a:endParaRPr lang="en-US" altLang="zh-CN"/>
          </a:p>
        </p:txBody>
      </p:sp>
      <p:pic>
        <p:nvPicPr>
          <p:cNvPr id="111620" name="Picture 4" descr="hsop-28"/>
          <p:cNvPicPr>
            <a:picLocks noChangeAspect="1" noChangeArrowheads="1"/>
          </p:cNvPicPr>
          <p:nvPr/>
        </p:nvPicPr>
        <p:blipFill>
          <a:blip r:embed="rId2" cstate="print"/>
          <a:srcRect/>
          <a:stretch>
            <a:fillRect/>
          </a:stretch>
        </p:blipFill>
        <p:spPr bwMode="auto">
          <a:xfrm>
            <a:off x="611560" y="770384"/>
            <a:ext cx="2819400" cy="2519363"/>
          </a:xfrm>
          <a:prstGeom prst="rect">
            <a:avLst/>
          </a:prstGeom>
          <a:noFill/>
          <a:ln w="9525">
            <a:noFill/>
            <a:miter lim="800000"/>
            <a:headEnd/>
            <a:tailEnd/>
          </a:ln>
        </p:spPr>
      </p:pic>
      <p:pic>
        <p:nvPicPr>
          <p:cNvPr id="111621" name="Picture 5" descr="ito-3p"/>
          <p:cNvPicPr>
            <a:picLocks noChangeAspect="1" noChangeArrowheads="1"/>
          </p:cNvPicPr>
          <p:nvPr/>
        </p:nvPicPr>
        <p:blipFill>
          <a:blip r:embed="rId3" cstate="print"/>
          <a:srcRect/>
          <a:stretch>
            <a:fillRect/>
          </a:stretch>
        </p:blipFill>
        <p:spPr bwMode="auto">
          <a:xfrm>
            <a:off x="3354760" y="787846"/>
            <a:ext cx="2667000" cy="2497138"/>
          </a:xfrm>
          <a:prstGeom prst="rect">
            <a:avLst/>
          </a:prstGeom>
          <a:noFill/>
          <a:ln w="9525">
            <a:noFill/>
            <a:miter lim="800000"/>
            <a:headEnd/>
            <a:tailEnd/>
          </a:ln>
        </p:spPr>
      </p:pic>
      <p:pic>
        <p:nvPicPr>
          <p:cNvPr id="111622" name="Picture 6" descr="ito-220"/>
          <p:cNvPicPr>
            <a:picLocks noChangeAspect="1" noChangeArrowheads="1"/>
          </p:cNvPicPr>
          <p:nvPr/>
        </p:nvPicPr>
        <p:blipFill>
          <a:blip r:embed="rId4" cstate="print"/>
          <a:srcRect/>
          <a:stretch>
            <a:fillRect/>
          </a:stretch>
        </p:blipFill>
        <p:spPr bwMode="auto">
          <a:xfrm>
            <a:off x="5945560" y="770384"/>
            <a:ext cx="2362200" cy="2514600"/>
          </a:xfrm>
          <a:prstGeom prst="rect">
            <a:avLst/>
          </a:prstGeom>
          <a:noFill/>
          <a:ln w="9525">
            <a:noFill/>
            <a:miter lim="800000"/>
            <a:headEnd/>
            <a:tailEnd/>
          </a:ln>
        </p:spPr>
      </p:pic>
      <p:graphicFrame>
        <p:nvGraphicFramePr>
          <p:cNvPr id="111623" name="Object 7"/>
          <p:cNvGraphicFramePr>
            <a:graphicFrameLocks noChangeAspect="1"/>
          </p:cNvGraphicFramePr>
          <p:nvPr>
            <p:extLst>
              <p:ext uri="{D42A27DB-BD31-4B8C-83A1-F6EECF244321}">
                <p14:modId xmlns:p14="http://schemas.microsoft.com/office/powerpoint/2010/main" val="2376160876"/>
              </p:ext>
            </p:extLst>
          </p:nvPr>
        </p:nvGraphicFramePr>
        <p:xfrm>
          <a:off x="611560" y="3262220"/>
          <a:ext cx="2819400" cy="2346325"/>
        </p:xfrm>
        <a:graphic>
          <a:graphicData uri="http://schemas.openxmlformats.org/presentationml/2006/ole">
            <mc:AlternateContent xmlns:mc="http://schemas.openxmlformats.org/markup-compatibility/2006">
              <mc:Choice xmlns:v="urn:schemas-microsoft-com:vml" Requires="v">
                <p:oleObj r:id="rId5" imgW="2381582" imgH="1980952" progId="PBrush">
                  <p:embed/>
                </p:oleObj>
              </mc:Choice>
              <mc:Fallback>
                <p:oleObj r:id="rId5" imgW="2381582" imgH="1980952" progId="PBrush">
                  <p:embed/>
                  <p:pic>
                    <p:nvPicPr>
                      <p:cNvPr id="0"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1560" y="3262220"/>
                        <a:ext cx="2819400" cy="2346325"/>
                      </a:xfrm>
                      <a:prstGeom prst="rect">
                        <a:avLst/>
                      </a:prstGeom>
                      <a:noFill/>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1624" name="Object 8"/>
          <p:cNvGraphicFramePr>
            <a:graphicFrameLocks noChangeAspect="1"/>
          </p:cNvGraphicFramePr>
          <p:nvPr>
            <p:extLst>
              <p:ext uri="{D42A27DB-BD31-4B8C-83A1-F6EECF244321}">
                <p14:modId xmlns:p14="http://schemas.microsoft.com/office/powerpoint/2010/main" val="2481366032"/>
              </p:ext>
            </p:extLst>
          </p:nvPr>
        </p:nvGraphicFramePr>
        <p:xfrm>
          <a:off x="3430960" y="3208784"/>
          <a:ext cx="2590800" cy="2389188"/>
        </p:xfrm>
        <a:graphic>
          <a:graphicData uri="http://schemas.openxmlformats.org/presentationml/2006/ole">
            <mc:AlternateContent xmlns:mc="http://schemas.openxmlformats.org/markup-compatibility/2006">
              <mc:Choice xmlns:v="urn:schemas-microsoft-com:vml" Requires="v">
                <p:oleObj r:id="rId7" imgW="2486372" imgH="2219635" progId="PBrush">
                  <p:embed/>
                </p:oleObj>
              </mc:Choice>
              <mc:Fallback>
                <p:oleObj r:id="rId7" imgW="2486372" imgH="2219635" progId="PBrush">
                  <p:embed/>
                  <p:pic>
                    <p:nvPicPr>
                      <p:cNvPr id="0" name="Picture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30960" y="3208784"/>
                        <a:ext cx="2590800" cy="2389188"/>
                      </a:xfrm>
                      <a:prstGeom prst="rect">
                        <a:avLst/>
                      </a:prstGeom>
                      <a:noFill/>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1625" name="Object 9"/>
          <p:cNvGraphicFramePr>
            <a:graphicFrameLocks noChangeAspect="1"/>
          </p:cNvGraphicFramePr>
          <p:nvPr>
            <p:extLst>
              <p:ext uri="{D42A27DB-BD31-4B8C-83A1-F6EECF244321}">
                <p14:modId xmlns:p14="http://schemas.microsoft.com/office/powerpoint/2010/main" val="680539483"/>
              </p:ext>
            </p:extLst>
          </p:nvPr>
        </p:nvGraphicFramePr>
        <p:xfrm>
          <a:off x="6021760" y="3284984"/>
          <a:ext cx="2286000" cy="2319338"/>
        </p:xfrm>
        <a:graphic>
          <a:graphicData uri="http://schemas.openxmlformats.org/presentationml/2006/ole">
            <mc:AlternateContent xmlns:mc="http://schemas.openxmlformats.org/markup-compatibility/2006">
              <mc:Choice xmlns:v="urn:schemas-microsoft-com:vml" Requires="v">
                <p:oleObj r:id="rId9" imgW="1590897" imgH="1561905" progId="PBrush">
                  <p:embed/>
                </p:oleObj>
              </mc:Choice>
              <mc:Fallback>
                <p:oleObj r:id="rId9" imgW="1590897" imgH="1561905" progId="PBrush">
                  <p:embed/>
                  <p:pic>
                    <p:nvPicPr>
                      <p:cNvPr id="0" name="Picture 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021760" y="3284984"/>
                        <a:ext cx="2286000" cy="2319338"/>
                      </a:xfrm>
                      <a:prstGeom prst="rect">
                        <a:avLst/>
                      </a:prstGeom>
                      <a:noFill/>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ChangeArrowheads="1"/>
          </p:cNvSpPr>
          <p:nvPr/>
        </p:nvSpPr>
        <p:spPr bwMode="auto">
          <a:xfrm>
            <a:off x="1000944" y="3718248"/>
            <a:ext cx="5797267" cy="702461"/>
          </a:xfrm>
          <a:prstGeom prst="rect">
            <a:avLst/>
          </a:prstGeom>
          <a:noFill/>
          <a:ln w="9525">
            <a:noFill/>
            <a:miter lim="800000"/>
            <a:headEnd/>
            <a:tailEnd/>
          </a:ln>
          <a:effectLst/>
        </p:spPr>
        <p:txBody>
          <a:bodyPr/>
          <a:lstStyle/>
          <a:p>
            <a:pPr>
              <a:spcBef>
                <a:spcPct val="20000"/>
              </a:spcBef>
              <a:buFont typeface="Wingdings" pitchFamily="2" charset="2"/>
              <a:buNone/>
            </a:pPr>
            <a:endParaRPr lang="zh-CN" altLang="en-US" sz="2000">
              <a:latin typeface="楷体_GB2312" pitchFamily="49" charset="-122"/>
              <a:ea typeface="楷体_GB2312" pitchFamily="49" charset="-122"/>
            </a:endParaRPr>
          </a:p>
        </p:txBody>
      </p:sp>
      <p:sp>
        <p:nvSpPr>
          <p:cNvPr id="112643" name="Rectangle 3"/>
          <p:cNvSpPr>
            <a:spLocks noGrp="1" noChangeArrowheads="1"/>
          </p:cNvSpPr>
          <p:nvPr>
            <p:ph type="subTitle" idx="1"/>
          </p:nvPr>
        </p:nvSpPr>
        <p:spPr>
          <a:xfrm>
            <a:off x="572507" y="5034057"/>
            <a:ext cx="6781800" cy="1066800"/>
          </a:xfrm>
          <a:noFill/>
          <a:ln/>
        </p:spPr>
        <p:txBody>
          <a:bodyPr/>
          <a:lstStyle/>
          <a:p>
            <a:pPr marL="457200" lvl="1" indent="0">
              <a:lnSpc>
                <a:spcPct val="120000"/>
              </a:lnSpc>
              <a:spcBef>
                <a:spcPct val="0"/>
              </a:spcBef>
              <a:buClr>
                <a:srgbClr val="CC3399"/>
              </a:buClr>
              <a:buFont typeface="Monotype Sorts" pitchFamily="2" charset="2"/>
              <a:buNone/>
            </a:pPr>
            <a:r>
              <a:rPr lang="en-US" sz="3600" b="0" dirty="0">
                <a:solidFill>
                  <a:srgbClr val="660033"/>
                </a:solidFill>
                <a:latin typeface="楷体_GB2312" pitchFamily="49" charset="-122"/>
                <a:ea typeface="楷体_GB2312" pitchFamily="49" charset="-122"/>
              </a:rPr>
              <a:t>IC</a:t>
            </a:r>
            <a:r>
              <a:rPr lang="zh-CN" sz="3600" b="0" dirty="0">
                <a:solidFill>
                  <a:srgbClr val="660033"/>
                </a:solidFill>
                <a:latin typeface="楷体_GB2312" pitchFamily="49" charset="-122"/>
                <a:ea typeface="楷体_GB2312" pitchFamily="49" charset="-122"/>
              </a:rPr>
              <a:t>的封装</a:t>
            </a:r>
          </a:p>
        </p:txBody>
      </p:sp>
      <p:sp>
        <p:nvSpPr>
          <p:cNvPr id="2" name="灯片编号占位符 1">
            <a:extLst>
              <a:ext uri="{FF2B5EF4-FFF2-40B4-BE49-F238E27FC236}">
                <a16:creationId xmlns:a16="http://schemas.microsoft.com/office/drawing/2014/main" id="{FD3590BB-6185-CE08-1750-7B32BB3B4E8A}"/>
              </a:ext>
            </a:extLst>
          </p:cNvPr>
          <p:cNvSpPr>
            <a:spLocks noGrp="1"/>
          </p:cNvSpPr>
          <p:nvPr>
            <p:ph type="sldNum" sz="quarter" idx="12"/>
          </p:nvPr>
        </p:nvSpPr>
        <p:spPr>
          <a:xfrm>
            <a:off x="6744145" y="-322766"/>
            <a:ext cx="610162" cy="386859"/>
          </a:xfrm>
        </p:spPr>
        <p:txBody>
          <a:bodyPr/>
          <a:lstStyle/>
          <a:p>
            <a:pPr>
              <a:defRPr/>
            </a:pPr>
            <a:fld id="{47A4CA45-135E-4AE6-A55B-F30C83FDB90E}" type="slidenum">
              <a:rPr lang="zh-CN" altLang="en-US" smtClean="0"/>
              <a:pPr>
                <a:defRPr/>
              </a:pPr>
              <a:t>85</a:t>
            </a:fld>
            <a:endParaRPr lang="en-US" altLang="zh-CN"/>
          </a:p>
        </p:txBody>
      </p:sp>
      <p:graphicFrame>
        <p:nvGraphicFramePr>
          <p:cNvPr id="112644" name="Object 4"/>
          <p:cNvGraphicFramePr>
            <a:graphicFrameLocks noChangeAspect="1"/>
          </p:cNvGraphicFramePr>
          <p:nvPr>
            <p:extLst>
              <p:ext uri="{D42A27DB-BD31-4B8C-83A1-F6EECF244321}">
                <p14:modId xmlns:p14="http://schemas.microsoft.com/office/powerpoint/2010/main" val="952830902"/>
              </p:ext>
            </p:extLst>
          </p:nvPr>
        </p:nvGraphicFramePr>
        <p:xfrm>
          <a:off x="990076" y="975048"/>
          <a:ext cx="1763468" cy="1931766"/>
        </p:xfrm>
        <a:graphic>
          <a:graphicData uri="http://schemas.openxmlformats.org/presentationml/2006/ole">
            <mc:AlternateContent xmlns:mc="http://schemas.openxmlformats.org/markup-compatibility/2006">
              <mc:Choice xmlns:v="urn:schemas-microsoft-com:vml" Requires="v">
                <p:oleObj r:id="rId2" imgW="1314286" imgH="1352381" progId="PBrush">
                  <p:embed/>
                </p:oleObj>
              </mc:Choice>
              <mc:Fallback>
                <p:oleObj r:id="rId2" imgW="1314286" imgH="1352381" progId="PBrush">
                  <p:embed/>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076" y="975048"/>
                        <a:ext cx="1763468" cy="1931766"/>
                      </a:xfrm>
                      <a:prstGeom prst="rect">
                        <a:avLst/>
                      </a:prstGeom>
                      <a:noFill/>
                      <a:effectLst/>
                    </p:spPr>
                  </p:pic>
                </p:oleObj>
              </mc:Fallback>
            </mc:AlternateContent>
          </a:graphicData>
        </a:graphic>
      </p:graphicFrame>
      <p:pic>
        <p:nvPicPr>
          <p:cNvPr id="112645" name="Picture 5" descr="to52"/>
          <p:cNvPicPr>
            <a:picLocks noChangeAspect="1" noChangeArrowheads="1"/>
          </p:cNvPicPr>
          <p:nvPr/>
        </p:nvPicPr>
        <p:blipFill>
          <a:blip r:embed="rId4" cstate="print"/>
          <a:srcRect/>
          <a:stretch>
            <a:fillRect/>
          </a:stretch>
        </p:blipFill>
        <p:spPr bwMode="auto">
          <a:xfrm>
            <a:off x="2753544" y="975048"/>
            <a:ext cx="1517119" cy="1931766"/>
          </a:xfrm>
          <a:prstGeom prst="rect">
            <a:avLst/>
          </a:prstGeom>
          <a:noFill/>
          <a:ln w="9525">
            <a:noFill/>
            <a:miter lim="800000"/>
            <a:headEnd/>
            <a:tailEnd/>
          </a:ln>
        </p:spPr>
      </p:pic>
      <p:pic>
        <p:nvPicPr>
          <p:cNvPr id="112646" name="Picture 6" descr="to264"/>
          <p:cNvPicPr>
            <a:picLocks noChangeAspect="1" noChangeArrowheads="1"/>
          </p:cNvPicPr>
          <p:nvPr/>
        </p:nvPicPr>
        <p:blipFill>
          <a:blip r:embed="rId5" cstate="print"/>
          <a:srcRect/>
          <a:stretch>
            <a:fillRect/>
          </a:stretch>
        </p:blipFill>
        <p:spPr bwMode="auto">
          <a:xfrm>
            <a:off x="4283968" y="976884"/>
            <a:ext cx="1411019" cy="1931766"/>
          </a:xfrm>
          <a:prstGeom prst="rect">
            <a:avLst/>
          </a:prstGeom>
          <a:noFill/>
          <a:ln w="9525">
            <a:noFill/>
            <a:miter lim="800000"/>
            <a:headEnd/>
            <a:tailEnd/>
          </a:ln>
        </p:spPr>
      </p:pic>
      <p:pic>
        <p:nvPicPr>
          <p:cNvPr id="112647" name="Picture 7" descr="to92"/>
          <p:cNvPicPr>
            <a:picLocks noChangeAspect="1" noChangeArrowheads="1"/>
          </p:cNvPicPr>
          <p:nvPr/>
        </p:nvPicPr>
        <p:blipFill>
          <a:blip r:embed="rId6" cstate="print"/>
          <a:srcRect/>
          <a:stretch>
            <a:fillRect/>
          </a:stretch>
        </p:blipFill>
        <p:spPr bwMode="auto">
          <a:xfrm>
            <a:off x="5652120" y="975048"/>
            <a:ext cx="1463460" cy="1990305"/>
          </a:xfrm>
          <a:prstGeom prst="rect">
            <a:avLst/>
          </a:prstGeom>
          <a:noFill/>
          <a:ln w="9525">
            <a:noFill/>
            <a:miter lim="800000"/>
            <a:headEnd/>
            <a:tailEnd/>
          </a:ln>
        </p:spPr>
      </p:pic>
      <p:graphicFrame>
        <p:nvGraphicFramePr>
          <p:cNvPr id="112648" name="Object 8"/>
          <p:cNvGraphicFramePr>
            <a:graphicFrameLocks noChangeAspect="1"/>
          </p:cNvGraphicFramePr>
          <p:nvPr>
            <p:extLst>
              <p:ext uri="{D42A27DB-BD31-4B8C-83A1-F6EECF244321}">
                <p14:modId xmlns:p14="http://schemas.microsoft.com/office/powerpoint/2010/main" val="2619592073"/>
              </p:ext>
            </p:extLst>
          </p:nvPr>
        </p:nvGraphicFramePr>
        <p:xfrm>
          <a:off x="975240" y="2919264"/>
          <a:ext cx="1580536" cy="2165920"/>
        </p:xfrm>
        <a:graphic>
          <a:graphicData uri="http://schemas.openxmlformats.org/presentationml/2006/ole">
            <mc:AlternateContent xmlns:mc="http://schemas.openxmlformats.org/markup-compatibility/2006">
              <mc:Choice xmlns:v="urn:schemas-microsoft-com:vml" Requires="v">
                <p:oleObj r:id="rId7" imgW="1238423" imgH="1514686" progId="PBrush">
                  <p:embed/>
                </p:oleObj>
              </mc:Choice>
              <mc:Fallback>
                <p:oleObj r:id="rId7" imgW="1238423" imgH="1514686" progId="PBrush">
                  <p:embed/>
                  <p:pic>
                    <p:nvPicPr>
                      <p:cNvPr id="0" name="Picture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75240" y="2919264"/>
                        <a:ext cx="1580536" cy="2165920"/>
                      </a:xfrm>
                      <a:prstGeom prst="rect">
                        <a:avLst/>
                      </a:prstGeom>
                      <a:noFill/>
                      <a:effectLst/>
                    </p:spPr>
                  </p:pic>
                </p:oleObj>
              </mc:Fallback>
            </mc:AlternateContent>
          </a:graphicData>
        </a:graphic>
      </p:graphicFrame>
      <p:graphicFrame>
        <p:nvGraphicFramePr>
          <p:cNvPr id="112649" name="Object 9"/>
          <p:cNvGraphicFramePr>
            <a:graphicFrameLocks noChangeAspect="1"/>
          </p:cNvGraphicFramePr>
          <p:nvPr>
            <p:extLst>
              <p:ext uri="{D42A27DB-BD31-4B8C-83A1-F6EECF244321}">
                <p14:modId xmlns:p14="http://schemas.microsoft.com/office/powerpoint/2010/main" val="2449253057"/>
              </p:ext>
            </p:extLst>
          </p:nvPr>
        </p:nvGraphicFramePr>
        <p:xfrm>
          <a:off x="2545436" y="2919264"/>
          <a:ext cx="2458612" cy="2165920"/>
        </p:xfrm>
        <a:graphic>
          <a:graphicData uri="http://schemas.openxmlformats.org/presentationml/2006/ole">
            <mc:AlternateContent xmlns:mc="http://schemas.openxmlformats.org/markup-compatibility/2006">
              <mc:Choice xmlns:v="urn:schemas-microsoft-com:vml" Requires="v">
                <p:oleObj r:id="rId9" imgW="1609524" imgH="1247619" progId="PBrush">
                  <p:embed/>
                </p:oleObj>
              </mc:Choice>
              <mc:Fallback>
                <p:oleObj r:id="rId9" imgW="1609524" imgH="1247619" progId="PBrush">
                  <p:embed/>
                  <p:pic>
                    <p:nvPicPr>
                      <p:cNvPr id="0" name="Picture 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545436" y="2919264"/>
                        <a:ext cx="2458612" cy="2165920"/>
                      </a:xfrm>
                      <a:prstGeom prst="rect">
                        <a:avLst/>
                      </a:prstGeom>
                      <a:noFill/>
                      <a:effectLst/>
                    </p:spPr>
                  </p:pic>
                </p:oleObj>
              </mc:Fallback>
            </mc:AlternateContent>
          </a:graphicData>
        </a:graphic>
      </p:graphicFrame>
      <p:graphicFrame>
        <p:nvGraphicFramePr>
          <p:cNvPr id="112650" name="Object 10"/>
          <p:cNvGraphicFramePr>
            <a:graphicFrameLocks noChangeAspect="1"/>
          </p:cNvGraphicFramePr>
          <p:nvPr>
            <p:extLst>
              <p:ext uri="{D42A27DB-BD31-4B8C-83A1-F6EECF244321}">
                <p14:modId xmlns:p14="http://schemas.microsoft.com/office/powerpoint/2010/main" val="4271612632"/>
              </p:ext>
            </p:extLst>
          </p:nvPr>
        </p:nvGraphicFramePr>
        <p:xfrm>
          <a:off x="5004048" y="2919264"/>
          <a:ext cx="2107382" cy="2165920"/>
        </p:xfrm>
        <a:graphic>
          <a:graphicData uri="http://schemas.openxmlformats.org/presentationml/2006/ole">
            <mc:AlternateContent xmlns:mc="http://schemas.openxmlformats.org/markup-compatibility/2006">
              <mc:Choice xmlns:v="urn:schemas-microsoft-com:vml" Requires="v">
                <p:oleObj r:id="rId11" imgW="1600000" imgH="1390844" progId="PBrush">
                  <p:embed/>
                </p:oleObj>
              </mc:Choice>
              <mc:Fallback>
                <p:oleObj r:id="rId11" imgW="1600000" imgH="1390844" progId="PBrush">
                  <p:embed/>
                  <p:pic>
                    <p:nvPicPr>
                      <p:cNvPr id="0" name="Picture 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004048" y="2919264"/>
                        <a:ext cx="2107382" cy="2165920"/>
                      </a:xfrm>
                      <a:prstGeom prst="rect">
                        <a:avLst/>
                      </a:prstGeom>
                      <a:noFill/>
                      <a:effectLst/>
                    </p:spPr>
                  </p:pic>
                </p:oleObj>
              </mc:Fallback>
            </mc:AlternateContent>
          </a:graphicData>
        </a:graphic>
      </p:graphicFrame>
    </p:spTree>
  </p:cSld>
  <p:clrMapOvr>
    <a:masterClrMapping/>
  </p:clrMapOv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B8E7FD85-ED09-F536-5E28-98F02D13B98F}"/>
              </a:ext>
            </a:extLst>
          </p:cNvPr>
          <p:cNvSpPr>
            <a:spLocks noGrp="1"/>
          </p:cNvSpPr>
          <p:nvPr>
            <p:ph type="sldNum" sz="quarter" idx="12"/>
          </p:nvPr>
        </p:nvSpPr>
        <p:spPr/>
        <p:txBody>
          <a:bodyPr/>
          <a:lstStyle/>
          <a:p>
            <a:pPr>
              <a:defRPr/>
            </a:pPr>
            <a:fld id="{5FAFB815-62BA-464E-901C-79D108092E38}" type="slidenum">
              <a:rPr lang="zh-CN" altLang="en-US" smtClean="0"/>
              <a:pPr>
                <a:defRPr/>
              </a:pPr>
              <a:t>86</a:t>
            </a:fld>
            <a:endParaRPr lang="en-US" altLang="zh-CN"/>
          </a:p>
        </p:txBody>
      </p:sp>
      <p:pic>
        <p:nvPicPr>
          <p:cNvPr id="1026" name="Picture 2">
            <a:extLst>
              <a:ext uri="{FF2B5EF4-FFF2-40B4-BE49-F238E27FC236}">
                <a16:creationId xmlns:a16="http://schemas.microsoft.com/office/drawing/2014/main" id="{463CD3DB-5099-6AE5-1481-DBBF9DD35D5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0642" y="4308510"/>
            <a:ext cx="2586462" cy="18000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2D4ECFA4-1866-291E-BCFB-B1B8B5EC86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63611" y="4308510"/>
            <a:ext cx="2866935" cy="18000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2A179FC4-90B2-1479-18F5-6B8C1B48800F}"/>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300192" y="4308510"/>
            <a:ext cx="2520000" cy="18000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3">
            <a:extLst>
              <a:ext uri="{FF2B5EF4-FFF2-40B4-BE49-F238E27FC236}">
                <a16:creationId xmlns:a16="http://schemas.microsoft.com/office/drawing/2014/main" id="{76D072DF-3565-AC3B-5E11-0BAEF0BF32CF}"/>
              </a:ext>
            </a:extLst>
          </p:cNvPr>
          <p:cNvSpPr txBox="1">
            <a:spLocks noChangeArrowheads="1"/>
          </p:cNvSpPr>
          <p:nvPr/>
        </p:nvSpPr>
        <p:spPr>
          <a:xfrm>
            <a:off x="0" y="29301"/>
            <a:ext cx="1957264" cy="792088"/>
          </a:xfrm>
          <a:prstGeom prst="rect">
            <a:avLst/>
          </a:prstGeom>
          <a:noFill/>
          <a:ln/>
        </p:spPr>
        <p:txBody>
          <a:bodyPr vert="horz" lIns="91440" tIns="45720" rIns="91440" bIns="45720" rtlCol="0" anchor="t">
            <a:normAutofit fontScale="92500"/>
          </a:bodyPr>
          <a:lstStyle>
            <a:lvl1pPr marL="228600" indent="-228600" algn="l" defTabSz="685800" rtl="0" eaLnBrk="1" latinLnBrk="0" hangingPunct="1">
              <a:lnSpc>
                <a:spcPct val="120000"/>
              </a:lnSpc>
              <a:spcBef>
                <a:spcPts val="1000"/>
              </a:spcBef>
              <a:buClr>
                <a:schemeClr val="accent1"/>
              </a:buClr>
              <a:buSzPct val="100000"/>
              <a:buFont typeface="Arial" panose="020B0604020202020204" pitchFamily="34" charset="0"/>
              <a:buChar char="•"/>
              <a:defRPr sz="2000" kern="1200" cap="none">
                <a:solidFill>
                  <a:schemeClr val="tx1"/>
                </a:solidFill>
                <a:effectLst/>
                <a:latin typeface="+mn-lt"/>
                <a:ea typeface="+mn-ea"/>
                <a:cs typeface="+mn-cs"/>
              </a:defRPr>
            </a:lvl1pPr>
            <a:lvl2pPr marL="6858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baseline="0">
                <a:solidFill>
                  <a:schemeClr val="tx1"/>
                </a:solidFill>
                <a:effectLst/>
                <a:latin typeface="+mn-lt"/>
                <a:ea typeface="+mn-ea"/>
                <a:cs typeface="+mn-cs"/>
              </a:defRPr>
            </a:lvl2pPr>
            <a:lvl3pPr marL="11430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a:solidFill>
                  <a:schemeClr val="tx1"/>
                </a:solidFill>
                <a:effectLst/>
                <a:latin typeface="+mn-lt"/>
                <a:ea typeface="+mn-ea"/>
                <a:cs typeface="+mn-cs"/>
              </a:defRPr>
            </a:lvl3pPr>
            <a:lvl4pPr marL="16002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200" kern="1200" cap="none">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marL="457200" lvl="1" indent="0">
              <a:spcBef>
                <a:spcPct val="0"/>
              </a:spcBef>
              <a:buClr>
                <a:srgbClr val="CC3399"/>
              </a:buClr>
              <a:buFont typeface="Monotype Sorts" pitchFamily="2" charset="2"/>
              <a:buNone/>
            </a:pPr>
            <a:r>
              <a:rPr lang="zh-CN" altLang="en-US" sz="3600" dirty="0">
                <a:solidFill>
                  <a:srgbClr val="008000"/>
                </a:solidFill>
                <a:latin typeface="华文行楷" pitchFamily="2" charset="-122"/>
                <a:ea typeface="华文行楷" pitchFamily="2" charset="-122"/>
              </a:rPr>
              <a:t>小作业</a:t>
            </a:r>
            <a:endParaRPr lang="en-US" sz="3600" dirty="0">
              <a:solidFill>
                <a:srgbClr val="008000"/>
              </a:solidFill>
              <a:latin typeface="楷体_GB2312" pitchFamily="49" charset="-122"/>
              <a:ea typeface="楷体_GB2312" pitchFamily="49" charset="-122"/>
            </a:endParaRPr>
          </a:p>
        </p:txBody>
      </p:sp>
      <p:pic>
        <p:nvPicPr>
          <p:cNvPr id="1032" name="Picture 8">
            <a:extLst>
              <a:ext uri="{FF2B5EF4-FFF2-40B4-BE49-F238E27FC236}">
                <a16:creationId xmlns:a16="http://schemas.microsoft.com/office/drawing/2014/main" id="{D7C5BEFB-A335-152C-557F-3F43A9BCAB9A}"/>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7903" r="4596"/>
          <a:stretch/>
        </p:blipFill>
        <p:spPr bwMode="auto">
          <a:xfrm>
            <a:off x="6300192" y="2158600"/>
            <a:ext cx="2520000" cy="2160000"/>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a:extLst>
              <a:ext uri="{FF2B5EF4-FFF2-40B4-BE49-F238E27FC236}">
                <a16:creationId xmlns:a16="http://schemas.microsoft.com/office/drawing/2014/main" id="{C2D97F38-9FEB-E965-3956-3E11C60727A3}"/>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9023" t="25046" r="23243" b="33474"/>
          <a:stretch/>
        </p:blipFill>
        <p:spPr bwMode="auto">
          <a:xfrm>
            <a:off x="3104875" y="2140190"/>
            <a:ext cx="2817546" cy="2160000"/>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a:extLst>
              <a:ext uri="{FF2B5EF4-FFF2-40B4-BE49-F238E27FC236}">
                <a16:creationId xmlns:a16="http://schemas.microsoft.com/office/drawing/2014/main" id="{FA761019-2909-E794-5939-D40619324A39}"/>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8481" t="12261" r="6797" b="15689"/>
          <a:stretch/>
        </p:blipFill>
        <p:spPr bwMode="auto">
          <a:xfrm>
            <a:off x="140641" y="2148510"/>
            <a:ext cx="2586461" cy="2160000"/>
          </a:xfrm>
          <a:prstGeom prst="rect">
            <a:avLst/>
          </a:prstGeom>
          <a:noFill/>
          <a:extLst>
            <a:ext uri="{909E8E84-426E-40DD-AFC4-6F175D3DCCD1}">
              <a14:hiddenFill xmlns:a14="http://schemas.microsoft.com/office/drawing/2010/main">
                <a:solidFill>
                  <a:srgbClr val="FFFFFF"/>
                </a:solidFill>
              </a14:hiddenFill>
            </a:ext>
          </a:extLst>
        </p:spPr>
      </p:pic>
      <p:sp>
        <p:nvSpPr>
          <p:cNvPr id="7" name="标题 6">
            <a:extLst>
              <a:ext uri="{FF2B5EF4-FFF2-40B4-BE49-F238E27FC236}">
                <a16:creationId xmlns:a16="http://schemas.microsoft.com/office/drawing/2014/main" id="{C7B1FD0D-27EB-9781-730D-CB26E63DE5EB}"/>
              </a:ext>
            </a:extLst>
          </p:cNvPr>
          <p:cNvSpPr>
            <a:spLocks noGrp="1"/>
          </p:cNvSpPr>
          <p:nvPr>
            <p:ph type="title"/>
          </p:nvPr>
        </p:nvSpPr>
        <p:spPr>
          <a:xfrm>
            <a:off x="346446" y="936390"/>
            <a:ext cx="6571343" cy="1049235"/>
          </a:xfrm>
        </p:spPr>
        <p:txBody>
          <a:bodyPr/>
          <a:lstStyle/>
          <a:p>
            <a:r>
              <a:rPr lang="zh-CN" altLang="en-US" dirty="0"/>
              <a:t>三个集成块引脚代表的意义</a:t>
            </a:r>
          </a:p>
        </p:txBody>
      </p:sp>
    </p:spTree>
    <p:extLst>
      <p:ext uri="{BB962C8B-B14F-4D97-AF65-F5344CB8AC3E}">
        <p14:creationId xmlns:p14="http://schemas.microsoft.com/office/powerpoint/2010/main" val="3599703020"/>
      </p:ext>
    </p:extLst>
  </p:cSld>
  <p:clrMapOvr>
    <a:masterClrMapping/>
  </p:clrMapOvr>
</p:sld>
</file>

<file path=ppt/theme/theme1.xml><?xml version="1.0" encoding="utf-8"?>
<a:theme xmlns:a="http://schemas.openxmlformats.org/drawingml/2006/main" name="画廊">
  <a:themeElements>
    <a:clrScheme name="画廊">
      <a:dk1>
        <a:sysClr val="windowText" lastClr="000000"/>
      </a:dk1>
      <a:lt1>
        <a:sysClr val="window" lastClr="FFFFFF"/>
      </a:lt1>
      <a:dk2>
        <a:srgbClr val="454545"/>
      </a:dk2>
      <a:lt2>
        <a:srgbClr val="DCDCE0"/>
      </a:lt2>
      <a:accent1>
        <a:srgbClr val="415588"/>
      </a:accent1>
      <a:accent2>
        <a:srgbClr val="4294B6"/>
      </a:accent2>
      <a:accent3>
        <a:srgbClr val="087D7C"/>
      </a:accent3>
      <a:accent4>
        <a:srgbClr val="04B663"/>
      </a:accent4>
      <a:accent5>
        <a:srgbClr val="DF8822"/>
      </a:accent5>
      <a:accent6>
        <a:srgbClr val="BC410A"/>
      </a:accent6>
      <a:hlink>
        <a:srgbClr val="5977C4"/>
      </a:hlink>
      <a:folHlink>
        <a:srgbClr val="01A9BF"/>
      </a:folHlink>
    </a:clrScheme>
    <a:fontScheme name="画廊">
      <a:majorFont>
        <a:latin typeface="Century Gothic" panose="020B0502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画廊">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lumMod val="108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E050AC27-895F-4B90-991D-A6818FC89AB6}"/>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Gallery</Template>
  <TotalTime>4883</TotalTime>
  <Words>8018</Words>
  <Application>Microsoft Office PowerPoint</Application>
  <PresentationFormat>全屏显示(4:3)</PresentationFormat>
  <Paragraphs>922</Paragraphs>
  <Slides>86</Slides>
  <Notes>2</Notes>
  <HiddenSlides>0</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3</vt:i4>
      </vt:variant>
      <vt:variant>
        <vt:lpstr>幻灯片标题</vt:lpstr>
      </vt:variant>
      <vt:variant>
        <vt:i4>86</vt:i4>
      </vt:variant>
    </vt:vector>
  </HeadingPairs>
  <TitlesOfParts>
    <vt:vector size="105" baseType="lpstr">
      <vt:lpstr>Adobe 黑体 Std R</vt:lpstr>
      <vt:lpstr>MingLiU</vt:lpstr>
      <vt:lpstr>Monotype Sorts</vt:lpstr>
      <vt:lpstr>PMingLiU</vt:lpstr>
      <vt:lpstr>等线</vt:lpstr>
      <vt:lpstr>黑体</vt:lpstr>
      <vt:lpstr>华文行楷</vt:lpstr>
      <vt:lpstr>楷体_GB2312</vt:lpstr>
      <vt:lpstr>宋体</vt:lpstr>
      <vt:lpstr>新宋体</vt:lpstr>
      <vt:lpstr>Arial</vt:lpstr>
      <vt:lpstr>Century Gothic</vt:lpstr>
      <vt:lpstr>Tahoma</vt:lpstr>
      <vt:lpstr>Times New Roman</vt:lpstr>
      <vt:lpstr>Wingdings</vt:lpstr>
      <vt:lpstr>画廊</vt:lpstr>
      <vt:lpstr>PBrush</vt:lpstr>
      <vt:lpstr>Microsoft Visio 2003-2010 绘图</vt:lpstr>
      <vt:lpstr>Microsoft Word Picture</vt:lpstr>
      <vt:lpstr>电子工艺/线路实习</vt:lpstr>
      <vt:lpstr>课程安排</vt:lpstr>
      <vt:lpstr>课程要求</vt:lpstr>
      <vt:lpstr>考核要求</vt:lpstr>
      <vt:lpstr>授课计划</vt:lpstr>
      <vt:lpstr>PowerPoint 演示文稿</vt:lpstr>
      <vt:lpstr>PowerPoint 演示文稿</vt:lpstr>
      <vt:lpstr>实验室规范</vt:lpstr>
      <vt:lpstr>参考教材</vt:lpstr>
      <vt:lpstr>实物图片</vt:lpstr>
      <vt:lpstr>电子元器件简介 </vt:lpstr>
      <vt:lpstr>一、电阻</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电阻器标称阻值系列</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四色环表示法</vt:lpstr>
      <vt:lpstr>红紫黑红棕：    棕红黑黑棕：    棕棕黑紫红：     黄紫黑银绿：  </vt:lpstr>
      <vt:lpstr> 贴片电阻的标注方法：</vt:lpstr>
      <vt:lpstr>贴片电阻、贴片电容规格、封装、尺寸 </vt:lpstr>
      <vt:lpstr>9种封装尺寸 ：</vt:lpstr>
      <vt:lpstr>贴片电阻电容功率与尺寸对应表 </vt:lpstr>
      <vt:lpstr>PowerPoint 演示文稿</vt:lpstr>
      <vt:lpstr>电位器</vt:lpstr>
      <vt:lpstr>电位器参数及规格标注方法</vt:lpstr>
      <vt:lpstr>如何选择电位器</vt:lpstr>
      <vt:lpstr> </vt:lpstr>
      <vt:lpstr>二、电  容</vt:lpstr>
      <vt:lpstr>PowerPoint 演示文稿</vt:lpstr>
      <vt:lpstr>PowerPoint 演示文稿</vt:lpstr>
      <vt:lpstr>部分电容的结构和特点</vt:lpstr>
      <vt:lpstr> </vt:lpstr>
      <vt:lpstr>PowerPoint 演示文稿</vt:lpstr>
      <vt:lpstr> </vt:lpstr>
      <vt:lpstr>3.电容的性能参数  1)电容的标称容量及允许误差     电容量是电容器的最基本参数。表在电容器外壳上的电容量数值称为标称电容量，是标准化了的电容值。有标准系列规定。     电容器允许误差与电阻器的规定相同，但不同种类的电容会使用不同系列，其偏差有±10%、±20%等几种。 2)额定工作电压(耐压)     电容器的额定工作电压是指电容器长期连续可靠工作时，极间电压不允许超过的规定电压值，否则电容器就会被击穿损坏。在交流电压中，电容器的耐压值应大于电压的峰值，否则，电容器可能被击穿。耐压的大小与介质材料有关。</vt:lpstr>
      <vt:lpstr>PowerPoint 演示文稿</vt:lpstr>
      <vt:lpstr>PowerPoint 演示文稿</vt:lpstr>
      <vt:lpstr>PowerPoint 演示文稿</vt:lpstr>
      <vt:lpstr>PowerPoint 演示文稿</vt:lpstr>
      <vt:lpstr> </vt:lpstr>
      <vt:lpstr> </vt:lpstr>
      <vt:lpstr> </vt:lpstr>
      <vt:lpstr>2.电感的符号及分类  </vt:lpstr>
      <vt:lpstr>PowerPoint 演示文稿</vt:lpstr>
      <vt:lpstr>PowerPoint 演示文稿</vt:lpstr>
      <vt:lpstr>PowerPoint 演示文稿</vt:lpstr>
      <vt:lpstr>PowerPoint 演示文稿</vt:lpstr>
      <vt:lpstr> </vt:lpstr>
      <vt:lpstr> </vt:lpstr>
      <vt:lpstr>PowerPoint 演示文稿</vt:lpstr>
      <vt:lpstr>3.二极管的分类和类型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vt:lpstr>
      <vt:lpstr>PowerPoint 演示文稿</vt:lpstr>
      <vt:lpstr> 五、三极管</vt:lpstr>
      <vt:lpstr>PowerPoint 演示文稿</vt:lpstr>
      <vt:lpstr>PowerPoint 演示文稿</vt:lpstr>
      <vt:lpstr> </vt:lpstr>
      <vt:lpstr>PowerPoint 演示文稿</vt:lpstr>
      <vt:lpstr>   把一个电子单元电路或某些功能、甚至某一整机的功能电路制作在一个晶片或瓷片之上，再封装在一个便于安装焊接的外壳之中。半导体集成电路习惯称“集成块”或“集成片子”，英文缩写“IC”,在线路板上一般用“U”表示。 </vt:lpstr>
      <vt:lpstr>PowerPoint 演示文稿</vt:lpstr>
      <vt:lpstr>PowerPoint 演示文稿</vt:lpstr>
      <vt:lpstr>PowerPoint 演示文稿</vt:lpstr>
      <vt:lpstr>PowerPoint 演示文稿</vt:lpstr>
      <vt:lpstr>PowerPoint 演示文稿</vt:lpstr>
      <vt:lpstr>PowerPoint 演示文稿</vt:lpstr>
      <vt:lpstr>三个集成块引脚代表的意义</vt:lpstr>
    </vt:vector>
  </TitlesOfParts>
  <Company>legend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第二章  MCS-51单片机的基础知识</dc:title>
  <dc:creator>legend</dc:creator>
  <cp:lastModifiedBy>晓梅 赵</cp:lastModifiedBy>
  <cp:revision>596</cp:revision>
  <cp:lastPrinted>1601-01-01T00:00:00Z</cp:lastPrinted>
  <dcterms:created xsi:type="dcterms:W3CDTF">2001-07-25T06:07:10Z</dcterms:created>
  <dcterms:modified xsi:type="dcterms:W3CDTF">2024-10-14T01:51:50Z</dcterms:modified>
</cp:coreProperties>
</file>